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68" r:id="rId3"/>
    <p:sldId id="270" r:id="rId4"/>
    <p:sldId id="271" r:id="rId5"/>
    <p:sldId id="272" r:id="rId6"/>
    <p:sldId id="273" r:id="rId7"/>
    <p:sldId id="274" r:id="rId8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mailto:info@ucu.ac.ug" TargetMode="External"/><Relationship Id="rId3" Type="http://schemas.microsoft.com/office/2007/relationships/hdphoto" Target="../media/hdphoto1.wdp"/><Relationship Id="rId7" Type="http://schemas.openxmlformats.org/officeDocument/2006/relationships/hyperlink" Target="https://ucu.ac.ug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11" Type="http://schemas.microsoft.com/office/2007/relationships/hdphoto" Target="../media/hdphoto3.wdp"/><Relationship Id="rId5" Type="http://schemas.openxmlformats.org/officeDocument/2006/relationships/image" Target="../media/image4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1078-AA0E-F840-AC0F-D54B3CBDC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F5036E-8807-6046-9CB7-EF6AF274E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E2757-9B41-EB41-8A8C-6480BC75C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2485F-D14F-A34F-829B-18FEF522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D89A4-A6FD-2F41-BC1B-990BD11D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73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776C-CF19-2E46-BB78-0AF7AF13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F3F6D-B2D0-A04A-9CAC-F688DEAE4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FEDF4-24C6-7D41-9B25-9320CCEC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ED841-6832-E942-AA5E-A238D3916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61C0D-619D-E741-BBF0-25270D9C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ACDA-EEA7-E94E-BBF7-B17C26332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3D8A1-5B2F-7143-98F4-58335FF27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EBA56-5030-D144-BF76-5FD43098C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D8E8B-6288-EF46-820D-86183E58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42B2E-027D-BF44-B66B-B991F021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4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B1F6-8518-C943-991B-B1F201D8F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3681-A652-D44F-81CD-C502DFA1C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166B2-225A-D34C-B913-192EC0F64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23FAB-1B70-EC4F-B39C-F6CD17E6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BC87A-1BAB-8545-BF77-5BD95297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6C3B2-C2C4-BB41-BF5B-31A6780F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29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D7CE-FDDF-A540-BF41-BE156F4B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2DC54-754C-D347-A493-B6434DEE1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rgbClr val="D7014D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1B5BE-5B59-1041-B601-8C4E8B9D9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EE4A3B-95D8-264A-AC69-DCD725280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rgbClr val="FFD932"/>
          </a:solidFill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569E4-68F9-124C-BAFA-15C75ED6A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113C7-3C31-C646-99EB-9D1295DA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F0B22-30FC-D34E-8021-66690730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31702-9F8A-0B45-893F-4D931E3C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21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5477-340D-A742-96B9-4134A012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307EC-5C33-BF49-9FC9-70B65B5D2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27CA99-FEAA-A041-B799-CA174260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A3A13-8413-104A-B192-3C710C3D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54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D409A-65C8-B049-8D4D-AC560033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34244D-50A5-9647-8590-0CED8A23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E9667-1147-B84E-8294-D07B6B55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14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560C9-49F1-B143-98BF-F65F0E86C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7968B-396A-7746-B032-F5FF2D1A1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A9890-41E9-B247-BD85-CB0556F34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D34F8-43C5-D24A-B2B8-3C39C5D8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A2E86-D2D2-6C40-A7B2-00ECC21F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92A3B-17A2-CC47-B3CE-70F6DE5B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3007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C15CF-2B84-154B-A05B-4ED15C88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297B1-8700-5A41-B4ED-617200FAA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54946-1836-5B4E-A53B-0D65AF548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B1631-07AA-AF4B-9C84-79660072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FD121-C434-574B-A5A6-1D7F4E8E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6B891-6D6F-454D-B57D-6799F137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951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9A33-F947-254C-B2F1-FC1EEBA7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7B2E9-B32D-7849-8EA6-191CD2CB9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6D214-C945-D74F-A6BC-88A7A994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5F130-A527-DA46-8CFF-AB905CDC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69C9-BB26-C147-9EB3-6A1CF0CF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78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C8499E-4FC6-9541-BDE2-B57DE72F8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B72DD-1B01-4645-8504-9D2CF3F76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A9CF8-4FE6-6846-8F14-E50ED82B6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96104-C547-9E44-93D3-74A7CE7F8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61153-2906-5C43-AC83-1A71AF6A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01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81D354-4C58-8E45-A997-CCFC28517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EAA9A-AD91-1245-A5C3-6A0CBEF58DBD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1BB49-7DD1-3D44-BE19-729C46AB2CC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5D528E-B0C4-574C-AE6E-B35A83CFEB13}" type="datetimeFigureOut">
              <a:rPr lang="en-GB" smtClean="0"/>
              <a:t>31/08/2026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CC3E4-12C8-2A4F-88E1-B8DC3854AB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9F62491-F3DB-384B-9F65-EA637FB8DC9F}"/>
              </a:ext>
            </a:extLst>
          </p:cNvPr>
          <p:cNvGrpSpPr/>
          <p:nvPr userDrawn="1"/>
        </p:nvGrpSpPr>
        <p:grpSpPr>
          <a:xfrm>
            <a:off x="2836065" y="3885190"/>
            <a:ext cx="6359384" cy="2140032"/>
            <a:chOff x="3054867" y="3815867"/>
            <a:chExt cx="6359384" cy="214003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B488D83-1A18-A742-8FDC-04F2597CDBB4}"/>
                </a:ext>
              </a:extLst>
            </p:cNvPr>
            <p:cNvGrpSpPr/>
            <p:nvPr userDrawn="1"/>
          </p:nvGrpSpPr>
          <p:grpSpPr>
            <a:xfrm>
              <a:off x="4699683" y="3815867"/>
              <a:ext cx="4714568" cy="2140032"/>
              <a:chOff x="4173580" y="3135225"/>
              <a:chExt cx="5623246" cy="2568070"/>
            </a:xfrm>
          </p:grpSpPr>
          <p:pic>
            <p:nvPicPr>
              <p:cNvPr id="7" name="Picture 4" descr="facebook instagram whatsapp PNG image with transparent background | TOPpng">
                <a:extLst>
                  <a:ext uri="{FF2B5EF4-FFF2-40B4-BE49-F238E27FC236}">
                    <a16:creationId xmlns:a16="http://schemas.microsoft.com/office/drawing/2014/main" id="{21573789-53BB-7148-AEF8-DD9D395D25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69732" l="0" r="98929">
                            <a14:foregroundMark x1="9524" y1="3376" x2="23929" y2="25378"/>
                            <a14:foregroundMark x1="15833" y1="5122" x2="19643" y2="5122"/>
                            <a14:foregroundMark x1="22381" y1="8149" x2="24762" y2="21187"/>
                            <a14:foregroundMark x1="10119" y1="11409" x2="14643" y2="23632"/>
                            <a14:foregroundMark x1="7738" y1="14435" x2="11071" y2="24796"/>
                            <a14:foregroundMark x1="75000" y1="9662" x2="75833" y2="23865"/>
                            <a14:foregroundMark x1="76548" y1="7800" x2="89643" y2="8964"/>
                            <a14:foregroundMark x1="82976" y1="2328" x2="91786" y2="20722"/>
                            <a14:foregroundMark x1="78452" y1="21769" x2="87024" y2="20605"/>
                            <a14:foregroundMark x1="83333" y1="14668" x2="83333" y2="14668"/>
                            <a14:foregroundMark x1="90357" y1="9895" x2="91190" y2="17695"/>
                            <a14:foregroundMark x1="17500" y1="9546" x2="17738" y2="17346"/>
                            <a14:foregroundMark x1="23929" y1="3609" x2="23333" y2="10128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66494" b="67238"/>
              <a:stretch/>
            </p:blipFill>
            <p:spPr bwMode="auto">
              <a:xfrm>
                <a:off x="4238019" y="4511394"/>
                <a:ext cx="413410" cy="4299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6" descr="facebook instagram whatsapp PNG image with transparent background | TOPpng">
                <a:extLst>
                  <a:ext uri="{FF2B5EF4-FFF2-40B4-BE49-F238E27FC236}">
                    <a16:creationId xmlns:a16="http://schemas.microsoft.com/office/drawing/2014/main" id="{CF5CCAE3-1FEE-8B4F-916E-AC6C6A6E4D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7402" b="69905"/>
              <a:stretch/>
            </p:blipFill>
            <p:spPr bwMode="auto">
              <a:xfrm>
                <a:off x="4296096" y="4883265"/>
                <a:ext cx="413865" cy="406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8" descr="Round black telephone logo, Telephone Icon, Phone File, electronics, logo,  black And White png | PNGWing">
                <a:extLst>
                  <a:ext uri="{FF2B5EF4-FFF2-40B4-BE49-F238E27FC236}">
                    <a16:creationId xmlns:a16="http://schemas.microsoft.com/office/drawing/2014/main" id="{2DE5DDE9-1F30-6F4B-BA82-27F5D325AE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97935" l="1522" r="100000">
                            <a14:foregroundMark x1="32717" y1="37283" x2="32717" y2="37283"/>
                            <a14:foregroundMark x1="36957" y1="24565" x2="36957" y2="24565"/>
                            <a14:foregroundMark x1="46304" y1="30435" x2="46304" y2="30435"/>
                            <a14:foregroundMark x1="55435" y1="30326" x2="55435" y2="30326"/>
                            <a14:foregroundMark x1="65870" y1="27826" x2="65870" y2="27826"/>
                            <a14:foregroundMark x1="73152" y1="43478" x2="73152" y2="43478"/>
                            <a14:foregroundMark x1="57500" y1="44783" x2="57500" y2="44783"/>
                            <a14:foregroundMark x1="42826" y1="45000" x2="42826" y2="45000"/>
                            <a14:foregroundMark x1="29348" y1="56413" x2="29348" y2="56413"/>
                            <a14:foregroundMark x1="37283" y1="73913" x2="37283" y2="73913"/>
                            <a14:foregroundMark x1="46630" y1="70870" x2="46630" y2="70870"/>
                            <a14:foregroundMark x1="46087" y1="56413" x2="46087" y2="56413"/>
                            <a14:foregroundMark x1="54022" y1="57500" x2="54022" y2="57500"/>
                            <a14:foregroundMark x1="53696" y1="74457" x2="53696" y2="74457"/>
                            <a14:foregroundMark x1="71630" y1="60761" x2="71630" y2="60761"/>
                            <a14:foregroundMark x1="62283" y1="73696" x2="62283" y2="7369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5797" y="5317157"/>
                <a:ext cx="371315" cy="3861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0AE2E6-FFA5-B74D-ABFF-5094651B1BA9}"/>
                  </a:ext>
                </a:extLst>
              </p:cNvPr>
              <p:cNvSpPr txBox="1"/>
              <p:nvPr/>
            </p:nvSpPr>
            <p:spPr>
              <a:xfrm>
                <a:off x="4629313" y="4929543"/>
                <a:ext cx="2964236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+mn-lt"/>
                  </a:rPr>
                  <a:t>@</a:t>
                </a:r>
                <a:r>
                  <a:rPr lang="en-US" sz="1350" dirty="0" err="1">
                    <a:solidFill>
                      <a:prstClr val="black"/>
                    </a:solidFill>
                    <a:latin typeface="+mn-lt"/>
                  </a:rPr>
                  <a:t>ugandachristianuniversity</a:t>
                </a:r>
                <a:endParaRPr lang="en-UG" sz="1350" dirty="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61D6FE-81D1-DE4A-B1A1-CD63DB9652BA}"/>
                  </a:ext>
                </a:extLst>
              </p:cNvPr>
              <p:cNvSpPr txBox="1"/>
              <p:nvPr/>
            </p:nvSpPr>
            <p:spPr>
              <a:xfrm>
                <a:off x="4570065" y="5343192"/>
                <a:ext cx="2851459" cy="36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srgbClr val="0000FF"/>
                    </a:solidFill>
                    <a:latin typeface="+mn-lt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https://ucu.ac.ug/</a:t>
                </a:r>
                <a:r>
                  <a:rPr lang="en-GB" sz="1350" dirty="0">
                    <a:solidFill>
                      <a:srgbClr val="0000FF"/>
                    </a:solidFill>
                    <a:latin typeface="+mn-lt"/>
                  </a:rPr>
                  <a:t> </a:t>
                </a:r>
                <a:endParaRPr lang="en-UG" sz="135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3C9E7D-4A01-5E47-9DC7-A4D726A3C66F}"/>
                  </a:ext>
                </a:extLst>
              </p:cNvPr>
              <p:cNvSpPr txBox="1"/>
              <p:nvPr/>
            </p:nvSpPr>
            <p:spPr>
              <a:xfrm>
                <a:off x="8015811" y="4532448"/>
                <a:ext cx="1781015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UCUniversity</a:t>
                </a:r>
                <a:endParaRPr lang="en-UG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8CBAB0-1BA2-7F46-A60A-0E9A062FC2F4}"/>
                  </a:ext>
                </a:extLst>
              </p:cNvPr>
              <p:cNvSpPr txBox="1"/>
              <p:nvPr/>
            </p:nvSpPr>
            <p:spPr>
              <a:xfrm>
                <a:off x="4535920" y="4545114"/>
                <a:ext cx="3240067" cy="369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135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@</a:t>
                </a:r>
                <a:r>
                  <a:rPr lang="en-GB" sz="1350" dirty="0" err="1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+mn-lt"/>
                  </a:rPr>
                  <a:t>UgandaChristianUniversity</a:t>
                </a:r>
                <a:endParaRPr lang="en-UG" sz="135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+mn-lt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76C215-3CAA-044D-A872-4F32F671EBCA}"/>
                  </a:ext>
                </a:extLst>
              </p:cNvPr>
              <p:cNvSpPr txBox="1"/>
              <p:nvPr/>
            </p:nvSpPr>
            <p:spPr>
              <a:xfrm>
                <a:off x="4201882" y="3514011"/>
                <a:ext cx="3513911" cy="886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sv-SE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P.O. Box 4 Mukono, Uganda</a:t>
                </a:r>
              </a:p>
              <a:p>
                <a:pPr defTabSz="685800"/>
                <a:r>
                  <a:rPr lang="en-GB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Tel: 256-312-350800</a:t>
                </a:r>
              </a:p>
              <a:p>
                <a:pPr defTabSz="685800"/>
                <a:r>
                  <a:rPr lang="fr-FR" sz="1400" dirty="0">
                    <a:solidFill>
                      <a:srgbClr val="5B9BD5">
                        <a:lumMod val="50000"/>
                      </a:srgbClr>
                    </a:solidFill>
                    <a:latin typeface="+mn-lt"/>
                  </a:rPr>
                  <a:t>Email: </a:t>
                </a:r>
                <a:r>
                  <a:rPr lang="fr-FR" sz="1400" dirty="0">
                    <a:solidFill>
                      <a:srgbClr val="0000FF"/>
                    </a:solidFill>
                    <a:latin typeface="+mn-lt"/>
                    <a:hlinkClick r:id="rId8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info@ucu.ac.ug</a:t>
                </a:r>
                <a:endParaRPr lang="fr-FR" sz="1400" dirty="0">
                  <a:solidFill>
                    <a:srgbClr val="0000FF"/>
                  </a:solidFill>
                  <a:latin typeface="+mn-lt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52FF44-A1AC-754F-ACAA-B4A0B8FFDC4F}"/>
                  </a:ext>
                </a:extLst>
              </p:cNvPr>
              <p:cNvSpPr txBox="1"/>
              <p:nvPr/>
            </p:nvSpPr>
            <p:spPr>
              <a:xfrm>
                <a:off x="4173580" y="3135225"/>
                <a:ext cx="4174871" cy="4801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85800"/>
                <a:r>
                  <a:rPr lang="en-GB" sz="2000" b="1" dirty="0">
                    <a:solidFill>
                      <a:srgbClr val="5B9BD5">
                        <a:lumMod val="50000"/>
                      </a:srgbClr>
                    </a:solidFill>
                    <a:latin typeface="+mj-lt"/>
                  </a:rPr>
                  <a:t>Uganda Christian University</a:t>
                </a:r>
                <a:endParaRPr lang="en-UG" sz="2000" dirty="0">
                  <a:solidFill>
                    <a:srgbClr val="5B9BD5">
                      <a:lumMod val="50000"/>
                    </a:srgbClr>
                  </a:solidFill>
                  <a:latin typeface="+mj-lt"/>
                </a:endParaRPr>
              </a:p>
            </p:txBody>
          </p:sp>
          <p:pic>
            <p:nvPicPr>
              <p:cNvPr id="16" name="Picture 6" descr="facebook instagram whatsapp PNG image with transparent background | TOPpng">
                <a:extLst>
                  <a:ext uri="{FF2B5EF4-FFF2-40B4-BE49-F238E27FC236}">
                    <a16:creationId xmlns:a16="http://schemas.microsoft.com/office/drawing/2014/main" id="{9FA1BB22-7CA4-A84B-AB4E-D369D5820D57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89872" l="1548" r="97619">
                            <a14:foregroundMark x1="76310" y1="9197" x2="75595" y2="18859"/>
                            <a14:foregroundMark x1="80833" y1="7101" x2="90595" y2="8731"/>
                            <a14:foregroundMark x1="90595" y1="12806" x2="89048" y2="22468"/>
                            <a14:foregroundMark x1="77738" y1="22119" x2="86667" y2="21769"/>
                            <a14:foregroundMark x1="12262" y1="42491" x2="11071" y2="58091"/>
                            <a14:foregroundMark x1="82976" y1="11991" x2="80119" y2="17346"/>
                            <a14:foregroundMark x1="73690" y1="5471" x2="70952" y2="18626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4921" r="64675" b="31937"/>
              <a:stretch/>
            </p:blipFill>
            <p:spPr bwMode="auto">
              <a:xfrm>
                <a:off x="7686943" y="4513314"/>
                <a:ext cx="448492" cy="4475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C7577D-7C00-3A42-BCDC-2DAC137B88F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9"/>
            <a:srcRect l="4177" t="16271" r="77310" b="16737"/>
            <a:stretch/>
          </p:blipFill>
          <p:spPr>
            <a:xfrm>
              <a:off x="3054867" y="3883165"/>
              <a:ext cx="1730515" cy="1908000"/>
            </a:xfrm>
            <a:prstGeom prst="rect">
              <a:avLst/>
            </a:prstGeom>
          </p:spPr>
        </p:pic>
      </p:grpSp>
      <p:pic>
        <p:nvPicPr>
          <p:cNvPr id="21" name="Picture 2" descr="Red button thank you icon Royalty Free Vector Image">
            <a:extLst>
              <a:ext uri="{FF2B5EF4-FFF2-40B4-BE49-F238E27FC236}">
                <a16:creationId xmlns:a16="http://schemas.microsoft.com/office/drawing/2014/main" id="{7627C261-6001-7C4D-94EE-64BE3F8A7C1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611" b="86019" l="10000" r="90000">
                        <a14:foregroundMark x1="41000" y1="28981" x2="39100" y2="58519"/>
                        <a14:foregroundMark x1="27700" y1="36296" x2="34800" y2="63981"/>
                        <a14:foregroundMark x1="26600" y1="32500" x2="78400" y2="47685"/>
                        <a14:foregroundMark x1="52100" y1="23981" x2="53500" y2="41389"/>
                        <a14:foregroundMark x1="38900" y1="20463" x2="49000" y2="35556"/>
                        <a14:foregroundMark x1="44200" y1="21481" x2="69600" y2="35370"/>
                        <a14:foregroundMark x1="65200" y1="24722" x2="65200" y2="44444"/>
                        <a14:foregroundMark x1="71900" y1="31852" x2="70200" y2="51389"/>
                        <a14:foregroundMark x1="69200" y1="60463" x2="59800" y2="47500"/>
                        <a14:foregroundMark x1="75300" y1="54259" x2="61100" y2="48333"/>
                        <a14:foregroundMark x1="59800" y1="30370" x2="56700" y2="41389"/>
                        <a14:foregroundMark x1="57500" y1="68426" x2="54000" y2="46759"/>
                        <a14:foregroundMark x1="38300" y1="61667" x2="67900" y2="65926"/>
                        <a14:foregroundMark x1="47100" y1="46019" x2="58300" y2="52593"/>
                        <a14:foregroundMark x1="46500" y1="58148" x2="52700" y2="57963"/>
                        <a14:foregroundMark x1="45400" y1="46204" x2="50600" y2="57407"/>
                        <a14:foregroundMark x1="36200" y1="40370" x2="46700" y2="51389"/>
                        <a14:foregroundMark x1="43100" y1="64167" x2="50600" y2="68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043"/>
          <a:stretch/>
        </p:blipFill>
        <p:spPr bwMode="auto">
          <a:xfrm>
            <a:off x="4606336" y="1691476"/>
            <a:ext cx="1825644" cy="170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39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://www.ucu.ac.ug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mailto:info@ucu.ac.ug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B9D1C1C-C874-3B4C-BFA8-814DB2F2DE8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791" y="0"/>
            <a:ext cx="2415209" cy="735885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434D8-BE21-3C4F-B966-C264E42D1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B1CAF-D81D-0A48-8CB7-312CE0A6A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366C6-09A4-FC49-AA7E-13E205387E20}"/>
              </a:ext>
            </a:extLst>
          </p:cNvPr>
          <p:cNvSpPr/>
          <p:nvPr userDrawn="1"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A8F2F6-9030-F947-8EE4-619A9675FB06}"/>
              </a:ext>
            </a:extLst>
          </p:cNvPr>
          <p:cNvSpPr/>
          <p:nvPr userDrawn="1"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36DCC5-4FD1-2248-B65C-9FF0F5F3BFA1}"/>
              </a:ext>
            </a:extLst>
          </p:cNvPr>
          <p:cNvSpPr/>
          <p:nvPr userDrawn="1"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70F0D-47D2-7442-8BCD-A0A76A1F0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EAA9A-AD91-1245-A5C3-6A0CBEF58DBD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5CA02-C0BE-C748-BB6D-191D4A1F6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5D528E-B0C4-574C-AE6E-B35A83CFEB13}" type="datetimeFigureOut">
              <a:rPr lang="en-GB" smtClean="0"/>
              <a:t>31/08/2026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50729-1D81-7842-BB34-E0DBD93FE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30695-89F9-9D40-8B73-8CF0F208D14C}"/>
              </a:ext>
            </a:extLst>
          </p:cNvPr>
          <p:cNvSpPr txBox="1"/>
          <p:nvPr userDrawn="1"/>
        </p:nvSpPr>
        <p:spPr>
          <a:xfrm>
            <a:off x="3975652" y="6176964"/>
            <a:ext cx="3627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50" b="1" dirty="0">
                <a:solidFill>
                  <a:srgbClr val="0B3D91"/>
                </a:solidFill>
              </a:rPr>
              <a:t>A Complete Education for A Complete Person</a:t>
            </a:r>
          </a:p>
          <a:p>
            <a:pPr algn="ctr"/>
            <a:br>
              <a:rPr lang="en-GB" sz="700" dirty="0"/>
            </a:br>
            <a:r>
              <a:rPr lang="en-GB" sz="700" dirty="0"/>
              <a:t>P.O. Box 4, </a:t>
            </a:r>
            <a:r>
              <a:rPr lang="en-GB" sz="700" dirty="0" err="1"/>
              <a:t>Mukono</a:t>
            </a:r>
            <a:r>
              <a:rPr lang="en-GB" sz="700" dirty="0"/>
              <a:t>, Uganda, Plot 67-173, Bishop Tucker Road, </a:t>
            </a:r>
            <a:r>
              <a:rPr lang="en-GB" sz="700" dirty="0" err="1"/>
              <a:t>Mukono</a:t>
            </a:r>
            <a:r>
              <a:rPr lang="en-GB" sz="700" dirty="0"/>
              <a:t> Hill</a:t>
            </a:r>
            <a:endParaRPr lang="en-US" sz="700" dirty="0"/>
          </a:p>
          <a:p>
            <a:pPr algn="ctr"/>
            <a:r>
              <a:rPr lang="en-GB" sz="700" dirty="0"/>
              <a:t>Tel: +256 (0) 312 350 800 Email: </a:t>
            </a:r>
            <a:r>
              <a:rPr lang="en-GB" sz="700" u="sng" dirty="0">
                <a:solidFill>
                  <a:srgbClr val="0000FF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r>
              <a:rPr lang="en-GB" sz="700" dirty="0">
                <a:solidFill>
                  <a:srgbClr val="0000FF"/>
                </a:solidFill>
              </a:rPr>
              <a:t> </a:t>
            </a:r>
            <a:r>
              <a:rPr lang="en-GB" sz="700" dirty="0"/>
              <a:t>Web: </a:t>
            </a:r>
            <a:r>
              <a:rPr lang="en-GB" sz="700" u="sng" dirty="0">
                <a:solidFill>
                  <a:srgbClr val="0000FF"/>
                </a:solidFill>
              </a:rPr>
              <a:t>https://</a:t>
            </a:r>
            <a:r>
              <a:rPr lang="en-GB" sz="700" u="sng" dirty="0">
                <a:solidFill>
                  <a:srgbClr val="0000FF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ucu.ac.ug</a:t>
            </a:r>
            <a:endParaRPr lang="en-US" sz="700" u="sng" dirty="0">
              <a:solidFill>
                <a:srgbClr val="0000FF"/>
              </a:solidFill>
            </a:endParaRPr>
          </a:p>
          <a:p>
            <a:pPr algn="ctr"/>
            <a:r>
              <a:rPr lang="en-GB" sz="650" dirty="0"/>
              <a:t>Founded by the Province of the Church of Uganda. Chartered by the Government of Uganda</a:t>
            </a:r>
            <a:endParaRPr lang="en-US" sz="65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344BD7-844D-7745-BB54-5181F5646184}"/>
              </a:ext>
            </a:extLst>
          </p:cNvPr>
          <p:cNvCxnSpPr>
            <a:cxnSpLocks/>
          </p:cNvCxnSpPr>
          <p:nvPr userDrawn="1"/>
        </p:nvCxnSpPr>
        <p:spPr>
          <a:xfrm>
            <a:off x="0" y="6395027"/>
            <a:ext cx="12192000" cy="0"/>
          </a:xfrm>
          <a:prstGeom prst="line">
            <a:avLst/>
          </a:prstGeom>
          <a:ln w="12700">
            <a:solidFill>
              <a:srgbClr val="D701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840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497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7014D"/>
        </a:buClr>
        <a:buFont typeface="Wingdings" pitchFamily="2" charset="2"/>
        <a:buChar char="q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B3D91"/>
        </a:buClr>
        <a:buSzPct val="95000"/>
        <a:buFont typeface="Wingdings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90000"/>
        <a:buFont typeface="Wingdings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70167"/>
        </a:buClr>
        <a:buSzPct val="88000"/>
        <a:buFont typeface="Wingdings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931"/>
        </a:buClr>
        <a:buSzPct val="86000"/>
        <a:buFont typeface="Wingdings" pitchFamily="2" charset="2"/>
        <a:buChar char="q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3D0C4-F8F7-40A8-93C0-08F3C108B8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Title of the paper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439602-FA54-4678-8833-BA254F0D9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Reviewer Name / Reg No / Std No</a:t>
            </a:r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CBA7AC-0A50-45F8-B4CD-DE741585410F}"/>
              </a:ext>
            </a:extLst>
          </p:cNvPr>
          <p:cNvSpPr/>
          <p:nvPr/>
        </p:nvSpPr>
        <p:spPr>
          <a:xfrm>
            <a:off x="3639670" y="465763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</a:rPr>
              <a:t>Each 8 minutes of presentation</a:t>
            </a:r>
          </a:p>
          <a:p>
            <a:pPr algn="ctr"/>
            <a:r>
              <a:rPr lang="en-GB" dirty="0">
                <a:solidFill>
                  <a:srgbClr val="C00000"/>
                </a:solidFill>
              </a:rPr>
              <a:t>Presentation Date: 1</a:t>
            </a:r>
            <a:r>
              <a:rPr lang="en-GB" baseline="30000" dirty="0">
                <a:solidFill>
                  <a:srgbClr val="C00000"/>
                </a:solidFill>
              </a:rPr>
              <a:t>st</a:t>
            </a:r>
            <a:r>
              <a:rPr lang="en-GB" dirty="0">
                <a:solidFill>
                  <a:srgbClr val="C00000"/>
                </a:solidFill>
              </a:rPr>
              <a:t> Sept 2026 2:00pm </a:t>
            </a:r>
          </a:p>
          <a:p>
            <a:pPr algn="ctr"/>
            <a:r>
              <a:rPr lang="en-GB" dirty="0">
                <a:solidFill>
                  <a:srgbClr val="C00000"/>
                </a:solidFill>
              </a:rPr>
              <a:t>Presentations will be Physical </a:t>
            </a:r>
            <a:r>
              <a:rPr lang="en-GB" b="1" dirty="0">
                <a:solidFill>
                  <a:srgbClr val="C00000"/>
                </a:solidFill>
              </a:rPr>
              <a:t>not Online</a:t>
            </a:r>
          </a:p>
          <a:p>
            <a:pPr algn="ctr"/>
            <a:r>
              <a:rPr lang="en-GB" dirty="0">
                <a:solidFill>
                  <a:srgbClr val="C00000"/>
                </a:solidFill>
              </a:rPr>
              <a:t>Deadline to submit the PPTs: 1:00pm </a:t>
            </a:r>
            <a:endParaRPr lang="en-U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71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5ABE-B1CA-4F78-86AF-82D3711E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 presentation	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DE996-6BFC-4802-9321-68DB76B4E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31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  <a:buFont typeface="Noto Sans"/>
              <a:buChar char="❑"/>
            </a:pPr>
            <a:r>
              <a:rPr lang="en-GB" dirty="0"/>
              <a:t>Introduction / Problem</a:t>
            </a:r>
          </a:p>
          <a:p>
            <a:pPr marL="342900" lvl="0" indent="-342931">
              <a:lnSpc>
                <a:spcPct val="100000"/>
              </a:lnSpc>
              <a:spcBef>
                <a:spcPts val="536"/>
              </a:spcBef>
              <a:buClr>
                <a:schemeClr val="dk1"/>
              </a:buClr>
              <a:buSzPct val="100000"/>
              <a:buFont typeface="Noto Sans"/>
              <a:buChar char="❑"/>
            </a:pPr>
            <a:r>
              <a:rPr lang="en-GB" dirty="0"/>
              <a:t>Methodology – </a:t>
            </a:r>
            <a:r>
              <a:rPr lang="en-GB" dirty="0">
                <a:solidFill>
                  <a:srgbClr val="C00000"/>
                </a:solidFill>
              </a:rPr>
              <a:t>Pay attention to this section </a:t>
            </a:r>
          </a:p>
          <a:p>
            <a:pPr marL="342900" lvl="0" indent="-342931">
              <a:lnSpc>
                <a:spcPct val="100000"/>
              </a:lnSpc>
              <a:spcBef>
                <a:spcPts val="536"/>
              </a:spcBef>
              <a:buClr>
                <a:schemeClr val="dk1"/>
              </a:buClr>
              <a:buSzPct val="100000"/>
              <a:buFont typeface="Noto Sans"/>
              <a:buChar char="❑"/>
            </a:pPr>
            <a:r>
              <a:rPr lang="en-GB" dirty="0"/>
              <a:t>Results – Discuss the ML models used in details plus XAI techniques – </a:t>
            </a:r>
            <a:r>
              <a:rPr lang="en-GB" dirty="0">
                <a:solidFill>
                  <a:srgbClr val="C00000"/>
                </a:solidFill>
              </a:rPr>
              <a:t>Pay attention to this section</a:t>
            </a:r>
          </a:p>
          <a:p>
            <a:pPr marL="342900" lvl="0" indent="-342931">
              <a:lnSpc>
                <a:spcPct val="100000"/>
              </a:lnSpc>
              <a:spcBef>
                <a:spcPts val="536"/>
              </a:spcBef>
              <a:buClr>
                <a:schemeClr val="dk1"/>
              </a:buClr>
              <a:buSzPct val="100000"/>
              <a:buFont typeface="Noto Sans"/>
              <a:buChar char="❑"/>
            </a:pPr>
            <a:r>
              <a:rPr lang="en-GB" dirty="0"/>
              <a:t>Conclusion</a:t>
            </a:r>
          </a:p>
          <a:p>
            <a:pPr marL="342900" lvl="0" indent="-342931">
              <a:lnSpc>
                <a:spcPct val="100000"/>
              </a:lnSpc>
              <a:spcBef>
                <a:spcPts val="536"/>
              </a:spcBef>
              <a:buClr>
                <a:schemeClr val="dk1"/>
              </a:buClr>
              <a:buSzPct val="100000"/>
              <a:buFont typeface="Noto Sans"/>
              <a:buChar char="❑"/>
            </a:pPr>
            <a:r>
              <a:rPr lang="en-GB" dirty="0"/>
              <a:t>Any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52835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7743-4C8A-8F5D-12B0-2DD54182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Introduction / Problem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E8265-AB07-B827-1CCF-CA0AEB018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3167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30C22-EAA1-DCE5-6E34-95806380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C0912-39BA-B534-09F4-D24B1A52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7640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58EDA-B65B-3E21-0AF1-2F9264CDD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D438F-7F86-5A1F-7805-A2A641828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59987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FF82-D794-772D-A222-089D0DFB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Conclusion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EFFA1-DF8A-FEC3-6204-C717B1F5D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59994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45DF8-B194-0310-2615-1D8F87214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Any Recommendation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4684-9D32-37B0-41FC-B33512A1A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209600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79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Noto Sans</vt:lpstr>
      <vt:lpstr>Trebuchet MS</vt:lpstr>
      <vt:lpstr>Wingdings</vt:lpstr>
      <vt:lpstr>1_Office Theme</vt:lpstr>
      <vt:lpstr>Title of the paper</vt:lpstr>
      <vt:lpstr>Content presentation </vt:lpstr>
      <vt:lpstr>Introduction / Problem</vt:lpstr>
      <vt:lpstr>Methodology</vt:lpstr>
      <vt:lpstr>Results</vt:lpstr>
      <vt:lpstr>Conclusion</vt:lpstr>
      <vt:lpstr>Any 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paper</dc:title>
  <dc:creator>stephen kalyesubula</dc:creator>
  <cp:lastModifiedBy>Charis Opol</cp:lastModifiedBy>
  <cp:revision>4</cp:revision>
  <dcterms:created xsi:type="dcterms:W3CDTF">2026-08-29T19:30:28Z</dcterms:created>
  <dcterms:modified xsi:type="dcterms:W3CDTF">2026-09-01T13:39:55Z</dcterms:modified>
</cp:coreProperties>
</file>