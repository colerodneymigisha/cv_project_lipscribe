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9" autoAdjust="0"/>
    <p:restoredTop sz="94660"/>
  </p:normalViewPr>
  <p:slideViewPr>
    <p:cSldViewPr snapToGrid="0">
      <p:cViewPr varScale="1">
        <p:scale>
          <a:sx n="75" d="100"/>
          <a:sy n="75" d="100"/>
        </p:scale>
        <p:origin x="327" y="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300" b="1">
                <a:solidFill>
                  <a:srgbClr val="1F497D"/>
                </a:solidFill>
              </a:rPr>
              <a:t>Word error rate (%) as noise increases, lower is better</a:t>
            </a:r>
          </a:p>
        </c:rich>
      </c:tx>
      <c:overlay val="0"/>
    </c:title>
    <c:autoTitleDeleted val="0"/>
    <c:plotArea>
      <c:layout/>
      <c:barChart>
        <c:barDir val="col"/>
        <c:grouping val="clustered"/>
        <c:varyColors val="1"/>
        <c:ser>
          <c:idx val="0"/>
          <c:order val="0"/>
          <c:tx>
            <c:strRef>
              <c:f>Sheet1!$B$1</c:f>
              <c:strCache>
                <c:ptCount val="1"/>
                <c:pt idx="0">
                  <c:v>Audio only</c:v>
                </c:pt>
              </c:strCache>
            </c:strRef>
          </c:tx>
          <c:spPr>
            <a:solidFill>
              <a:srgbClr val="8A94A6"/>
            </a:solidFill>
          </c:spPr>
          <c:invertIfNegative val="1"/>
          <c:dLbls>
            <c:numFmt formatCode="0.0" sourceLinked="0"/>
            <c:spPr>
              <a:noFill/>
              <a:ln>
                <a:noFill/>
              </a:ln>
              <a:effectLst/>
            </c:spPr>
            <c:txPr>
              <a:bodyPr/>
              <a:lstStyle/>
              <a:p>
                <a:pPr>
                  <a:defRPr sz="1200">
                    <a:solidFill>
                      <a:srgbClr val="1A1A1A"/>
                    </a:solidFill>
                  </a:defRPr>
                </a:pPr>
                <a:endParaRPr lang="en-U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Clean</c:v>
                </c:pt>
                <c:pt idx="1">
                  <c:v>5 dB</c:v>
                </c:pt>
                <c:pt idx="2">
                  <c:v>0 dB</c:v>
                </c:pt>
                <c:pt idx="3">
                  <c:v>−5 dB</c:v>
                </c:pt>
              </c:strCache>
            </c:strRef>
          </c:cat>
          <c:val>
            <c:numRef>
              <c:f>Sheet1!$B$2:$B$5</c:f>
              <c:numCache>
                <c:formatCode>General</c:formatCode>
                <c:ptCount val="4"/>
                <c:pt idx="0">
                  <c:v>2.7</c:v>
                </c:pt>
                <c:pt idx="1">
                  <c:v>7.2</c:v>
                </c:pt>
                <c:pt idx="2">
                  <c:v>32.5</c:v>
                </c:pt>
                <c:pt idx="3">
                  <c:v>91.4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C4F-4334-B979-F3575DEA7ED3}"/>
            </c:ext>
          </c:extLst>
        </c:ser>
        <c:ser>
          <c:idx val="1"/>
          <c:order val="1"/>
          <c:tx>
            <c:strRef>
              <c:f>Sheet1!$C$1</c:f>
              <c:strCache>
                <c:ptCount val="1"/>
                <c:pt idx="0">
                  <c:v>Audio + lips</c:v>
                </c:pt>
              </c:strCache>
            </c:strRef>
          </c:tx>
          <c:spPr>
            <a:solidFill>
              <a:srgbClr val="0B3D91"/>
            </a:solidFill>
          </c:spPr>
          <c:invertIfNegative val="1"/>
          <c:dLbls>
            <c:numFmt formatCode="0.0" sourceLinked="0"/>
            <c:spPr>
              <a:noFill/>
              <a:ln>
                <a:noFill/>
              </a:ln>
              <a:effectLst/>
            </c:spPr>
            <c:txPr>
              <a:bodyPr/>
              <a:lstStyle/>
              <a:p>
                <a:pPr>
                  <a:defRPr sz="1200">
                    <a:solidFill>
                      <a:srgbClr val="1A1A1A"/>
                    </a:solidFill>
                  </a:defRPr>
                </a:pPr>
                <a:endParaRPr lang="en-U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Clean</c:v>
                </c:pt>
                <c:pt idx="1">
                  <c:v>5 dB</c:v>
                </c:pt>
                <c:pt idx="2">
                  <c:v>0 dB</c:v>
                </c:pt>
                <c:pt idx="3">
                  <c:v>−5 dB</c:v>
                </c:pt>
              </c:strCache>
            </c:strRef>
          </c:cat>
          <c:val>
            <c:numRef>
              <c:f>Sheet1!$C$2:$C$5</c:f>
              <c:numCache>
                <c:formatCode>General</c:formatCode>
                <c:ptCount val="4"/>
                <c:pt idx="0">
                  <c:v>2.8</c:v>
                </c:pt>
                <c:pt idx="1">
                  <c:v>5.9</c:v>
                </c:pt>
                <c:pt idx="2">
                  <c:v>22.4</c:v>
                </c:pt>
                <c:pt idx="3">
                  <c:v>75.099999999999994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C4F-4334-B979-F3575DEA7ED3}"/>
            </c:ext>
          </c:extLst>
        </c:ser>
        <c:dLbls>
          <c:dLblPos val="outEnd"/>
          <c:showLegendKey val="0"/>
          <c:showVal val="1"/>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8A94A6"/>
            </a:solidFill>
          </a:ln>
        </c:spPr>
        <c:txPr>
          <a:bodyPr/>
          <a:lstStyle/>
          <a:p>
            <a:pPr>
              <a:defRPr sz="1200"/>
            </a:pPr>
            <a:endParaRPr lang="en-UG"/>
          </a:p>
        </c:txPr>
        <c:crossAx val="-2113994440"/>
        <c:crosses val="autoZero"/>
        <c:auto val="1"/>
        <c:lblAlgn val="ctr"/>
        <c:lblOffset val="100"/>
        <c:noMultiLvlLbl val="0"/>
      </c:catAx>
      <c:valAx>
        <c:axId val="-2113994440"/>
        <c:scaling>
          <c:orientation val="minMax"/>
          <c:max val="100"/>
          <c:min val="0"/>
        </c:scaling>
        <c:delete val="0"/>
        <c:axPos val="l"/>
        <c:majorGridlines>
          <c:spPr>
            <a:ln>
              <a:solidFill>
                <a:srgbClr val="E1E5EB"/>
              </a:solidFill>
            </a:ln>
          </c:spPr>
        </c:majorGridlines>
        <c:numFmt formatCode="General" sourceLinked="1"/>
        <c:majorTickMark val="out"/>
        <c:minorTickMark val="none"/>
        <c:tickLblPos val="nextTo"/>
        <c:spPr>
          <a:ln>
            <a:noFill/>
          </a:ln>
        </c:spPr>
        <c:txPr>
          <a:bodyPr/>
          <a:lstStyle/>
          <a:p>
            <a:pPr>
              <a:defRPr sz="1200"/>
            </a:pPr>
            <a:endParaRPr lang="en-UG"/>
          </a:p>
        </c:txPr>
        <c:crossAx val="-2068027336"/>
        <c:crosses val="autoZero"/>
        <c:crossBetween val="between"/>
        <c:majorUnit val="25"/>
      </c:valAx>
    </c:plotArea>
    <c:legend>
      <c:legendPos val="b"/>
      <c:overlay val="0"/>
      <c:txPr>
        <a:bodyPr/>
        <a:lstStyle/>
        <a:p>
          <a:pPr>
            <a:defRPr sz="1200"/>
          </a:pPr>
          <a:endParaRPr lang="en-UG"/>
        </a:p>
      </c:txPr>
    </c:legend>
    <c:plotVisOnly val="1"/>
    <c:dispBlanksAs val="gap"/>
    <c:showDLblsOverMax val="1"/>
  </c:chart>
  <c:txPr>
    <a:bodyPr/>
    <a:lstStyle/>
    <a:p>
      <a:pPr>
        <a:defRPr sz="1200">
          <a:solidFill>
            <a:srgbClr val="555F6E"/>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5482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are Group 4. LipScribe improves live captions in noisy places by letting the system watch the speaker's lips as well as listen. In the next eight minutes: the problem, the user, the data, the pipeline, our baseline and advanced components, how we evaluate, the risks and the six-week plan.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 captioning tools rely only on audio, so they break down exactly where people need them: noisy classrooms, transport, outdoor events. The chart is from Li et al. 2023 on the LRS2 dataset with babble noise: an audio-only recogniser goes from about 3 percent word error rate in clean audio to 32.5 percent at 0 dB. Adding lip information brings that down to 22.4 percent. Lips are not affected by acoustic noise, which is why this is a computer-vision problem and not only a speech problem. Note that at minus 5 dB both systems are still poor, so we will report results honestly at every noise level.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stakeholder is a deaf or hard-of-hearing person following speech in a lecture, meeting or public service. The input is video of a frontal speaker with the matching audio. The output is a text caption. The decision it supports is simple: the user can follow what is being said without waiting for an interpreter. The primary computer-vision task is visual speech recognition, a video sequence-to-text task, fused with audio. We are also explicit about what the prototype does not do.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use the GRID audiovisual sentence corpus: 34 speakers, about 33,000 short sentences, with clean frontal video and aligned audio and transcripts, so no manual annotation is needed. Every sentence follows the same six-slot grammar, for example bin blue at F two now. To simulate real conditions we mix MUSAN noise into the audio at five signal-to-noise levels. We split by speaker, so test speakers are never seen in training. The main limitation is that GRID is studio-recorded with a small fixed vocabulary, which we treat as a known risk.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actual planned system. The visual stream: MediaPipe Face Mesh finds the lip landmarks in each frame, we crop and resize the mouth to 96 by 96, a 3D convolutional front-end with an EfficientNetB0 backbone extracts shape and motion, and a bidirectional LSTM models the sequence. The audio stream: audio, with MUSAN noise added, becomes log-Mel and MFCC features encoded by another BiLSTM. An attention-based fusion module weights the lips more when the audio is noisy. CTC with beam search turns the fused sequence into text. During training, modality dropout stops the network ignoring the lips.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building the full model we train three simple baselines on the same split and the same noise levels: audio only, visual only, and simple concatenation of the two. That gives us a fair reference for every later change. For transfer learning the visual stream starts from an ImageNet-pretrained EfficientNetB0. We first freeze it and train the layers around it, then unfreeze the top blocks at a low learning rate, and compare the two. LipSyncNet used this 3D-CNN plus EfficientNetB0 plus BiLSTM plus CTC design on GRID, and the NASNetMobile study shows a pretrained backbone under 5 million parameters is workable for lip reading, which matters for our compute.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requirements ask for at least two advanced capabilities that each add value. First, video processing: a single frame cannot tell p from b, so we use 3D convolutions that see lip shape and motion across neighbouring frames. Second, a multimodal component: cross-modal attention fusion that leans on the lips when the audio is unreliable. The evidence for fusion is KanAVNet: audio only 17.6 percent word error rate, visual only 30.2, fused 9.8. Supporting both, we run a robustness investigation across noise levels on unseen speakers, with an ablation of each component.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primary metric is word error rate, with character error rate alongside it, measured on held-out speakers at every noise level. We set success criteria in three categories. Model quality: below 10 percent word error rate in clean conditions and a clear gain over audio only at 0 and minus 5 dB. Engineering: the final model loads and runs from a clean inference script on unseen video. Practical: captions are shown in a simple web demo that a user can read. We compare against all three baselines and study failures, especially homophene confusions. Targets may be revised after the baseline, and we will explain any change.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risks. GRID is studio-recorded with a fixed vocabulary, so results may not transfer to natural speech; we state that as a limitation and test on a few clips of our own. Our noise is synthetic. Faces are identifiable, so privacy and consent matter: GRID was recorded for research, and any clips we record need written consent and we keep only mouth crops. Compute is limited. Landmark detection can fail with pose, lighting or occlusion. Finally scope: emotion detection and language identification are in our objectives, but we treat them as stretch goals so the core transcription work is finished properly.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week has a target and the evidence we will be able to show. Week 1 is data: download, mouth crops, speaker split. Week 2 the audio-only and visual-only baselines. Week 3 the concatenation baseline and transfer learning, with error analysis. Week 4 attention fusion and controlled experiments. Week 5 the advanced components, ablated, and the robustness sweep. Week 6 integration, unseen-data testing, the inference script and demo. Every member can explain every stage.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behind the figures and design choices on the earlier slides.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We welcome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hyperlink" Target="mailto:info@ucu.ac.ug" TargetMode="External"/><Relationship Id="rId3" Type="http://schemas.microsoft.com/office/2007/relationships/hdphoto" Target="../media/hdphoto1.wdp"/><Relationship Id="rId7" Type="http://schemas.openxmlformats.org/officeDocument/2006/relationships/hyperlink" Target="https://ucu.ac.ug/" TargetMode="External"/><Relationship Id="rId2" Type="http://schemas.openxmlformats.org/officeDocument/2006/relationships/image" Target="../media/image2.png"/><Relationship Id="rId1" Type="http://schemas.openxmlformats.org/officeDocument/2006/relationships/slideMaster" Target="../slideMasters/slideMaster1.xml"/><Relationship Id="rId6" Type="http://schemas.microsoft.com/office/2007/relationships/hdphoto" Target="../media/hdphoto2.wdp"/><Relationship Id="rId11" Type="http://schemas.microsoft.com/office/2007/relationships/hdphoto" Target="../media/hdphoto3.wdp"/><Relationship Id="rId5" Type="http://schemas.openxmlformats.org/officeDocument/2006/relationships/image" Target="../media/image4.png"/><Relationship Id="rId10"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71078-AA0E-F840-AC0F-D54B3CBDC30F}"/>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D5F5036E-8807-6046-9CB7-EF6AF274EC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DEE2757-9B41-EB41-8A8C-6480BC75C842}"/>
              </a:ext>
            </a:extLst>
          </p:cNvPr>
          <p:cNvSpPr>
            <a:spLocks noGrp="1"/>
          </p:cNvSpPr>
          <p:nvPr>
            <p:ph type="dt" sz="half" idx="10"/>
          </p:nvPr>
        </p:nvSpPr>
        <p:spPr/>
        <p:txBody>
          <a:bodyPr/>
          <a:lstStyle/>
          <a:p>
            <a:fld id="{145D528E-B0C4-574C-AE6E-B35A83CFEB13}" type="datetimeFigureOut">
              <a:rPr lang="en-GB" smtClean="0"/>
              <a:t>08/10/2026</a:t>
            </a:fld>
            <a:endParaRPr lang="en-GB"/>
          </a:p>
        </p:txBody>
      </p:sp>
      <p:sp>
        <p:nvSpPr>
          <p:cNvPr id="5" name="Footer Placeholder 4">
            <a:extLst>
              <a:ext uri="{FF2B5EF4-FFF2-40B4-BE49-F238E27FC236}">
                <a16:creationId xmlns:a16="http://schemas.microsoft.com/office/drawing/2014/main" id="{2C22485F-D14F-A34F-829B-18FEF522351A}"/>
              </a:ext>
            </a:extLst>
          </p:cNvPr>
          <p:cNvSpPr>
            <a:spLocks noGrp="1"/>
          </p:cNvSpPr>
          <p:nvPr>
            <p:ph type="ftr" sz="quarter" idx="11"/>
          </p:nvPr>
        </p:nvSpPr>
        <p:spPr>
          <a:xfrm>
            <a:off x="2116899" y="6356350"/>
            <a:ext cx="8129391" cy="365125"/>
          </a:xfrm>
          <a:prstGeom prst="rect">
            <a:avLst/>
          </a:prstGeom>
        </p:spPr>
        <p:txBody>
          <a:bodyPr/>
          <a:lstStyle/>
          <a:p>
            <a:endParaRPr lang="en-GB" dirty="0"/>
          </a:p>
        </p:txBody>
      </p:sp>
      <p:sp>
        <p:nvSpPr>
          <p:cNvPr id="6" name="Slide Number Placeholder 5">
            <a:extLst>
              <a:ext uri="{FF2B5EF4-FFF2-40B4-BE49-F238E27FC236}">
                <a16:creationId xmlns:a16="http://schemas.microsoft.com/office/drawing/2014/main" id="{C03D89A4-A6FD-2F41-BC1B-990BD11D0A25}"/>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1288731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B776C-CF19-2E46-BB78-0AF7AF133FC7}"/>
              </a:ext>
            </a:extLst>
          </p:cNvPr>
          <p:cNvSpPr>
            <a:spLocks noGrp="1"/>
          </p:cNvSpPr>
          <p:nvPr>
            <p:ph type="title"/>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065F3F6D-B2D0-A04A-9CAC-F688DEAE433A}"/>
              </a:ext>
            </a:extLst>
          </p:cNvPr>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78FFEDF4-24C6-7D41-9B25-9320CCEC0EA7}"/>
              </a:ext>
            </a:extLst>
          </p:cNvPr>
          <p:cNvSpPr>
            <a:spLocks noGrp="1"/>
          </p:cNvSpPr>
          <p:nvPr>
            <p:ph type="dt" sz="half" idx="10"/>
          </p:nvPr>
        </p:nvSpPr>
        <p:spPr/>
        <p:txBody>
          <a:bodyPr/>
          <a:lstStyle/>
          <a:p>
            <a:fld id="{145D528E-B0C4-574C-AE6E-B35A83CFEB13}" type="datetimeFigureOut">
              <a:rPr lang="en-GB" smtClean="0"/>
              <a:t>08/10/2026</a:t>
            </a:fld>
            <a:endParaRPr lang="en-GB"/>
          </a:p>
        </p:txBody>
      </p:sp>
      <p:sp>
        <p:nvSpPr>
          <p:cNvPr id="5" name="Footer Placeholder 4">
            <a:extLst>
              <a:ext uri="{FF2B5EF4-FFF2-40B4-BE49-F238E27FC236}">
                <a16:creationId xmlns:a16="http://schemas.microsoft.com/office/drawing/2014/main" id="{DC3ED841-6832-E942-AA5E-A238D3916D92}"/>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0A761C0D-619D-E741-BBF0-25270D9C7AC4}"/>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22941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ACDA-EEA7-E94E-BBF7-B17C263325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AE3D8A1-5B2F-7143-98F4-58335FF27D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D7EBA56-5030-D144-BF76-5FD43098CCC9}"/>
              </a:ext>
            </a:extLst>
          </p:cNvPr>
          <p:cNvSpPr>
            <a:spLocks noGrp="1"/>
          </p:cNvSpPr>
          <p:nvPr>
            <p:ph type="dt" sz="half" idx="10"/>
          </p:nvPr>
        </p:nvSpPr>
        <p:spPr/>
        <p:txBody>
          <a:bodyPr/>
          <a:lstStyle/>
          <a:p>
            <a:fld id="{145D528E-B0C4-574C-AE6E-B35A83CFEB13}" type="datetimeFigureOut">
              <a:rPr lang="en-GB" smtClean="0"/>
              <a:t>08/10/2026</a:t>
            </a:fld>
            <a:endParaRPr lang="en-GB"/>
          </a:p>
        </p:txBody>
      </p:sp>
      <p:sp>
        <p:nvSpPr>
          <p:cNvPr id="5" name="Footer Placeholder 4">
            <a:extLst>
              <a:ext uri="{FF2B5EF4-FFF2-40B4-BE49-F238E27FC236}">
                <a16:creationId xmlns:a16="http://schemas.microsoft.com/office/drawing/2014/main" id="{DF0D8E8B-6288-EF46-820D-86183E58AE9C}"/>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83E42B2E-027D-BF44-B66B-B991F021B757}"/>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2464641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EB1F6-8518-C943-991B-B1F201D8F1D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3413681-A652-D44F-81CD-C502DFA1C13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A7166B2-225A-D34C-B913-192EC0F6434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EA23FAB-1B70-EC4F-B39C-F6CD17E65953}"/>
              </a:ext>
            </a:extLst>
          </p:cNvPr>
          <p:cNvSpPr>
            <a:spLocks noGrp="1"/>
          </p:cNvSpPr>
          <p:nvPr>
            <p:ph type="dt" sz="half" idx="10"/>
          </p:nvPr>
        </p:nvSpPr>
        <p:spPr/>
        <p:txBody>
          <a:bodyPr/>
          <a:lstStyle/>
          <a:p>
            <a:fld id="{145D528E-B0C4-574C-AE6E-B35A83CFEB13}" type="datetimeFigureOut">
              <a:rPr lang="en-GB" smtClean="0"/>
              <a:t>08/10/2026</a:t>
            </a:fld>
            <a:endParaRPr lang="en-GB"/>
          </a:p>
        </p:txBody>
      </p:sp>
      <p:sp>
        <p:nvSpPr>
          <p:cNvPr id="6" name="Footer Placeholder 5">
            <a:extLst>
              <a:ext uri="{FF2B5EF4-FFF2-40B4-BE49-F238E27FC236}">
                <a16:creationId xmlns:a16="http://schemas.microsoft.com/office/drawing/2014/main" id="{B26BC87A-1BAB-8545-BF77-5BD95297EBF9}"/>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7E06C3B2-C2C4-BB41-BF5B-31A6780FC557}"/>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3844291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DD7CE-FDDF-A540-BF41-BE156F4B427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482DC54-754C-D347-A493-B6434DEE1759}"/>
              </a:ext>
            </a:extLst>
          </p:cNvPr>
          <p:cNvSpPr>
            <a:spLocks noGrp="1"/>
          </p:cNvSpPr>
          <p:nvPr>
            <p:ph type="body" idx="1"/>
          </p:nvPr>
        </p:nvSpPr>
        <p:spPr>
          <a:xfrm>
            <a:off x="839788" y="1681163"/>
            <a:ext cx="5157787" cy="823912"/>
          </a:xfrm>
          <a:solidFill>
            <a:srgbClr val="D7014D"/>
          </a:solidFill>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C741B5BE-5B59-1041-B601-8C4E8B9D9090}"/>
              </a:ext>
            </a:extLst>
          </p:cNvPr>
          <p:cNvSpPr>
            <a:spLocks noGrp="1"/>
          </p:cNvSpPr>
          <p:nvPr>
            <p:ph sz="half" idx="2"/>
          </p:nvPr>
        </p:nvSpPr>
        <p:spPr>
          <a:xfrm>
            <a:off x="839788" y="2505075"/>
            <a:ext cx="5157787"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A9EE4A3B-95D8-264A-AC69-DCD7252801AC}"/>
              </a:ext>
            </a:extLst>
          </p:cNvPr>
          <p:cNvSpPr>
            <a:spLocks noGrp="1"/>
          </p:cNvSpPr>
          <p:nvPr>
            <p:ph type="body" sz="quarter" idx="3"/>
          </p:nvPr>
        </p:nvSpPr>
        <p:spPr>
          <a:xfrm>
            <a:off x="6172200" y="1681163"/>
            <a:ext cx="5183188" cy="823912"/>
          </a:xfrm>
          <a:solidFill>
            <a:srgbClr val="FFD932"/>
          </a:solidFill>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a:extLst>
              <a:ext uri="{FF2B5EF4-FFF2-40B4-BE49-F238E27FC236}">
                <a16:creationId xmlns:a16="http://schemas.microsoft.com/office/drawing/2014/main" id="{763569E4-68F9-124C-BAFA-15C75ED6A50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84113C7-3C31-C646-99EB-9D1295DA8F59}"/>
              </a:ext>
            </a:extLst>
          </p:cNvPr>
          <p:cNvSpPr>
            <a:spLocks noGrp="1"/>
          </p:cNvSpPr>
          <p:nvPr>
            <p:ph type="dt" sz="half" idx="10"/>
          </p:nvPr>
        </p:nvSpPr>
        <p:spPr/>
        <p:txBody>
          <a:bodyPr/>
          <a:lstStyle/>
          <a:p>
            <a:fld id="{145D528E-B0C4-574C-AE6E-B35A83CFEB13}" type="datetimeFigureOut">
              <a:rPr lang="en-GB" smtClean="0"/>
              <a:t>08/10/2026</a:t>
            </a:fld>
            <a:endParaRPr lang="en-GB"/>
          </a:p>
        </p:txBody>
      </p:sp>
      <p:sp>
        <p:nvSpPr>
          <p:cNvPr id="8" name="Footer Placeholder 7">
            <a:extLst>
              <a:ext uri="{FF2B5EF4-FFF2-40B4-BE49-F238E27FC236}">
                <a16:creationId xmlns:a16="http://schemas.microsoft.com/office/drawing/2014/main" id="{4DFF0B22-30FC-D34E-8021-66690730A9C4}"/>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4A131702-9F8A-0B45-893F-4D931E3CEC67}"/>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4010217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55477-340D-A742-96B9-4134A01211B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F5307EC-5C33-BF49-9FC9-70B65B5D2C94}"/>
              </a:ext>
            </a:extLst>
          </p:cNvPr>
          <p:cNvSpPr>
            <a:spLocks noGrp="1"/>
          </p:cNvSpPr>
          <p:nvPr>
            <p:ph type="dt" sz="half" idx="10"/>
          </p:nvPr>
        </p:nvSpPr>
        <p:spPr/>
        <p:txBody>
          <a:bodyPr/>
          <a:lstStyle/>
          <a:p>
            <a:fld id="{145D528E-B0C4-574C-AE6E-B35A83CFEB13}" type="datetimeFigureOut">
              <a:rPr lang="en-GB" smtClean="0"/>
              <a:t>08/10/2026</a:t>
            </a:fld>
            <a:endParaRPr lang="en-GB"/>
          </a:p>
        </p:txBody>
      </p:sp>
      <p:sp>
        <p:nvSpPr>
          <p:cNvPr id="4" name="Footer Placeholder 3">
            <a:extLst>
              <a:ext uri="{FF2B5EF4-FFF2-40B4-BE49-F238E27FC236}">
                <a16:creationId xmlns:a16="http://schemas.microsoft.com/office/drawing/2014/main" id="{B727CA99-FEAA-A041-B799-CA174260B457}"/>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CD2A3A13-8413-104A-B192-3C710C3D526E}"/>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1648548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8D409A-65C8-B049-8D4D-AC56003314C8}"/>
              </a:ext>
            </a:extLst>
          </p:cNvPr>
          <p:cNvSpPr>
            <a:spLocks noGrp="1"/>
          </p:cNvSpPr>
          <p:nvPr>
            <p:ph type="dt" sz="half" idx="10"/>
          </p:nvPr>
        </p:nvSpPr>
        <p:spPr/>
        <p:txBody>
          <a:bodyPr/>
          <a:lstStyle/>
          <a:p>
            <a:fld id="{145D528E-B0C4-574C-AE6E-B35A83CFEB13}" type="datetimeFigureOut">
              <a:rPr lang="en-GB" smtClean="0"/>
              <a:t>08/10/2026</a:t>
            </a:fld>
            <a:endParaRPr lang="en-GB"/>
          </a:p>
        </p:txBody>
      </p:sp>
      <p:sp>
        <p:nvSpPr>
          <p:cNvPr id="3" name="Footer Placeholder 2">
            <a:extLst>
              <a:ext uri="{FF2B5EF4-FFF2-40B4-BE49-F238E27FC236}">
                <a16:creationId xmlns:a16="http://schemas.microsoft.com/office/drawing/2014/main" id="{BB34244D-50A5-9647-8590-0CED8A23C2EB}"/>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0CDE9667-1147-B84E-8294-D07B6B553AA7}"/>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397414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560C9-49F1-B143-98BF-F65F0E86C5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D97968B-396A-7746-B032-F5FF2D1A14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D0A9890-41E9-B247-BD85-CB0556F349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C7D34F8-43C5-D24A-B2B8-3C39C5D825BF}"/>
              </a:ext>
            </a:extLst>
          </p:cNvPr>
          <p:cNvSpPr>
            <a:spLocks noGrp="1"/>
          </p:cNvSpPr>
          <p:nvPr>
            <p:ph type="dt" sz="half" idx="10"/>
          </p:nvPr>
        </p:nvSpPr>
        <p:spPr/>
        <p:txBody>
          <a:bodyPr/>
          <a:lstStyle/>
          <a:p>
            <a:fld id="{145D528E-B0C4-574C-AE6E-B35A83CFEB13}" type="datetimeFigureOut">
              <a:rPr lang="en-GB" smtClean="0"/>
              <a:t>08/10/2026</a:t>
            </a:fld>
            <a:endParaRPr lang="en-GB"/>
          </a:p>
        </p:txBody>
      </p:sp>
      <p:sp>
        <p:nvSpPr>
          <p:cNvPr id="6" name="Footer Placeholder 5">
            <a:extLst>
              <a:ext uri="{FF2B5EF4-FFF2-40B4-BE49-F238E27FC236}">
                <a16:creationId xmlns:a16="http://schemas.microsoft.com/office/drawing/2014/main" id="{D3FA2E86-D2D2-6C40-A7B2-00ECC21F6BB2}"/>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A6392A3B-17A2-CC47-B3CE-70F6DE5BAC9A}"/>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3403007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C15CF-2B84-154B-A05B-4ED15C8856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A3297B1-8700-5A41-B4ED-617200FAAC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F754946-1836-5B4E-A53B-0D65AF5487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FCB1631-07AA-AF4B-9C84-79660072A0E8}"/>
              </a:ext>
            </a:extLst>
          </p:cNvPr>
          <p:cNvSpPr>
            <a:spLocks noGrp="1"/>
          </p:cNvSpPr>
          <p:nvPr>
            <p:ph type="dt" sz="half" idx="10"/>
          </p:nvPr>
        </p:nvSpPr>
        <p:spPr/>
        <p:txBody>
          <a:bodyPr/>
          <a:lstStyle/>
          <a:p>
            <a:fld id="{145D528E-B0C4-574C-AE6E-B35A83CFEB13}" type="datetimeFigureOut">
              <a:rPr lang="en-GB" smtClean="0"/>
              <a:t>08/10/2026</a:t>
            </a:fld>
            <a:endParaRPr lang="en-GB"/>
          </a:p>
        </p:txBody>
      </p:sp>
      <p:sp>
        <p:nvSpPr>
          <p:cNvPr id="6" name="Footer Placeholder 5">
            <a:extLst>
              <a:ext uri="{FF2B5EF4-FFF2-40B4-BE49-F238E27FC236}">
                <a16:creationId xmlns:a16="http://schemas.microsoft.com/office/drawing/2014/main" id="{CCEFD121-C434-574B-A5A6-1D7F4E8EF737}"/>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F2B6B891-6D6F-454D-B57D-6799F13780AC}"/>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1387951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49A33-F947-254C-B2F1-FC1EEBA7034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0A7B2E9-B32D-7849-8EA6-191CD2CB977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AC6D214-C945-D74F-A6BC-88A7A9940AF0}"/>
              </a:ext>
            </a:extLst>
          </p:cNvPr>
          <p:cNvSpPr>
            <a:spLocks noGrp="1"/>
          </p:cNvSpPr>
          <p:nvPr>
            <p:ph type="dt" sz="half" idx="10"/>
          </p:nvPr>
        </p:nvSpPr>
        <p:spPr/>
        <p:txBody>
          <a:bodyPr/>
          <a:lstStyle/>
          <a:p>
            <a:fld id="{145D528E-B0C4-574C-AE6E-B35A83CFEB13}" type="datetimeFigureOut">
              <a:rPr lang="en-GB" smtClean="0"/>
              <a:t>08/10/2026</a:t>
            </a:fld>
            <a:endParaRPr lang="en-GB"/>
          </a:p>
        </p:txBody>
      </p:sp>
      <p:sp>
        <p:nvSpPr>
          <p:cNvPr id="5" name="Footer Placeholder 4">
            <a:extLst>
              <a:ext uri="{FF2B5EF4-FFF2-40B4-BE49-F238E27FC236}">
                <a16:creationId xmlns:a16="http://schemas.microsoft.com/office/drawing/2014/main" id="{F2B5F130-A527-DA46-8CFF-AB905CDCB0AB}"/>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744669C9-BB26-C147-9EB3-6A1CF0CF6F31}"/>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3108783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C8499E-4FC6-9541-BDE2-B57DE72F847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DDB72DD-1B01-4645-8504-9D2CF3F7643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44A9CF8-4FE6-6846-8F14-E50ED82B6E06}"/>
              </a:ext>
            </a:extLst>
          </p:cNvPr>
          <p:cNvSpPr>
            <a:spLocks noGrp="1"/>
          </p:cNvSpPr>
          <p:nvPr>
            <p:ph type="dt" sz="half" idx="10"/>
          </p:nvPr>
        </p:nvSpPr>
        <p:spPr/>
        <p:txBody>
          <a:bodyPr/>
          <a:lstStyle/>
          <a:p>
            <a:fld id="{145D528E-B0C4-574C-AE6E-B35A83CFEB13}" type="datetimeFigureOut">
              <a:rPr lang="en-GB" smtClean="0"/>
              <a:t>08/10/2026</a:t>
            </a:fld>
            <a:endParaRPr lang="en-GB"/>
          </a:p>
        </p:txBody>
      </p:sp>
      <p:sp>
        <p:nvSpPr>
          <p:cNvPr id="5" name="Footer Placeholder 4">
            <a:extLst>
              <a:ext uri="{FF2B5EF4-FFF2-40B4-BE49-F238E27FC236}">
                <a16:creationId xmlns:a16="http://schemas.microsoft.com/office/drawing/2014/main" id="{61396104-C547-9E44-93D3-74A7CE7F82E0}"/>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BB761153-2906-5C43-AC83-1A71AF6AF275}"/>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1296016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281D354-4C58-8E45-A997-CCFC285179F2}"/>
              </a:ext>
            </a:extLst>
          </p:cNvPr>
          <p:cNvSpPr>
            <a:spLocks noGrp="1"/>
          </p:cNvSpPr>
          <p:nvPr>
            <p:ph type="sldNum" sz="quarter" idx="10"/>
          </p:nvPr>
        </p:nvSpPr>
        <p:spPr/>
        <p:txBody>
          <a:bodyPr/>
          <a:lstStyle/>
          <a:p>
            <a:fld id="{783EAA9A-AD91-1245-A5C3-6A0CBEF58DBD}" type="slidenum">
              <a:rPr lang="en-GB" smtClean="0"/>
              <a:t>‹#›</a:t>
            </a:fld>
            <a:endParaRPr lang="en-GB" dirty="0"/>
          </a:p>
        </p:txBody>
      </p:sp>
      <p:sp>
        <p:nvSpPr>
          <p:cNvPr id="4" name="Date Placeholder 3">
            <a:extLst>
              <a:ext uri="{FF2B5EF4-FFF2-40B4-BE49-F238E27FC236}">
                <a16:creationId xmlns:a16="http://schemas.microsoft.com/office/drawing/2014/main" id="{8331BB49-7DD1-3D44-BE19-729C46AB2CC1}"/>
              </a:ext>
            </a:extLst>
          </p:cNvPr>
          <p:cNvSpPr>
            <a:spLocks noGrp="1"/>
          </p:cNvSpPr>
          <p:nvPr>
            <p:ph type="dt" sz="half" idx="11"/>
          </p:nvPr>
        </p:nvSpPr>
        <p:spPr/>
        <p:txBody>
          <a:bodyPr/>
          <a:lstStyle/>
          <a:p>
            <a:fld id="{145D528E-B0C4-574C-AE6E-B35A83CFEB13}" type="datetimeFigureOut">
              <a:rPr lang="en-GB" smtClean="0"/>
              <a:t>08/10/2026</a:t>
            </a:fld>
            <a:endParaRPr lang="en-GB" dirty="0"/>
          </a:p>
        </p:txBody>
      </p:sp>
      <p:sp>
        <p:nvSpPr>
          <p:cNvPr id="5" name="Footer Placeholder 4">
            <a:extLst>
              <a:ext uri="{FF2B5EF4-FFF2-40B4-BE49-F238E27FC236}">
                <a16:creationId xmlns:a16="http://schemas.microsoft.com/office/drawing/2014/main" id="{4C1CC3E4-12C8-2A4F-88E1-B8DC3854ABFD}"/>
              </a:ext>
            </a:extLst>
          </p:cNvPr>
          <p:cNvSpPr>
            <a:spLocks noGrp="1"/>
          </p:cNvSpPr>
          <p:nvPr>
            <p:ph type="ftr" sz="quarter" idx="12"/>
          </p:nvPr>
        </p:nvSpPr>
        <p:spPr/>
        <p:txBody>
          <a:bodyPr/>
          <a:lstStyle/>
          <a:p>
            <a:endParaRPr lang="en-GB" dirty="0"/>
          </a:p>
        </p:txBody>
      </p:sp>
      <p:grpSp>
        <p:nvGrpSpPr>
          <p:cNvPr id="20" name="Group 19">
            <a:extLst>
              <a:ext uri="{FF2B5EF4-FFF2-40B4-BE49-F238E27FC236}">
                <a16:creationId xmlns:a16="http://schemas.microsoft.com/office/drawing/2014/main" id="{D9F62491-F3DB-384B-9F65-EA637FB8DC9F}"/>
              </a:ext>
            </a:extLst>
          </p:cNvPr>
          <p:cNvGrpSpPr/>
          <p:nvPr userDrawn="1"/>
        </p:nvGrpSpPr>
        <p:grpSpPr>
          <a:xfrm>
            <a:off x="2836065" y="3885190"/>
            <a:ext cx="6359384" cy="2140032"/>
            <a:chOff x="3054867" y="3815867"/>
            <a:chExt cx="6359384" cy="2140032"/>
          </a:xfrm>
        </p:grpSpPr>
        <p:grpSp>
          <p:nvGrpSpPr>
            <p:cNvPr id="6" name="Group 5">
              <a:extLst>
                <a:ext uri="{FF2B5EF4-FFF2-40B4-BE49-F238E27FC236}">
                  <a16:creationId xmlns:a16="http://schemas.microsoft.com/office/drawing/2014/main" id="{AB488D83-1A18-A742-8FDC-04F2597CDBB4}"/>
                </a:ext>
              </a:extLst>
            </p:cNvPr>
            <p:cNvGrpSpPr/>
            <p:nvPr userDrawn="1"/>
          </p:nvGrpSpPr>
          <p:grpSpPr>
            <a:xfrm>
              <a:off x="4699683" y="3815867"/>
              <a:ext cx="4714568" cy="2140032"/>
              <a:chOff x="4173580" y="3135225"/>
              <a:chExt cx="5623246" cy="2568070"/>
            </a:xfrm>
          </p:grpSpPr>
          <p:pic>
            <p:nvPicPr>
              <p:cNvPr id="7" name="Picture 4" descr="facebook instagram whatsapp PNG image with transparent background | TOPpng">
                <a:extLst>
                  <a:ext uri="{FF2B5EF4-FFF2-40B4-BE49-F238E27FC236}">
                    <a16:creationId xmlns:a16="http://schemas.microsoft.com/office/drawing/2014/main" id="{21573789-53BB-7148-AEF8-DD9D395D258B}"/>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0" b="69732" l="0" r="98929">
                            <a14:foregroundMark x1="9524" y1="3376" x2="23929" y2="25378"/>
                            <a14:foregroundMark x1="15833" y1="5122" x2="19643" y2="5122"/>
                            <a14:foregroundMark x1="22381" y1="8149" x2="24762" y2="21187"/>
                            <a14:foregroundMark x1="10119" y1="11409" x2="14643" y2="23632"/>
                            <a14:foregroundMark x1="7738" y1="14435" x2="11071" y2="24796"/>
                            <a14:foregroundMark x1="75000" y1="9662" x2="75833" y2="23865"/>
                            <a14:foregroundMark x1="76548" y1="7800" x2="89643" y2="8964"/>
                            <a14:foregroundMark x1="82976" y1="2328" x2="91786" y2="20722"/>
                            <a14:foregroundMark x1="78452" y1="21769" x2="87024" y2="20605"/>
                            <a14:foregroundMark x1="83333" y1="14668" x2="83333" y2="14668"/>
                            <a14:foregroundMark x1="90357" y1="9895" x2="91190" y2="17695"/>
                            <a14:foregroundMark x1="17500" y1="9546" x2="17738" y2="17346"/>
                            <a14:foregroundMark x1="23929" y1="3609" x2="23333" y2="10128"/>
                          </a14:backgroundRemoval>
                        </a14:imgEffect>
                      </a14:imgLayer>
                    </a14:imgProps>
                  </a:ext>
                  <a:ext uri="{28A0092B-C50C-407E-A947-70E740481C1C}">
                    <a14:useLocalDpi xmlns:a14="http://schemas.microsoft.com/office/drawing/2010/main" val="0"/>
                  </a:ext>
                </a:extLst>
              </a:blip>
              <a:srcRect r="66494" b="67238"/>
              <a:stretch/>
            </p:blipFill>
            <p:spPr bwMode="auto">
              <a:xfrm>
                <a:off x="4238019" y="4511394"/>
                <a:ext cx="413410" cy="4299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facebook instagram whatsapp PNG image with transparent background | TOPpng">
                <a:extLst>
                  <a:ext uri="{FF2B5EF4-FFF2-40B4-BE49-F238E27FC236}">
                    <a16:creationId xmlns:a16="http://schemas.microsoft.com/office/drawing/2014/main" id="{CF5CCAE3-1FEE-8B4F-916E-AC6C6A6E4DAA}"/>
                  </a:ext>
                </a:extLst>
              </p:cNvPr>
              <p:cNvPicPr>
                <a:picLocks noChangeAspect="1" noChangeArrowheads="1"/>
              </p:cNvPicPr>
              <p:nvPr/>
            </p:nvPicPr>
            <p:blipFill rotWithShape="1">
              <a:blip r:embed="rId4">
                <a:extLst>
                  <a:ext uri="{BEBA8EAE-BF5A-486C-A8C5-ECC9F3942E4B}">
                    <a14:imgProps xmlns:a14="http://schemas.microsoft.com/office/drawing/2010/main">
                      <a14:imgLayer r:embed="rId3">
                        <a14:imgEffect>
                          <a14:backgroundRemoval t="0" b="89872" l="1548" r="97619">
                            <a14:foregroundMark x1="76310" y1="9197" x2="75595" y2="18859"/>
                            <a14:foregroundMark x1="80833" y1="7101" x2="90595" y2="8731"/>
                            <a14:foregroundMark x1="90595" y1="12806" x2="89048" y2="22468"/>
                            <a14:foregroundMark x1="77738" y1="22119" x2="86667" y2="21769"/>
                            <a14:foregroundMark x1="12262" y1="42491" x2="11071" y2="58091"/>
                            <a14:foregroundMark x1="82976" y1="11991" x2="80119" y2="17346"/>
                            <a14:foregroundMark x1="73690" y1="5471" x2="70952" y2="18626"/>
                          </a14:backgroundRemoval>
                        </a14:imgEffect>
                      </a14:imgLayer>
                    </a14:imgProps>
                  </a:ext>
                  <a:ext uri="{28A0092B-C50C-407E-A947-70E740481C1C}">
                    <a14:useLocalDpi xmlns:a14="http://schemas.microsoft.com/office/drawing/2010/main" val="0"/>
                  </a:ext>
                </a:extLst>
              </a:blip>
              <a:srcRect l="67402" b="69905"/>
              <a:stretch/>
            </p:blipFill>
            <p:spPr bwMode="auto">
              <a:xfrm>
                <a:off x="4296096" y="4883265"/>
                <a:ext cx="413865" cy="4063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Round black telephone logo, Telephone Icon, Phone File, electronics, logo,  black And White png | PNGWing">
                <a:extLst>
                  <a:ext uri="{FF2B5EF4-FFF2-40B4-BE49-F238E27FC236}">
                    <a16:creationId xmlns:a16="http://schemas.microsoft.com/office/drawing/2014/main" id="{2DE5DDE9-1F30-6F4B-BA82-27F5D325AE31}"/>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0" b="97935" l="1522" r="100000">
                            <a14:foregroundMark x1="32717" y1="37283" x2="32717" y2="37283"/>
                            <a14:foregroundMark x1="36957" y1="24565" x2="36957" y2="24565"/>
                            <a14:foregroundMark x1="46304" y1="30435" x2="46304" y2="30435"/>
                            <a14:foregroundMark x1="55435" y1="30326" x2="55435" y2="30326"/>
                            <a14:foregroundMark x1="65870" y1="27826" x2="65870" y2="27826"/>
                            <a14:foregroundMark x1="73152" y1="43478" x2="73152" y2="43478"/>
                            <a14:foregroundMark x1="57500" y1="44783" x2="57500" y2="44783"/>
                            <a14:foregroundMark x1="42826" y1="45000" x2="42826" y2="45000"/>
                            <a14:foregroundMark x1="29348" y1="56413" x2="29348" y2="56413"/>
                            <a14:foregroundMark x1="37283" y1="73913" x2="37283" y2="73913"/>
                            <a14:foregroundMark x1="46630" y1="70870" x2="46630" y2="70870"/>
                            <a14:foregroundMark x1="46087" y1="56413" x2="46087" y2="56413"/>
                            <a14:foregroundMark x1="54022" y1="57500" x2="54022" y2="57500"/>
                            <a14:foregroundMark x1="53696" y1="74457" x2="53696" y2="74457"/>
                            <a14:foregroundMark x1="71630" y1="60761" x2="71630" y2="60761"/>
                            <a14:foregroundMark x1="62283" y1="73696" x2="62283" y2="73696"/>
                          </a14:backgroundRemoval>
                        </a14:imgEffect>
                      </a14:imgLayer>
                    </a14:imgProps>
                  </a:ext>
                  <a:ext uri="{28A0092B-C50C-407E-A947-70E740481C1C}">
                    <a14:useLocalDpi xmlns:a14="http://schemas.microsoft.com/office/drawing/2010/main" val="0"/>
                  </a:ext>
                </a:extLst>
              </a:blip>
              <a:srcRect/>
              <a:stretch>
                <a:fillRect/>
              </a:stretch>
            </p:blipFill>
            <p:spPr bwMode="auto">
              <a:xfrm>
                <a:off x="4275797" y="5317157"/>
                <a:ext cx="371315" cy="38613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30AE2E6-FFA5-B74D-ABFF-5094651B1BA9}"/>
                  </a:ext>
                </a:extLst>
              </p:cNvPr>
              <p:cNvSpPr txBox="1"/>
              <p:nvPr/>
            </p:nvSpPr>
            <p:spPr>
              <a:xfrm>
                <a:off x="4629313" y="4929543"/>
                <a:ext cx="2964236" cy="360103"/>
              </a:xfrm>
              <a:prstGeom prst="rect">
                <a:avLst/>
              </a:prstGeom>
              <a:noFill/>
            </p:spPr>
            <p:txBody>
              <a:bodyPr wrap="square">
                <a:spAutoFit/>
              </a:bodyPr>
              <a:lstStyle/>
              <a:p>
                <a:pPr defTabSz="685800"/>
                <a:r>
                  <a:rPr lang="en-US" sz="1350" dirty="0">
                    <a:solidFill>
                      <a:prstClr val="black"/>
                    </a:solidFill>
                    <a:latin typeface="+mn-lt"/>
                  </a:rPr>
                  <a:t>@</a:t>
                </a:r>
                <a:r>
                  <a:rPr lang="en-US" sz="1350" dirty="0" err="1">
                    <a:solidFill>
                      <a:prstClr val="black"/>
                    </a:solidFill>
                    <a:latin typeface="+mn-lt"/>
                  </a:rPr>
                  <a:t>ugandachristianuniversity</a:t>
                </a:r>
                <a:endParaRPr lang="en-UG" sz="1350" dirty="0">
                  <a:solidFill>
                    <a:prstClr val="black"/>
                  </a:solidFill>
                  <a:latin typeface="+mn-lt"/>
                </a:endParaRPr>
              </a:p>
            </p:txBody>
          </p:sp>
          <p:sp>
            <p:nvSpPr>
              <p:cNvPr id="11" name="TextBox 10">
                <a:extLst>
                  <a:ext uri="{FF2B5EF4-FFF2-40B4-BE49-F238E27FC236}">
                    <a16:creationId xmlns:a16="http://schemas.microsoft.com/office/drawing/2014/main" id="{1A61D6FE-81D1-DE4A-B1A1-CD63DB9652BA}"/>
                  </a:ext>
                </a:extLst>
              </p:cNvPr>
              <p:cNvSpPr txBox="1"/>
              <p:nvPr/>
            </p:nvSpPr>
            <p:spPr>
              <a:xfrm>
                <a:off x="4570065" y="5343192"/>
                <a:ext cx="2851459" cy="360103"/>
              </a:xfrm>
              <a:prstGeom prst="rect">
                <a:avLst/>
              </a:prstGeom>
              <a:noFill/>
            </p:spPr>
            <p:txBody>
              <a:bodyPr wrap="square">
                <a:spAutoFit/>
              </a:bodyPr>
              <a:lstStyle/>
              <a:p>
                <a:pPr defTabSz="685800"/>
                <a:r>
                  <a:rPr lang="en-GB" sz="1350" dirty="0">
                    <a:solidFill>
                      <a:srgbClr val="0000FF"/>
                    </a:solidFill>
                    <a:latin typeface="+mn-lt"/>
                    <a:hlinkClick r:id="rId7">
                      <a:extLst>
                        <a:ext uri="{A12FA001-AC4F-418D-AE19-62706E023703}">
                          <ahyp:hlinkClr xmlns:ahyp="http://schemas.microsoft.com/office/drawing/2018/hyperlinkcolor" val="tx"/>
                        </a:ext>
                      </a:extLst>
                    </a:hlinkClick>
                  </a:rPr>
                  <a:t>https://ucu.ac.ug/</a:t>
                </a:r>
                <a:r>
                  <a:rPr lang="en-GB" sz="1350" dirty="0">
                    <a:solidFill>
                      <a:srgbClr val="0000FF"/>
                    </a:solidFill>
                    <a:latin typeface="+mn-lt"/>
                  </a:rPr>
                  <a:t> </a:t>
                </a:r>
                <a:endParaRPr lang="en-UG" sz="1350" dirty="0">
                  <a:solidFill>
                    <a:srgbClr val="0000FF"/>
                  </a:solidFill>
                  <a:latin typeface="+mn-lt"/>
                </a:endParaRPr>
              </a:p>
            </p:txBody>
          </p:sp>
          <p:sp>
            <p:nvSpPr>
              <p:cNvPr id="12" name="TextBox 11">
                <a:extLst>
                  <a:ext uri="{FF2B5EF4-FFF2-40B4-BE49-F238E27FC236}">
                    <a16:creationId xmlns:a16="http://schemas.microsoft.com/office/drawing/2014/main" id="{F93C9E7D-4A01-5E47-9DC7-A4D726A3C66F}"/>
                  </a:ext>
                </a:extLst>
              </p:cNvPr>
              <p:cNvSpPr txBox="1"/>
              <p:nvPr/>
            </p:nvSpPr>
            <p:spPr>
              <a:xfrm>
                <a:off x="8015811" y="4532448"/>
                <a:ext cx="1781015" cy="369337"/>
              </a:xfrm>
              <a:prstGeom prst="rect">
                <a:avLst/>
              </a:prstGeom>
              <a:noFill/>
            </p:spPr>
            <p:txBody>
              <a:bodyPr wrap="square">
                <a:spAutoFit/>
              </a:bodyPr>
              <a:lstStyle/>
              <a:p>
                <a:pPr defTabSz="685800"/>
                <a:r>
                  <a:rPr lang="en-GB" sz="1350" dirty="0">
                    <a:solidFill>
                      <a:prstClr val="black">
                        <a:lumMod val="95000"/>
                        <a:lumOff val="5000"/>
                      </a:prstClr>
                    </a:solidFill>
                    <a:latin typeface="+mn-lt"/>
                  </a:rPr>
                  <a:t>@</a:t>
                </a:r>
                <a:r>
                  <a:rPr lang="en-GB" sz="1350" dirty="0" err="1">
                    <a:solidFill>
                      <a:prstClr val="black">
                        <a:lumMod val="95000"/>
                        <a:lumOff val="5000"/>
                      </a:prstClr>
                    </a:solidFill>
                    <a:latin typeface="+mn-lt"/>
                  </a:rPr>
                  <a:t>UCUniversity</a:t>
                </a:r>
                <a:endParaRPr lang="en-UG" sz="1350" dirty="0">
                  <a:solidFill>
                    <a:prstClr val="black">
                      <a:lumMod val="95000"/>
                      <a:lumOff val="5000"/>
                    </a:prstClr>
                  </a:solidFill>
                  <a:latin typeface="+mn-lt"/>
                </a:endParaRPr>
              </a:p>
            </p:txBody>
          </p:sp>
          <p:sp>
            <p:nvSpPr>
              <p:cNvPr id="13" name="TextBox 12">
                <a:extLst>
                  <a:ext uri="{FF2B5EF4-FFF2-40B4-BE49-F238E27FC236}">
                    <a16:creationId xmlns:a16="http://schemas.microsoft.com/office/drawing/2014/main" id="{9F8CBAB0-1BA2-7F46-A60A-0E9A062FC2F4}"/>
                  </a:ext>
                </a:extLst>
              </p:cNvPr>
              <p:cNvSpPr txBox="1"/>
              <p:nvPr/>
            </p:nvSpPr>
            <p:spPr>
              <a:xfrm>
                <a:off x="4535920" y="4545114"/>
                <a:ext cx="3240067" cy="369337"/>
              </a:xfrm>
              <a:prstGeom prst="rect">
                <a:avLst/>
              </a:prstGeom>
              <a:noFill/>
            </p:spPr>
            <p:txBody>
              <a:bodyPr wrap="square">
                <a:spAutoFit/>
              </a:bodyPr>
              <a:lstStyle/>
              <a:p>
                <a:pPr defTabSz="685800"/>
                <a:r>
                  <a:rPr lang="en-GB" sz="1350" dirty="0">
                    <a:solidFill>
                      <a:prstClr val="black">
                        <a:lumMod val="95000"/>
                        <a:lumOff val="5000"/>
                      </a:prstClr>
                    </a:solidFill>
                    <a:latin typeface="+mn-lt"/>
                  </a:rPr>
                  <a:t>@</a:t>
                </a:r>
                <a:r>
                  <a:rPr lang="en-GB" sz="1350" dirty="0" err="1">
                    <a:solidFill>
                      <a:prstClr val="black">
                        <a:lumMod val="95000"/>
                        <a:lumOff val="5000"/>
                      </a:prstClr>
                    </a:solidFill>
                    <a:latin typeface="+mn-lt"/>
                  </a:rPr>
                  <a:t>UgandaChristianUniversity</a:t>
                </a:r>
                <a:endParaRPr lang="en-UG" sz="1350" dirty="0">
                  <a:solidFill>
                    <a:prstClr val="black">
                      <a:lumMod val="95000"/>
                      <a:lumOff val="5000"/>
                    </a:prstClr>
                  </a:solidFill>
                  <a:latin typeface="+mn-lt"/>
                </a:endParaRPr>
              </a:p>
            </p:txBody>
          </p:sp>
          <p:sp>
            <p:nvSpPr>
              <p:cNvPr id="14" name="TextBox 13">
                <a:extLst>
                  <a:ext uri="{FF2B5EF4-FFF2-40B4-BE49-F238E27FC236}">
                    <a16:creationId xmlns:a16="http://schemas.microsoft.com/office/drawing/2014/main" id="{6476C215-3CAA-044D-A872-4F32F671EBCA}"/>
                  </a:ext>
                </a:extLst>
              </p:cNvPr>
              <p:cNvSpPr txBox="1"/>
              <p:nvPr/>
            </p:nvSpPr>
            <p:spPr>
              <a:xfrm>
                <a:off x="4201882" y="3514011"/>
                <a:ext cx="3513911" cy="886408"/>
              </a:xfrm>
              <a:prstGeom prst="rect">
                <a:avLst/>
              </a:prstGeom>
              <a:noFill/>
            </p:spPr>
            <p:txBody>
              <a:bodyPr wrap="square">
                <a:spAutoFit/>
              </a:bodyPr>
              <a:lstStyle/>
              <a:p>
                <a:pPr defTabSz="685800"/>
                <a:r>
                  <a:rPr lang="sv-SE" sz="1400" dirty="0">
                    <a:solidFill>
                      <a:srgbClr val="5B9BD5">
                        <a:lumMod val="50000"/>
                      </a:srgbClr>
                    </a:solidFill>
                    <a:latin typeface="+mn-lt"/>
                  </a:rPr>
                  <a:t>P.O. Box 4 Mukono, Uganda</a:t>
                </a:r>
              </a:p>
              <a:p>
                <a:pPr defTabSz="685800"/>
                <a:r>
                  <a:rPr lang="en-GB" sz="1400" dirty="0">
                    <a:solidFill>
                      <a:srgbClr val="5B9BD5">
                        <a:lumMod val="50000"/>
                      </a:srgbClr>
                    </a:solidFill>
                    <a:latin typeface="+mn-lt"/>
                  </a:rPr>
                  <a:t>Tel: 256-312-350800</a:t>
                </a:r>
              </a:p>
              <a:p>
                <a:pPr defTabSz="685800"/>
                <a:r>
                  <a:rPr lang="fr-FR" sz="1400" dirty="0">
                    <a:solidFill>
                      <a:srgbClr val="5B9BD5">
                        <a:lumMod val="50000"/>
                      </a:srgbClr>
                    </a:solidFill>
                    <a:latin typeface="+mn-lt"/>
                  </a:rPr>
                  <a:t>Email: </a:t>
                </a:r>
                <a:r>
                  <a:rPr lang="fr-FR" sz="1400" dirty="0">
                    <a:solidFill>
                      <a:srgbClr val="0000FF"/>
                    </a:solidFill>
                    <a:latin typeface="+mn-lt"/>
                    <a:hlinkClick r:id="rId8">
                      <a:extLst>
                        <a:ext uri="{A12FA001-AC4F-418D-AE19-62706E023703}">
                          <ahyp:hlinkClr xmlns:ahyp="http://schemas.microsoft.com/office/drawing/2018/hyperlinkcolor" val="tx"/>
                        </a:ext>
                      </a:extLst>
                    </a:hlinkClick>
                  </a:rPr>
                  <a:t>info@ucu.ac.ug</a:t>
                </a:r>
                <a:endParaRPr lang="fr-FR" sz="1400" dirty="0">
                  <a:solidFill>
                    <a:srgbClr val="0000FF"/>
                  </a:solidFill>
                  <a:latin typeface="+mn-lt"/>
                </a:endParaRPr>
              </a:p>
            </p:txBody>
          </p:sp>
          <p:sp>
            <p:nvSpPr>
              <p:cNvPr id="15" name="TextBox 14">
                <a:extLst>
                  <a:ext uri="{FF2B5EF4-FFF2-40B4-BE49-F238E27FC236}">
                    <a16:creationId xmlns:a16="http://schemas.microsoft.com/office/drawing/2014/main" id="{6852FF44-A1AC-754F-ACAA-B4A0B8FFDC4F}"/>
                  </a:ext>
                </a:extLst>
              </p:cNvPr>
              <p:cNvSpPr txBox="1"/>
              <p:nvPr/>
            </p:nvSpPr>
            <p:spPr>
              <a:xfrm>
                <a:off x="4173580" y="3135225"/>
                <a:ext cx="4174871" cy="480138"/>
              </a:xfrm>
              <a:prstGeom prst="rect">
                <a:avLst/>
              </a:prstGeom>
              <a:noFill/>
            </p:spPr>
            <p:txBody>
              <a:bodyPr wrap="square">
                <a:spAutoFit/>
              </a:bodyPr>
              <a:lstStyle/>
              <a:p>
                <a:pPr defTabSz="685800"/>
                <a:r>
                  <a:rPr lang="en-GB" sz="2000" b="1" dirty="0">
                    <a:solidFill>
                      <a:srgbClr val="5B9BD5">
                        <a:lumMod val="50000"/>
                      </a:srgbClr>
                    </a:solidFill>
                    <a:latin typeface="+mj-lt"/>
                  </a:rPr>
                  <a:t>Uganda Christian University</a:t>
                </a:r>
                <a:endParaRPr lang="en-UG" sz="2000" dirty="0">
                  <a:solidFill>
                    <a:srgbClr val="5B9BD5">
                      <a:lumMod val="50000"/>
                    </a:srgbClr>
                  </a:solidFill>
                  <a:latin typeface="+mj-lt"/>
                </a:endParaRPr>
              </a:p>
            </p:txBody>
          </p:sp>
          <p:pic>
            <p:nvPicPr>
              <p:cNvPr id="16" name="Picture 6" descr="facebook instagram whatsapp PNG image with transparent background | TOPpng">
                <a:extLst>
                  <a:ext uri="{FF2B5EF4-FFF2-40B4-BE49-F238E27FC236}">
                    <a16:creationId xmlns:a16="http://schemas.microsoft.com/office/drawing/2014/main" id="{9FA1BB22-7CA4-A84B-AB4E-D369D5820D57}"/>
                  </a:ext>
                </a:extLst>
              </p:cNvPr>
              <p:cNvPicPr>
                <a:picLocks noChangeAspect="1" noChangeArrowheads="1"/>
              </p:cNvPicPr>
              <p:nvPr userDrawn="1"/>
            </p:nvPicPr>
            <p:blipFill rotWithShape="1">
              <a:blip r:embed="rId4">
                <a:extLst>
                  <a:ext uri="{BEBA8EAE-BF5A-486C-A8C5-ECC9F3942E4B}">
                    <a14:imgProps xmlns:a14="http://schemas.microsoft.com/office/drawing/2010/main">
                      <a14:imgLayer r:embed="rId3">
                        <a14:imgEffect>
                          <a14:backgroundRemoval t="0" b="89872" l="1548" r="97619">
                            <a14:foregroundMark x1="76310" y1="9197" x2="75595" y2="18859"/>
                            <a14:foregroundMark x1="80833" y1="7101" x2="90595" y2="8731"/>
                            <a14:foregroundMark x1="90595" y1="12806" x2="89048" y2="22468"/>
                            <a14:foregroundMark x1="77738" y1="22119" x2="86667" y2="21769"/>
                            <a14:foregroundMark x1="12262" y1="42491" x2="11071" y2="58091"/>
                            <a14:foregroundMark x1="82976" y1="11991" x2="80119" y2="17346"/>
                            <a14:foregroundMark x1="73690" y1="5471" x2="70952" y2="18626"/>
                          </a14:backgroundRemoval>
                        </a14:imgEffect>
                      </a14:imgLayer>
                    </a14:imgProps>
                  </a:ext>
                  <a:ext uri="{28A0092B-C50C-407E-A947-70E740481C1C}">
                    <a14:useLocalDpi xmlns:a14="http://schemas.microsoft.com/office/drawing/2010/main" val="0"/>
                  </a:ext>
                </a:extLst>
              </a:blip>
              <a:srcRect t="34921" r="64675" b="31937"/>
              <a:stretch/>
            </p:blipFill>
            <p:spPr bwMode="auto">
              <a:xfrm>
                <a:off x="7686943" y="4513314"/>
                <a:ext cx="448492" cy="447534"/>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18">
              <a:extLst>
                <a:ext uri="{FF2B5EF4-FFF2-40B4-BE49-F238E27FC236}">
                  <a16:creationId xmlns:a16="http://schemas.microsoft.com/office/drawing/2014/main" id="{D0C7577D-7C00-3A42-BCDC-2DAC137B88F2}"/>
                </a:ext>
              </a:extLst>
            </p:cNvPr>
            <p:cNvPicPr>
              <a:picLocks noChangeAspect="1"/>
            </p:cNvPicPr>
            <p:nvPr userDrawn="1"/>
          </p:nvPicPr>
          <p:blipFill rotWithShape="1">
            <a:blip r:embed="rId9"/>
            <a:srcRect l="4177" t="16271" r="77310" b="16737"/>
            <a:stretch/>
          </p:blipFill>
          <p:spPr>
            <a:xfrm>
              <a:off x="3054867" y="3883165"/>
              <a:ext cx="1730515" cy="1908000"/>
            </a:xfrm>
            <a:prstGeom prst="rect">
              <a:avLst/>
            </a:prstGeom>
          </p:spPr>
        </p:pic>
      </p:grpSp>
      <p:pic>
        <p:nvPicPr>
          <p:cNvPr id="21" name="Picture 2" descr="Red button thank you icon Royalty Free Vector Image">
            <a:extLst>
              <a:ext uri="{FF2B5EF4-FFF2-40B4-BE49-F238E27FC236}">
                <a16:creationId xmlns:a16="http://schemas.microsoft.com/office/drawing/2014/main" id="{7627C261-6001-7C4D-94EE-64BE3F8A7C13}"/>
              </a:ext>
            </a:extLst>
          </p:cNvPr>
          <p:cNvPicPr>
            <a:picLocks noChangeAspect="1" noChangeArrowheads="1"/>
          </p:cNvPicPr>
          <p:nvPr userDrawn="1"/>
        </p:nvPicPr>
        <p:blipFill rotWithShape="1">
          <a:blip r:embed="rId10">
            <a:extLst>
              <a:ext uri="{BEBA8EAE-BF5A-486C-A8C5-ECC9F3942E4B}">
                <a14:imgProps xmlns:a14="http://schemas.microsoft.com/office/drawing/2010/main">
                  <a14:imgLayer r:embed="rId11">
                    <a14:imgEffect>
                      <a14:backgroundRemoval t="8611" b="86019" l="10000" r="90000">
                        <a14:foregroundMark x1="41000" y1="28981" x2="39100" y2="58519"/>
                        <a14:foregroundMark x1="27700" y1="36296" x2="34800" y2="63981"/>
                        <a14:foregroundMark x1="26600" y1="32500" x2="78400" y2="47685"/>
                        <a14:foregroundMark x1="52100" y1="23981" x2="53500" y2="41389"/>
                        <a14:foregroundMark x1="38900" y1="20463" x2="49000" y2="35556"/>
                        <a14:foregroundMark x1="44200" y1="21481" x2="69600" y2="35370"/>
                        <a14:foregroundMark x1="65200" y1="24722" x2="65200" y2="44444"/>
                        <a14:foregroundMark x1="71900" y1="31852" x2="70200" y2="51389"/>
                        <a14:foregroundMark x1="69200" y1="60463" x2="59800" y2="47500"/>
                        <a14:foregroundMark x1="75300" y1="54259" x2="61100" y2="48333"/>
                        <a14:foregroundMark x1="59800" y1="30370" x2="56700" y2="41389"/>
                        <a14:foregroundMark x1="57500" y1="68426" x2="54000" y2="46759"/>
                        <a14:foregroundMark x1="38300" y1="61667" x2="67900" y2="65926"/>
                        <a14:foregroundMark x1="47100" y1="46019" x2="58300" y2="52593"/>
                        <a14:foregroundMark x1="46500" y1="58148" x2="52700" y2="57963"/>
                        <a14:foregroundMark x1="45400" y1="46204" x2="50600" y2="57407"/>
                        <a14:foregroundMark x1="36200" y1="40370" x2="46700" y2="51389"/>
                        <a14:foregroundMark x1="43100" y1="64167" x2="50600" y2="68796"/>
                      </a14:backgroundRemoval>
                    </a14:imgEffect>
                  </a14:imgLayer>
                </a14:imgProps>
              </a:ext>
              <a:ext uri="{28A0092B-C50C-407E-A947-70E740481C1C}">
                <a14:useLocalDpi xmlns:a14="http://schemas.microsoft.com/office/drawing/2010/main" val="0"/>
              </a:ext>
            </a:extLst>
          </a:blip>
          <a:srcRect b="13043"/>
          <a:stretch/>
        </p:blipFill>
        <p:spPr bwMode="auto">
          <a:xfrm>
            <a:off x="4606336" y="1691476"/>
            <a:ext cx="1825644" cy="17041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1392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hyperlink" Target="http://www.ucu.ac.ug/"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mailto:info@ucu.ac.ug"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B9D1C1C-C874-3B4C-BFA8-814DB2F2DE8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9776791" y="0"/>
            <a:ext cx="2415209" cy="735885"/>
          </a:xfrm>
          <a:prstGeom prst="rect">
            <a:avLst/>
          </a:prstGeom>
        </p:spPr>
      </p:pic>
      <p:sp>
        <p:nvSpPr>
          <p:cNvPr id="2" name="Title Placeholder 1">
            <a:extLst>
              <a:ext uri="{FF2B5EF4-FFF2-40B4-BE49-F238E27FC236}">
                <a16:creationId xmlns:a16="http://schemas.microsoft.com/office/drawing/2014/main" id="{05C434D8-BE21-3C4F-B966-C264E42D1A88}"/>
              </a:ext>
            </a:extLst>
          </p:cNvPr>
          <p:cNvSpPr>
            <a:spLocks noGrp="1"/>
          </p:cNvSpPr>
          <p:nvPr>
            <p:ph type="title"/>
          </p:nvPr>
        </p:nvSpPr>
        <p:spPr>
          <a:xfrm>
            <a:off x="838200" y="365126"/>
            <a:ext cx="10515600" cy="1143000"/>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DBDB1CAF-D81D-0A48-8CB7-312CE0A6A119}"/>
              </a:ext>
            </a:extLst>
          </p:cNvPr>
          <p:cNvSpPr>
            <a:spLocks noGrp="1"/>
          </p:cNvSpPr>
          <p:nvPr>
            <p:ph type="body" idx="1"/>
          </p:nvPr>
        </p:nvSpPr>
        <p:spPr>
          <a:xfrm>
            <a:off x="838200" y="1687514"/>
            <a:ext cx="10515600" cy="448945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Rectangle 6">
            <a:extLst>
              <a:ext uri="{FF2B5EF4-FFF2-40B4-BE49-F238E27FC236}">
                <a16:creationId xmlns:a16="http://schemas.microsoft.com/office/drawing/2014/main" id="{27B366C6-09A4-FC49-AA7E-13E205387E20}"/>
              </a:ext>
            </a:extLst>
          </p:cNvPr>
          <p:cNvSpPr/>
          <p:nvPr userDrawn="1"/>
        </p:nvSpPr>
        <p:spPr>
          <a:xfrm>
            <a:off x="838200" y="1508126"/>
            <a:ext cx="11353800" cy="179387"/>
          </a:xfrm>
          <a:prstGeom prst="rect">
            <a:avLst/>
          </a:prstGeom>
          <a:solidFill>
            <a:srgbClr val="0B3D9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Rectangle 7">
            <a:extLst>
              <a:ext uri="{FF2B5EF4-FFF2-40B4-BE49-F238E27FC236}">
                <a16:creationId xmlns:a16="http://schemas.microsoft.com/office/drawing/2014/main" id="{FBA8F2F6-9030-F947-8EE4-619A9675FB06}"/>
              </a:ext>
            </a:extLst>
          </p:cNvPr>
          <p:cNvSpPr/>
          <p:nvPr userDrawn="1"/>
        </p:nvSpPr>
        <p:spPr>
          <a:xfrm>
            <a:off x="0" y="1508126"/>
            <a:ext cx="838200" cy="179387"/>
          </a:xfrm>
          <a:prstGeom prst="rect">
            <a:avLst/>
          </a:prstGeom>
          <a:solidFill>
            <a:srgbClr val="D7014D"/>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 name="Rectangle 11">
            <a:extLst>
              <a:ext uri="{FF2B5EF4-FFF2-40B4-BE49-F238E27FC236}">
                <a16:creationId xmlns:a16="http://schemas.microsoft.com/office/drawing/2014/main" id="{CF36DCC5-4FD1-2248-B65C-9FF0F5F3BFA1}"/>
              </a:ext>
            </a:extLst>
          </p:cNvPr>
          <p:cNvSpPr/>
          <p:nvPr userDrawn="1"/>
        </p:nvSpPr>
        <p:spPr>
          <a:xfrm>
            <a:off x="838200" y="1508125"/>
            <a:ext cx="838200" cy="179387"/>
          </a:xfrm>
          <a:prstGeom prst="rect">
            <a:avLst/>
          </a:prstGeom>
          <a:solidFill>
            <a:srgbClr val="FFD93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 name="Slide Number Placeholder 5">
            <a:extLst>
              <a:ext uri="{FF2B5EF4-FFF2-40B4-BE49-F238E27FC236}">
                <a16:creationId xmlns:a16="http://schemas.microsoft.com/office/drawing/2014/main" id="{0BF70F0D-47D2-7442-8BCD-A0A76A1F068D}"/>
              </a:ext>
            </a:extLst>
          </p:cNvPr>
          <p:cNvSpPr>
            <a:spLocks noGrp="1"/>
          </p:cNvSpPr>
          <p:nvPr>
            <p:ph type="sldNum" sz="quarter" idx="4"/>
          </p:nvPr>
        </p:nvSpPr>
        <p:spPr>
          <a:xfrm>
            <a:off x="10809962" y="6356350"/>
            <a:ext cx="54383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3EAA9A-AD91-1245-A5C3-6A0CBEF58DBD}" type="slidenum">
              <a:rPr lang="en-GB" smtClean="0"/>
              <a:t>‹#›</a:t>
            </a:fld>
            <a:endParaRPr lang="en-GB" dirty="0"/>
          </a:p>
        </p:txBody>
      </p:sp>
      <p:sp>
        <p:nvSpPr>
          <p:cNvPr id="4" name="Date Placeholder 3">
            <a:extLst>
              <a:ext uri="{FF2B5EF4-FFF2-40B4-BE49-F238E27FC236}">
                <a16:creationId xmlns:a16="http://schemas.microsoft.com/office/drawing/2014/main" id="{6325CA02-C0BE-C748-BB6D-191D4A1F6F6E}"/>
              </a:ext>
            </a:extLst>
          </p:cNvPr>
          <p:cNvSpPr>
            <a:spLocks noGrp="1"/>
          </p:cNvSpPr>
          <p:nvPr>
            <p:ph type="dt" sz="half" idx="2"/>
          </p:nvPr>
        </p:nvSpPr>
        <p:spPr>
          <a:xfrm>
            <a:off x="838200" y="6356350"/>
            <a:ext cx="102817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5D528E-B0C4-574C-AE6E-B35A83CFEB13}" type="datetimeFigureOut">
              <a:rPr lang="en-GB" smtClean="0"/>
              <a:t>08/10/2026</a:t>
            </a:fld>
            <a:endParaRPr lang="en-GB" dirty="0"/>
          </a:p>
        </p:txBody>
      </p:sp>
      <p:sp>
        <p:nvSpPr>
          <p:cNvPr id="5" name="Footer Placeholder 4">
            <a:extLst>
              <a:ext uri="{FF2B5EF4-FFF2-40B4-BE49-F238E27FC236}">
                <a16:creationId xmlns:a16="http://schemas.microsoft.com/office/drawing/2014/main" id="{CE950729-1D81-7842-BB34-E0DBD93FE94C}"/>
              </a:ext>
            </a:extLst>
          </p:cNvPr>
          <p:cNvSpPr>
            <a:spLocks noGrp="1"/>
          </p:cNvSpPr>
          <p:nvPr>
            <p:ph type="ftr" sz="quarter" idx="3"/>
          </p:nvPr>
        </p:nvSpPr>
        <p:spPr>
          <a:xfrm>
            <a:off x="2116899" y="6251714"/>
            <a:ext cx="8129391" cy="469762"/>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15" name="TextBox 14">
            <a:extLst>
              <a:ext uri="{FF2B5EF4-FFF2-40B4-BE49-F238E27FC236}">
                <a16:creationId xmlns:a16="http://schemas.microsoft.com/office/drawing/2014/main" id="{FCD30695-89F9-9D40-8B73-8CF0F208D14C}"/>
              </a:ext>
            </a:extLst>
          </p:cNvPr>
          <p:cNvSpPr txBox="1"/>
          <p:nvPr userDrawn="1"/>
        </p:nvSpPr>
        <p:spPr>
          <a:xfrm>
            <a:off x="3975652" y="6176964"/>
            <a:ext cx="3627783" cy="646331"/>
          </a:xfrm>
          <a:prstGeom prst="rect">
            <a:avLst/>
          </a:prstGeom>
          <a:noFill/>
        </p:spPr>
        <p:txBody>
          <a:bodyPr wrap="square" rtlCol="0">
            <a:spAutoFit/>
          </a:bodyPr>
          <a:lstStyle/>
          <a:p>
            <a:pPr algn="ctr"/>
            <a:r>
              <a:rPr lang="en-GB" sz="850" b="1" dirty="0">
                <a:solidFill>
                  <a:srgbClr val="0B3D91"/>
                </a:solidFill>
              </a:rPr>
              <a:t>A Complete Education for A Complete Person</a:t>
            </a:r>
          </a:p>
          <a:p>
            <a:pPr algn="ctr"/>
            <a:br>
              <a:rPr lang="en-GB" sz="700" dirty="0"/>
            </a:br>
            <a:r>
              <a:rPr lang="en-GB" sz="700" dirty="0"/>
              <a:t>P.O. Box 4, </a:t>
            </a:r>
            <a:r>
              <a:rPr lang="en-GB" sz="700" dirty="0" err="1"/>
              <a:t>Mukono</a:t>
            </a:r>
            <a:r>
              <a:rPr lang="en-GB" sz="700" dirty="0"/>
              <a:t>, Uganda, Plot 67-173, Bishop Tucker Road, </a:t>
            </a:r>
            <a:r>
              <a:rPr lang="en-GB" sz="700" dirty="0" err="1"/>
              <a:t>Mukono</a:t>
            </a:r>
            <a:r>
              <a:rPr lang="en-GB" sz="700" dirty="0"/>
              <a:t> Hill</a:t>
            </a:r>
            <a:endParaRPr lang="en-US" sz="700" dirty="0"/>
          </a:p>
          <a:p>
            <a:pPr algn="ctr"/>
            <a:r>
              <a:rPr lang="en-GB" sz="700" dirty="0"/>
              <a:t>Tel: +256 (0) 312 350 800 Email: </a:t>
            </a:r>
            <a:r>
              <a:rPr lang="en-GB" sz="700" u="sng" dirty="0">
                <a:solidFill>
                  <a:srgbClr val="0000FF"/>
                </a:solidFill>
                <a:hlinkClick r:id="rId15">
                  <a:extLst>
                    <a:ext uri="{A12FA001-AC4F-418D-AE19-62706E023703}">
                      <ahyp:hlinkClr xmlns:ahyp="http://schemas.microsoft.com/office/drawing/2018/hyperlinkcolor" val="tx"/>
                    </a:ext>
                  </a:extLst>
                </a:hlinkClick>
              </a:rPr>
              <a:t>info@ucu.ac.ug</a:t>
            </a:r>
            <a:r>
              <a:rPr lang="en-GB" sz="700" dirty="0">
                <a:solidFill>
                  <a:srgbClr val="0000FF"/>
                </a:solidFill>
              </a:rPr>
              <a:t> </a:t>
            </a:r>
            <a:r>
              <a:rPr lang="en-GB" sz="700" dirty="0"/>
              <a:t>Web: </a:t>
            </a:r>
            <a:r>
              <a:rPr lang="en-GB" sz="700" u="sng" dirty="0">
                <a:solidFill>
                  <a:srgbClr val="0000FF"/>
                </a:solidFill>
              </a:rPr>
              <a:t>https://</a:t>
            </a:r>
            <a:r>
              <a:rPr lang="en-GB" sz="700" u="sng" dirty="0">
                <a:solidFill>
                  <a:srgbClr val="0000FF"/>
                </a:solidFill>
                <a:hlinkClick r:id="rId16">
                  <a:extLst>
                    <a:ext uri="{A12FA001-AC4F-418D-AE19-62706E023703}">
                      <ahyp:hlinkClr xmlns:ahyp="http://schemas.microsoft.com/office/drawing/2018/hyperlinkcolor" val="tx"/>
                    </a:ext>
                  </a:extLst>
                </a:hlinkClick>
              </a:rPr>
              <a:t>ucu.ac.ug</a:t>
            </a:r>
            <a:endParaRPr lang="en-US" sz="700" u="sng" dirty="0">
              <a:solidFill>
                <a:srgbClr val="0000FF"/>
              </a:solidFill>
            </a:endParaRPr>
          </a:p>
          <a:p>
            <a:pPr algn="ctr"/>
            <a:r>
              <a:rPr lang="en-GB" sz="650" dirty="0"/>
              <a:t>Founded by the Province of the Church of Uganda. Chartered by the Government of Uganda</a:t>
            </a:r>
            <a:endParaRPr lang="en-US" sz="650" dirty="0"/>
          </a:p>
        </p:txBody>
      </p:sp>
      <p:cxnSp>
        <p:nvCxnSpPr>
          <p:cNvPr id="17" name="Straight Connector 16">
            <a:extLst>
              <a:ext uri="{FF2B5EF4-FFF2-40B4-BE49-F238E27FC236}">
                <a16:creationId xmlns:a16="http://schemas.microsoft.com/office/drawing/2014/main" id="{CC344BD7-844D-7745-BB54-5181F5646184}"/>
              </a:ext>
            </a:extLst>
          </p:cNvPr>
          <p:cNvCxnSpPr>
            <a:cxnSpLocks/>
          </p:cNvCxnSpPr>
          <p:nvPr userDrawn="1"/>
        </p:nvCxnSpPr>
        <p:spPr>
          <a:xfrm>
            <a:off x="0" y="6395027"/>
            <a:ext cx="12192000" cy="0"/>
          </a:xfrm>
          <a:prstGeom prst="line">
            <a:avLst/>
          </a:prstGeom>
          <a:ln w="12700">
            <a:solidFill>
              <a:srgbClr val="D7016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9840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rgbClr val="1F497D"/>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D7014D"/>
        </a:buClr>
        <a:buFont typeface="Wingdings" pitchFamily="2" charset="2"/>
        <a:buChar char="q"/>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B3D91"/>
        </a:buClr>
        <a:buSzPct val="95000"/>
        <a:buFont typeface="Wingdings" pitchFamily="2" charset="2"/>
        <a:buChar char="q"/>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D70167"/>
        </a:buClr>
        <a:buSzPct val="90000"/>
        <a:buFont typeface="Wingdings" pitchFamily="2" charset="2"/>
        <a:buChar char="q"/>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D70167"/>
        </a:buClr>
        <a:buSzPct val="88000"/>
        <a:buFont typeface="Wingdings" pitchFamily="2" charset="2"/>
        <a:buChar char="q"/>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7931"/>
        </a:buClr>
        <a:buSzPct val="86000"/>
        <a:buFont typeface="Wingdings" pitchFamily="2" charset="2"/>
        <a:buChar char="q"/>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000"/>
              <a:t>LipScribe: Lip-Assisted Speech Recognition for Robust Live Captioning</a:t>
            </a:r>
          </a:p>
        </p:txBody>
      </p:sp>
      <p:sp>
        <p:nvSpPr>
          <p:cNvPr id="3" name="Subtitle 2"/>
          <p:cNvSpPr>
            <a:spLocks noGrp="1"/>
          </p:cNvSpPr>
          <p:nvPr>
            <p:ph type="subTitle" idx="1"/>
          </p:nvPr>
        </p:nvSpPr>
        <p:spPr>
          <a:xfrm>
            <a:off x="1527048" y="3611880"/>
            <a:ext cx="9144000" cy="868680"/>
          </a:xfrm>
        </p:spPr>
        <p:txBody>
          <a:bodyPr/>
          <a:lstStyle/>
          <a:p>
            <a:r>
              <a:rPr sz="2200"/>
              <a:t>Capstone Project Proposal</a:t>
            </a:r>
          </a:p>
          <a:p>
            <a:r>
              <a:rPr sz="2200"/>
              <a:t>Computer Vision and Deep Learning  |  Group 4</a:t>
            </a:r>
          </a:p>
        </p:txBody>
      </p:sp>
      <p:sp>
        <p:nvSpPr>
          <p:cNvPr id="4" name="TextBox 3"/>
          <p:cNvSpPr txBox="1"/>
          <p:nvPr/>
        </p:nvSpPr>
        <p:spPr>
          <a:xfrm>
            <a:off x="1161288" y="4663440"/>
            <a:ext cx="3291840" cy="548640"/>
          </a:xfrm>
          <a:prstGeom prst="rect">
            <a:avLst/>
          </a:prstGeom>
          <a:noFill/>
        </p:spPr>
        <p:txBody>
          <a:bodyPr wrap="square" lIns="0" tIns="0" rIns="0" bIns="0" anchor="t">
            <a:spAutoFit/>
          </a:bodyPr>
          <a:lstStyle/>
          <a:p>
            <a:pPr algn="ctr"/>
            <a:r>
              <a:rPr sz="1600" b="1" i="0">
                <a:solidFill>
                  <a:srgbClr val="1F497D"/>
                </a:solidFill>
              </a:rPr>
              <a:t>Cole Rodney Migisha</a:t>
            </a:r>
          </a:p>
          <a:p>
            <a:pPr algn="ctr"/>
            <a:r>
              <a:rPr sz="1300" b="0" i="0">
                <a:solidFill>
                  <a:srgbClr val="555F6E"/>
                </a:solidFill>
              </a:rPr>
              <a:t>B29657</a:t>
            </a:r>
          </a:p>
        </p:txBody>
      </p:sp>
      <p:sp>
        <p:nvSpPr>
          <p:cNvPr id="5" name="TextBox 4"/>
          <p:cNvSpPr txBox="1"/>
          <p:nvPr/>
        </p:nvSpPr>
        <p:spPr>
          <a:xfrm>
            <a:off x="4453128" y="4663440"/>
            <a:ext cx="3291840" cy="548640"/>
          </a:xfrm>
          <a:prstGeom prst="rect">
            <a:avLst/>
          </a:prstGeom>
          <a:noFill/>
        </p:spPr>
        <p:txBody>
          <a:bodyPr wrap="square" lIns="0" tIns="0" rIns="0" bIns="0" anchor="t">
            <a:spAutoFit/>
          </a:bodyPr>
          <a:lstStyle/>
          <a:p>
            <a:pPr algn="ctr"/>
            <a:r>
              <a:rPr sz="1600" b="1" i="0">
                <a:solidFill>
                  <a:srgbClr val="1F497D"/>
                </a:solidFill>
              </a:rPr>
              <a:t>Charis Opol</a:t>
            </a:r>
          </a:p>
          <a:p>
            <a:pPr algn="ctr"/>
            <a:r>
              <a:rPr sz="1300" b="0" i="0">
                <a:solidFill>
                  <a:srgbClr val="555F6E"/>
                </a:solidFill>
              </a:rPr>
              <a:t>B29654</a:t>
            </a:r>
          </a:p>
        </p:txBody>
      </p:sp>
      <p:sp>
        <p:nvSpPr>
          <p:cNvPr id="6" name="TextBox 5"/>
          <p:cNvSpPr txBox="1"/>
          <p:nvPr/>
        </p:nvSpPr>
        <p:spPr>
          <a:xfrm>
            <a:off x="7744968" y="4663440"/>
            <a:ext cx="3291840" cy="548640"/>
          </a:xfrm>
          <a:prstGeom prst="rect">
            <a:avLst/>
          </a:prstGeom>
          <a:noFill/>
        </p:spPr>
        <p:txBody>
          <a:bodyPr wrap="square" lIns="0" tIns="0" rIns="0" bIns="0" anchor="t">
            <a:spAutoFit/>
          </a:bodyPr>
          <a:lstStyle/>
          <a:p>
            <a:pPr algn="ctr"/>
            <a:r>
              <a:rPr sz="1600" b="1" i="0">
                <a:solidFill>
                  <a:srgbClr val="1F497D"/>
                </a:solidFill>
              </a:rPr>
              <a:t>Ainomugisha Faith</a:t>
            </a:r>
          </a:p>
          <a:p>
            <a:pPr algn="ctr"/>
            <a:r>
              <a:rPr sz="1300" b="0" i="0">
                <a:solidFill>
                  <a:srgbClr val="555F6E"/>
                </a:solidFill>
              </a:rPr>
              <a:t>B27518</a:t>
            </a:r>
          </a:p>
        </p:txBody>
      </p:sp>
      <p:sp>
        <p:nvSpPr>
          <p:cNvPr id="7" name="TextBox 6"/>
          <p:cNvSpPr txBox="1"/>
          <p:nvPr/>
        </p:nvSpPr>
        <p:spPr>
          <a:xfrm>
            <a:off x="1161288" y="5321807"/>
            <a:ext cx="3291840" cy="548640"/>
          </a:xfrm>
          <a:prstGeom prst="rect">
            <a:avLst/>
          </a:prstGeom>
          <a:noFill/>
        </p:spPr>
        <p:txBody>
          <a:bodyPr wrap="square" lIns="0" tIns="0" rIns="0" bIns="0" anchor="t">
            <a:spAutoFit/>
          </a:bodyPr>
          <a:lstStyle/>
          <a:p>
            <a:pPr algn="ctr"/>
            <a:r>
              <a:rPr sz="1600" b="1" i="0">
                <a:solidFill>
                  <a:srgbClr val="1F497D"/>
                </a:solidFill>
              </a:rPr>
              <a:t>Lisa Lusinga Namugenyi</a:t>
            </a:r>
          </a:p>
          <a:p>
            <a:pPr algn="ctr"/>
            <a:r>
              <a:rPr sz="1300" b="0" i="0">
                <a:solidFill>
                  <a:srgbClr val="555F6E"/>
                </a:solidFill>
              </a:rPr>
              <a:t>B30300</a:t>
            </a:r>
          </a:p>
        </p:txBody>
      </p:sp>
      <p:sp>
        <p:nvSpPr>
          <p:cNvPr id="8" name="TextBox 7"/>
          <p:cNvSpPr txBox="1"/>
          <p:nvPr/>
        </p:nvSpPr>
        <p:spPr>
          <a:xfrm>
            <a:off x="4453128" y="5321807"/>
            <a:ext cx="3291840" cy="548640"/>
          </a:xfrm>
          <a:prstGeom prst="rect">
            <a:avLst/>
          </a:prstGeom>
          <a:noFill/>
        </p:spPr>
        <p:txBody>
          <a:bodyPr wrap="square" lIns="0" tIns="0" rIns="0" bIns="0" anchor="t">
            <a:spAutoFit/>
          </a:bodyPr>
          <a:lstStyle/>
          <a:p>
            <a:pPr algn="ctr"/>
            <a:r>
              <a:rPr sz="1600" b="1" i="0">
                <a:solidFill>
                  <a:srgbClr val="1F497D"/>
                </a:solidFill>
              </a:rPr>
              <a:t>Ansasire Nehum Naamaye</a:t>
            </a:r>
          </a:p>
          <a:p>
            <a:pPr algn="ctr"/>
            <a:r>
              <a:rPr sz="1300" b="0" i="0">
                <a:solidFill>
                  <a:srgbClr val="555F6E"/>
                </a:solidFill>
              </a:rPr>
              <a:t>B29785</a:t>
            </a:r>
          </a:p>
        </p:txBody>
      </p:sp>
      <p:sp>
        <p:nvSpPr>
          <p:cNvPr id="9" name="TextBox 8"/>
          <p:cNvSpPr txBox="1"/>
          <p:nvPr/>
        </p:nvSpPr>
        <p:spPr>
          <a:xfrm>
            <a:off x="7744968" y="5321807"/>
            <a:ext cx="3291840" cy="548640"/>
          </a:xfrm>
          <a:prstGeom prst="rect">
            <a:avLst/>
          </a:prstGeom>
          <a:noFill/>
        </p:spPr>
        <p:txBody>
          <a:bodyPr wrap="square" lIns="0" tIns="0" rIns="0" bIns="0" anchor="t">
            <a:spAutoFit/>
          </a:bodyPr>
          <a:lstStyle/>
          <a:p>
            <a:pPr algn="ctr"/>
            <a:r>
              <a:rPr sz="1600" b="1" i="0">
                <a:solidFill>
                  <a:srgbClr val="1F497D"/>
                </a:solidFill>
              </a:rPr>
              <a:t>Wakisa Isabelle</a:t>
            </a:r>
          </a:p>
          <a:p>
            <a:pPr algn="ctr"/>
            <a:r>
              <a:rPr sz="1300" b="0" i="0">
                <a:solidFill>
                  <a:srgbClr val="555F6E"/>
                </a:solidFill>
              </a:rPr>
              <a:t>B30311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Audio-only captions fail in noise</a:t>
            </a:r>
          </a:p>
        </p:txBody>
      </p:sp>
      <p:sp>
        <p:nvSpPr>
          <p:cNvPr id="3" name="Oval 2"/>
          <p:cNvSpPr/>
          <p:nvPr/>
        </p:nvSpPr>
        <p:spPr>
          <a:xfrm>
            <a:off x="841248" y="2048256"/>
            <a:ext cx="420624" cy="420624"/>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i="0">
                <a:solidFill>
                  <a:srgbClr val="FFFFFF"/>
                </a:solidFill>
              </a:rPr>
              <a:t>1</a:t>
            </a:r>
          </a:p>
        </p:txBody>
      </p:sp>
      <p:sp>
        <p:nvSpPr>
          <p:cNvPr id="4" name="TextBox 3"/>
          <p:cNvSpPr txBox="1"/>
          <p:nvPr/>
        </p:nvSpPr>
        <p:spPr>
          <a:xfrm>
            <a:off x="1444752" y="2011680"/>
            <a:ext cx="3931920" cy="1188720"/>
          </a:xfrm>
          <a:prstGeom prst="rect">
            <a:avLst/>
          </a:prstGeom>
          <a:noFill/>
        </p:spPr>
        <p:txBody>
          <a:bodyPr wrap="square" lIns="0" tIns="0" rIns="0" bIns="0" anchor="t">
            <a:spAutoFit/>
          </a:bodyPr>
          <a:lstStyle/>
          <a:p>
            <a:pPr algn="l"/>
            <a:r>
              <a:rPr sz="1600" b="1" i="0">
                <a:solidFill>
                  <a:srgbClr val="1F497D"/>
                </a:solidFill>
              </a:rPr>
              <a:t>466 million people live with hearing loss</a:t>
            </a:r>
          </a:p>
          <a:p>
            <a:pPr algn="l">
              <a:spcBef>
                <a:spcPts val="300"/>
              </a:spcBef>
            </a:pPr>
            <a:r>
              <a:rPr sz="1400" b="0" i="0">
                <a:solidFill>
                  <a:srgbClr val="1A1A1A"/>
                </a:solidFill>
              </a:rPr>
              <a:t>Many depend on captions or lip reading. Interpreters are scarce and assistive devices are costly [9].</a:t>
            </a:r>
          </a:p>
        </p:txBody>
      </p:sp>
      <p:sp>
        <p:nvSpPr>
          <p:cNvPr id="5" name="Oval 4"/>
          <p:cNvSpPr/>
          <p:nvPr/>
        </p:nvSpPr>
        <p:spPr>
          <a:xfrm>
            <a:off x="841248" y="3374136"/>
            <a:ext cx="420624" cy="420624"/>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i="0">
                <a:solidFill>
                  <a:srgbClr val="FFFFFF"/>
                </a:solidFill>
              </a:rPr>
              <a:t>2</a:t>
            </a:r>
          </a:p>
        </p:txBody>
      </p:sp>
      <p:sp>
        <p:nvSpPr>
          <p:cNvPr id="6" name="TextBox 5"/>
          <p:cNvSpPr txBox="1"/>
          <p:nvPr/>
        </p:nvSpPr>
        <p:spPr>
          <a:xfrm>
            <a:off x="1444752" y="3337560"/>
            <a:ext cx="3931920" cy="1188720"/>
          </a:xfrm>
          <a:prstGeom prst="rect">
            <a:avLst/>
          </a:prstGeom>
          <a:noFill/>
        </p:spPr>
        <p:txBody>
          <a:bodyPr wrap="square" lIns="0" tIns="0" rIns="0" bIns="0" anchor="t">
            <a:spAutoFit/>
          </a:bodyPr>
          <a:lstStyle/>
          <a:p>
            <a:pPr algn="l"/>
            <a:r>
              <a:rPr sz="1600" b="1" i="0">
                <a:solidFill>
                  <a:srgbClr val="1F497D"/>
                </a:solidFill>
              </a:rPr>
              <a:t>Captioning tools only listen</a:t>
            </a:r>
          </a:p>
          <a:p>
            <a:pPr algn="l">
              <a:spcBef>
                <a:spcPts val="300"/>
              </a:spcBef>
            </a:pPr>
            <a:r>
              <a:rPr sz="1400" b="0" i="0">
                <a:solidFill>
                  <a:srgbClr val="1A1A1A"/>
                </a:solidFill>
              </a:rPr>
              <a:t>Noise in classrooms, transport and outdoor events corrupts the one signal they use.</a:t>
            </a:r>
          </a:p>
        </p:txBody>
      </p:sp>
      <p:sp>
        <p:nvSpPr>
          <p:cNvPr id="7" name="Oval 6"/>
          <p:cNvSpPr/>
          <p:nvPr/>
        </p:nvSpPr>
        <p:spPr>
          <a:xfrm>
            <a:off x="841248" y="4700016"/>
            <a:ext cx="420624" cy="420624"/>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i="0">
                <a:solidFill>
                  <a:srgbClr val="FFFFFF"/>
                </a:solidFill>
              </a:rPr>
              <a:t>3</a:t>
            </a:r>
          </a:p>
        </p:txBody>
      </p:sp>
      <p:sp>
        <p:nvSpPr>
          <p:cNvPr id="8" name="TextBox 7"/>
          <p:cNvSpPr txBox="1"/>
          <p:nvPr/>
        </p:nvSpPr>
        <p:spPr>
          <a:xfrm>
            <a:off x="1444752" y="4663440"/>
            <a:ext cx="3931920" cy="1188720"/>
          </a:xfrm>
          <a:prstGeom prst="rect">
            <a:avLst/>
          </a:prstGeom>
          <a:noFill/>
        </p:spPr>
        <p:txBody>
          <a:bodyPr wrap="square" lIns="0" tIns="0" rIns="0" bIns="0" anchor="t">
            <a:spAutoFit/>
          </a:bodyPr>
          <a:lstStyle/>
          <a:p>
            <a:pPr algn="l"/>
            <a:r>
              <a:rPr sz="1600" b="1" i="0">
                <a:solidFill>
                  <a:srgbClr val="1F497D"/>
                </a:solidFill>
              </a:rPr>
              <a:t>Lips are unaffected by acoustic noise</a:t>
            </a:r>
          </a:p>
          <a:p>
            <a:pPr algn="l">
              <a:spcBef>
                <a:spcPts val="300"/>
              </a:spcBef>
            </a:pPr>
            <a:r>
              <a:rPr sz="1400" b="0" i="0">
                <a:solidFill>
                  <a:srgbClr val="1A1A1A"/>
                </a:solidFill>
              </a:rPr>
              <a:t>Watching the mouth gives a second channel when the audio fails [2].</a:t>
            </a:r>
          </a:p>
        </p:txBody>
      </p:sp>
      <p:graphicFrame>
        <p:nvGraphicFramePr>
          <p:cNvPr id="9" name="Chart 8"/>
          <p:cNvGraphicFramePr>
            <a:graphicFrameLocks noGrp="1"/>
          </p:cNvGraphicFramePr>
          <p:nvPr/>
        </p:nvGraphicFramePr>
        <p:xfrm>
          <a:off x="5715000" y="1920240"/>
          <a:ext cx="5641848"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5715000" y="5596128"/>
            <a:ext cx="5641848" cy="365760"/>
          </a:xfrm>
          <a:prstGeom prst="rect">
            <a:avLst/>
          </a:prstGeom>
          <a:noFill/>
        </p:spPr>
        <p:txBody>
          <a:bodyPr wrap="square" lIns="0" tIns="0" rIns="0" bIns="0" anchor="t">
            <a:spAutoFit/>
          </a:bodyPr>
          <a:lstStyle/>
          <a:p>
            <a:pPr algn="l"/>
            <a:r>
              <a:rPr sz="1100" b="0" i="0">
                <a:solidFill>
                  <a:srgbClr val="555F6E"/>
                </a:solidFill>
              </a:rPr>
              <a:t>Source: Li et al., Sensors 2023 [2]. LRS2 test set with synthetic babble noise.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Who it serves and what it outputs</a:t>
            </a:r>
          </a:p>
        </p:txBody>
      </p:sp>
      <p:sp>
        <p:nvSpPr>
          <p:cNvPr id="3" name="Rounded Rectangle 2"/>
          <p:cNvSpPr/>
          <p:nvPr/>
        </p:nvSpPr>
        <p:spPr>
          <a:xfrm>
            <a:off x="841248" y="1965960"/>
            <a:ext cx="3200400" cy="1188720"/>
          </a:xfrm>
          <a:prstGeom prst="roundRect">
            <a:avLst>
              <a:gd name="adj" fmla="val 8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8755" rIns="164592" bIns="98755" rtlCol="0" anchor="ctr"/>
          <a:lstStyle/>
          <a:p>
            <a:pPr algn="l"/>
            <a:r>
              <a:rPr sz="1300" b="1" i="0">
                <a:solidFill>
                  <a:srgbClr val="D7014D"/>
                </a:solidFill>
              </a:rPr>
              <a:t>INPUT</a:t>
            </a:r>
          </a:p>
          <a:p>
            <a:pPr algn="l">
              <a:spcBef>
                <a:spcPts val="400"/>
              </a:spcBef>
            </a:pPr>
            <a:r>
              <a:rPr sz="1500" b="0" i="0">
                <a:solidFill>
                  <a:srgbClr val="1A1A1A"/>
                </a:solidFill>
              </a:rPr>
              <a:t>Video of a frontal speaker with its audio track</a:t>
            </a:r>
          </a:p>
        </p:txBody>
      </p:sp>
      <p:sp>
        <p:nvSpPr>
          <p:cNvPr id="4" name="Right Arrow 3"/>
          <p:cNvSpPr/>
          <p:nvPr/>
        </p:nvSpPr>
        <p:spPr>
          <a:xfrm>
            <a:off x="4151376" y="2432304"/>
            <a:ext cx="237744" cy="256032"/>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498848" y="1965960"/>
            <a:ext cx="3200400" cy="1188720"/>
          </a:xfrm>
          <a:prstGeom prst="roundRect">
            <a:avLst>
              <a:gd name="adj" fmla="val 8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8755" rIns="164592" bIns="98755" rtlCol="0" anchor="ctr"/>
          <a:lstStyle/>
          <a:p>
            <a:pPr algn="l"/>
            <a:r>
              <a:rPr sz="1300" b="1" i="0">
                <a:solidFill>
                  <a:srgbClr val="D7014D"/>
                </a:solidFill>
              </a:rPr>
              <a:t>OUTPUT</a:t>
            </a:r>
          </a:p>
          <a:p>
            <a:pPr algn="l">
              <a:spcBef>
                <a:spcPts val="400"/>
              </a:spcBef>
            </a:pPr>
            <a:r>
              <a:rPr sz="1500" b="0" i="0">
                <a:solidFill>
                  <a:srgbClr val="1A1A1A"/>
                </a:solidFill>
              </a:rPr>
              <a:t>Text caption of the spoken words, per utterance</a:t>
            </a:r>
          </a:p>
        </p:txBody>
      </p:sp>
      <p:sp>
        <p:nvSpPr>
          <p:cNvPr id="6" name="Right Arrow 5"/>
          <p:cNvSpPr/>
          <p:nvPr/>
        </p:nvSpPr>
        <p:spPr>
          <a:xfrm>
            <a:off x="7808975" y="2432304"/>
            <a:ext cx="237744" cy="256032"/>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156448" y="1965960"/>
            <a:ext cx="3200400" cy="1188720"/>
          </a:xfrm>
          <a:prstGeom prst="roundRect">
            <a:avLst>
              <a:gd name="adj" fmla="val 8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8755" rIns="164592" bIns="98755" rtlCol="0" anchor="ctr"/>
          <a:lstStyle/>
          <a:p>
            <a:pPr algn="l"/>
            <a:r>
              <a:rPr sz="1300" b="1" i="0">
                <a:solidFill>
                  <a:srgbClr val="D7014D"/>
                </a:solidFill>
              </a:rPr>
              <a:t>USE</a:t>
            </a:r>
          </a:p>
          <a:p>
            <a:pPr algn="l">
              <a:spcBef>
                <a:spcPts val="400"/>
              </a:spcBef>
            </a:pPr>
            <a:r>
              <a:rPr sz="1500" b="0" i="0">
                <a:solidFill>
                  <a:srgbClr val="1A1A1A"/>
                </a:solidFill>
              </a:rPr>
              <a:t>A deaf or hard-of-hearing user follows speech in a noisy room</a:t>
            </a:r>
          </a:p>
        </p:txBody>
      </p:sp>
      <p:sp>
        <p:nvSpPr>
          <p:cNvPr id="8" name="TextBox 7"/>
          <p:cNvSpPr txBox="1"/>
          <p:nvPr/>
        </p:nvSpPr>
        <p:spPr>
          <a:xfrm>
            <a:off x="841248" y="3474720"/>
            <a:ext cx="5029200" cy="2468880"/>
          </a:xfrm>
          <a:prstGeom prst="rect">
            <a:avLst/>
          </a:prstGeom>
          <a:noFill/>
        </p:spPr>
        <p:txBody>
          <a:bodyPr wrap="square" lIns="0" tIns="0" rIns="0" bIns="0" anchor="t">
            <a:spAutoFit/>
          </a:bodyPr>
          <a:lstStyle/>
          <a:p>
            <a:pPr algn="l"/>
            <a:r>
              <a:rPr sz="1600" b="1" i="0">
                <a:solidFill>
                  <a:srgbClr val="1F497D"/>
                </a:solidFill>
              </a:rPr>
              <a:t>Primary CV task</a:t>
            </a:r>
          </a:p>
          <a:p>
            <a:pPr algn="l">
              <a:spcBef>
                <a:spcPts val="400"/>
              </a:spcBef>
            </a:pPr>
            <a:r>
              <a:rPr sz="1400" b="0" i="0">
                <a:solidFill>
                  <a:srgbClr val="1A1A1A"/>
                </a:solidFill>
              </a:rPr>
              <a:t>Visual speech recognition: a sequence of mouth-region frames is mapped to text, then fused with the audio stream.</a:t>
            </a:r>
          </a:p>
          <a:p>
            <a:pPr algn="l">
              <a:spcBef>
                <a:spcPts val="1200"/>
              </a:spcBef>
            </a:pPr>
            <a:r>
              <a:rPr sz="1600" b="1" i="0">
                <a:solidFill>
                  <a:srgbClr val="1F497D"/>
                </a:solidFill>
              </a:rPr>
              <a:t>Intended users</a:t>
            </a:r>
          </a:p>
          <a:p>
            <a:pPr algn="l">
              <a:spcBef>
                <a:spcPts val="400"/>
              </a:spcBef>
            </a:pPr>
            <a:r>
              <a:rPr sz="1400" b="0" i="0">
                <a:solidFill>
                  <a:srgbClr val="1A1A1A"/>
                </a:solidFill>
              </a:rPr>
              <a:t>Deaf and hard-of-hearing students and attendees in lectures, meetings and public services.</a:t>
            </a:r>
          </a:p>
        </p:txBody>
      </p:sp>
      <p:sp>
        <p:nvSpPr>
          <p:cNvPr id="9" name="Rounded Rectangle 8"/>
          <p:cNvSpPr/>
          <p:nvPr/>
        </p:nvSpPr>
        <p:spPr>
          <a:xfrm>
            <a:off x="6327648" y="3474720"/>
            <a:ext cx="5029200" cy="2286000"/>
          </a:xfrm>
          <a:prstGeom prst="roundRect">
            <a:avLst>
              <a:gd name="adj" fmla="val 5000"/>
            </a:avLst>
          </a:prstGeom>
          <a:solidFill>
            <a:srgbClr val="FFF6D6"/>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120700" rIns="201168" bIns="120700" rtlCol="0" anchor="t"/>
          <a:lstStyle/>
          <a:p>
            <a:pPr algn="l"/>
            <a:r>
              <a:rPr sz="1600" b="1" i="0">
                <a:solidFill>
                  <a:srgbClr val="1F497D"/>
                </a:solidFill>
              </a:rPr>
              <a:t>What the prototype will not do</a:t>
            </a:r>
          </a:p>
          <a:p>
            <a:pPr marL="201168" indent="-201168" algn="l">
              <a:spcBef>
                <a:spcPts val="600"/>
              </a:spcBef>
              <a:buClr>
                <a:srgbClr val="D7014D"/>
              </a:buClr>
              <a:buFont typeface="Arial"/>
              <a:buChar char="•"/>
            </a:pPr>
            <a:r>
              <a:rPr sz="1400" b="0" i="0">
                <a:solidFill>
                  <a:srgbClr val="1A1A1A"/>
                </a:solidFill>
              </a:rPr>
              <a:t>Replace a human interpreter or act without human review</a:t>
            </a:r>
          </a:p>
          <a:p>
            <a:pPr marL="201168" indent="-201168" algn="l">
              <a:spcBef>
                <a:spcPts val="400"/>
              </a:spcBef>
              <a:buClr>
                <a:srgbClr val="D7014D"/>
              </a:buClr>
              <a:buFont typeface="Arial"/>
              <a:buChar char="•"/>
            </a:pPr>
            <a:r>
              <a:rPr sz="1400" b="0" i="0">
                <a:solidFill>
                  <a:srgbClr val="1A1A1A"/>
                </a:solidFill>
              </a:rPr>
              <a:t>Transcribe open-vocabulary conversation; it is trained on a fixed command grammar</a:t>
            </a:r>
          </a:p>
          <a:p>
            <a:pPr marL="201168" indent="-201168" algn="l">
              <a:spcBef>
                <a:spcPts val="400"/>
              </a:spcBef>
              <a:buClr>
                <a:srgbClr val="D7014D"/>
              </a:buClr>
              <a:buFont typeface="Arial"/>
              <a:buChar char="•"/>
            </a:pPr>
            <a:r>
              <a:rPr sz="1400" b="0" i="0">
                <a:solidFill>
                  <a:srgbClr val="1A1A1A"/>
                </a:solidFill>
              </a:rPr>
              <a:t>Identify who is speaking or store raw video of faces</a:t>
            </a:r>
          </a:p>
          <a:p>
            <a:pPr marL="201168" indent="-201168" algn="l">
              <a:spcBef>
                <a:spcPts val="400"/>
              </a:spcBef>
              <a:buClr>
                <a:srgbClr val="D7014D"/>
              </a:buClr>
              <a:buFont typeface="Arial"/>
              <a:buChar char="•"/>
            </a:pPr>
            <a:r>
              <a:rPr sz="1400" b="0" i="0">
                <a:solidFill>
                  <a:srgbClr val="1A1A1A"/>
                </a:solidFill>
              </a:rPr>
              <a:t>Handle several speakers or side-on faces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Data: GRID corpus with added noise</a:t>
            </a:r>
          </a:p>
        </p:txBody>
      </p:sp>
      <p:sp>
        <p:nvSpPr>
          <p:cNvPr id="3" name="Rounded Rectangle 2"/>
          <p:cNvSpPr/>
          <p:nvPr/>
        </p:nvSpPr>
        <p:spPr>
          <a:xfrm>
            <a:off x="841248" y="1965960"/>
            <a:ext cx="2423160" cy="1371600"/>
          </a:xfrm>
          <a:prstGeom prst="roundRect">
            <a:avLst>
              <a:gd name="adj" fmla="val 8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8755" rIns="164592" bIns="98755" rtlCol="0" anchor="t"/>
          <a:lstStyle/>
          <a:p>
            <a:pPr algn="l"/>
            <a:r>
              <a:rPr sz="3400" b="1" i="0">
                <a:solidFill>
                  <a:srgbClr val="0B3D91"/>
                </a:solidFill>
              </a:rPr>
              <a:t>34</a:t>
            </a:r>
          </a:p>
          <a:p>
            <a:pPr algn="l">
              <a:spcBef>
                <a:spcPts val="200"/>
              </a:spcBef>
            </a:pPr>
            <a:r>
              <a:rPr sz="1300" b="0" i="0">
                <a:solidFill>
                  <a:srgbClr val="1A1A1A"/>
                </a:solidFill>
              </a:rPr>
              <a:t>speakers</a:t>
            </a:r>
          </a:p>
        </p:txBody>
      </p:sp>
      <p:sp>
        <p:nvSpPr>
          <p:cNvPr id="4" name="Rounded Rectangle 3"/>
          <p:cNvSpPr/>
          <p:nvPr/>
        </p:nvSpPr>
        <p:spPr>
          <a:xfrm>
            <a:off x="3538727" y="1965960"/>
            <a:ext cx="2423160" cy="1371600"/>
          </a:xfrm>
          <a:prstGeom prst="roundRect">
            <a:avLst>
              <a:gd name="adj" fmla="val 8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8755" rIns="164592" bIns="98755" rtlCol="0" anchor="t"/>
          <a:lstStyle/>
          <a:p>
            <a:pPr algn="l"/>
            <a:r>
              <a:rPr sz="3400" b="1" i="0">
                <a:solidFill>
                  <a:srgbClr val="0B3D91"/>
                </a:solidFill>
              </a:rPr>
              <a:t>~33,000</a:t>
            </a:r>
          </a:p>
          <a:p>
            <a:pPr algn="l">
              <a:spcBef>
                <a:spcPts val="200"/>
              </a:spcBef>
            </a:pPr>
            <a:r>
              <a:rPr sz="1300" b="0" i="0">
                <a:solidFill>
                  <a:srgbClr val="1A1A1A"/>
                </a:solidFill>
              </a:rPr>
              <a:t>sentences with aligned audio, video and transcript</a:t>
            </a:r>
          </a:p>
        </p:txBody>
      </p:sp>
      <p:sp>
        <p:nvSpPr>
          <p:cNvPr id="5" name="Rounded Rectangle 4"/>
          <p:cNvSpPr/>
          <p:nvPr/>
        </p:nvSpPr>
        <p:spPr>
          <a:xfrm>
            <a:off x="6236207" y="1965960"/>
            <a:ext cx="2423160" cy="1371600"/>
          </a:xfrm>
          <a:prstGeom prst="roundRect">
            <a:avLst>
              <a:gd name="adj" fmla="val 8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8755" rIns="164592" bIns="98755" rtlCol="0" anchor="t"/>
          <a:lstStyle/>
          <a:p>
            <a:pPr algn="l"/>
            <a:r>
              <a:rPr sz="3400" b="1" i="0">
                <a:solidFill>
                  <a:srgbClr val="0B3D91"/>
                </a:solidFill>
              </a:rPr>
              <a:t>51</a:t>
            </a:r>
          </a:p>
          <a:p>
            <a:pPr algn="l">
              <a:spcBef>
                <a:spcPts val="200"/>
              </a:spcBef>
            </a:pPr>
            <a:r>
              <a:rPr sz="1300" b="0" i="0">
                <a:solidFill>
                  <a:srgbClr val="1A1A1A"/>
                </a:solidFill>
              </a:rPr>
              <a:t>word vocabulary in a fixed six-slot grammar</a:t>
            </a:r>
          </a:p>
        </p:txBody>
      </p:sp>
      <p:sp>
        <p:nvSpPr>
          <p:cNvPr id="6" name="Rounded Rectangle 5"/>
          <p:cNvSpPr/>
          <p:nvPr/>
        </p:nvSpPr>
        <p:spPr>
          <a:xfrm>
            <a:off x="8933688" y="1965960"/>
            <a:ext cx="2423160" cy="1371600"/>
          </a:xfrm>
          <a:prstGeom prst="roundRect">
            <a:avLst>
              <a:gd name="adj" fmla="val 8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8755" rIns="164592" bIns="98755" rtlCol="0" anchor="t"/>
          <a:lstStyle/>
          <a:p>
            <a:pPr algn="l"/>
            <a:r>
              <a:rPr sz="3400" b="1" i="0">
                <a:solidFill>
                  <a:srgbClr val="0B3D91"/>
                </a:solidFill>
              </a:rPr>
              <a:t>5</a:t>
            </a:r>
          </a:p>
          <a:p>
            <a:pPr algn="l">
              <a:spcBef>
                <a:spcPts val="200"/>
              </a:spcBef>
            </a:pPr>
            <a:r>
              <a:rPr sz="1300" b="0" i="0">
                <a:solidFill>
                  <a:srgbClr val="1A1A1A"/>
                </a:solidFill>
              </a:rPr>
              <a:t>noise levels: clean, 10, 5, 0 and −5 dB</a:t>
            </a:r>
          </a:p>
        </p:txBody>
      </p:sp>
      <p:sp>
        <p:nvSpPr>
          <p:cNvPr id="7" name="TextBox 6"/>
          <p:cNvSpPr txBox="1"/>
          <p:nvPr/>
        </p:nvSpPr>
        <p:spPr>
          <a:xfrm>
            <a:off x="841248" y="3566160"/>
            <a:ext cx="2743200" cy="274320"/>
          </a:xfrm>
          <a:prstGeom prst="rect">
            <a:avLst/>
          </a:prstGeom>
          <a:noFill/>
        </p:spPr>
        <p:txBody>
          <a:bodyPr wrap="square" lIns="0" tIns="0" rIns="0" bIns="0" anchor="t">
            <a:spAutoFit/>
          </a:bodyPr>
          <a:lstStyle/>
          <a:p>
            <a:pPr algn="l"/>
            <a:r>
              <a:rPr sz="1300" b="1" i="0">
                <a:solidFill>
                  <a:srgbClr val="555F6E"/>
                </a:solidFill>
              </a:rPr>
              <a:t>A GRID sentence, slot by slot</a:t>
            </a:r>
          </a:p>
        </p:txBody>
      </p:sp>
      <p:sp>
        <p:nvSpPr>
          <p:cNvPr id="8" name="Rounded Rectangle 7"/>
          <p:cNvSpPr/>
          <p:nvPr/>
        </p:nvSpPr>
        <p:spPr>
          <a:xfrm>
            <a:off x="841248" y="3886200"/>
            <a:ext cx="1600200" cy="713232"/>
          </a:xfrm>
          <a:prstGeom prst="roundRect">
            <a:avLst>
              <a:gd name="adj" fmla="val 20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1945" rIns="36576" bIns="21945" rtlCol="0" anchor="ctr"/>
          <a:lstStyle/>
          <a:p>
            <a:pPr algn="ctr"/>
            <a:r>
              <a:rPr sz="1800" b="1" i="0">
                <a:solidFill>
                  <a:srgbClr val="FFFFFF"/>
                </a:solidFill>
              </a:rPr>
              <a:t>bin</a:t>
            </a:r>
          </a:p>
          <a:p>
            <a:pPr algn="ctr"/>
            <a:r>
              <a:rPr sz="1100" b="0" i="0">
                <a:solidFill>
                  <a:srgbClr val="FFFFFF"/>
                </a:solidFill>
              </a:rPr>
              <a:t>command</a:t>
            </a:r>
          </a:p>
        </p:txBody>
      </p:sp>
      <p:sp>
        <p:nvSpPr>
          <p:cNvPr id="9" name="Rounded Rectangle 8"/>
          <p:cNvSpPr/>
          <p:nvPr/>
        </p:nvSpPr>
        <p:spPr>
          <a:xfrm>
            <a:off x="2624328" y="3886200"/>
            <a:ext cx="1600200" cy="713232"/>
          </a:xfrm>
          <a:prstGeom prst="roundRect">
            <a:avLst>
              <a:gd name="adj" fmla="val 20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1945" rIns="36576" bIns="21945" rtlCol="0" anchor="ctr"/>
          <a:lstStyle/>
          <a:p>
            <a:pPr algn="ctr"/>
            <a:r>
              <a:rPr sz="1800" b="1" i="0">
                <a:solidFill>
                  <a:srgbClr val="FFFFFF"/>
                </a:solidFill>
              </a:rPr>
              <a:t>blue</a:t>
            </a:r>
          </a:p>
          <a:p>
            <a:pPr algn="ctr"/>
            <a:r>
              <a:rPr sz="1100" b="0" i="0">
                <a:solidFill>
                  <a:srgbClr val="FFFFFF"/>
                </a:solidFill>
              </a:rPr>
              <a:t>colour</a:t>
            </a:r>
          </a:p>
        </p:txBody>
      </p:sp>
      <p:sp>
        <p:nvSpPr>
          <p:cNvPr id="10" name="Rounded Rectangle 9"/>
          <p:cNvSpPr/>
          <p:nvPr/>
        </p:nvSpPr>
        <p:spPr>
          <a:xfrm>
            <a:off x="4407408" y="3886200"/>
            <a:ext cx="1600200" cy="713232"/>
          </a:xfrm>
          <a:prstGeom prst="roundRect">
            <a:avLst>
              <a:gd name="adj" fmla="val 20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1945" rIns="36576" bIns="21945" rtlCol="0" anchor="ctr"/>
          <a:lstStyle/>
          <a:p>
            <a:pPr algn="ctr"/>
            <a:r>
              <a:rPr sz="1800" b="1" i="0">
                <a:solidFill>
                  <a:srgbClr val="FFFFFF"/>
                </a:solidFill>
              </a:rPr>
              <a:t>at</a:t>
            </a:r>
          </a:p>
          <a:p>
            <a:pPr algn="ctr"/>
            <a:r>
              <a:rPr sz="1100" b="0" i="0">
                <a:solidFill>
                  <a:srgbClr val="FFFFFF"/>
                </a:solidFill>
              </a:rPr>
              <a:t>preposition</a:t>
            </a:r>
          </a:p>
        </p:txBody>
      </p:sp>
      <p:sp>
        <p:nvSpPr>
          <p:cNvPr id="11" name="Rounded Rectangle 10"/>
          <p:cNvSpPr/>
          <p:nvPr/>
        </p:nvSpPr>
        <p:spPr>
          <a:xfrm>
            <a:off x="6190488" y="3886200"/>
            <a:ext cx="1600200" cy="713232"/>
          </a:xfrm>
          <a:prstGeom prst="roundRect">
            <a:avLst>
              <a:gd name="adj" fmla="val 20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1945" rIns="36576" bIns="21945" rtlCol="0" anchor="ctr"/>
          <a:lstStyle/>
          <a:p>
            <a:pPr algn="ctr"/>
            <a:r>
              <a:rPr sz="1800" b="1" i="0">
                <a:solidFill>
                  <a:srgbClr val="FFFFFF"/>
                </a:solidFill>
              </a:rPr>
              <a:t>F</a:t>
            </a:r>
          </a:p>
          <a:p>
            <a:pPr algn="ctr"/>
            <a:r>
              <a:rPr sz="1100" b="0" i="0">
                <a:solidFill>
                  <a:srgbClr val="FFFFFF"/>
                </a:solidFill>
              </a:rPr>
              <a:t>letter</a:t>
            </a:r>
          </a:p>
        </p:txBody>
      </p:sp>
      <p:sp>
        <p:nvSpPr>
          <p:cNvPr id="12" name="Rounded Rectangle 11"/>
          <p:cNvSpPr/>
          <p:nvPr/>
        </p:nvSpPr>
        <p:spPr>
          <a:xfrm>
            <a:off x="7973568" y="3886200"/>
            <a:ext cx="1600200" cy="713232"/>
          </a:xfrm>
          <a:prstGeom prst="roundRect">
            <a:avLst>
              <a:gd name="adj" fmla="val 20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1945" rIns="36576" bIns="21945" rtlCol="0" anchor="ctr"/>
          <a:lstStyle/>
          <a:p>
            <a:pPr algn="ctr"/>
            <a:r>
              <a:rPr sz="1800" b="1" i="0">
                <a:solidFill>
                  <a:srgbClr val="FFFFFF"/>
                </a:solidFill>
              </a:rPr>
              <a:t>two</a:t>
            </a:r>
          </a:p>
          <a:p>
            <a:pPr algn="ctr"/>
            <a:r>
              <a:rPr sz="1100" b="0" i="0">
                <a:solidFill>
                  <a:srgbClr val="FFFFFF"/>
                </a:solidFill>
              </a:rPr>
              <a:t>digit</a:t>
            </a:r>
          </a:p>
        </p:txBody>
      </p:sp>
      <p:sp>
        <p:nvSpPr>
          <p:cNvPr id="13" name="Rounded Rectangle 12"/>
          <p:cNvSpPr/>
          <p:nvPr/>
        </p:nvSpPr>
        <p:spPr>
          <a:xfrm>
            <a:off x="9756648" y="3886200"/>
            <a:ext cx="1600200" cy="713232"/>
          </a:xfrm>
          <a:prstGeom prst="roundRect">
            <a:avLst>
              <a:gd name="adj" fmla="val 20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1945" rIns="36576" bIns="21945" rtlCol="0" anchor="ctr"/>
          <a:lstStyle/>
          <a:p>
            <a:pPr algn="ctr"/>
            <a:r>
              <a:rPr sz="1800" b="1" i="0">
                <a:solidFill>
                  <a:srgbClr val="FFFFFF"/>
                </a:solidFill>
              </a:rPr>
              <a:t>now</a:t>
            </a:r>
          </a:p>
          <a:p>
            <a:pPr algn="ctr"/>
            <a:r>
              <a:rPr sz="1100" b="0" i="0">
                <a:solidFill>
                  <a:srgbClr val="FFFFFF"/>
                </a:solidFill>
              </a:rPr>
              <a:t>adverb</a:t>
            </a:r>
          </a:p>
        </p:txBody>
      </p:sp>
      <p:sp>
        <p:nvSpPr>
          <p:cNvPr id="14" name="TextBox 13"/>
          <p:cNvSpPr txBox="1"/>
          <p:nvPr/>
        </p:nvSpPr>
        <p:spPr>
          <a:xfrm>
            <a:off x="841248" y="4846320"/>
            <a:ext cx="5029200" cy="1188720"/>
          </a:xfrm>
          <a:prstGeom prst="rect">
            <a:avLst/>
          </a:prstGeom>
          <a:noFill/>
        </p:spPr>
        <p:txBody>
          <a:bodyPr wrap="square" lIns="0" tIns="0" rIns="0" bIns="0" anchor="t">
            <a:spAutoFit/>
          </a:bodyPr>
          <a:lstStyle/>
          <a:p>
            <a:pPr algn="l"/>
            <a:r>
              <a:rPr sz="1500" b="1" i="0">
                <a:solidFill>
                  <a:srgbClr val="1F497D"/>
                </a:solidFill>
              </a:rPr>
              <a:t>Labels and split</a:t>
            </a:r>
          </a:p>
          <a:p>
            <a:pPr algn="l">
              <a:spcBef>
                <a:spcPts val="300"/>
              </a:spcBef>
            </a:pPr>
            <a:r>
              <a:rPr sz="1400" b="0" i="0">
                <a:solidFill>
                  <a:srgbClr val="1A1A1A"/>
                </a:solidFill>
              </a:rPr>
              <a:t>Transcripts ship with the corpus, so no manual annotation. Train, validation and test use different speakers.</a:t>
            </a:r>
          </a:p>
        </p:txBody>
      </p:sp>
      <p:sp>
        <p:nvSpPr>
          <p:cNvPr id="15" name="TextBox 14"/>
          <p:cNvSpPr txBox="1"/>
          <p:nvPr/>
        </p:nvSpPr>
        <p:spPr>
          <a:xfrm>
            <a:off x="6327648" y="4846320"/>
            <a:ext cx="5029200" cy="1188720"/>
          </a:xfrm>
          <a:prstGeom prst="rect">
            <a:avLst/>
          </a:prstGeom>
          <a:noFill/>
        </p:spPr>
        <p:txBody>
          <a:bodyPr wrap="square" lIns="0" tIns="0" rIns="0" bIns="0" anchor="t">
            <a:spAutoFit/>
          </a:bodyPr>
          <a:lstStyle/>
          <a:p>
            <a:pPr algn="l"/>
            <a:r>
              <a:rPr sz="1500" b="1" i="0">
                <a:solidFill>
                  <a:srgbClr val="1F497D"/>
                </a:solidFill>
              </a:rPr>
              <a:t>Noise and limits</a:t>
            </a:r>
          </a:p>
          <a:p>
            <a:pPr algn="l">
              <a:spcBef>
                <a:spcPts val="300"/>
              </a:spcBef>
            </a:pPr>
            <a:r>
              <a:rPr sz="1400" b="0" i="0">
                <a:solidFill>
                  <a:srgbClr val="1A1A1A"/>
                </a:solidFill>
              </a:rPr>
              <a:t>MUSAN noise is mixed into the audio at each level. GRID is studio-recorded, frontal and closed-vocabulary.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Proposed dual-stream pipeline</a:t>
            </a:r>
          </a:p>
        </p:txBody>
      </p:sp>
      <p:sp>
        <p:nvSpPr>
          <p:cNvPr id="3" name="TextBox 2"/>
          <p:cNvSpPr txBox="1"/>
          <p:nvPr/>
        </p:nvSpPr>
        <p:spPr>
          <a:xfrm>
            <a:off x="841248" y="1984248"/>
            <a:ext cx="3657600" cy="274320"/>
          </a:xfrm>
          <a:prstGeom prst="rect">
            <a:avLst/>
          </a:prstGeom>
          <a:noFill/>
        </p:spPr>
        <p:txBody>
          <a:bodyPr wrap="square" lIns="0" tIns="0" rIns="0" bIns="0" anchor="t">
            <a:spAutoFit/>
          </a:bodyPr>
          <a:lstStyle/>
          <a:p>
            <a:pPr algn="l"/>
            <a:r>
              <a:rPr sz="1200" b="1" i="0">
                <a:solidFill>
                  <a:srgbClr val="D7014D"/>
                </a:solidFill>
              </a:rPr>
              <a:t>VISUAL STREAM</a:t>
            </a:r>
          </a:p>
        </p:txBody>
      </p:sp>
      <p:sp>
        <p:nvSpPr>
          <p:cNvPr id="4" name="Rounded Rectangle 3"/>
          <p:cNvSpPr/>
          <p:nvPr/>
        </p:nvSpPr>
        <p:spPr>
          <a:xfrm>
            <a:off x="841248" y="2286000"/>
            <a:ext cx="1280160" cy="960120"/>
          </a:xfrm>
          <a:prstGeom prst="roundRect">
            <a:avLst>
              <a:gd name="adj" fmla="val 8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i="0">
                <a:solidFill>
                  <a:srgbClr val="1A1A1A"/>
                </a:solidFill>
              </a:rPr>
              <a:t>Video frames
25 fps</a:t>
            </a:r>
          </a:p>
        </p:txBody>
      </p:sp>
      <p:sp>
        <p:nvSpPr>
          <p:cNvPr id="5" name="Right Arrow 4"/>
          <p:cNvSpPr/>
          <p:nvPr/>
        </p:nvSpPr>
        <p:spPr>
          <a:xfrm>
            <a:off x="2157984" y="2656332"/>
            <a:ext cx="182880" cy="219456"/>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380183" y="2286000"/>
            <a:ext cx="1280160" cy="960120"/>
          </a:xfrm>
          <a:prstGeom prst="roundRect">
            <a:avLst>
              <a:gd name="adj" fmla="val 8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i="0">
                <a:solidFill>
                  <a:srgbClr val="1A1A1A"/>
                </a:solidFill>
              </a:rPr>
              <a:t>MediaPipe Face Mesh
mouth crop 96×96</a:t>
            </a:r>
          </a:p>
        </p:txBody>
      </p:sp>
      <p:sp>
        <p:nvSpPr>
          <p:cNvPr id="7" name="Right Arrow 6"/>
          <p:cNvSpPr/>
          <p:nvPr/>
        </p:nvSpPr>
        <p:spPr>
          <a:xfrm>
            <a:off x="3696919" y="2656332"/>
            <a:ext cx="182880" cy="219456"/>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919118" y="2286000"/>
            <a:ext cx="1280160" cy="960120"/>
          </a:xfrm>
          <a:prstGeom prst="roundRect">
            <a:avLst>
              <a:gd name="adj" fmla="val 8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i="0">
                <a:solidFill>
                  <a:srgbClr val="1A1A1A"/>
                </a:solidFill>
              </a:rPr>
              <a:t>3D-CNN +
EfficientNetB0</a:t>
            </a:r>
          </a:p>
        </p:txBody>
      </p:sp>
      <p:sp>
        <p:nvSpPr>
          <p:cNvPr id="9" name="Right Arrow 8"/>
          <p:cNvSpPr/>
          <p:nvPr/>
        </p:nvSpPr>
        <p:spPr>
          <a:xfrm>
            <a:off x="5235854" y="2656332"/>
            <a:ext cx="182880" cy="219456"/>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458053" y="2286000"/>
            <a:ext cx="1280160" cy="960120"/>
          </a:xfrm>
          <a:prstGeom prst="roundRect">
            <a:avLst>
              <a:gd name="adj" fmla="val 8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i="0">
                <a:solidFill>
                  <a:srgbClr val="1A1A1A"/>
                </a:solidFill>
              </a:rPr>
              <a:t>BiLSTM</a:t>
            </a:r>
          </a:p>
        </p:txBody>
      </p:sp>
      <p:sp>
        <p:nvSpPr>
          <p:cNvPr id="11" name="TextBox 10"/>
          <p:cNvSpPr txBox="1"/>
          <p:nvPr/>
        </p:nvSpPr>
        <p:spPr>
          <a:xfrm>
            <a:off x="841248" y="3858768"/>
            <a:ext cx="3657600" cy="274320"/>
          </a:xfrm>
          <a:prstGeom prst="rect">
            <a:avLst/>
          </a:prstGeom>
          <a:noFill/>
        </p:spPr>
        <p:txBody>
          <a:bodyPr wrap="square" lIns="0" tIns="0" rIns="0" bIns="0" anchor="t">
            <a:spAutoFit/>
          </a:bodyPr>
          <a:lstStyle/>
          <a:p>
            <a:pPr algn="l"/>
            <a:r>
              <a:rPr sz="1200" b="1" i="0">
                <a:solidFill>
                  <a:srgbClr val="D7014D"/>
                </a:solidFill>
              </a:rPr>
              <a:t>AUDIO STREAM</a:t>
            </a:r>
          </a:p>
        </p:txBody>
      </p:sp>
      <p:sp>
        <p:nvSpPr>
          <p:cNvPr id="12" name="Rounded Rectangle 11"/>
          <p:cNvSpPr/>
          <p:nvPr/>
        </p:nvSpPr>
        <p:spPr>
          <a:xfrm>
            <a:off x="841248" y="4160520"/>
            <a:ext cx="1280160" cy="960120"/>
          </a:xfrm>
          <a:prstGeom prst="roundRect">
            <a:avLst>
              <a:gd name="adj" fmla="val 8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i="0">
                <a:solidFill>
                  <a:srgbClr val="1A1A1A"/>
                </a:solidFill>
              </a:rPr>
              <a:t>Audio
waveform</a:t>
            </a:r>
          </a:p>
        </p:txBody>
      </p:sp>
      <p:sp>
        <p:nvSpPr>
          <p:cNvPr id="13" name="Right Arrow 12"/>
          <p:cNvSpPr/>
          <p:nvPr/>
        </p:nvSpPr>
        <p:spPr>
          <a:xfrm>
            <a:off x="2157984" y="4530852"/>
            <a:ext cx="182880" cy="219456"/>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380183" y="4160520"/>
            <a:ext cx="1280160" cy="960120"/>
          </a:xfrm>
          <a:prstGeom prst="roundRect">
            <a:avLst>
              <a:gd name="adj" fmla="val 8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i="0">
                <a:solidFill>
                  <a:srgbClr val="1A1A1A"/>
                </a:solidFill>
              </a:rPr>
              <a:t>Mix in MUSAN
noise at set SNR</a:t>
            </a:r>
          </a:p>
        </p:txBody>
      </p:sp>
      <p:sp>
        <p:nvSpPr>
          <p:cNvPr id="15" name="Right Arrow 14"/>
          <p:cNvSpPr/>
          <p:nvPr/>
        </p:nvSpPr>
        <p:spPr>
          <a:xfrm>
            <a:off x="3696919" y="4530852"/>
            <a:ext cx="182880" cy="219456"/>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919118" y="4160520"/>
            <a:ext cx="1280160" cy="960120"/>
          </a:xfrm>
          <a:prstGeom prst="roundRect">
            <a:avLst>
              <a:gd name="adj" fmla="val 8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i="0">
                <a:solidFill>
                  <a:srgbClr val="1A1A1A"/>
                </a:solidFill>
              </a:rPr>
              <a:t>log-Mel +
MFCC features</a:t>
            </a:r>
          </a:p>
        </p:txBody>
      </p:sp>
      <p:sp>
        <p:nvSpPr>
          <p:cNvPr id="17" name="Right Arrow 16"/>
          <p:cNvSpPr/>
          <p:nvPr/>
        </p:nvSpPr>
        <p:spPr>
          <a:xfrm>
            <a:off x="5235854" y="4530852"/>
            <a:ext cx="182880" cy="219456"/>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458053" y="4160520"/>
            <a:ext cx="1280160" cy="960120"/>
          </a:xfrm>
          <a:prstGeom prst="roundRect">
            <a:avLst>
              <a:gd name="adj" fmla="val 8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i="0">
                <a:solidFill>
                  <a:srgbClr val="1A1A1A"/>
                </a:solidFill>
              </a:rPr>
              <a:t>BiLSTM</a:t>
            </a:r>
          </a:p>
        </p:txBody>
      </p:sp>
      <p:sp>
        <p:nvSpPr>
          <p:cNvPr id="19" name="Rounded Rectangle 18"/>
          <p:cNvSpPr/>
          <p:nvPr/>
        </p:nvSpPr>
        <p:spPr>
          <a:xfrm>
            <a:off x="6996988" y="2286000"/>
            <a:ext cx="1280160" cy="2834639"/>
          </a:xfrm>
          <a:prstGeom prst="roundRect">
            <a:avLst>
              <a:gd name="adj" fmla="val 8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r>
              <a:rPr sz="1400" b="1" i="0">
                <a:solidFill>
                  <a:srgbClr val="FFFFFF"/>
                </a:solidFill>
              </a:rPr>
              <a:t>Cross-modal attention fusion</a:t>
            </a:r>
          </a:p>
          <a:p>
            <a:pPr algn="ctr">
              <a:spcBef>
                <a:spcPts val="600"/>
              </a:spcBef>
            </a:pPr>
            <a:r>
              <a:rPr sz="1200" b="0" i="0">
                <a:solidFill>
                  <a:srgbClr val="FFFFFF"/>
                </a:solidFill>
              </a:rPr>
              <a:t>weights lips more when audio is noisy</a:t>
            </a:r>
          </a:p>
        </p:txBody>
      </p:sp>
      <p:sp>
        <p:nvSpPr>
          <p:cNvPr id="20" name="Right Arrow 19"/>
          <p:cNvSpPr/>
          <p:nvPr/>
        </p:nvSpPr>
        <p:spPr>
          <a:xfrm>
            <a:off x="8313724" y="3593591"/>
            <a:ext cx="182880" cy="219456"/>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535924" y="2286000"/>
            <a:ext cx="1280160" cy="2834639"/>
          </a:xfrm>
          <a:prstGeom prst="roundRect">
            <a:avLst>
              <a:gd name="adj" fmla="val 8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r>
              <a:rPr sz="1400" b="1" i="0">
                <a:solidFill>
                  <a:srgbClr val="FFFFFF"/>
                </a:solidFill>
              </a:rPr>
              <a:t>CTC decoding</a:t>
            </a:r>
          </a:p>
          <a:p>
            <a:pPr algn="ctr">
              <a:spcBef>
                <a:spcPts val="600"/>
              </a:spcBef>
            </a:pPr>
            <a:r>
              <a:rPr sz="1200" b="0" i="0">
                <a:solidFill>
                  <a:srgbClr val="FFFFFF"/>
                </a:solidFill>
              </a:rPr>
              <a:t>with beam search</a:t>
            </a:r>
          </a:p>
        </p:txBody>
      </p:sp>
      <p:sp>
        <p:nvSpPr>
          <p:cNvPr id="22" name="Right Arrow 21"/>
          <p:cNvSpPr/>
          <p:nvPr/>
        </p:nvSpPr>
        <p:spPr>
          <a:xfrm>
            <a:off x="9852659" y="3593591"/>
            <a:ext cx="182880" cy="219456"/>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074859" y="2286000"/>
            <a:ext cx="1280160" cy="2834639"/>
          </a:xfrm>
          <a:prstGeom prst="roundRect">
            <a:avLst>
              <a:gd name="adj" fmla="val 8000"/>
            </a:avLst>
          </a:prstGeom>
          <a:solidFill>
            <a:srgbClr val="FFD9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3891" rIns="73152" bIns="43891" rtlCol="0" anchor="ctr"/>
          <a:lstStyle/>
          <a:p>
            <a:pPr algn="ctr"/>
            <a:r>
              <a:rPr sz="1400" b="1" i="0">
                <a:solidFill>
                  <a:srgbClr val="1A1A1A"/>
                </a:solidFill>
              </a:rPr>
              <a:t>Live caption</a:t>
            </a:r>
          </a:p>
          <a:p>
            <a:pPr algn="ctr">
              <a:spcBef>
                <a:spcPts val="600"/>
              </a:spcBef>
            </a:pPr>
            <a:r>
              <a:rPr sz="1200" b="0" i="0">
                <a:solidFill>
                  <a:srgbClr val="1A1A1A"/>
                </a:solidFill>
              </a:rPr>
              <a:t>“bin blue at F two now”</a:t>
            </a:r>
          </a:p>
        </p:txBody>
      </p:sp>
      <p:sp>
        <p:nvSpPr>
          <p:cNvPr id="24" name="Right Arrow 23"/>
          <p:cNvSpPr/>
          <p:nvPr/>
        </p:nvSpPr>
        <p:spPr>
          <a:xfrm>
            <a:off x="6774789" y="2656332"/>
            <a:ext cx="182880" cy="219456"/>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ight Arrow 24"/>
          <p:cNvSpPr/>
          <p:nvPr/>
        </p:nvSpPr>
        <p:spPr>
          <a:xfrm>
            <a:off x="6774789" y="4530852"/>
            <a:ext cx="182880" cy="219456"/>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1248" y="5440680"/>
            <a:ext cx="10515600" cy="548640"/>
          </a:xfrm>
          <a:prstGeom prst="rect">
            <a:avLst/>
          </a:prstGeom>
          <a:noFill/>
        </p:spPr>
        <p:txBody>
          <a:bodyPr wrap="square" lIns="0" tIns="0" rIns="0" bIns="0" anchor="t">
            <a:spAutoFit/>
          </a:bodyPr>
          <a:lstStyle/>
          <a:p>
            <a:pPr algn="l"/>
            <a:r>
              <a:rPr sz="1300" b="1" i="0">
                <a:solidFill>
                  <a:srgbClr val="1F497D"/>
                </a:solidFill>
              </a:rPr>
              <a:t>Training only: </a:t>
            </a:r>
            <a:r>
              <a:rPr sz="1300" b="0" i="0">
                <a:solidFill>
                  <a:srgbClr val="1A1A1A"/>
                </a:solidFill>
              </a:rPr>
              <a:t>modality dropout randomly hides one stream so the network cannot ignore the lips.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Baselines and transfer learning</a:t>
            </a:r>
          </a:p>
        </p:txBody>
      </p:sp>
      <p:sp>
        <p:nvSpPr>
          <p:cNvPr id="3" name="TextBox 2"/>
          <p:cNvSpPr txBox="1"/>
          <p:nvPr/>
        </p:nvSpPr>
        <p:spPr>
          <a:xfrm>
            <a:off x="841248" y="1920240"/>
            <a:ext cx="4937760" cy="365760"/>
          </a:xfrm>
          <a:prstGeom prst="rect">
            <a:avLst/>
          </a:prstGeom>
          <a:noFill/>
        </p:spPr>
        <p:txBody>
          <a:bodyPr wrap="square" lIns="0" tIns="0" rIns="0" bIns="0" anchor="t">
            <a:spAutoFit/>
          </a:bodyPr>
          <a:lstStyle/>
          <a:p>
            <a:pPr algn="l"/>
            <a:r>
              <a:rPr sz="1600" b="1" i="0">
                <a:solidFill>
                  <a:srgbClr val="1F497D"/>
                </a:solidFill>
              </a:rPr>
              <a:t>Three baselines, same split and noise levels</a:t>
            </a:r>
          </a:p>
        </p:txBody>
      </p:sp>
      <p:sp>
        <p:nvSpPr>
          <p:cNvPr id="4" name="Rounded Rectangle 3"/>
          <p:cNvSpPr/>
          <p:nvPr/>
        </p:nvSpPr>
        <p:spPr>
          <a:xfrm>
            <a:off x="841248" y="2423160"/>
            <a:ext cx="4937760" cy="1051560"/>
          </a:xfrm>
          <a:prstGeom prst="roundRect">
            <a:avLst>
              <a:gd name="adj" fmla="val 6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05840" y="2724912"/>
            <a:ext cx="457200" cy="457200"/>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i="0">
                <a:solidFill>
                  <a:srgbClr val="FFFFFF"/>
                </a:solidFill>
              </a:rPr>
              <a:t>A</a:t>
            </a:r>
          </a:p>
        </p:txBody>
      </p:sp>
      <p:sp>
        <p:nvSpPr>
          <p:cNvPr id="6" name="TextBox 5"/>
          <p:cNvSpPr txBox="1"/>
          <p:nvPr/>
        </p:nvSpPr>
        <p:spPr>
          <a:xfrm>
            <a:off x="1645920" y="2532888"/>
            <a:ext cx="4023360" cy="868680"/>
          </a:xfrm>
          <a:prstGeom prst="rect">
            <a:avLst/>
          </a:prstGeom>
          <a:noFill/>
        </p:spPr>
        <p:txBody>
          <a:bodyPr wrap="square" lIns="0" tIns="0" rIns="0" bIns="0" anchor="t">
            <a:spAutoFit/>
          </a:bodyPr>
          <a:lstStyle/>
          <a:p>
            <a:pPr algn="l"/>
            <a:r>
              <a:rPr sz="1500" b="1" i="0">
                <a:solidFill>
                  <a:srgbClr val="1A1A1A"/>
                </a:solidFill>
              </a:rPr>
              <a:t>Audio only</a:t>
            </a:r>
          </a:p>
          <a:p>
            <a:pPr algn="l">
              <a:spcBef>
                <a:spcPts val="200"/>
              </a:spcBef>
            </a:pPr>
            <a:r>
              <a:rPr sz="1300" b="0" i="0">
                <a:solidFill>
                  <a:srgbClr val="1A1A1A"/>
                </a:solidFill>
              </a:rPr>
              <a:t>BiLSTM + CTC on log-Mel and MFCC. Shows how fast audio degrades.</a:t>
            </a:r>
          </a:p>
        </p:txBody>
      </p:sp>
      <p:sp>
        <p:nvSpPr>
          <p:cNvPr id="7" name="Rounded Rectangle 6"/>
          <p:cNvSpPr/>
          <p:nvPr/>
        </p:nvSpPr>
        <p:spPr>
          <a:xfrm>
            <a:off x="841248" y="3611880"/>
            <a:ext cx="4937760" cy="1051560"/>
          </a:xfrm>
          <a:prstGeom prst="roundRect">
            <a:avLst>
              <a:gd name="adj" fmla="val 6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05840" y="3913632"/>
            <a:ext cx="457200" cy="457200"/>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i="0">
                <a:solidFill>
                  <a:srgbClr val="FFFFFF"/>
                </a:solidFill>
              </a:rPr>
              <a:t>B</a:t>
            </a:r>
          </a:p>
        </p:txBody>
      </p:sp>
      <p:sp>
        <p:nvSpPr>
          <p:cNvPr id="9" name="TextBox 8"/>
          <p:cNvSpPr txBox="1"/>
          <p:nvPr/>
        </p:nvSpPr>
        <p:spPr>
          <a:xfrm>
            <a:off x="1645920" y="3721608"/>
            <a:ext cx="4023360" cy="868680"/>
          </a:xfrm>
          <a:prstGeom prst="rect">
            <a:avLst/>
          </a:prstGeom>
          <a:noFill/>
        </p:spPr>
        <p:txBody>
          <a:bodyPr wrap="square" lIns="0" tIns="0" rIns="0" bIns="0" anchor="t">
            <a:spAutoFit/>
          </a:bodyPr>
          <a:lstStyle/>
          <a:p>
            <a:pPr algn="l"/>
            <a:r>
              <a:rPr sz="1500" b="1" i="0">
                <a:solidFill>
                  <a:srgbClr val="1A1A1A"/>
                </a:solidFill>
              </a:rPr>
              <a:t>Visual only</a:t>
            </a:r>
          </a:p>
          <a:p>
            <a:pPr algn="l">
              <a:spcBef>
                <a:spcPts val="200"/>
              </a:spcBef>
            </a:pPr>
            <a:r>
              <a:rPr sz="1300" b="0" i="0">
                <a:solidFill>
                  <a:srgbClr val="1A1A1A"/>
                </a:solidFill>
              </a:rPr>
              <a:t>Mouth crops to BiLSTM + CTC. Shows what lips alone can read.</a:t>
            </a:r>
          </a:p>
        </p:txBody>
      </p:sp>
      <p:sp>
        <p:nvSpPr>
          <p:cNvPr id="10" name="Rounded Rectangle 9"/>
          <p:cNvSpPr/>
          <p:nvPr/>
        </p:nvSpPr>
        <p:spPr>
          <a:xfrm>
            <a:off x="841248" y="4800600"/>
            <a:ext cx="4937760" cy="1051560"/>
          </a:xfrm>
          <a:prstGeom prst="roundRect">
            <a:avLst>
              <a:gd name="adj" fmla="val 6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05840" y="5102352"/>
            <a:ext cx="457200" cy="457200"/>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i="0">
                <a:solidFill>
                  <a:srgbClr val="FFFFFF"/>
                </a:solidFill>
              </a:rPr>
              <a:t>C</a:t>
            </a:r>
          </a:p>
        </p:txBody>
      </p:sp>
      <p:sp>
        <p:nvSpPr>
          <p:cNvPr id="12" name="TextBox 11"/>
          <p:cNvSpPr txBox="1"/>
          <p:nvPr/>
        </p:nvSpPr>
        <p:spPr>
          <a:xfrm>
            <a:off x="1645920" y="4910328"/>
            <a:ext cx="4023360" cy="868680"/>
          </a:xfrm>
          <a:prstGeom prst="rect">
            <a:avLst/>
          </a:prstGeom>
          <a:noFill/>
        </p:spPr>
        <p:txBody>
          <a:bodyPr wrap="square" lIns="0" tIns="0" rIns="0" bIns="0" anchor="t">
            <a:spAutoFit/>
          </a:bodyPr>
          <a:lstStyle/>
          <a:p>
            <a:pPr algn="l"/>
            <a:r>
              <a:rPr sz="1500" b="1" i="0">
                <a:solidFill>
                  <a:srgbClr val="1A1A1A"/>
                </a:solidFill>
              </a:rPr>
              <a:t>Simple concatenation</a:t>
            </a:r>
          </a:p>
          <a:p>
            <a:pPr algn="l">
              <a:spcBef>
                <a:spcPts val="200"/>
              </a:spcBef>
            </a:pPr>
            <a:r>
              <a:rPr sz="1300" b="0" i="0">
                <a:solidFill>
                  <a:srgbClr val="1A1A1A"/>
                </a:solidFill>
              </a:rPr>
              <a:t>Both feature streams joined with fixed weighting. The reference for fusion.</a:t>
            </a:r>
          </a:p>
        </p:txBody>
      </p:sp>
      <p:sp>
        <p:nvSpPr>
          <p:cNvPr id="13" name="Rounded Rectangle 12"/>
          <p:cNvSpPr/>
          <p:nvPr/>
        </p:nvSpPr>
        <p:spPr>
          <a:xfrm>
            <a:off x="6236208" y="1920240"/>
            <a:ext cx="5120640" cy="3931920"/>
          </a:xfrm>
          <a:prstGeom prst="roundRect">
            <a:avLst>
              <a:gd name="adj" fmla="val 4000"/>
            </a:avLst>
          </a:prstGeom>
          <a:solidFill>
            <a:srgbClr val="FFF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4808" y="2084831"/>
            <a:ext cx="4663440" cy="3749039"/>
          </a:xfrm>
          <a:prstGeom prst="rect">
            <a:avLst/>
          </a:prstGeom>
          <a:noFill/>
        </p:spPr>
        <p:txBody>
          <a:bodyPr wrap="square" lIns="0" tIns="0" rIns="0" bIns="0" anchor="t">
            <a:spAutoFit/>
          </a:bodyPr>
          <a:lstStyle/>
          <a:p>
            <a:pPr algn="l"/>
            <a:r>
              <a:rPr sz="1600" b="1" i="0">
                <a:solidFill>
                  <a:srgbClr val="1F497D"/>
                </a:solidFill>
              </a:rPr>
              <a:t>Transfer learning for the visual stream</a:t>
            </a:r>
          </a:p>
          <a:p>
            <a:pPr algn="l">
              <a:spcBef>
                <a:spcPts val="800"/>
              </a:spcBef>
            </a:pPr>
            <a:r>
              <a:rPr sz="1400" b="1" i="0">
                <a:solidFill>
                  <a:srgbClr val="1A1A1A"/>
                </a:solidFill>
              </a:rPr>
              <a:t>Backbone: EfficientNetB0 pretrained on ImageNet</a:t>
            </a:r>
          </a:p>
          <a:p>
            <a:pPr algn="l">
              <a:spcBef>
                <a:spcPts val="1000"/>
              </a:spcBef>
            </a:pPr>
            <a:r>
              <a:rPr sz="1400" b="1" i="0">
                <a:solidFill>
                  <a:srgbClr val="D7014D"/>
                </a:solidFill>
              </a:rPr>
              <a:t>Step 1  </a:t>
            </a:r>
            <a:r>
              <a:rPr sz="1400" b="0" i="0">
                <a:solidFill>
                  <a:srgbClr val="1A1A1A"/>
                </a:solidFill>
              </a:rPr>
              <a:t>Freeze the backbone. Train the 3D front-end, BiLSTM and CTC head.</a:t>
            </a:r>
          </a:p>
          <a:p>
            <a:pPr algn="l">
              <a:spcBef>
                <a:spcPts val="800"/>
              </a:spcBef>
            </a:pPr>
            <a:r>
              <a:rPr sz="1400" b="1" i="0">
                <a:solidFill>
                  <a:srgbClr val="D7014D"/>
                </a:solidFill>
              </a:rPr>
              <a:t>Step 2  </a:t>
            </a:r>
            <a:r>
              <a:rPr sz="1400" b="0" i="0">
                <a:solidFill>
                  <a:srgbClr val="1A1A1A"/>
                </a:solidFill>
              </a:rPr>
              <a:t>Unfreeze the top blocks and fine-tune at a low learning rate.</a:t>
            </a:r>
          </a:p>
          <a:p>
            <a:pPr algn="l">
              <a:spcBef>
                <a:spcPts val="800"/>
              </a:spcBef>
            </a:pPr>
            <a:r>
              <a:rPr sz="1400" b="1" i="0">
                <a:solidFill>
                  <a:srgbClr val="D7014D"/>
                </a:solidFill>
              </a:rPr>
              <a:t>Step 3  </a:t>
            </a:r>
            <a:r>
              <a:rPr sz="1400" b="0" i="0">
                <a:solidFill>
                  <a:srgbClr val="1A1A1A"/>
                </a:solidFill>
              </a:rPr>
              <a:t>Compare frozen against fine-tuned on the validation speakers.</a:t>
            </a:r>
          </a:p>
          <a:p>
            <a:pPr algn="l">
              <a:spcBef>
                <a:spcPts val="1400"/>
              </a:spcBef>
            </a:pPr>
            <a:r>
              <a:rPr sz="1400" b="1" i="0">
                <a:solidFill>
                  <a:srgbClr val="1A1A1A"/>
                </a:solidFill>
              </a:rPr>
              <a:t>Why this starting point</a:t>
            </a:r>
          </a:p>
          <a:p>
            <a:pPr algn="l">
              <a:spcBef>
                <a:spcPts val="300"/>
              </a:spcBef>
            </a:pPr>
            <a:r>
              <a:rPr sz="1300" b="0" i="0">
                <a:solidFill>
                  <a:srgbClr val="1A1A1A"/>
                </a:solidFill>
              </a:rPr>
              <a:t>The same 3D-CNN, EfficientNetB0, BiLSTM and CTC design was used on GRID [1]. A pretrained backbone under 5 million parameters is workable for lip reading on limited compute [5].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Two advanced CV capabilities</a:t>
            </a:r>
          </a:p>
        </p:txBody>
      </p:sp>
      <p:sp>
        <p:nvSpPr>
          <p:cNvPr id="3" name="Rounded Rectangle 2"/>
          <p:cNvSpPr/>
          <p:nvPr/>
        </p:nvSpPr>
        <p:spPr>
          <a:xfrm>
            <a:off x="841248" y="1920240"/>
            <a:ext cx="5120640" cy="2926080"/>
          </a:xfrm>
          <a:prstGeom prst="roundRect">
            <a:avLst>
              <a:gd name="adj" fmla="val 4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42416" y="2103120"/>
            <a:ext cx="512064" cy="512064"/>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rPr>
              <a:t>1</a:t>
            </a:r>
          </a:p>
        </p:txBody>
      </p:sp>
      <p:sp>
        <p:nvSpPr>
          <p:cNvPr id="5" name="TextBox 4"/>
          <p:cNvSpPr txBox="1"/>
          <p:nvPr/>
        </p:nvSpPr>
        <p:spPr>
          <a:xfrm>
            <a:off x="1709928" y="2084831"/>
            <a:ext cx="4069079" cy="640080"/>
          </a:xfrm>
          <a:prstGeom prst="rect">
            <a:avLst/>
          </a:prstGeom>
          <a:noFill/>
        </p:spPr>
        <p:txBody>
          <a:bodyPr wrap="square" lIns="0" tIns="0" rIns="0" bIns="0" anchor="t">
            <a:spAutoFit/>
          </a:bodyPr>
          <a:lstStyle/>
          <a:p>
            <a:pPr algn="l"/>
            <a:r>
              <a:rPr sz="1200" b="1" i="0">
                <a:solidFill>
                  <a:srgbClr val="D7014D"/>
                </a:solidFill>
              </a:rPr>
              <a:t>VIDEO PROCESSING</a:t>
            </a:r>
          </a:p>
          <a:p>
            <a:pPr algn="l">
              <a:spcBef>
                <a:spcPts val="100"/>
              </a:spcBef>
            </a:pPr>
            <a:r>
              <a:rPr sz="1600" b="1" i="0">
                <a:solidFill>
                  <a:srgbClr val="1F497D"/>
                </a:solidFill>
              </a:rPr>
              <a:t>Spatiotemporal lip encoding</a:t>
            </a:r>
          </a:p>
        </p:txBody>
      </p:sp>
      <p:sp>
        <p:nvSpPr>
          <p:cNvPr id="6" name="TextBox 5"/>
          <p:cNvSpPr txBox="1"/>
          <p:nvPr/>
        </p:nvSpPr>
        <p:spPr>
          <a:xfrm>
            <a:off x="1069848" y="2926080"/>
            <a:ext cx="4663440" cy="1920240"/>
          </a:xfrm>
          <a:prstGeom prst="rect">
            <a:avLst/>
          </a:prstGeom>
          <a:noFill/>
        </p:spPr>
        <p:txBody>
          <a:bodyPr wrap="square" lIns="0" tIns="0" rIns="0" bIns="0" anchor="t">
            <a:spAutoFit/>
          </a:bodyPr>
          <a:lstStyle/>
          <a:p>
            <a:pPr marL="201168" indent="-201168" algn="l">
              <a:spcBef>
                <a:spcPts val="0"/>
              </a:spcBef>
              <a:buClr>
                <a:srgbClr val="D7014D"/>
              </a:buClr>
              <a:buFont typeface="Arial"/>
              <a:buChar char="•"/>
            </a:pPr>
            <a:r>
              <a:rPr sz="1400" b="0" i="0">
                <a:solidFill>
                  <a:srgbClr val="1A1A1A"/>
                </a:solidFill>
              </a:rPr>
              <a:t>3D convolutions read lip shape and lip motion over consecutive frames together [1]</a:t>
            </a:r>
          </a:p>
          <a:p>
            <a:pPr marL="201168" indent="-201168" algn="l">
              <a:spcBef>
                <a:spcPts val="600"/>
              </a:spcBef>
              <a:buClr>
                <a:srgbClr val="D7014D"/>
              </a:buClr>
              <a:buFont typeface="Arial"/>
              <a:buChar char="•"/>
            </a:pPr>
            <a:r>
              <a:rPr sz="1400" b="0" i="0">
                <a:solidFill>
                  <a:srgbClr val="1A1A1A"/>
                </a:solidFill>
              </a:rPr>
              <a:t>A single frame cannot separate homophenes such as /p/ and /b/; motion over time can [2], [3]</a:t>
            </a:r>
          </a:p>
          <a:p>
            <a:pPr marL="201168" indent="-201168" algn="l">
              <a:spcBef>
                <a:spcPts val="600"/>
              </a:spcBef>
              <a:buClr>
                <a:srgbClr val="D7014D"/>
              </a:buClr>
              <a:buFont typeface="Arial"/>
              <a:buChar char="•"/>
            </a:pPr>
            <a:r>
              <a:rPr sz="1400" b="0" i="0">
                <a:solidFill>
                  <a:srgbClr val="1A1A1A"/>
                </a:solidFill>
              </a:rPr>
              <a:t>MediaPipe Face Mesh isolates the mouth, so the encoder sees only the lips [3]</a:t>
            </a:r>
          </a:p>
        </p:txBody>
      </p:sp>
      <p:sp>
        <p:nvSpPr>
          <p:cNvPr id="7" name="Rounded Rectangle 6"/>
          <p:cNvSpPr/>
          <p:nvPr/>
        </p:nvSpPr>
        <p:spPr>
          <a:xfrm>
            <a:off x="6236207" y="1920240"/>
            <a:ext cx="5120640" cy="2926080"/>
          </a:xfrm>
          <a:prstGeom prst="roundRect">
            <a:avLst>
              <a:gd name="adj" fmla="val 4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437375" y="2103120"/>
            <a:ext cx="512064" cy="512064"/>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rPr>
              <a:t>2</a:t>
            </a:r>
          </a:p>
        </p:txBody>
      </p:sp>
      <p:sp>
        <p:nvSpPr>
          <p:cNvPr id="9" name="TextBox 8"/>
          <p:cNvSpPr txBox="1"/>
          <p:nvPr/>
        </p:nvSpPr>
        <p:spPr>
          <a:xfrm>
            <a:off x="7104888" y="2084831"/>
            <a:ext cx="4069079" cy="640080"/>
          </a:xfrm>
          <a:prstGeom prst="rect">
            <a:avLst/>
          </a:prstGeom>
          <a:noFill/>
        </p:spPr>
        <p:txBody>
          <a:bodyPr wrap="square" lIns="0" tIns="0" rIns="0" bIns="0" anchor="t">
            <a:spAutoFit/>
          </a:bodyPr>
          <a:lstStyle/>
          <a:p>
            <a:pPr algn="l"/>
            <a:r>
              <a:rPr sz="1200" b="1" i="0">
                <a:solidFill>
                  <a:srgbClr val="D7014D"/>
                </a:solidFill>
              </a:rPr>
              <a:t>MULTIMODAL FUSION</a:t>
            </a:r>
          </a:p>
          <a:p>
            <a:pPr algn="l">
              <a:spcBef>
                <a:spcPts val="100"/>
              </a:spcBef>
            </a:pPr>
            <a:r>
              <a:rPr sz="1600" b="1" i="0">
                <a:solidFill>
                  <a:srgbClr val="1F497D"/>
                </a:solidFill>
              </a:rPr>
              <a:t>Noise-adaptive cross-modal attention</a:t>
            </a:r>
          </a:p>
        </p:txBody>
      </p:sp>
      <p:sp>
        <p:nvSpPr>
          <p:cNvPr id="10" name="TextBox 9"/>
          <p:cNvSpPr txBox="1"/>
          <p:nvPr/>
        </p:nvSpPr>
        <p:spPr>
          <a:xfrm>
            <a:off x="6464807" y="2926080"/>
            <a:ext cx="4663440" cy="1920240"/>
          </a:xfrm>
          <a:prstGeom prst="rect">
            <a:avLst/>
          </a:prstGeom>
          <a:noFill/>
        </p:spPr>
        <p:txBody>
          <a:bodyPr wrap="square" lIns="0" tIns="0" rIns="0" bIns="0" anchor="t">
            <a:spAutoFit/>
          </a:bodyPr>
          <a:lstStyle/>
          <a:p>
            <a:pPr marL="201168" indent="-201168" algn="l">
              <a:spcBef>
                <a:spcPts val="0"/>
              </a:spcBef>
              <a:buClr>
                <a:srgbClr val="D7014D"/>
              </a:buClr>
              <a:buFont typeface="Arial"/>
              <a:buChar char="•"/>
            </a:pPr>
            <a:r>
              <a:rPr sz="1400" b="0" i="0">
                <a:solidFill>
                  <a:srgbClr val="1A1A1A"/>
                </a:solidFill>
              </a:rPr>
              <a:t>Attention gives the lips more weight when the audio is unreliable [2]</a:t>
            </a:r>
          </a:p>
          <a:p>
            <a:pPr marL="201168" indent="-201168" algn="l">
              <a:spcBef>
                <a:spcPts val="600"/>
              </a:spcBef>
              <a:buClr>
                <a:srgbClr val="D7014D"/>
              </a:buClr>
              <a:buFont typeface="Arial"/>
              <a:buChar char="•"/>
            </a:pPr>
            <a:r>
              <a:rPr sz="1400" b="0" i="0">
                <a:solidFill>
                  <a:srgbClr val="1A1A1A"/>
                </a:solidFill>
              </a:rPr>
              <a:t>Modality dropout in training keeps the network from ignoring the visual stream</a:t>
            </a:r>
          </a:p>
          <a:p>
            <a:pPr marL="201168" indent="-201168" algn="l">
              <a:spcBef>
                <a:spcPts val="600"/>
              </a:spcBef>
              <a:buClr>
                <a:srgbClr val="D7014D"/>
              </a:buClr>
              <a:buFont typeface="Arial"/>
              <a:buChar char="•"/>
            </a:pPr>
            <a:r>
              <a:rPr sz="1400" b="0" i="0">
                <a:solidFill>
                  <a:srgbClr val="1A1A1A"/>
                </a:solidFill>
              </a:rPr>
              <a:t>Reported on Kannada: WER 17.6% audio only, 30.2% visual only, 9.8% fused [4]</a:t>
            </a:r>
          </a:p>
        </p:txBody>
      </p:sp>
      <p:sp>
        <p:nvSpPr>
          <p:cNvPr id="11" name="Rounded Rectangle 10"/>
          <p:cNvSpPr/>
          <p:nvPr/>
        </p:nvSpPr>
        <p:spPr>
          <a:xfrm>
            <a:off x="841248" y="5120640"/>
            <a:ext cx="10515600" cy="822960"/>
          </a:xfrm>
          <a:prstGeom prst="roundRect">
            <a:avLst>
              <a:gd name="adj" fmla="val 12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120700" rIns="201168" bIns="120700" rtlCol="0" anchor="ctr"/>
          <a:lstStyle/>
          <a:p>
            <a:pPr algn="l"/>
            <a:r>
              <a:rPr sz="1400" b="1" i="0">
                <a:solidFill>
                  <a:srgbClr val="FFFFFF"/>
                </a:solidFill>
              </a:rPr>
              <a:t>Supporting evidence: robustness investigation.  </a:t>
            </a:r>
            <a:r>
              <a:rPr sz="1400" b="0" i="0">
                <a:solidFill>
                  <a:srgbClr val="FFFFFF"/>
                </a:solidFill>
              </a:rPr>
              <a:t>WER and CER at five noise levels on unseen speakers, with an ablation that removes each component in turn.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How we will judge success</a:t>
            </a:r>
          </a:p>
        </p:txBody>
      </p:sp>
      <p:sp>
        <p:nvSpPr>
          <p:cNvPr id="3" name="Rounded Rectangle 2"/>
          <p:cNvSpPr/>
          <p:nvPr/>
        </p:nvSpPr>
        <p:spPr>
          <a:xfrm>
            <a:off x="841248" y="1920240"/>
            <a:ext cx="3291840" cy="1417320"/>
          </a:xfrm>
          <a:prstGeom prst="roundRect">
            <a:avLst>
              <a:gd name="adj" fmla="val 8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t"/>
          <a:lstStyle/>
          <a:p>
            <a:pPr algn="l"/>
            <a:r>
              <a:rPr sz="1200" b="1" i="0" dirty="0">
                <a:solidFill>
                  <a:srgbClr val="D7014D"/>
                </a:solidFill>
              </a:rPr>
              <a:t>MODEL QUALITY</a:t>
            </a:r>
          </a:p>
          <a:p>
            <a:pPr algn="l">
              <a:spcBef>
                <a:spcPts val="400"/>
              </a:spcBef>
            </a:pPr>
            <a:r>
              <a:rPr sz="1400" b="0" i="0" dirty="0">
                <a:solidFill>
                  <a:srgbClr val="1A1A1A"/>
                </a:solidFill>
              </a:rPr>
              <a:t>WER below 10% on clean audio, and fused WER clearly under audio-only at 0 and −5 dB</a:t>
            </a:r>
          </a:p>
        </p:txBody>
      </p:sp>
      <p:sp>
        <p:nvSpPr>
          <p:cNvPr id="4" name="Rounded Rectangle 3"/>
          <p:cNvSpPr/>
          <p:nvPr/>
        </p:nvSpPr>
        <p:spPr>
          <a:xfrm>
            <a:off x="4453128" y="1920240"/>
            <a:ext cx="3291840" cy="1417320"/>
          </a:xfrm>
          <a:prstGeom prst="roundRect">
            <a:avLst>
              <a:gd name="adj" fmla="val 8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t"/>
          <a:lstStyle/>
          <a:p>
            <a:pPr algn="l"/>
            <a:r>
              <a:rPr sz="1200" b="1" i="0">
                <a:solidFill>
                  <a:srgbClr val="D7014D"/>
                </a:solidFill>
              </a:rPr>
              <a:t>ENGINEERING</a:t>
            </a:r>
          </a:p>
          <a:p>
            <a:pPr algn="l">
              <a:spcBef>
                <a:spcPts val="400"/>
              </a:spcBef>
            </a:pPr>
            <a:r>
              <a:rPr sz="1400" b="0" i="0">
                <a:solidFill>
                  <a:srgbClr val="1A1A1A"/>
                </a:solidFill>
              </a:rPr>
              <a:t>Final model loads and runs from a clean inference script on unseen video</a:t>
            </a:r>
          </a:p>
        </p:txBody>
      </p:sp>
      <p:sp>
        <p:nvSpPr>
          <p:cNvPr id="5" name="Rounded Rectangle 4"/>
          <p:cNvSpPr/>
          <p:nvPr/>
        </p:nvSpPr>
        <p:spPr>
          <a:xfrm>
            <a:off x="8065008" y="1920240"/>
            <a:ext cx="3291840" cy="1417320"/>
          </a:xfrm>
          <a:prstGeom prst="roundRect">
            <a:avLst>
              <a:gd name="adj" fmla="val 8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t"/>
          <a:lstStyle/>
          <a:p>
            <a:pPr algn="l"/>
            <a:r>
              <a:rPr sz="1200" b="1" i="0">
                <a:solidFill>
                  <a:srgbClr val="D7014D"/>
                </a:solidFill>
              </a:rPr>
              <a:t>PRACTICAL</a:t>
            </a:r>
          </a:p>
          <a:p>
            <a:pPr algn="l">
              <a:spcBef>
                <a:spcPts val="400"/>
              </a:spcBef>
            </a:pPr>
            <a:r>
              <a:rPr sz="1400" b="0" i="0">
                <a:solidFill>
                  <a:srgbClr val="1A1A1A"/>
                </a:solidFill>
              </a:rPr>
              <a:t>Captions appear as readable text in a simple web demo for the user</a:t>
            </a:r>
          </a:p>
        </p:txBody>
      </p:sp>
      <p:sp>
        <p:nvSpPr>
          <p:cNvPr id="6" name="TextBox 5"/>
          <p:cNvSpPr txBox="1"/>
          <p:nvPr/>
        </p:nvSpPr>
        <p:spPr>
          <a:xfrm>
            <a:off x="841248" y="3611880"/>
            <a:ext cx="3291840" cy="2377440"/>
          </a:xfrm>
          <a:prstGeom prst="rect">
            <a:avLst/>
          </a:prstGeom>
          <a:noFill/>
        </p:spPr>
        <p:txBody>
          <a:bodyPr wrap="square" lIns="0" tIns="0" rIns="0" bIns="0" anchor="t">
            <a:spAutoFit/>
          </a:bodyPr>
          <a:lstStyle/>
          <a:p>
            <a:pPr algn="l"/>
            <a:r>
              <a:rPr sz="1600" b="1" i="0" dirty="0">
                <a:solidFill>
                  <a:srgbClr val="1F497D"/>
                </a:solidFill>
              </a:rPr>
              <a:t>Metrics</a:t>
            </a:r>
          </a:p>
          <a:p>
            <a:pPr marL="201168" indent="-201168" algn="l">
              <a:spcBef>
                <a:spcPts val="600"/>
              </a:spcBef>
              <a:buClr>
                <a:srgbClr val="D7014D"/>
              </a:buClr>
              <a:buFont typeface="Arial"/>
              <a:buChar char="•"/>
            </a:pPr>
            <a:r>
              <a:rPr sz="1400" b="0" i="0" dirty="0">
                <a:solidFill>
                  <a:srgbClr val="1A1A1A"/>
                </a:solidFill>
              </a:rPr>
              <a:t>Word Error Rate (WER), primary</a:t>
            </a:r>
          </a:p>
          <a:p>
            <a:pPr marL="201168" indent="-201168" algn="l">
              <a:spcBef>
                <a:spcPts val="600"/>
              </a:spcBef>
              <a:buClr>
                <a:srgbClr val="D7014D"/>
              </a:buClr>
              <a:buFont typeface="Arial"/>
              <a:buChar char="•"/>
            </a:pPr>
            <a:r>
              <a:rPr sz="1400" b="0" i="0" dirty="0">
                <a:solidFill>
                  <a:srgbClr val="1A1A1A"/>
                </a:solidFill>
              </a:rPr>
              <a:t>Character Error Rate (CER)</a:t>
            </a:r>
          </a:p>
          <a:p>
            <a:pPr marL="201168" indent="-201168" algn="l">
              <a:spcBef>
                <a:spcPts val="600"/>
              </a:spcBef>
              <a:buClr>
                <a:srgbClr val="D7014D"/>
              </a:buClr>
              <a:buFont typeface="Arial"/>
              <a:buChar char="•"/>
            </a:pPr>
            <a:r>
              <a:rPr sz="1400" b="0" i="0" dirty="0">
                <a:solidFill>
                  <a:srgbClr val="1A1A1A"/>
                </a:solidFill>
              </a:rPr>
              <a:t>Both on held-out speakers at each of the five noise levels</a:t>
            </a:r>
          </a:p>
        </p:txBody>
      </p:sp>
      <p:sp>
        <p:nvSpPr>
          <p:cNvPr id="7" name="TextBox 6"/>
          <p:cNvSpPr txBox="1"/>
          <p:nvPr/>
        </p:nvSpPr>
        <p:spPr>
          <a:xfrm>
            <a:off x="4453128" y="3611880"/>
            <a:ext cx="3291840" cy="2377440"/>
          </a:xfrm>
          <a:prstGeom prst="rect">
            <a:avLst/>
          </a:prstGeom>
          <a:noFill/>
        </p:spPr>
        <p:txBody>
          <a:bodyPr wrap="square" lIns="0" tIns="0" rIns="0" bIns="0" anchor="t">
            <a:spAutoFit/>
          </a:bodyPr>
          <a:lstStyle/>
          <a:p>
            <a:pPr algn="l"/>
            <a:r>
              <a:rPr sz="1600" b="1" i="0">
                <a:solidFill>
                  <a:srgbClr val="1F497D"/>
                </a:solidFill>
              </a:rPr>
              <a:t>Planned comparisons</a:t>
            </a:r>
          </a:p>
          <a:p>
            <a:pPr marL="201168" indent="-201168" algn="l">
              <a:spcBef>
                <a:spcPts val="600"/>
              </a:spcBef>
              <a:buClr>
                <a:srgbClr val="D7014D"/>
              </a:buClr>
              <a:buFont typeface="Arial"/>
              <a:buChar char="•"/>
            </a:pPr>
            <a:r>
              <a:rPr sz="1400" b="0" i="0">
                <a:solidFill>
                  <a:srgbClr val="1A1A1A"/>
                </a:solidFill>
              </a:rPr>
              <a:t>Audio only, visual only, concatenation and attention fusion</a:t>
            </a:r>
          </a:p>
          <a:p>
            <a:pPr marL="201168" indent="-201168" algn="l">
              <a:spcBef>
                <a:spcPts val="600"/>
              </a:spcBef>
              <a:buClr>
                <a:srgbClr val="D7014D"/>
              </a:buClr>
              <a:buFont typeface="Arial"/>
              <a:buChar char="•"/>
            </a:pPr>
            <a:r>
              <a:rPr sz="1400" b="0" i="0">
                <a:solidFill>
                  <a:srgbClr val="1A1A1A"/>
                </a:solidFill>
              </a:rPr>
              <a:t>Frozen against fine-tuned backbone</a:t>
            </a:r>
          </a:p>
          <a:p>
            <a:pPr marL="201168" indent="-201168" algn="l">
              <a:spcBef>
                <a:spcPts val="600"/>
              </a:spcBef>
              <a:buClr>
                <a:srgbClr val="D7014D"/>
              </a:buClr>
              <a:buFont typeface="Arial"/>
              <a:buChar char="•"/>
            </a:pPr>
            <a:r>
              <a:rPr sz="1400" b="0" i="0">
                <a:solidFill>
                  <a:srgbClr val="1A1A1A"/>
                </a:solidFill>
              </a:rPr>
              <a:t>With and without modality dropout</a:t>
            </a:r>
          </a:p>
        </p:txBody>
      </p:sp>
      <p:sp>
        <p:nvSpPr>
          <p:cNvPr id="8" name="TextBox 7"/>
          <p:cNvSpPr txBox="1"/>
          <p:nvPr/>
        </p:nvSpPr>
        <p:spPr>
          <a:xfrm>
            <a:off x="8065008" y="3611880"/>
            <a:ext cx="3291840" cy="2377440"/>
          </a:xfrm>
          <a:prstGeom prst="rect">
            <a:avLst/>
          </a:prstGeom>
          <a:noFill/>
        </p:spPr>
        <p:txBody>
          <a:bodyPr wrap="square" lIns="0" tIns="0" rIns="0" bIns="0" anchor="t">
            <a:spAutoFit/>
          </a:bodyPr>
          <a:lstStyle/>
          <a:p>
            <a:pPr algn="l"/>
            <a:r>
              <a:rPr sz="1600" b="1" i="0">
                <a:solidFill>
                  <a:srgbClr val="1F497D"/>
                </a:solidFill>
              </a:rPr>
              <a:t>Failure evidence</a:t>
            </a:r>
          </a:p>
          <a:p>
            <a:pPr marL="201168" indent="-201168" algn="l">
              <a:spcBef>
                <a:spcPts val="600"/>
              </a:spcBef>
              <a:buClr>
                <a:srgbClr val="D7014D"/>
              </a:buClr>
              <a:buFont typeface="Arial"/>
              <a:buChar char="•"/>
            </a:pPr>
            <a:r>
              <a:rPr sz="1400" b="0" i="0">
                <a:solidFill>
                  <a:srgbClr val="1A1A1A"/>
                </a:solidFill>
              </a:rPr>
              <a:t>Homophene confusions such as /p/ and /b/</a:t>
            </a:r>
          </a:p>
          <a:p>
            <a:pPr marL="201168" indent="-201168" algn="l">
              <a:spcBef>
                <a:spcPts val="600"/>
              </a:spcBef>
              <a:buClr>
                <a:srgbClr val="D7014D"/>
              </a:buClr>
              <a:buFont typeface="Arial"/>
              <a:buChar char="•"/>
            </a:pPr>
            <a:r>
              <a:rPr sz="1400" b="0" i="0">
                <a:solidFill>
                  <a:srgbClr val="1A1A1A"/>
                </a:solidFill>
              </a:rPr>
              <a:t>WER per speaker and per word slot</a:t>
            </a:r>
          </a:p>
          <a:p>
            <a:pPr marL="201168" indent="-201168" algn="l">
              <a:spcBef>
                <a:spcPts val="600"/>
              </a:spcBef>
              <a:buClr>
                <a:srgbClr val="D7014D"/>
              </a:buClr>
              <a:buFont typeface="Arial"/>
              <a:buChar char="•"/>
            </a:pPr>
            <a:r>
              <a:rPr sz="1400" b="0" i="0">
                <a:solidFill>
                  <a:srgbClr val="1A1A1A"/>
                </a:solidFill>
              </a:rPr>
              <a:t>Frames where the mouth crop fails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Risks and how we manage them</a:t>
            </a:r>
          </a:p>
        </p:txBody>
      </p:sp>
      <p:graphicFrame>
        <p:nvGraphicFramePr>
          <p:cNvPr id="3" name="Table 2"/>
          <p:cNvGraphicFramePr>
            <a:graphicFrameLocks noGrp="1"/>
          </p:cNvGraphicFramePr>
          <p:nvPr>
            <p:extLst>
              <p:ext uri="{D42A27DB-BD31-4B8C-83A1-F6EECF244321}">
                <p14:modId xmlns:p14="http://schemas.microsoft.com/office/powerpoint/2010/main" val="3773868047"/>
              </p:ext>
            </p:extLst>
          </p:nvPr>
        </p:nvGraphicFramePr>
        <p:xfrm>
          <a:off x="841248" y="1920240"/>
          <a:ext cx="10515600" cy="4069080"/>
        </p:xfrm>
        <a:graphic>
          <a:graphicData uri="http://schemas.openxmlformats.org/drawingml/2006/table">
            <a:tbl>
              <a:tblPr>
                <a:tableStyleId>{2D5ABB26-0587-4C30-8999-92F81FD0307C}</a:tableStyleId>
              </a:tblPr>
              <a:tblGrid>
                <a:gridCol w="484632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tblGrid>
              <a:tr h="411480">
                <a:tc>
                  <a:txBody>
                    <a:bodyPr/>
                    <a:lstStyle/>
                    <a:p>
                      <a:r>
                        <a:rPr sz="1400" b="1">
                          <a:solidFill>
                            <a:srgbClr val="FFFFFF"/>
                          </a:solidFill>
                        </a:rPr>
                        <a:t>Risk or limitation</a:t>
                      </a:r>
                    </a:p>
                  </a:txBody>
                  <a:tcPr marL="128016" marR="128016" anchor="ctr">
                    <a:solidFill>
                      <a:srgbClr val="0B3D91"/>
                    </a:solidFill>
                  </a:tcPr>
                </a:tc>
                <a:tc>
                  <a:txBody>
                    <a:bodyPr/>
                    <a:lstStyle/>
                    <a:p>
                      <a:r>
                        <a:rPr sz="1400" b="1">
                          <a:solidFill>
                            <a:srgbClr val="FFFFFF"/>
                          </a:solidFill>
                        </a:rPr>
                        <a:t>Mitigation</a:t>
                      </a:r>
                    </a:p>
                  </a:txBody>
                  <a:tcPr marL="128016" marR="128016" anchor="ctr">
                    <a:solidFill>
                      <a:srgbClr val="0B3D91"/>
                    </a:solidFill>
                  </a:tcPr>
                </a:tc>
                <a:extLst>
                  <a:ext uri="{0D108BD9-81ED-4DB2-BD59-A6C34878D82A}">
                    <a16:rowId xmlns:a16="http://schemas.microsoft.com/office/drawing/2014/main" val="10000"/>
                  </a:ext>
                </a:extLst>
              </a:tr>
              <a:tr h="609600">
                <a:tc>
                  <a:txBody>
                    <a:bodyPr/>
                    <a:lstStyle/>
                    <a:p>
                      <a:r>
                        <a:rPr sz="1400" b="1">
                          <a:solidFill>
                            <a:srgbClr val="1A1A1A"/>
                          </a:solidFill>
                        </a:rPr>
                        <a:t>Domain shift: GRID is studio-recorded with a fixed grammar</a:t>
                      </a:r>
                    </a:p>
                  </a:txBody>
                  <a:tcPr marL="128016" marR="128016" anchor="ctr">
                    <a:solidFill>
                      <a:srgbClr val="EEF2F9"/>
                    </a:solidFill>
                  </a:tcPr>
                </a:tc>
                <a:tc>
                  <a:txBody>
                    <a:bodyPr/>
                    <a:lstStyle/>
                    <a:p>
                      <a:r>
                        <a:rPr sz="1400" b="0">
                          <a:solidFill>
                            <a:srgbClr val="1A1A1A"/>
                          </a:solidFill>
                        </a:rPr>
                        <a:t>Report as a limitation; test on short self-recorded clips</a:t>
                      </a:r>
                    </a:p>
                  </a:txBody>
                  <a:tcPr marL="128016" marR="128016" anchor="ctr">
                    <a:solidFill>
                      <a:srgbClr val="EEF2F9"/>
                    </a:solidFill>
                  </a:tcPr>
                </a:tc>
                <a:extLst>
                  <a:ext uri="{0D108BD9-81ED-4DB2-BD59-A6C34878D82A}">
                    <a16:rowId xmlns:a16="http://schemas.microsoft.com/office/drawing/2014/main" val="10001"/>
                  </a:ext>
                </a:extLst>
              </a:tr>
              <a:tr h="609600">
                <a:tc>
                  <a:txBody>
                    <a:bodyPr/>
                    <a:lstStyle/>
                    <a:p>
                      <a:r>
                        <a:rPr sz="1400" b="1">
                          <a:solidFill>
                            <a:srgbClr val="1A1A1A"/>
                          </a:solidFill>
                        </a:rPr>
                        <a:t>Synthetic noise differs from real classroom noise</a:t>
                      </a:r>
                    </a:p>
                  </a:txBody>
                  <a:tcPr marL="128016" marR="128016" anchor="ctr">
                    <a:solidFill>
                      <a:srgbClr val="FFFFFF"/>
                    </a:solidFill>
                  </a:tcPr>
                </a:tc>
                <a:tc>
                  <a:txBody>
                    <a:bodyPr/>
                    <a:lstStyle/>
                    <a:p>
                      <a:r>
                        <a:rPr sz="1400" b="0">
                          <a:solidFill>
                            <a:srgbClr val="1A1A1A"/>
                          </a:solidFill>
                        </a:rPr>
                        <a:t>Use several MUSAN noise types and report every SNR level</a:t>
                      </a:r>
                    </a:p>
                  </a:txBody>
                  <a:tcPr marL="128016" marR="128016" anchor="ctr">
                    <a:solidFill>
                      <a:srgbClr val="FFFFFF"/>
                    </a:solidFill>
                  </a:tcPr>
                </a:tc>
                <a:extLst>
                  <a:ext uri="{0D108BD9-81ED-4DB2-BD59-A6C34878D82A}">
                    <a16:rowId xmlns:a16="http://schemas.microsoft.com/office/drawing/2014/main" val="10002"/>
                  </a:ext>
                </a:extLst>
              </a:tr>
              <a:tr h="609600">
                <a:tc>
                  <a:txBody>
                    <a:bodyPr/>
                    <a:lstStyle/>
                    <a:p>
                      <a:r>
                        <a:rPr sz="1400" b="1">
                          <a:solidFill>
                            <a:srgbClr val="1A1A1A"/>
                          </a:solidFill>
                        </a:rPr>
                        <a:t>Privacy: faces are identifiable</a:t>
                      </a:r>
                    </a:p>
                  </a:txBody>
                  <a:tcPr marL="128016" marR="128016" anchor="ctr">
                    <a:solidFill>
                      <a:srgbClr val="EEF2F9"/>
                    </a:solidFill>
                  </a:tcPr>
                </a:tc>
                <a:tc>
                  <a:txBody>
                    <a:bodyPr/>
                    <a:lstStyle/>
                    <a:p>
                      <a:r>
                        <a:rPr sz="1400" b="0" dirty="0">
                          <a:solidFill>
                            <a:srgbClr val="1A1A1A"/>
                          </a:solidFill>
                        </a:rPr>
                        <a:t>Research-consented corpus; keep mouth crops only</a:t>
                      </a:r>
                    </a:p>
                  </a:txBody>
                  <a:tcPr marL="128016" marR="128016" anchor="ctr">
                    <a:solidFill>
                      <a:srgbClr val="EEF2F9"/>
                    </a:solidFill>
                  </a:tcPr>
                </a:tc>
                <a:extLst>
                  <a:ext uri="{0D108BD9-81ED-4DB2-BD59-A6C34878D82A}">
                    <a16:rowId xmlns:a16="http://schemas.microsoft.com/office/drawing/2014/main" val="10003"/>
                  </a:ext>
                </a:extLst>
              </a:tr>
              <a:tr h="609600">
                <a:tc>
                  <a:txBody>
                    <a:bodyPr/>
                    <a:lstStyle/>
                    <a:p>
                      <a:r>
                        <a:rPr sz="1400" b="1">
                          <a:solidFill>
                            <a:srgbClr val="1A1A1A"/>
                          </a:solidFill>
                        </a:rPr>
                        <a:t>Limited compute for 3D convolutions</a:t>
                      </a:r>
                    </a:p>
                  </a:txBody>
                  <a:tcPr marL="128016" marR="128016" anchor="ctr">
                    <a:solidFill>
                      <a:srgbClr val="FFFFFF"/>
                    </a:solidFill>
                  </a:tcPr>
                </a:tc>
                <a:tc>
                  <a:txBody>
                    <a:bodyPr/>
                    <a:lstStyle/>
                    <a:p>
                      <a:r>
                        <a:rPr sz="1400" b="0">
                          <a:solidFill>
                            <a:srgbClr val="1A1A1A"/>
                          </a:solidFill>
                        </a:rPr>
                        <a:t>96×96 crops, lightweight pretrained backbone, start on a speaker subset</a:t>
                      </a:r>
                    </a:p>
                  </a:txBody>
                  <a:tcPr marL="128016" marR="128016" anchor="ctr">
                    <a:solidFill>
                      <a:srgbClr val="FFFFFF"/>
                    </a:solidFill>
                  </a:tcPr>
                </a:tc>
                <a:extLst>
                  <a:ext uri="{0D108BD9-81ED-4DB2-BD59-A6C34878D82A}">
                    <a16:rowId xmlns:a16="http://schemas.microsoft.com/office/drawing/2014/main" val="10004"/>
                  </a:ext>
                </a:extLst>
              </a:tr>
              <a:tr h="609600">
                <a:tc>
                  <a:txBody>
                    <a:bodyPr/>
                    <a:lstStyle/>
                    <a:p>
                      <a:r>
                        <a:rPr sz="1400" b="1">
                          <a:solidFill>
                            <a:srgbClr val="1A1A1A"/>
                          </a:solidFill>
                        </a:rPr>
                        <a:t>Mouth crop fails with head pose, lighting or occlusion [4], [5]</a:t>
                      </a:r>
                    </a:p>
                  </a:txBody>
                  <a:tcPr marL="128016" marR="128016" anchor="ctr">
                    <a:solidFill>
                      <a:srgbClr val="EEF2F9"/>
                    </a:solidFill>
                  </a:tcPr>
                </a:tc>
                <a:tc>
                  <a:txBody>
                    <a:bodyPr/>
                    <a:lstStyle/>
                    <a:p>
                      <a:r>
                        <a:rPr sz="1400" b="0">
                          <a:solidFill>
                            <a:srgbClr val="1A1A1A"/>
                          </a:solidFill>
                        </a:rPr>
                        <a:t>Detect landmark failures, fall back to audio, log the cases</a:t>
                      </a:r>
                    </a:p>
                  </a:txBody>
                  <a:tcPr marL="128016" marR="128016" anchor="ctr">
                    <a:solidFill>
                      <a:srgbClr val="EEF2F9"/>
                    </a:solidFill>
                  </a:tcPr>
                </a:tc>
                <a:extLst>
                  <a:ext uri="{0D108BD9-81ED-4DB2-BD59-A6C34878D82A}">
                    <a16:rowId xmlns:a16="http://schemas.microsoft.com/office/drawing/2014/main" val="10005"/>
                  </a:ext>
                </a:extLst>
              </a:tr>
              <a:tr h="609600">
                <a:tc>
                  <a:txBody>
                    <a:bodyPr/>
                    <a:lstStyle/>
                    <a:p>
                      <a:r>
                        <a:rPr sz="1400" b="1">
                          <a:solidFill>
                            <a:srgbClr val="1A1A1A"/>
                          </a:solidFill>
                        </a:rPr>
                        <a:t>Scope: emotion and language-ID objectives</a:t>
                      </a:r>
                    </a:p>
                  </a:txBody>
                  <a:tcPr marL="128016" marR="128016" anchor="ctr">
                    <a:solidFill>
                      <a:srgbClr val="FFFFFF"/>
                    </a:solidFill>
                  </a:tcPr>
                </a:tc>
                <a:tc>
                  <a:txBody>
                    <a:bodyPr/>
                    <a:lstStyle/>
                    <a:p>
                      <a:r>
                        <a:rPr sz="1400" b="0" dirty="0">
                          <a:solidFill>
                            <a:srgbClr val="1A1A1A"/>
                          </a:solidFill>
                        </a:rPr>
                        <a:t>Stretch goals only, after core transcription meets its criteria</a:t>
                      </a:r>
                    </a:p>
                  </a:txBody>
                  <a:tcPr marL="128016" marR="128016" anchor="ct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Six-week plan and evidence</a:t>
            </a:r>
          </a:p>
        </p:txBody>
      </p:sp>
      <p:sp>
        <p:nvSpPr>
          <p:cNvPr id="3" name="Rounded Rectangle 2"/>
          <p:cNvSpPr/>
          <p:nvPr/>
        </p:nvSpPr>
        <p:spPr>
          <a:xfrm>
            <a:off x="841248" y="1920240"/>
            <a:ext cx="3291840" cy="1920240"/>
          </a:xfrm>
          <a:prstGeom prst="roundRect">
            <a:avLst>
              <a:gd name="adj" fmla="val 5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05840" y="2084832"/>
            <a:ext cx="512064" cy="512064"/>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rPr>
              <a:t>1</a:t>
            </a:r>
          </a:p>
        </p:txBody>
      </p:sp>
      <p:sp>
        <p:nvSpPr>
          <p:cNvPr id="5" name="TextBox 4"/>
          <p:cNvSpPr txBox="1"/>
          <p:nvPr/>
        </p:nvSpPr>
        <p:spPr>
          <a:xfrm>
            <a:off x="1645920" y="2066544"/>
            <a:ext cx="2377440" cy="566928"/>
          </a:xfrm>
          <a:prstGeom prst="rect">
            <a:avLst/>
          </a:prstGeom>
          <a:noFill/>
        </p:spPr>
        <p:txBody>
          <a:bodyPr wrap="square" lIns="0" tIns="0" rIns="0" bIns="0" anchor="t">
            <a:spAutoFit/>
          </a:bodyPr>
          <a:lstStyle/>
          <a:p>
            <a:pPr algn="l"/>
            <a:r>
              <a:rPr sz="1100" b="1" i="0">
                <a:solidFill>
                  <a:srgbClr val="D7014D"/>
                </a:solidFill>
              </a:rPr>
              <a:t>WEEK 1</a:t>
            </a:r>
          </a:p>
          <a:p>
            <a:pPr algn="l"/>
            <a:r>
              <a:rPr sz="1600" b="1" i="0">
                <a:solidFill>
                  <a:srgbClr val="1F497D"/>
                </a:solidFill>
              </a:rPr>
              <a:t>Data ready</a:t>
            </a:r>
          </a:p>
        </p:txBody>
      </p:sp>
      <p:sp>
        <p:nvSpPr>
          <p:cNvPr id="6" name="TextBox 5"/>
          <p:cNvSpPr txBox="1"/>
          <p:nvPr/>
        </p:nvSpPr>
        <p:spPr>
          <a:xfrm>
            <a:off x="1024128" y="2743200"/>
            <a:ext cx="2926080" cy="1051560"/>
          </a:xfrm>
          <a:prstGeom prst="rect">
            <a:avLst/>
          </a:prstGeom>
          <a:noFill/>
        </p:spPr>
        <p:txBody>
          <a:bodyPr wrap="square" lIns="0" tIns="0" rIns="0" bIns="0" anchor="t">
            <a:spAutoFit/>
          </a:bodyPr>
          <a:lstStyle/>
          <a:p>
            <a:pPr algn="l"/>
            <a:r>
              <a:rPr sz="1300" b="0" i="0">
                <a:solidFill>
                  <a:srgbClr val="1A1A1A"/>
                </a:solidFill>
              </a:rPr>
              <a:t>GRID and MUSAN downloaded, mouth crops, speaker split</a:t>
            </a:r>
          </a:p>
          <a:p>
            <a:pPr algn="l">
              <a:spcBef>
                <a:spcPts val="500"/>
              </a:spcBef>
            </a:pPr>
            <a:r>
              <a:rPr sz="1300" b="1" i="0">
                <a:solidFill>
                  <a:srgbClr val="555F6E"/>
                </a:solidFill>
              </a:rPr>
              <a:t>Evidence: </a:t>
            </a:r>
            <a:r>
              <a:rPr sz="1300" b="0" i="0">
                <a:solidFill>
                  <a:srgbClr val="555F6E"/>
                </a:solidFill>
              </a:rPr>
              <a:t>Sample grid, counts, split file</a:t>
            </a:r>
          </a:p>
        </p:txBody>
      </p:sp>
      <p:sp>
        <p:nvSpPr>
          <p:cNvPr id="7" name="Rounded Rectangle 6"/>
          <p:cNvSpPr/>
          <p:nvPr/>
        </p:nvSpPr>
        <p:spPr>
          <a:xfrm>
            <a:off x="4453128" y="1920240"/>
            <a:ext cx="3291840" cy="1920240"/>
          </a:xfrm>
          <a:prstGeom prst="roundRect">
            <a:avLst>
              <a:gd name="adj" fmla="val 5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617720" y="2084832"/>
            <a:ext cx="512064" cy="512064"/>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rPr>
              <a:t>2</a:t>
            </a:r>
          </a:p>
        </p:txBody>
      </p:sp>
      <p:sp>
        <p:nvSpPr>
          <p:cNvPr id="9" name="TextBox 8"/>
          <p:cNvSpPr txBox="1"/>
          <p:nvPr/>
        </p:nvSpPr>
        <p:spPr>
          <a:xfrm>
            <a:off x="5257800" y="2066544"/>
            <a:ext cx="2377440" cy="566928"/>
          </a:xfrm>
          <a:prstGeom prst="rect">
            <a:avLst/>
          </a:prstGeom>
          <a:noFill/>
        </p:spPr>
        <p:txBody>
          <a:bodyPr wrap="square" lIns="0" tIns="0" rIns="0" bIns="0" anchor="t">
            <a:spAutoFit/>
          </a:bodyPr>
          <a:lstStyle/>
          <a:p>
            <a:pPr algn="l"/>
            <a:r>
              <a:rPr sz="1100" b="1" i="0">
                <a:solidFill>
                  <a:srgbClr val="D7014D"/>
                </a:solidFill>
              </a:rPr>
              <a:t>WEEK 2</a:t>
            </a:r>
          </a:p>
          <a:p>
            <a:pPr algn="l"/>
            <a:r>
              <a:rPr sz="1600" b="1" i="0">
                <a:solidFill>
                  <a:srgbClr val="1F497D"/>
                </a:solidFill>
              </a:rPr>
              <a:t>Baselines</a:t>
            </a:r>
          </a:p>
        </p:txBody>
      </p:sp>
      <p:sp>
        <p:nvSpPr>
          <p:cNvPr id="10" name="TextBox 9"/>
          <p:cNvSpPr txBox="1"/>
          <p:nvPr/>
        </p:nvSpPr>
        <p:spPr>
          <a:xfrm>
            <a:off x="4636008" y="2743200"/>
            <a:ext cx="2926080" cy="1051560"/>
          </a:xfrm>
          <a:prstGeom prst="rect">
            <a:avLst/>
          </a:prstGeom>
          <a:noFill/>
        </p:spPr>
        <p:txBody>
          <a:bodyPr wrap="square" lIns="0" tIns="0" rIns="0" bIns="0" anchor="t">
            <a:spAutoFit/>
          </a:bodyPr>
          <a:lstStyle/>
          <a:p>
            <a:pPr algn="l"/>
            <a:r>
              <a:rPr sz="1300" b="0" i="0">
                <a:solidFill>
                  <a:srgbClr val="1A1A1A"/>
                </a:solidFill>
              </a:rPr>
              <a:t>Audio-only and visual-only models with CTC</a:t>
            </a:r>
          </a:p>
          <a:p>
            <a:pPr algn="l">
              <a:spcBef>
                <a:spcPts val="500"/>
              </a:spcBef>
            </a:pPr>
            <a:r>
              <a:rPr sz="1300" b="1" i="0">
                <a:solidFill>
                  <a:srgbClr val="555F6E"/>
                </a:solidFill>
              </a:rPr>
              <a:t>Evidence: </a:t>
            </a:r>
            <a:r>
              <a:rPr sz="1300" b="0" i="0">
                <a:solidFill>
                  <a:srgbClr val="555F6E"/>
                </a:solidFill>
              </a:rPr>
              <a:t>First WER and CER, example predictions</a:t>
            </a:r>
          </a:p>
        </p:txBody>
      </p:sp>
      <p:sp>
        <p:nvSpPr>
          <p:cNvPr id="11" name="Rounded Rectangle 10"/>
          <p:cNvSpPr/>
          <p:nvPr/>
        </p:nvSpPr>
        <p:spPr>
          <a:xfrm>
            <a:off x="8065008" y="1920240"/>
            <a:ext cx="3291840" cy="1920240"/>
          </a:xfrm>
          <a:prstGeom prst="roundRect">
            <a:avLst>
              <a:gd name="adj" fmla="val 5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29600" y="2084832"/>
            <a:ext cx="512064" cy="512064"/>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rPr>
              <a:t>3</a:t>
            </a:r>
          </a:p>
        </p:txBody>
      </p:sp>
      <p:sp>
        <p:nvSpPr>
          <p:cNvPr id="13" name="TextBox 12"/>
          <p:cNvSpPr txBox="1"/>
          <p:nvPr/>
        </p:nvSpPr>
        <p:spPr>
          <a:xfrm>
            <a:off x="8869680" y="2066544"/>
            <a:ext cx="2377440" cy="566928"/>
          </a:xfrm>
          <a:prstGeom prst="rect">
            <a:avLst/>
          </a:prstGeom>
          <a:noFill/>
        </p:spPr>
        <p:txBody>
          <a:bodyPr wrap="square" lIns="0" tIns="0" rIns="0" bIns="0" anchor="t">
            <a:spAutoFit/>
          </a:bodyPr>
          <a:lstStyle/>
          <a:p>
            <a:pPr algn="l"/>
            <a:r>
              <a:rPr sz="1100" b="1" i="0">
                <a:solidFill>
                  <a:srgbClr val="D7014D"/>
                </a:solidFill>
              </a:rPr>
              <a:t>WEEK 3</a:t>
            </a:r>
          </a:p>
          <a:p>
            <a:pPr algn="l"/>
            <a:r>
              <a:rPr sz="1600" b="1" i="0">
                <a:solidFill>
                  <a:srgbClr val="1F497D"/>
                </a:solidFill>
              </a:rPr>
              <a:t>Train and diagnose</a:t>
            </a:r>
          </a:p>
        </p:txBody>
      </p:sp>
      <p:sp>
        <p:nvSpPr>
          <p:cNvPr id="14" name="TextBox 13"/>
          <p:cNvSpPr txBox="1"/>
          <p:nvPr/>
        </p:nvSpPr>
        <p:spPr>
          <a:xfrm>
            <a:off x="8247888" y="2743200"/>
            <a:ext cx="2926080" cy="1051560"/>
          </a:xfrm>
          <a:prstGeom prst="rect">
            <a:avLst/>
          </a:prstGeom>
          <a:noFill/>
        </p:spPr>
        <p:txBody>
          <a:bodyPr wrap="square" lIns="0" tIns="0" rIns="0" bIns="0" anchor="t">
            <a:spAutoFit/>
          </a:bodyPr>
          <a:lstStyle/>
          <a:p>
            <a:pPr algn="l"/>
            <a:r>
              <a:rPr sz="1300" b="0" i="0">
                <a:solidFill>
                  <a:srgbClr val="1A1A1A"/>
                </a:solidFill>
              </a:rPr>
              <a:t>Concatenation baseline, pretrained visual encoder</a:t>
            </a:r>
          </a:p>
          <a:p>
            <a:pPr algn="l">
              <a:spcBef>
                <a:spcPts val="500"/>
              </a:spcBef>
            </a:pPr>
            <a:r>
              <a:rPr sz="1300" b="1" i="0">
                <a:solidFill>
                  <a:srgbClr val="555F6E"/>
                </a:solidFill>
              </a:rPr>
              <a:t>Evidence: </a:t>
            </a:r>
            <a:r>
              <a:rPr sz="1300" b="0" i="0">
                <a:solidFill>
                  <a:srgbClr val="555F6E"/>
                </a:solidFill>
              </a:rPr>
              <a:t>WER per SNR, categorised failures</a:t>
            </a:r>
          </a:p>
        </p:txBody>
      </p:sp>
      <p:sp>
        <p:nvSpPr>
          <p:cNvPr id="15" name="Rounded Rectangle 14"/>
          <p:cNvSpPr/>
          <p:nvPr/>
        </p:nvSpPr>
        <p:spPr>
          <a:xfrm>
            <a:off x="841248" y="4069080"/>
            <a:ext cx="3291840" cy="1920240"/>
          </a:xfrm>
          <a:prstGeom prst="roundRect">
            <a:avLst>
              <a:gd name="adj" fmla="val 5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05840" y="4233672"/>
            <a:ext cx="512064" cy="512064"/>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rPr>
              <a:t>4</a:t>
            </a:r>
          </a:p>
        </p:txBody>
      </p:sp>
      <p:sp>
        <p:nvSpPr>
          <p:cNvPr id="17" name="TextBox 16"/>
          <p:cNvSpPr txBox="1"/>
          <p:nvPr/>
        </p:nvSpPr>
        <p:spPr>
          <a:xfrm>
            <a:off x="1645920" y="4215384"/>
            <a:ext cx="2377440" cy="566928"/>
          </a:xfrm>
          <a:prstGeom prst="rect">
            <a:avLst/>
          </a:prstGeom>
          <a:noFill/>
        </p:spPr>
        <p:txBody>
          <a:bodyPr wrap="square" lIns="0" tIns="0" rIns="0" bIns="0" anchor="t">
            <a:spAutoFit/>
          </a:bodyPr>
          <a:lstStyle/>
          <a:p>
            <a:pPr algn="l"/>
            <a:r>
              <a:rPr sz="1100" b="1" i="0">
                <a:solidFill>
                  <a:srgbClr val="D7014D"/>
                </a:solidFill>
              </a:rPr>
              <a:t>WEEK 4</a:t>
            </a:r>
          </a:p>
          <a:p>
            <a:pPr algn="l"/>
            <a:r>
              <a:rPr sz="1600" b="1" i="0">
                <a:solidFill>
                  <a:srgbClr val="1F497D"/>
                </a:solidFill>
              </a:rPr>
              <a:t>Improve</a:t>
            </a:r>
          </a:p>
        </p:txBody>
      </p:sp>
      <p:sp>
        <p:nvSpPr>
          <p:cNvPr id="18" name="TextBox 17"/>
          <p:cNvSpPr txBox="1"/>
          <p:nvPr/>
        </p:nvSpPr>
        <p:spPr>
          <a:xfrm>
            <a:off x="1024128" y="4892040"/>
            <a:ext cx="2926080" cy="1051560"/>
          </a:xfrm>
          <a:prstGeom prst="rect">
            <a:avLst/>
          </a:prstGeom>
          <a:noFill/>
        </p:spPr>
        <p:txBody>
          <a:bodyPr wrap="square" lIns="0" tIns="0" rIns="0" bIns="0" anchor="t">
            <a:spAutoFit/>
          </a:bodyPr>
          <a:lstStyle/>
          <a:p>
            <a:pPr algn="l"/>
            <a:r>
              <a:rPr sz="1300" b="0" i="0">
                <a:solidFill>
                  <a:srgbClr val="1A1A1A"/>
                </a:solidFill>
              </a:rPr>
              <a:t>Attention fusion and modality dropout, controlled runs</a:t>
            </a:r>
          </a:p>
          <a:p>
            <a:pPr algn="l">
              <a:spcBef>
                <a:spcPts val="500"/>
              </a:spcBef>
            </a:pPr>
            <a:r>
              <a:rPr sz="1300" b="1" i="0">
                <a:solidFill>
                  <a:srgbClr val="555F6E"/>
                </a:solidFill>
              </a:rPr>
              <a:t>Evidence: </a:t>
            </a:r>
            <a:r>
              <a:rPr sz="1300" b="0" i="0">
                <a:solidFill>
                  <a:srgbClr val="555F6E"/>
                </a:solidFill>
              </a:rPr>
              <a:t>Baseline against improved table</a:t>
            </a:r>
          </a:p>
        </p:txBody>
      </p:sp>
      <p:sp>
        <p:nvSpPr>
          <p:cNvPr id="19" name="Rounded Rectangle 18"/>
          <p:cNvSpPr/>
          <p:nvPr/>
        </p:nvSpPr>
        <p:spPr>
          <a:xfrm>
            <a:off x="4453128" y="4069080"/>
            <a:ext cx="3291840" cy="1920240"/>
          </a:xfrm>
          <a:prstGeom prst="roundRect">
            <a:avLst>
              <a:gd name="adj" fmla="val 5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617720" y="4233672"/>
            <a:ext cx="512064" cy="512064"/>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rPr>
              <a:t>5</a:t>
            </a:r>
          </a:p>
        </p:txBody>
      </p:sp>
      <p:sp>
        <p:nvSpPr>
          <p:cNvPr id="21" name="TextBox 20"/>
          <p:cNvSpPr txBox="1"/>
          <p:nvPr/>
        </p:nvSpPr>
        <p:spPr>
          <a:xfrm>
            <a:off x="5257800" y="4215384"/>
            <a:ext cx="2377440" cy="566928"/>
          </a:xfrm>
          <a:prstGeom prst="rect">
            <a:avLst/>
          </a:prstGeom>
          <a:noFill/>
        </p:spPr>
        <p:txBody>
          <a:bodyPr wrap="square" lIns="0" tIns="0" rIns="0" bIns="0" anchor="t">
            <a:spAutoFit/>
          </a:bodyPr>
          <a:lstStyle/>
          <a:p>
            <a:pPr algn="l"/>
            <a:r>
              <a:rPr sz="1100" b="1" i="0">
                <a:solidFill>
                  <a:srgbClr val="D7014D"/>
                </a:solidFill>
              </a:rPr>
              <a:t>WEEK 5</a:t>
            </a:r>
          </a:p>
          <a:p>
            <a:pPr algn="l"/>
            <a:r>
              <a:rPr sz="1600" b="1" i="0">
                <a:solidFill>
                  <a:srgbClr val="1F497D"/>
                </a:solidFill>
              </a:rPr>
              <a:t>Advanced components</a:t>
            </a:r>
          </a:p>
        </p:txBody>
      </p:sp>
      <p:sp>
        <p:nvSpPr>
          <p:cNvPr id="22" name="TextBox 21"/>
          <p:cNvSpPr txBox="1"/>
          <p:nvPr/>
        </p:nvSpPr>
        <p:spPr>
          <a:xfrm>
            <a:off x="4636008" y="4892040"/>
            <a:ext cx="2926080" cy="1051560"/>
          </a:xfrm>
          <a:prstGeom prst="rect">
            <a:avLst/>
          </a:prstGeom>
          <a:noFill/>
        </p:spPr>
        <p:txBody>
          <a:bodyPr wrap="square" lIns="0" tIns="0" rIns="0" bIns="0" anchor="t">
            <a:spAutoFit/>
          </a:bodyPr>
          <a:lstStyle/>
          <a:p>
            <a:pPr algn="l"/>
            <a:r>
              <a:rPr sz="1300" b="0" i="0">
                <a:solidFill>
                  <a:srgbClr val="1A1A1A"/>
                </a:solidFill>
              </a:rPr>
              <a:t>3D-CNN ablation and robustness sweep</a:t>
            </a:r>
          </a:p>
          <a:p>
            <a:pPr algn="l">
              <a:spcBef>
                <a:spcPts val="500"/>
              </a:spcBef>
            </a:pPr>
            <a:r>
              <a:rPr sz="1300" b="1" i="0">
                <a:solidFill>
                  <a:srgbClr val="555F6E"/>
                </a:solidFill>
              </a:rPr>
              <a:t>Evidence: </a:t>
            </a:r>
            <a:r>
              <a:rPr sz="1300" b="0" i="0">
                <a:solidFill>
                  <a:srgbClr val="555F6E"/>
                </a:solidFill>
              </a:rPr>
              <a:t>Ablation table, WER against SNR curves</a:t>
            </a:r>
          </a:p>
        </p:txBody>
      </p:sp>
      <p:sp>
        <p:nvSpPr>
          <p:cNvPr id="23" name="Rounded Rectangle 22"/>
          <p:cNvSpPr/>
          <p:nvPr/>
        </p:nvSpPr>
        <p:spPr>
          <a:xfrm>
            <a:off x="8065008" y="4069080"/>
            <a:ext cx="3291840" cy="1920240"/>
          </a:xfrm>
          <a:prstGeom prst="roundRect">
            <a:avLst>
              <a:gd name="adj" fmla="val 5000"/>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8229600" y="4233672"/>
            <a:ext cx="512064" cy="512064"/>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rPr>
              <a:t>6</a:t>
            </a:r>
          </a:p>
        </p:txBody>
      </p:sp>
      <p:sp>
        <p:nvSpPr>
          <p:cNvPr id="25" name="TextBox 24"/>
          <p:cNvSpPr txBox="1"/>
          <p:nvPr/>
        </p:nvSpPr>
        <p:spPr>
          <a:xfrm>
            <a:off x="8869680" y="4215384"/>
            <a:ext cx="2377440" cy="566928"/>
          </a:xfrm>
          <a:prstGeom prst="rect">
            <a:avLst/>
          </a:prstGeom>
          <a:noFill/>
        </p:spPr>
        <p:txBody>
          <a:bodyPr wrap="square" lIns="0" tIns="0" rIns="0" bIns="0" anchor="t">
            <a:spAutoFit/>
          </a:bodyPr>
          <a:lstStyle/>
          <a:p>
            <a:pPr algn="l"/>
            <a:r>
              <a:rPr sz="1100" b="1" i="0">
                <a:solidFill>
                  <a:srgbClr val="D7014D"/>
                </a:solidFill>
              </a:rPr>
              <a:t>WEEK 6</a:t>
            </a:r>
          </a:p>
          <a:p>
            <a:pPr algn="l"/>
            <a:r>
              <a:rPr sz="1600" b="1" i="0">
                <a:solidFill>
                  <a:srgbClr val="1F497D"/>
                </a:solidFill>
              </a:rPr>
              <a:t>Integrate and test</a:t>
            </a:r>
          </a:p>
        </p:txBody>
      </p:sp>
      <p:sp>
        <p:nvSpPr>
          <p:cNvPr id="26" name="TextBox 25"/>
          <p:cNvSpPr txBox="1"/>
          <p:nvPr/>
        </p:nvSpPr>
        <p:spPr>
          <a:xfrm>
            <a:off x="8247888" y="4892040"/>
            <a:ext cx="2926080" cy="1051560"/>
          </a:xfrm>
          <a:prstGeom prst="rect">
            <a:avLst/>
          </a:prstGeom>
          <a:noFill/>
        </p:spPr>
        <p:txBody>
          <a:bodyPr wrap="square" lIns="0" tIns="0" rIns="0" bIns="0" anchor="t">
            <a:spAutoFit/>
          </a:bodyPr>
          <a:lstStyle/>
          <a:p>
            <a:pPr algn="l"/>
            <a:r>
              <a:rPr sz="1300" b="0" i="0">
                <a:solidFill>
                  <a:srgbClr val="1A1A1A"/>
                </a:solidFill>
              </a:rPr>
              <a:t>Inference script, web demo, unseen-data test</a:t>
            </a:r>
          </a:p>
          <a:p>
            <a:pPr algn="l">
              <a:spcBef>
                <a:spcPts val="500"/>
              </a:spcBef>
            </a:pPr>
            <a:r>
              <a:rPr sz="1300" b="1" i="0">
                <a:solidFill>
                  <a:srgbClr val="555F6E"/>
                </a:solidFill>
              </a:rPr>
              <a:t>Evidence: </a:t>
            </a:r>
            <a:r>
              <a:rPr sz="1300" b="0" i="0">
                <a:solidFill>
                  <a:srgbClr val="555F6E"/>
                </a:solidFill>
              </a:rPr>
              <a:t>Final results, limitations, README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References</a:t>
            </a:r>
          </a:p>
        </p:txBody>
      </p:sp>
      <p:sp>
        <p:nvSpPr>
          <p:cNvPr id="3" name="TextBox 2"/>
          <p:cNvSpPr txBox="1"/>
          <p:nvPr/>
        </p:nvSpPr>
        <p:spPr>
          <a:xfrm>
            <a:off x="841248" y="1965960"/>
            <a:ext cx="5120640" cy="4023360"/>
          </a:xfrm>
          <a:prstGeom prst="rect">
            <a:avLst/>
          </a:prstGeom>
          <a:noFill/>
        </p:spPr>
        <p:txBody>
          <a:bodyPr wrap="square" lIns="0" tIns="0" rIns="0" bIns="0" anchor="t">
            <a:spAutoFit/>
          </a:bodyPr>
          <a:lstStyle/>
          <a:p>
            <a:pPr algn="l">
              <a:spcBef>
                <a:spcPts val="0"/>
              </a:spcBef>
            </a:pPr>
            <a:r>
              <a:rPr sz="1200" b="1" i="0">
                <a:solidFill>
                  <a:srgbClr val="0B3D91"/>
                </a:solidFill>
              </a:rPr>
              <a:t>[1]  </a:t>
            </a:r>
            <a:r>
              <a:rPr sz="1200" b="0" i="0">
                <a:solidFill>
                  <a:srgbClr val="1A1A1A"/>
                </a:solidFill>
              </a:rPr>
              <a:t>S. A. A. Jeevakumari and K. Dey, “LipSyncNet: A novel deep learning approach for visual speech recognition in audio-challenged situations,” IEEE Access, vol. 12, 2024.</a:t>
            </a:r>
          </a:p>
          <a:p>
            <a:pPr algn="l">
              <a:spcBef>
                <a:spcPts val="900"/>
              </a:spcBef>
            </a:pPr>
            <a:r>
              <a:rPr sz="1200" b="1" i="0">
                <a:solidFill>
                  <a:srgbClr val="0B3D91"/>
                </a:solidFill>
              </a:rPr>
              <a:t>[2]  </a:t>
            </a:r>
            <a:r>
              <a:rPr sz="1200" b="0" i="0">
                <a:solidFill>
                  <a:srgbClr val="1A1A1A"/>
                </a:solidFill>
              </a:rPr>
              <a:t>D. Li et al., “Improving speech recognition performance in noisy environments by enhancing lip reading accuracy,” Sensors, vol. 23, no. 4, 2053, 2023.</a:t>
            </a:r>
          </a:p>
          <a:p>
            <a:pPr algn="l">
              <a:spcBef>
                <a:spcPts val="900"/>
              </a:spcBef>
            </a:pPr>
            <a:r>
              <a:rPr sz="1200" b="1" i="0">
                <a:solidFill>
                  <a:srgbClr val="0B3D91"/>
                </a:solidFill>
              </a:rPr>
              <a:t>[3]  </a:t>
            </a:r>
            <a:r>
              <a:rPr sz="1200" b="0" i="0">
                <a:solidFill>
                  <a:srgbClr val="1A1A1A"/>
                </a:solidFill>
              </a:rPr>
              <a:t>Aripin and A. Setiawan, “Indonesian lip-reading detection and recognition based on lip shape using face mesh and long-term recurrent convolutional network,” Appl. Comput. Intell. Soft Comput., 2024.</a:t>
            </a:r>
          </a:p>
          <a:p>
            <a:pPr algn="l">
              <a:spcBef>
                <a:spcPts val="900"/>
              </a:spcBef>
            </a:pPr>
            <a:r>
              <a:rPr sz="1200" b="1" i="0">
                <a:solidFill>
                  <a:srgbClr val="0B3D91"/>
                </a:solidFill>
              </a:rPr>
              <a:t>[4]  </a:t>
            </a:r>
            <a:r>
              <a:rPr sz="1200" b="0" i="0">
                <a:solidFill>
                  <a:srgbClr val="1A1A1A"/>
                </a:solidFill>
              </a:rPr>
              <a:t>Divya and D. Suresha, “KanAVNet: A CNN-BiLSTM-CTC-based audio-visual speech recognition system for Kannada to assist the hearing impaired,” I.J. Image, Graphics and Signal Processing, 2026.</a:t>
            </a:r>
          </a:p>
          <a:p>
            <a:pPr algn="l">
              <a:spcBef>
                <a:spcPts val="900"/>
              </a:spcBef>
            </a:pPr>
            <a:r>
              <a:rPr sz="1200" b="1" i="0">
                <a:solidFill>
                  <a:srgbClr val="0B3D91"/>
                </a:solidFill>
              </a:rPr>
              <a:t>[5]  </a:t>
            </a:r>
            <a:r>
              <a:rPr sz="1200" b="0" i="0">
                <a:solidFill>
                  <a:srgbClr val="1A1A1A"/>
                </a:solidFill>
              </a:rPr>
              <a:t>A. W. A. Ameer, P. Salehpour and M. Asadpour, “Deep transfer learning for lip reading based on NASNetMobile pretrained model in wild dataset,” IEEE Access, vol. 13, 2025.</a:t>
            </a:r>
          </a:p>
        </p:txBody>
      </p:sp>
      <p:sp>
        <p:nvSpPr>
          <p:cNvPr id="4" name="TextBox 3"/>
          <p:cNvSpPr txBox="1"/>
          <p:nvPr/>
        </p:nvSpPr>
        <p:spPr>
          <a:xfrm>
            <a:off x="6236208" y="1965960"/>
            <a:ext cx="5120640" cy="4023360"/>
          </a:xfrm>
          <a:prstGeom prst="rect">
            <a:avLst/>
          </a:prstGeom>
          <a:noFill/>
        </p:spPr>
        <p:txBody>
          <a:bodyPr wrap="square" lIns="0" tIns="0" rIns="0" bIns="0" anchor="t">
            <a:spAutoFit/>
          </a:bodyPr>
          <a:lstStyle/>
          <a:p>
            <a:pPr algn="l">
              <a:spcBef>
                <a:spcPts val="0"/>
              </a:spcBef>
            </a:pPr>
            <a:r>
              <a:rPr sz="1200" b="1" i="0">
                <a:solidFill>
                  <a:srgbClr val="0B3D91"/>
                </a:solidFill>
              </a:rPr>
              <a:t>[6]  </a:t>
            </a:r>
            <a:r>
              <a:rPr sz="1200" b="0" i="0">
                <a:solidFill>
                  <a:srgbClr val="1A1A1A"/>
                </a:solidFill>
              </a:rPr>
              <a:t>T. Afouras et al., “Deep audio-visual speech recognition,” IEEE Trans. Pattern Anal. Mach. Intell., vol. 44, no. 12, 2022.</a:t>
            </a:r>
          </a:p>
          <a:p>
            <a:pPr algn="l">
              <a:spcBef>
                <a:spcPts val="900"/>
              </a:spcBef>
            </a:pPr>
            <a:r>
              <a:rPr sz="1200" b="1" i="0">
                <a:solidFill>
                  <a:srgbClr val="0B3D91"/>
                </a:solidFill>
              </a:rPr>
              <a:t>[7]  </a:t>
            </a:r>
            <a:r>
              <a:rPr sz="1200" b="0" i="0">
                <a:solidFill>
                  <a:srgbClr val="1A1A1A"/>
                </a:solidFill>
              </a:rPr>
              <a:t>A. I. Siam et al., “Deploying machine learning techniques for human emotion detection,” Comput. Intell. Neurosci., 2022.</a:t>
            </a:r>
          </a:p>
          <a:p>
            <a:pPr algn="l">
              <a:spcBef>
                <a:spcPts val="900"/>
              </a:spcBef>
            </a:pPr>
            <a:r>
              <a:rPr sz="1200" b="1" i="0">
                <a:solidFill>
                  <a:srgbClr val="0B3D91"/>
                </a:solidFill>
              </a:rPr>
              <a:t>[8]  </a:t>
            </a:r>
            <a:r>
              <a:rPr sz="1200" b="0" i="0">
                <a:solidFill>
                  <a:srgbClr val="1A1A1A"/>
                </a:solidFill>
              </a:rPr>
              <a:t>D. Ryumin, D. Ivanko and E. Ryumina, “Audio-visual speech and gesture recognition by sensors of mobile devices,” Sensors, vol. 23, no. 4, 2284, 2023.</a:t>
            </a:r>
          </a:p>
          <a:p>
            <a:pPr algn="l">
              <a:spcBef>
                <a:spcPts val="900"/>
              </a:spcBef>
            </a:pPr>
            <a:r>
              <a:rPr sz="1200" b="1" i="0">
                <a:solidFill>
                  <a:srgbClr val="0B3D91"/>
                </a:solidFill>
              </a:rPr>
              <a:t>[9]  </a:t>
            </a:r>
            <a:r>
              <a:rPr sz="1200" b="0" i="0">
                <a:solidFill>
                  <a:srgbClr val="1A1A1A"/>
                </a:solidFill>
              </a:rPr>
              <a:t>L. A. Kumar et al., “Deep learning based assistive technology on audio visual speech recognition for hearing impaired,” Int. J. Cogn. Comput. Eng., vol. 3, pp. 24–30, 2022.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1_Office Them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2109</TotalTime>
  <Words>2538</Words>
  <Application>Microsoft Office PowerPoint</Application>
  <PresentationFormat>Widescreen</PresentationFormat>
  <Paragraphs>206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Trebuchet MS</vt:lpstr>
      <vt:lpstr>Wingdings</vt:lpstr>
      <vt:lpstr>1_Office Theme</vt:lpstr>
      <vt:lpstr>LipScribe: Lip-Assisted Speech Recognition for Robust Live Captioning</vt:lpstr>
      <vt:lpstr>Audio-only captions fail in noise</vt:lpstr>
      <vt:lpstr>Who it serves and what it outputs</vt:lpstr>
      <vt:lpstr>Data: GRID corpus with added noise</vt:lpstr>
      <vt:lpstr>Proposed dual-stream pipeline</vt:lpstr>
      <vt:lpstr>Baselines and transfer learning</vt:lpstr>
      <vt:lpstr>Two advanced CV capabilities</vt:lpstr>
      <vt:lpstr>How we will judge success</vt:lpstr>
      <vt:lpstr>Risks and how we manage them</vt:lpstr>
      <vt:lpstr>Six-week plan and evidence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paper</dc:title>
  <dc:creator>stephen kalyesubula</dc:creator>
  <cp:lastModifiedBy>Charis Opol</cp:lastModifiedBy>
  <cp:revision>5</cp:revision>
  <dcterms:created xsi:type="dcterms:W3CDTF">2026-08-29T19:30:28Z</dcterms:created>
  <dcterms:modified xsi:type="dcterms:W3CDTF">2026-10-08T13:11:09Z</dcterms:modified>
</cp:coreProperties>
</file>