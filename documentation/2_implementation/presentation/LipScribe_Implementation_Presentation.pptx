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6"/>
    <p:sldId id="257" r:id="rId7"/>
    <p:sldId id="258" r:id="rId8"/>
    <p:sldId id="259" r:id="rId5"/>
    <p:sldId id="260" r:id="rId4"/>
    <p:sldId id="261" r:id="rId3"/>
    <p:sldId id="262" r:id="rId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9" autoAdjust="0"/>
    <p:restoredTop sz="94660"/>
  </p:normalViewPr>
  <p:slideViewPr>
    <p:cSldViewPr snapToGrid="0">
      <p:cViewPr varScale="1">
        <p:scale>
          <a:sx n="70" d="100"/>
          <a:sy n="70" d="100"/>
        </p:scale>
        <p:origin x="525"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Good afternoon. We are Group 4 and this is LipScribe: lip-assisted speech recognition for robust live captioning.</a:t>
            </a:r>
          </a:p>
          <a:p/>
          <a:p>
            <a:r>
              <a:t>Last time we presented the proposal. Today we present the technical implementation plan: how the system will actually be built, trained, tested and demonstrated.</a:t>
            </a:r>
          </a:p>
          <a:p/>
          <a:p>
            <a:r>
              <a:t>Each of us presents one part, so you will hear from all six of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The talk has six parts.</a:t>
            </a:r>
          </a:p>
          <a:p/>
          <a:p>
            <a:r>
              <a:t>I cover the overview, architecture and tools. Charis covers the environment and the data. Faith covers the visual and audio pipelines. Lisa covers the multimodal model. Nehum covers training and evaluation. Isabelle covers the application, the schedule, the risks, and closes.</a:t>
            </a:r>
          </a:p>
          <a:p/>
          <a:p>
            <a:r>
              <a:t>Each part follows the order of the implementation document.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Part 1: the problem, the objectives, the overall architecture and the tools we will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Ordinary speech recognition works well in a quiet room but degrades sharply with background noise, overlapping speakers or muffled speech.</a:t>
            </a:r>
          </a:p>
          <a:p/>
          <a:p>
            <a:r>
              <a:t>Lip movements are not affected by acoustic noise. A model that also watches the mouth keeps a usable source of evidence when the audio becomes unreliable.</a:t>
            </a:r>
          </a:p>
          <a:p/>
          <a:p>
            <a:r>
              <a:t>Our users are deaf and hard-of-hearing people in lectures, meetings and public spaces. They need captions that are correct, not just fast.</a:t>
            </a:r>
          </a:p>
          <a:p/>
          <a:p>
            <a:r>
              <a:t>So our central question is: how can combining audio with lip reading keep captions usable when the audio is severely degraded? Our goal is accuracy that degrades more gracefully in noise than audio-only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proposal set four objectives, each tied to a research question.</a:t>
            </a:r>
          </a:p>
          <a:p/>
          <a:p>
            <a:r>
              <a:t>Objective 1 is to separate homophenes, words that look the same on the lips. Cross-modal attention lets the audio resolve them, helped by context from neighbouring frames.</a:t>
            </a:r>
          </a:p>
          <a:p/>
          <a:p>
            <a:r>
              <a:t>Objective 2 is to model whole word sequences. The 3D-CNN front-end, the BiLSTM encoders and CTC training map frame sequences to sentences.</a:t>
            </a:r>
          </a:p>
          <a:p/>
          <a:p>
            <a:r>
              <a:t>Objectives 3 and 4, emotion detection and language identification, are extensions. GRID has no emotion labels and only one language, so they are separate modules with their own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At run time every segment of input goes through the same eight stages.</a:t>
            </a:r>
          </a:p>
          <a:p/>
          <a:p>
            <a:r>
              <a:t>One: capture synchronised video and audio. Two: detect the face with MediaPipe Face Mesh. Three: crop a fixed-size region around the lips. Four: compute log-Mel audio features.</a:t>
            </a:r>
          </a:p>
          <a:p/>
          <a:p>
            <a:r>
              <a:t>Five: encode each stream with its own network. Six: fuse the two with cross-modal attention. Seven: decode the fused sequence into characters with CTC and beam search. Eight: display the caption.</a:t>
            </a:r>
          </a:p>
          <a:p/>
          <a:p>
            <a:r>
              <a:t>The colours used here are the same in every diagram: orange for visual, blue for audio, green for fusion and purple for output.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core deliverable is the audio-visual recogniser and a captioning demo built on it.</a:t>
            </a:r>
          </a:p>
          <a:p/>
          <a:p>
            <a:r>
              <a:t>It covers objectives 1 and 2 and the evaluation in the proposal: training on GRID with MUSAN noise added at clean, 10, 5, 0 and -5 dB, and reporting WER and CER on held-out speakers.</a:t>
            </a:r>
          </a:p>
          <a:p/>
          <a:p>
            <a:r>
              <a:t>Emotion detection and language identification are optional extensions, started only after the core 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LipScribe is a pipeline of independent modules with fixed tensor interfaces.</a:t>
            </a:r>
          </a:p>
          <a:p/>
          <a:p>
            <a:r>
              <a:t>The visual stream reads video at 25 frames per second, decodes the frames, finds 468 face landmarks, crops a 96 by 96 grey-scale mouth image, and encodes the sequence with a 3D-CNN and a BiLSTM.</a:t>
            </a:r>
          </a:p>
          <a:p/>
          <a:p>
            <a:r>
              <a:t>The audio stream takes the audio, converts it to 16 kHz mono at a fixed loudness, computes 80-band log-Mel features, subsamples them from 100 to 25 frames per second with strided 1D convolutions, and encodes them with a BiLSTM.</a:t>
            </a:r>
          </a:p>
          <a:p/>
          <a:p>
            <a:r>
              <a:t>Both streams end with the same shape, batch by 75 frames by 512 features, on the same 40 millisecond grid. That makes fusion simple.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two 75 by 512 sequences enter the fusion module: cross-modal attention followed by a learned gate.</a:t>
            </a:r>
          </a:p>
          <a:p/>
          <a:p>
            <a:r>
              <a:t>The fused sequence goes through a small BiLSTM, a linear layer and a log-softmax over 28 symbols: 26 letters, space and the CTC blank.</a:t>
            </a:r>
          </a:p>
          <a:p/>
          <a:p>
            <a:r>
              <a:t>Decoding turns those per-frame probabilities into text, greedily during validation and with beam search for final results and the demo. The caption is shown in a Gradio page or a live overlay.</a:t>
            </a:r>
          </a:p>
          <a:p/>
          <a:p>
            <a:r>
              <a:t>The dashed red parts exist only during training: modality dropout, which sometimes hides one stream, and the CTC loss.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same model code runs in training and at inference, but the data path around it differs.</a:t>
            </a:r>
          </a:p>
          <a:p/>
          <a:p>
            <a:r>
              <a:t>In training, mouth crops are computed once and cached; at inference Face Mesh runs on every frame. In training, clean GRID audio is mixed with MUSAN noise on the fly; at inference the noise is whatever the room contains.</a:t>
            </a:r>
          </a:p>
          <a:p/>
          <a:p>
            <a:r>
              <a:t>Augmentation only happens in training. Training computes the CTC loss; inference produces beam-search text. Training uses whole 3 second utterances; the demo uses 3 second windows from a rolling buffer.</a:t>
            </a:r>
          </a:p>
          <a:p/>
          <a:p>
            <a:r>
              <a:t>All shared preprocessing lives in one package, lipscribe/preprocessing, and a parity test checks the live path gives the same tensors as the cached training features.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We use Python with one tool per role.</a:t>
            </a:r>
          </a:p>
          <a:p/>
          <a:p>
            <a:r>
              <a:t>PyTorch has every component we need built in: 3D convolutions, bidirectional LSTMs, multi-head attention and CTC loss. torchaudio computes log-Mel and MFCC features identically on CPU and GPU, and torchvision supplies the pretrained EfficientNet-B0 for one experiment. One framework covers training, evaluation and inference.</a:t>
            </a:r>
          </a:p>
          <a:p/>
          <a:p>
            <a:r>
              <a:t>For the interface we use Gradio. It builds a browser demo straight from Python functions, with ready webcam, microphone and upload components, so no front-end development is needed.</a:t>
            </a:r>
          </a:p>
          <a:p/>
          <a:p>
            <a:r>
              <a:t>For the lower-latency live mode we use an OpenCV display window driven by the same inference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This is the full stack grouped by role.</a:t>
            </a:r>
          </a:p>
          <a:p/>
          <a:p>
            <a:r>
              <a:t>Model and training: PyTorch, torchaudio and torchvision. Vision: OpenCV for video and display, MediaPipe Face Mesh for landmarks. Audio: soundfile for WAV files, sounddevice for the live microphone, librosa only to cross-check our features in tests.</a:t>
            </a:r>
          </a:p>
          <a:p/>
          <a:p>
            <a:r>
              <a:t>Data: NumPy, pandas for the dataset manifest, scikit-learn for speaker-grouped splitting. Evaluation and logs: jiwer for error rates, Matplotlib for plots, TensorBoard for live training curves. Engineering: Python 3.11, PyYAML for configs, pytest for tests, and Git with GitHub.</a:t>
            </a:r>
          </a:p>
          <a:p/>
          <a:p>
            <a:r>
              <a:t>Charis will now explain the hardware and the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Part 2: the environment we need and the data we train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We have not yet confirmed which hardware is available, so the plan states requirements rather than assuming a machine.</a:t>
            </a:r>
          </a:p>
          <a:p/>
          <a:p>
            <a:r>
              <a:t>Training needs a CUDA GPU; on a CPU alone it would not finish in six weeks. With about 8 GB of GPU memory, a batch of 16 clips with mixed precision should fit. We confirm that with a memory test in week 2.</a:t>
            </a:r>
          </a:p>
          <a:p/>
          <a:p>
            <a:r>
              <a:t>Cached mouth crops for the whole corpus take about 23 GB, and with the raw corpus and MUSAN we recommend about 100 GB of free disk. The demo only needs a laptop with a webcam and microphone.</a:t>
            </a:r>
          </a:p>
          <a:p/>
          <a:p>
            <a:r>
              <a:t>Three compatibility checks: MediaPipe must have a wheel for Python 3.11 on every member's operating system; the PyTorch build must match the GPU's CUDA driver; and torch, torchaudio and torchvision must be installed as a matching set.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Every number we report must be traceable.</a:t>
            </a:r>
          </a:p>
          <a:p/>
          <a:p>
            <a:r>
              <a:t>Exact dependency versions are pinned in requirements.txt and environment.yml, generated from a working environment. Every experiment is one YAML configuration file committed to Git, and the configuration and commit hash are saved inside each checkpoint.</a:t>
            </a:r>
          </a:p>
          <a:p/>
          <a:p>
            <a:r>
              <a:t>Seeds are fixed for Python, NumPy and PyTorch, and the noise-mixing seed for the test set is fixed, so every model sees identical noisy audio. The speaker split is written once to splits.csv and never regenerated. The manifest records the MediaPipe version and crop settings.</a:t>
            </a:r>
          </a:p>
          <a:p/>
          <a:p>
            <a:r>
              <a:t>The chain on the right is the rule: a reported number must trace back to a checkpoint, a commit and a config.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Our primary dataset is the GRID corpus [9]: audio and frontal-face video of 34 speakers, each saying 1,000 short sentences. About 33,000 are usable.</a:t>
            </a:r>
          </a:p>
          <a:p/>
          <a:p>
            <a:r>
              <a:t>Every sentence follows the same six-slot grammar: command, colour, preposition, letter, digit, adverb. For example, 'place green at b four now'.</a:t>
            </a:r>
          </a:p>
          <a:p/>
          <a:p>
            <a:r>
              <a:t>A sentence lasts about 3 seconds, which at 25 fps is about 75 video frames, and each comes with a word-level alignment file from which we build the transcript.</a:t>
            </a:r>
          </a:p>
          <a:p/>
          <a:p>
            <a:r>
              <a:t>The vocabulary is small and closed: 51 words. That makes the task feasible in six weeks, but it also limits how far our conclusions generalise to open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Before training we standardise all three kinds of data.</a:t>
            </a:r>
          </a:p>
          <a:p/>
          <a:p>
            <a:r>
              <a:t>Text: lower-case letters a to z and space only. The letter slot stays one character, like 'b', and digits are words, like 'four', matching the alignment files. That gives 28 output symbols: the CTC blank at index 0, space, and 26 letters.</a:t>
            </a:r>
          </a:p>
          <a:p/>
          <a:p>
            <a:r>
              <a:t>Audio: 16 kHz, 16-bit mono WAV, resampled with an anti-aliasing filter. 16 kHz is the standard rate for speech and is what the demo microphone delivers.</a:t>
            </a:r>
          </a:p>
          <a:p/>
          <a:p>
            <a:r>
              <a:t>Video: 25 fps, so about 75 frames per clip, with the frame count checked against the audio. The key relation: one video frame is 40 ms, which is 640 audio samples and exactly 4 log-Mel frames. We use that fixed 4 to 1 ratio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The proposal requires evaluation on held-out speakers, so we split by speaker, not by sentence.</a:t>
            </a:r>
          </a:p>
          <a:p/>
          <a:p>
            <a:r>
              <a:t>We recommend 4 test speakers, 2 female and 2 male, used only for final reporting; 3 validation speakers for early stopping and model selection; and about 27 for training.</a:t>
            </a:r>
          </a:p>
          <a:p/>
          <a:p>
            <a:r>
              <a:t>Why it matters: if one person's sentences appear in both training and test, the model can partly memorise their lips, face and voice. Test error would then measure familiar people, not new users, and every WER would be optimistically biased.</a:t>
            </a:r>
          </a:p>
          <a:p/>
          <a:p>
            <a:r>
              <a:t>Three safeguards: splits.csv is the only source of partition membership, the data loader refuses any speaker that appears in two partitions, and a unit test asserts the three sets are disjoint.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A script, verify_dataset.py, runs before any training and checks six things.</a:t>
            </a:r>
          </a:p>
          <a:p/>
          <a:p>
            <a:r>
              <a:t>Every clip has video, audio and alignment files. Video decodes with 75 plus or minus 2 frames. Audio and video durations match within one frame, 40 ms. The transcript has exactly six valid GRID words. Face Mesh succeeds on at least 90% of frames. And the audio is not silent or clipped throughout.</a:t>
            </a:r>
          </a:p>
          <a:p/>
          <a:p>
            <a:r>
              <a:t>The report counts how many clips pass each check. Those counts become the dataset statistics in our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We add noise from the MUSAN corpus [10] at the five conditions in the proposal: clean, 10, 5, 0 and -5 dB.</a:t>
            </a:r>
          </a:p>
          <a:p/>
          <a:p>
            <a:r>
              <a:t>The procedure: cut a random noise segment the same length as the speech, measure the power of both, scale the noise by alpha, and add it.</a:t>
            </a:r>
          </a:p>
          <a:p/>
          <a:p>
            <a:r>
              <a:t>Alpha is chosen so the signal-to-noise ratio is exactly the target rho: the square root of speech power over noise power times ten to the rho over ten. The code then re-measures the SNR and asserts it is within 0.01 dB.</a:t>
            </a:r>
          </a:p>
          <a:p/>
          <a:p>
            <a:r>
              <a:t>If the mixture's peak exceeds 1, the whole mixture is scaled down; speech and noise scale together, so the SNR does not change.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Training and testing use noise differently.</a:t>
            </a:r>
          </a:p>
          <a:p/>
          <a:p>
            <a:r>
              <a:t>In training, each time a clip is loaded an SNR is drawn from the five levels with equal probability and noise is mixed on the fly, so the model sees each sentence under many conditions.</a:t>
            </a:r>
          </a:p>
          <a:p/>
          <a:p>
            <a:r>
              <a:t>For validation and test, each clip is mixed once per SNR with a fixed seed and stored, so every model is evaluated on exactly the same audio. MUSAN noise files are split into disjoint training, validation and test pools, so testing measures robustness to unseen noise rather than memorised noise.</a:t>
            </a:r>
          </a:p>
          <a:p/>
          <a:p>
            <a:r>
              <a:t>Noise changes only the audio. The video and transcript stay the same, which is what lets us score the same sentences at every SNR and compare directly.</a:t>
            </a:r>
          </a:p>
          <a:p/>
          <a:p>
            <a:r>
              <a:t>Faith will now take you through the visual and audio pipelines.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Part 3: how video becomes mouth crops and features, and how audio becomes log-Mel features.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Mouth extraction runs once per clip and is cached. It has nine steps.</a:t>
            </a:r>
          </a:p>
          <a:p/>
          <a:p>
            <a:r>
              <a:t>One, read frames in order and convert BGR to RGB, which MediaPipe expects. Two, Face Mesh finds 468 landmarks, in video mode with one face so landmarks are tracked frame to frame. Three, take the lip landmarks from MediaPipe's own FACEMESH_LIPS list rather than typing indices by hand.</a:t>
            </a:r>
          </a:p>
          <a:p/>
          <a:p>
            <a:r>
              <a:t>Four, compute a square box around the lips. Five, add a 25% margin and smooth the box over 5 frames. Six, crop and resize to 96 by 96.</a:t>
            </a:r>
          </a:p>
          <a:p/>
          <a:p>
            <a:r>
              <a:t>Seven, convert to grey-scale and standardise. Eight, stack the crops in order into a T by 96 by 96 array. Nine, handle failed detections, which I cover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box is centred on the lip landmarks and its side S is the larger of the lip width and height. We enlarge it to L equals 1 plus 2m times S, with a margin m of 0.25, so the chin, mouth corners and jaw stay visible when the mouth opens.</a:t>
            </a:r>
          </a:p>
          <a:p/>
          <a:p>
            <a:r>
              <a:t>Raw boxes jitter by a few pixels, which the network would see as fake motion, so centre and size are smoothed with a 5-frame moving average. In the live demo we use an exponential moving average over past frames instead.</a:t>
            </a:r>
          </a:p>
          <a:p/>
          <a:p>
            <a:r>
              <a:t>Failures: a few failed frames get an interpolated box and are marked invalid. If more than 10% fail, the clip is excluded. If lengths differ, the clip is padded or trimmed to the audio length.</a:t>
            </a:r>
          </a:p>
          <a:p/>
          <a:p>
            <a:r>
              <a:t>Frames are never dropped. That keeps visual frame t aligned with audio feature frames 4t to 4t plus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proposal names a 3D-CNN with a BiLSTM, and also EfficientNet-B0 as an efficient 2D backbone. These are two different ways to extract per-frame features, so we define two separate configurations instead of stacking both.</a:t>
            </a:r>
          </a:p>
          <a:p/>
          <a:p>
            <a:r>
              <a:t>V1, the primary one: three 3D convolution blocks whose kernels span three consecutive frames, so each feature responds to both mouth shape and how it changes. Temporal stride is 1, so we keep one vector per frame. Then a linear projection to 512 and a two-layer BiLSTM.</a:t>
            </a:r>
          </a:p>
          <a:p/>
          <a:p>
            <a:r>
              <a:t>V2, optional: one 3D convolution for short-term motion, then an ImageNet-pretrained EfficientNet-B0 on each frame, pooled to 1280 and projected to 512, then the same BiLSTM. It is several times more expensive, so it runs only as an ablation if time and compute allow.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This traces one batch of 16 clips through V1.</a:t>
            </a:r>
          </a:p>
          <a:p/>
          <a:p>
            <a:r>
              <a:t>Input is 16 by 1 channel by 75 frames by 96 by 96. Block 1, a 3D convolution with spatial stride 2 plus max-pooling, gives 32 channels at 24 by 24. Block 2 gives 64 channels at 12 by 12. Block 3 gives 96 channels at 6 by 6.</a:t>
            </a:r>
          </a:p>
          <a:p/>
          <a:p>
            <a:r>
              <a:t>Each frame is then flattened, 96 times 6 times 6 is 3,456 values, projected to 512, and passed to a two-layer BiLSTM with 256 units per direction, giving 16 by 75 by 512.</a:t>
            </a:r>
          </a:p>
          <a:p/>
          <a:p>
            <a:r>
              <a:t>Temporal padding of one frame on each side keeps time at exactly 75, so we get one 512-dimensional vector per video frame.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Audio features are computed on the fly because noise changes every time a clip is loaded.</a:t>
            </a:r>
          </a:p>
          <a:p/>
          <a:p>
            <a:r>
              <a:t>We load the waveform, average stereo to mono and resample to 16 kHz. We scale it to a fixed loudness of -25 dBFS, with gain capped at +20 dB so near-silence is not blown up into loud noise.</a:t>
            </a:r>
          </a:p>
          <a:p/>
          <a:p>
            <a:r>
              <a:t>The signal is cut into 25 ms frames every 10 ms, each multiplied by a Hann window. A 512-point Fourier transform gives the power spectrum, 80 Mel filters from 20 Hz to 8 kHz group it into bands, and we take the log. That is the formula in yellow.</a:t>
            </a:r>
          </a:p>
          <a:p/>
          <a:p>
            <a:r>
              <a:t>Normalisation happens after noise mixing, so the SNR is unchanged. The 10 ms hop gives 100 frames per second, exactly 4 per video frame. Feature means and deviations come from training data and are reused unchanged at inference.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proposal lists both log-Mel spectrograms and MFCCs. MFCCs are a linear transform of log-Mel, so a network given log-Mel can in principle learn anything MFCCs contain.</a:t>
            </a:r>
          </a:p>
          <a:p/>
          <a:p>
            <a:r>
              <a:t>So A1, 80 log-Mel features, is our primary configuration. A2, 13 MFCCs with deltas, 39 values, and A3, both combined, 119 values, are experiments, tried on the fast audio-only baseline first.</a:t>
            </a:r>
          </a:p>
          <a:p/>
          <a:p>
            <a:r>
              <a:t>The audio encoder: a 3 second clip gives 300 log-Mel frames. Two 1D convolutions with stride 2 bring that to 150 and then 75 frames with 256 channels, and a two-layer BiLSTM outputs 75 by 512, the same shape as the visual encoder.</a:t>
            </a:r>
          </a:p>
          <a:p/>
          <a:p>
            <a:r>
              <a:t>The output length is T_a over 4, rounded up. We use that formula to give CTC the true lengths.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Most GRID clips are 3 seconds, but some are shorter, and live windows vary. The collate function pads waveforms with zeros to the longest in the batch, records each item's true feature length, computes encoder lengths as T_a over 4 rounded up, and builds a padding mask.</a:t>
            </a:r>
          </a:p>
          <a:p/>
          <a:p>
            <a:r>
              <a:t>Those lengths are used three times: the BiLSTM uses packed sequences so padding does not leak into the backward direction, attention ignores padded positions through the mask, and CTC receives the true lengths.</a:t>
            </a:r>
          </a:p>
          <a:p/>
          <a:p>
            <a:r>
              <a:t>Tests for this part: the crop function returns 96 by 96 8-bit images centred low on the face; a contact sheet of crops from every speaker is checked by eye before training; our log-Mel output matches librosa within 10 to the minus 3; 3 seconds of audio gives exactly 300 feature frames and 75 encoder frames; and both encoders output batch by 75 by 512.</a:t>
            </a:r>
          </a:p>
          <a:p/>
          <a:p>
            <a:r>
              <a:t>Lisa will now explain the multimodal model.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Part 4: the complete model, how the streams are fused, and how we train and decode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This is the whole model on one table.</a:t>
            </a:r>
          </a:p>
          <a:p/>
          <a:p>
            <a:r>
              <a:t>The visual and audio encoders each output batch by T by 512. Each is projected to 256 with layer normalisation. Cross-attention runs in both directions with 4 heads. A per-frame gate combines the two. A one-layer BiLSTM with 128 units per direction models the fused sequence, and a linear layer with log-softmax gives 28 symbol probabilities per frame.</a:t>
            </a:r>
          </a:p>
          <a:p/>
          <a:p>
            <a:r>
              <a:t>All of these sizes are recommended starting values that we will tune.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Because the audio encoder subsamples by exactly 4, both encoders emit sequences of the same length T on the same 40 ms grid. If rounding at clip edges makes them differ by a frame or two, the longer one is trimmed.</a:t>
            </a:r>
          </a:p>
          <a:p/>
          <a:p>
            <a:r>
              <a:t>Each stream is projected to 256 dimensions with layer normalisation. Then each stream queries the other. In the picture, one audio frame, the dark blue square, is the query; the video frames are keys and values. The line widths show attention weights: it draws mostly on the matching video frame and its neighbours.</a:t>
            </a:r>
          </a:p>
          <a:p/>
          <a:p>
            <a:r>
              <a:t>Weights are a softmax of queries times keys over the square root of the key size, with a mask M that blocks padded positions. We use 4 heads of 64 dimensions.</a:t>
            </a:r>
          </a:p>
          <a:p/>
          <a:p>
            <a:r>
              <a:t>The effect: audio can borrow lip evidence for an ambiguous sound, and video can borrow sound evidence for an ambiguous lip shape. That is the mechanism for separating homophenes [2].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After cross-attention we have an audio-anchored vector a-tilde and a video-anchored vector v-tilde for every frame.</a:t>
            </a:r>
          </a:p>
          <a:p/>
          <a:p>
            <a:r>
              <a:t>A learned gate g_t, a sigmoid of a weighted combination of both, decides frame by frame how much each contributes. The fused vector f_t is g times the audio side plus 1 minus g times the video side.</a:t>
            </a:r>
          </a:p>
          <a:p/>
          <a:p>
            <a:r>
              <a:t>A g close to 1 leans on audio; close to 0 leans on the lips. The fused sequence then goes through the BiLSTM and the CTC layer.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proposal says fusion should give more weight to the lips when the audio is noisy. But attention does not detect noise by itself; it learns whatever reduces the training loss.</a:t>
            </a:r>
          </a:p>
          <a:p/>
          <a:p>
            <a:r>
              <a:t>There are three ways to get that behaviour. (a) Feed the true SNR to the gate: not usable live, because the true SNR of room audio is unknown. (b) Train a small head to estimate the SNR from the audio and feed that in: kept as experiment X6. (c) Implicit learning: train on all five SNRs plus modality dropout, so the gate sees many cases where audio is useless or absent. That is our choice.</a:t>
            </a:r>
          </a:p>
          <a:p/>
          <a:p>
            <a:r>
              <a:t>To check it works, we record the mean gate value for every test clip. If it works, the mean gate should fall as SNR falls, and the gain over audio-only should grow at 0 and -5 dB. Test-time ablations give the direct proof.</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Audio is usually far more informative than video, so a fused model can learn to ignore the video entirely. Modality dropout prevents that by sometimes removing one stream during training [6].</a:t>
            </a:r>
          </a:p>
          <a:p/>
          <a:p>
            <a:r>
              <a:t>For each training clip we draw a random number u. Below 0.25, the audio is dropped and the model must use video only. Between 0.25 and 0.40, the video is dropped. Otherwise both streams are used. Both are never dropped together.</a:t>
            </a:r>
          </a:p>
          <a:p/>
          <a:p>
            <a:r>
              <a:t>A dropped stream is replaced by a learned 'missing modality' vector, e-miss, not by masking. Masking every key would make the attention softmax undefined and produce NaNs.</a:t>
            </a:r>
          </a:p>
          <a:p/>
          <a:p>
            <a:r>
              <a:t>We start at p_a 0.25 and p_v 0.15 and tune on mean validation WER. At inference it is off; but if no face is found in more than half of a window, the video is replaced by e-miss, which the model has seen in training, so it falls back to audio-only cleanly.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Our transcripts say which words were spoken, but not at which frame each character occurs. Connectionist Temporal Classification, CTC [11], removes the need for frame labels by summing over every possible alignment of the T output frames to the characters.</a:t>
            </a:r>
          </a:p>
          <a:p/>
          <a:p>
            <a:r>
              <a:t>It adds a blank symbol that means 'no new character'. To read out text, merge repeated symbols, then remove blanks. So b b blank i i blank n n blank blank becomes 'bin'. A doubled letter needs a blank between its copies, as in g r blank e blank e blank n, which becomes 'green'.</a:t>
            </a:r>
          </a:p>
          <a:p/>
          <a:p>
            <a:r>
              <a:t>The loss is minus the log probability of the correct transcript, computed efficiently by PyTorch's CTCLoss with blank index 0 and zero_infinity on.</a:t>
            </a:r>
          </a:p>
          <a:p/>
          <a:p>
            <a:r>
              <a:t>CTC needs enough frames: T must be at least the transcript length plus the number of repeated letters. A GRID transcript is at most about 35 characters and we have 75 frames, so there is a wide margin. The data loader asserts this for every item.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Two decoders. Greedy decoding takes the most probable symbol at each frame and collapses. It is fast, so we use it for validation every epoch.</a:t>
            </a:r>
          </a:p>
          <a:p/>
          <a:p>
            <a:r>
              <a:t>For final results and the demo, the proposal specifies beam search. CTC prefix beam search keeps the 10 most probable text prefixes, tracking separately the probability of ending in a blank and not, so paths that collapse to the same text are merged. With only 28 symbols this is about 60 lines of Python, and a test checks that beam width 1 equals greedy.</a:t>
            </a:r>
          </a:p>
          <a:p/>
          <a:p>
            <a:r>
              <a:t>We will not use a language model for headline results. GRID's fixed six-slot grammar would correct many errors by construction, which would not carry over to real captioning. A grammar-constrained decoder may be shown separately, clearly labelled, as an upper reference.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To pull it together, one forward pass.</a:t>
            </a:r>
          </a:p>
          <a:p/>
          <a:p>
            <a:r>
              <a:t>One and two: the visual and audio encoders produce H_v and H_a, both batch by T by 512, with encoder lengths from the audio. Three: project both and normalise. Four: in training apply modality dropout; at inference, replace video with e-miss if the face is missing.</a:t>
            </a:r>
          </a:p>
          <a:p/>
          <a:p>
            <a:r>
              <a:t>Five: cross-attention in both directions. Six: the gate mixes the two. Seven: BiLSTM, linear and log-softmax, giving T by batch by 28. Eight: return the log-probabilities, the lengths for CTC, and the gate values, which we log for analysis.</a:t>
            </a:r>
          </a:p>
          <a:p/>
          <a:p>
            <a:r>
              <a:t>Nehum will now explain how we train and evaluate this model.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Part 5: how we train, what we compare against, and how we measure success.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Training is driven by one script, train.py, reading one YAML config. It has nine steps.</a:t>
            </a:r>
          </a:p>
          <a:p/>
          <a:p>
            <a:r>
              <a:t>Set up: load the config, set all seeds, create a run folder and save the config and commit hash. Build datasets from the manifest and the split file. Build batches with padding, lengths and masks; log-Mel features are computed on the GPU here.</a:t>
            </a:r>
          </a:p>
          <a:p/>
          <a:p>
            <a:r>
              <a:t>Initialise with PyTorch defaults, with LSTM forget-gate bias set to 1 to help gradients early on. Train with mixed precision, gradient clipping, and optimiser and scheduler steps. Validate after each epoch: loss, WER and CER at every SNR and their mean.</a:t>
            </a:r>
          </a:p>
          <a:p/>
          <a:p>
            <a:r>
              <a:t>Checkpoint the latest state and, separately, the best by mean validation WER. Stop when WER has not improved for 8 epochs or at 60 epochs. Finally restore the best checkpoint, run the final evaluation and export the weights for the demo.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These are our starting values. They are common defaults for models of this size, not proven optima for LipScribe.</a:t>
            </a:r>
          </a:p>
          <a:p/>
          <a:p>
            <a:r>
              <a:t>AdamW optimiser, peak learning rate 3 times 10 to the minus 4, weight decay 10 to the minus 2, with one epoch of linear warm-up then cosine decay. Batch of 16 clips. Gradients clipped at norm 5.</a:t>
            </a:r>
          </a:p>
          <a:p/>
          <a:p>
            <a:r>
              <a:t>Dropout 0.3 in the encoders and 0.1 in attention; modality dropout 0.25 and 0.15. Up to 60 epochs with early stopping after 8 without improvement. Beam width 10. Seeds 1, 2 and 3 for the final models if compute allows.</a:t>
            </a:r>
          </a:p>
          <a:p/>
          <a:p>
            <a:r>
              <a:t>The most sensitive values, learning rate, dropout and modality dropout, are tuned on validation data only.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proposal requires three simple baselines and then the full system.</a:t>
            </a:r>
          </a:p>
          <a:p/>
          <a:p>
            <a:r>
              <a:t>B1, audio-only: audio encoder, BiLSTM, CTC. B2, visual-only: visual encoder, BiLSTM, CTC. B3, simple fusion: concatenate the projected audio and video per frame, project to 256, then the same BiLSTM and CTC, with no attention and no modality dropout. P, our proposed model, uses attention and the gate, with modality dropout.</a:t>
            </a:r>
          </a:p>
          <a:p/>
          <a:p>
            <a:r>
              <a:t>Everything else is shared: encoders, splits, noise files, normalisation, optimiser, schedule and stopping rule. Only the component under test differs.</a:t>
            </a:r>
          </a:p>
          <a:p/>
          <a:p>
            <a:r>
              <a:t>Importantly, the audio-only baseline also trains on noisy audio. A baseline trained only on clean audio would be unfairly weak.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Ablations each remove one advanced component and keep everything else fixed.</a:t>
            </a:r>
          </a:p>
          <a:p/>
          <a:p>
            <a:r>
              <a:t>X1 removes modality dropout: does the model then ignore video? X2 replaces attention with concatenation but keeps dropout: what does attention itself add? X3 replaces the 3D front-end with a 2D per-frame CNN: what does spatiotemporal convolution add? These three are core and are run right after the baselines.</a:t>
            </a:r>
          </a:p>
          <a:p/>
          <a:p>
            <a:r>
              <a:t>X4 to X6 are optional: the pretrained EfficientNet-B0 trunk, MFCC features on the audio baseline, and the SNR auxiliary head. They depend on remaining time and compute.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proposal specifies word error rate and character error rate.</a:t>
            </a:r>
          </a:p>
          <a:p/>
          <a:p>
            <a:r>
              <a:t>WER is substitutions plus deletions plus insertions, divided by the number of reference words, from the minimum edit-distance alignment. CER is the same on characters, including spaces.</a:t>
            </a:r>
          </a:p>
          <a:p/>
          <a:p>
            <a:r>
              <a:t>Example from our test suite: reference 'bin blue at f two now', hypothesis 'bin blue at s two now'. One substitution in six words: WER is 1 in 6, about 16.7%.</a:t>
            </a:r>
          </a:p>
          <a:p/>
          <a:p>
            <a:r>
              <a:t>We compute at corpus level: sum errors over the whole test set, then divide, as jiwer does. CER is more sensitive on GRID's letter slot, where one wrong character makes a whole word wrong. WER can exceed 100% if there are many insertions. Our target is WER below 10% on clean audio; that is a target to test, not a result.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protocol has five steps. Load each model's best checkpoint, chosen on validation data only. Decode every test clip of the four held-out speakers with beam search, at each of the five SNRs, using the fixed pre-mixed audio. Compute corpus WER and CER per SNR, per speaker and overall, and record the mean gate per clip. Use identical inputs for every model. Where three seeds were trained, report mean and standard deviation.</a:t>
            </a:r>
          </a:p>
          <a:p/>
          <a:p>
            <a:r>
              <a:t>We report each SNR separately, because averaging across noise levels would hide exactly what the project measures: how fast accuracy degrades and where video starts to help.</a:t>
            </a:r>
          </a:p>
          <a:p/>
          <a:p>
            <a:r>
              <a:t>The table on the right is the template for our main result. It is empty on purpose: no results exist yet. The main figure will be WER against SNR with one line per model.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Key comparisons. P against B1 is the main test of our hypothesis. P against B2 at -5 dB: the fused model should be no worse than lips alone, since in the limit it can ignore the audio; if it is worse, noisy audio is misleading the fusion. P against B3 isolates the value of attention and modality dropout.</a:t>
            </a:r>
          </a:p>
          <a:p/>
          <a:p>
            <a:r>
              <a:t>All numbers are on unseen speakers, and we also report per-speaker WER, because a mean can hide one speaker the system fails on. With only four test speakers, small differences may not be meaningful, so we use a paired bootstrap to give a confidence interval for P against B1 at each SNR.</a:t>
            </a:r>
          </a:p>
          <a:p/>
          <a:p>
            <a:r>
              <a:t>If P is worse than audio-only, we check in order: did B2 learn anything at all; do gate values change with SNR; is the model overfitting to training faces; is modality dropout so high it starves the audio; and is the video misaligned in time.</a:t>
            </a:r>
          </a:p>
          <a:p/>
          <a:p>
            <a:r>
              <a:t>A fused model slightly worse on clean audio but better at low SNR is still consistent with our goal, and we will report it that way.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For the demo we measure, on the demo laptop, Face Mesh time per frame, model and beam-search time per window, end-to-end caption latency, and the real-time factor: processing time divided by audio duration.</a:t>
            </a:r>
          </a:p>
          <a:p/>
          <a:p>
            <a:r>
              <a:t>Live operation needs an RTF below 1; our target is 0.5 or less, with caption latency around 3 to 4 seconds. We report the median and 95th percentile over at least 100 windows after warm-up.</a:t>
            </a:r>
          </a:p>
          <a:p/>
          <a:p>
            <a:r>
              <a:t>Software tests are written with pytest and run before every merge, using small fixture files so they run without the full dataset. Unit tests cover the tokeniser, CTC collapse, noise mixing, cropping, features, encoder shapes, WER, beam search and disjoint splits. Integration tests cover batch lengths, overfitting 8 clips, train/inference parity, and a sync test: shifting video by 5 frames must make the trained model worse. End-to-end tests run transcribe.py and the demo.</a:t>
            </a:r>
          </a:p>
          <a:p/>
          <a:p>
            <a:r>
              <a:t>Isabelle will now present the application, the plan and the risks.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Part 6: the demonstration, the extensions, the schedule, the risks, and what we will deliver.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We plan two demo modes.</a:t>
            </a:r>
          </a:p>
          <a:p/>
          <a:p>
            <a:r>
              <a:t>Mode A is batch captioning in Gradio, and it is our guaranteed deliverable. You upload or record a clip; the server extracts frames and audio with OpenCV and ffmpeg, resamples to 25 fps and 16 kHz, runs the pipelines, the model and beam search, and shows the caption next to the video, with the mouth crops and a plot of the fusion gate. An optional control adds MUSAN noise at a chosen SNR, so the audience can see captions with and without noise on the same recording.</a:t>
            </a:r>
          </a:p>
          <a:p/>
          <a:p>
            <a:r>
              <a:t>Mode B is windowed live captioning, our stretch goal. Because our encoders are bidirectional, they need future context, so we approximate streaming by re-decoding the latest 3 second window every second. That costs about one window of latency. A fully streaming model is outside our six-week scope.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This is Mode B's structure.</a:t>
            </a:r>
          </a:p>
          <a:p/>
          <a:p>
            <a:r>
              <a:t>A camera thread reads frames with OpenCV and timestamps each one. An audio callback appends 16 kHz blocks, also timestamped from the same clock. Each goes into a ring buffer holding the last 4 seconds.</a:t>
            </a:r>
          </a:p>
          <a:p/>
          <a:p>
            <a:r>
              <a:t>Every second, the inference worker cuts the latest 3 second window from both buffers, crops, computes features, runs the model and beam search, and sends text to the display, which shows a partial caption and then a final one.</a:t>
            </a:r>
          </a:p>
          <a:p/>
          <a:p>
            <a:r>
              <a:t>If it is too slow, we act in this order: process every 1.5 seconds instead of 1, reduce the beam width, use a GPU, or quantise the model weights.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Four details make the live mode work.</a:t>
            </a:r>
          </a:p>
          <a:p/>
          <a:p>
            <a:r>
              <a:t>Synchronise: webcams rarely deliver exactly 25 fps and may drop frames, so for each of the 75 target instants in a window we take the buffered frame with the nearest timestamp. A constant camera-to-microphone offset is measured once with a hand-clap test and subtracted.</a:t>
            </a:r>
          </a:p>
          <a:p/>
          <a:p>
            <a:r>
              <a:t>Preprocess: Face Mesh runs once on each new frame as it arrives, not once per window, and crop smoothing uses an exponential moving average. Audio uses the stored training statistics.</a:t>
            </a:r>
          </a:p>
          <a:p/>
          <a:p>
            <a:r>
              <a:t>Partial versus final: a simple voice-activity detector watches the audio. While speech continues, a grey partial caption is replaced every second. After at least 500 ms of silence, one window aligned to the utterance is decoded and shown as a final caption in black.</a:t>
            </a:r>
          </a:p>
          <a:p/>
          <a:p>
            <a:r>
              <a:t>Failures: if no face is found in over half the window, the caption is marked audio only. If the camera or microphone cannot be opened, the app continues with the other where possible. Errors in the worker are logged and that window is skipped.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two extension objectives are separate, optional modules.</a:t>
            </a:r>
          </a:p>
          <a:p/>
          <a:p>
            <a:r>
              <a:t>Emotion detection would reuse the Face Mesh landmarks, compute geometric features such as mouth opening, eyebrow-to-eye distance and eye aperture after removing head pose, summarise them over the clip, and classify with a small model, following Siam et al. [7]. Data would come from emotion-labelled sets such as CREMA-D or RAVDESS. The limits: while speaking, the mouth mostly reflects what is said, and acted emotions are exaggerated.</a:t>
            </a:r>
          </a:p>
          <a:p/>
          <a:p>
            <a:r>
              <a:t>Language identification would pool the fused sequence over time and add a linear classifier over candidate languages. It needs multilingual labelled data such as MuAViC, or locally recorded phrases with consent. The limit: GRID is English only with 51 words.</a:t>
            </a:r>
          </a:p>
          <a:p/>
          <a:p>
            <a:r>
              <a:t>Neither changes the speech model or its results.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The schedule covers six weeks and is ordered by dependency: no model before the data is verified, and no fusion experiment before both single-stream baselines work.</a:t>
            </a:r>
          </a:p>
          <a:p/>
          <a:p>
            <a:r>
              <a:t>Week 1: environment and dataset checks. Weeks 1 to 2: preprocessing. Mid weeks 2 to 3: the audio baseline. Weeks 3 to 4: encoders and the visual-only and concatenation baselines. Week 4: the fusion model. Weeks 4 to 5: training and tuning.</a:t>
            </a:r>
          </a:p>
          <a:p/>
          <a:p>
            <a:r>
              <a:t>The core system freezes at the end of week 5. Week 5 to 6: evaluation, ablations and the application. Final week: testing, documentation and the demo. Optional extensions only go into the slack after the freeze.</a:t>
            </a:r>
          </a:p>
          <a:p/>
          <a:p>
            <a:r>
              <a:t>Long training runs start as early as possible and overlap with developing the next component.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If the schedule slips, we drop work in this order: first the optional extensions, then experiments X4 to X6, then Mode B live captioning, while Mode A stays, and then multiple seeds.</a:t>
            </a:r>
          </a:p>
          <a:p/>
          <a:p>
            <a:r>
              <a:t>Never dropped: the three baselines and the proposed model, the per-SNR evaluation, and ablations X1 to X3. Those are the core contribution in the proposal.</a:t>
            </a:r>
          </a:p>
          <a:p/>
          <a:p>
            <a:r>
              <a:t>We work in three pairs: a data pair on milestones 1 and 2, a model pair on encoders, fusion and training, and an application pair on inference, the Gradio interface, the live mode and tests. Everyone contributes to evaluation and the report, and a short weekly review checks completion criteria and re-plans.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We rated each risk by likelihood and impact.</a:t>
            </a:r>
          </a:p>
          <a:p/>
          <a:p>
            <a:r>
              <a:t>The highest is limited compute, high and high: we confirm GPU access in week 1, use mixed precision and cached crops, and develop on a subset. Long training: start the audio baseline in week 2, use early stopping and resumable checkpoints.</a:t>
            </a:r>
          </a:p>
          <a:p/>
          <a:p>
            <a:r>
              <a:t>Audio-video misalignment: never drop frames, plus the parity and time-shift tests. CTC instability: warm-up, clipping, and overfitting a tiny batch before full runs. Token imbalance: the blank dominates CTC outputs, so we track the blank share and CER per word slot. Speaker leakage: one split file and a disjointness test. Unseen speakers: augmentation and honest per-speaker results.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Mouth not found, from lighting, head pose or occlusion, mostly affects the live demo: we interpolate short gaps, fall back to audio-only, and set up good lighting and a frontal camera.</a:t>
            </a:r>
          </a:p>
          <a:p/>
          <a:p>
            <a:r>
              <a:t>Fusion may not beat audio-only: we report it truthfully and diagnose it, and B3 is still a working fused system. Slow inference: we increase the window hop, reduce the beam, and Mode A is the fallback.</a:t>
            </a:r>
          </a:p>
          <a:p/>
          <a:p>
            <a:r>
              <a:t>One language only: language ID stays optional. GRID versus live speech: we demo GRID-grammar sentences and name larger datasets as future work.</a:t>
            </a:r>
          </a:p>
          <a:p/>
          <a:p>
            <a:r>
              <a:t>Privacy: all input is processed locally, live video and audio are not stored by default, there is an on-screen indicator while capturing, any demo recording needs written consent and is deleted after the project, and nothing is uploaded to third-party services.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Our deliverables: the lipscribe Python package with data, preprocessing, models, decoding, evaluation and app sub-packages; the data-preparation scripts; one YAML config per experiment; train, evaluate and transcribe scripts; checkpoints for the baselines and the proposed model; baselines evaluated at all five SNRs; logs, the results table and plots; the pytest suite; the Gradio and live demos; a README and setup guide; and the final technical report.</a:t>
            </a:r>
          </a:p>
          <a:p/>
          <a:p>
            <a:r>
              <a:t>The highlighted tile is the overall acceptance test: a team member not involved in setup reproduces one evaluation from a fresh clone.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To conclude. LipScribe is built from separable modules: mouth crops with a 3D-CNN, log-Mel with a BiLSTM, cross-modal attention with a gate, and CTC with beam search.</a:t>
            </a:r>
          </a:p>
          <a:p/>
          <a:p>
            <a:r>
              <a:t>Every milestone has its own tests, and every baseline changes exactly one thing, so each comparison isolates one effect.</a:t>
            </a:r>
          </a:p>
          <a:p/>
          <a:p>
            <a:r>
              <a:t>The same preprocessing code serves training and the demo, so what we demonstrate reflects what we evaluated.</a:t>
            </a:r>
          </a:p>
          <a:p/>
          <a:p>
            <a:r>
              <a:t>And we are honest about uncertainty: WER below 10% on clean audio and gains at 0 and -5 dB are hypotheses to test, not results. We will report outcomes faithfully, including any where fusion does not help.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References 1 to 8 come from our proposal; 9 onwards were added for the implementation document.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Full references with DOIs are in the implementation document.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 Id="rId5" Type="http://schemas.openxmlformats.org/officeDocument/2006/relationships/image" Target="../media/image4.png"/><Relationship Id="rId6" Type="http://schemas.microsoft.com/office/2007/relationships/hdphoto" Target="../media/hdphoto2.wdp"/><Relationship Id="rId7" Type="http://schemas.openxmlformats.org/officeDocument/2006/relationships/hyperlink" Target="https://ucu.ac.ug/" TargetMode="External"/><Relationship Id="rId8" Type="http://schemas.openxmlformats.org/officeDocument/2006/relationships/hyperlink" Target="mailto:info@ucu.ac.ug" TargetMode="External"/><Relationship Id="rId9" Type="http://schemas.openxmlformats.org/officeDocument/2006/relationships/image" Target="../media/image1.png"/><Relationship Id="rId10" Type="http://schemas.openxmlformats.org/officeDocument/2006/relationships/image" Target="../media/image5.png"/><Relationship Id="rId11"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71078-AA0E-F840-AC0F-D54B3CBDC30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5F5036E-8807-6046-9CB7-EF6AF274EC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DEE2757-9B41-EB41-8A8C-6480BC75C842}"/>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2C22485F-D14F-A34F-829B-18FEF522351A}"/>
              </a:ext>
            </a:extLst>
          </p:cNvPr>
          <p:cNvSpPr>
            <a:spLocks noGrp="1"/>
          </p:cNvSpPr>
          <p:nvPr>
            <p:ph type="ftr" sz="quarter" idx="11"/>
          </p:nvPr>
        </p:nvSpPr>
        <p:spPr>
          <a:xfrm>
            <a:off x="2116899" y="6356350"/>
            <a:ext cx="8129391"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C03D89A4-A6FD-2F41-BC1B-990BD11D0A25}"/>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288731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776C-CF19-2E46-BB78-0AF7AF133FC7}"/>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5F3F6D-B2D0-A04A-9CAC-F688DEAE433A}"/>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8FFEDF4-24C6-7D41-9B25-9320CCEC0EA7}"/>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DC3ED841-6832-E942-AA5E-A238D3916D92}"/>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0A761C0D-619D-E741-BBF0-25270D9C7AC4}"/>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22941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ACDA-EEA7-E94E-BBF7-B17C263325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AE3D8A1-5B2F-7143-98F4-58335FF27D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D7EBA56-5030-D144-BF76-5FD43098CCC9}"/>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DF0D8E8B-6288-EF46-820D-86183E58AE9C}"/>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83E42B2E-027D-BF44-B66B-B991F021B75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246464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EB1F6-8518-C943-991B-B1F201D8F1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413681-A652-D44F-81CD-C502DFA1C13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A7166B2-225A-D34C-B913-192EC0F6434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EA23FAB-1B70-EC4F-B39C-F6CD17E65953}"/>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6" name="Footer Placeholder 5">
            <a:extLst>
              <a:ext uri="{FF2B5EF4-FFF2-40B4-BE49-F238E27FC236}">
                <a16:creationId xmlns:a16="http://schemas.microsoft.com/office/drawing/2014/main" id="{B26BC87A-1BAB-8545-BF77-5BD95297EBF9}"/>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7E06C3B2-C2C4-BB41-BF5B-31A6780FC55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844291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D7CE-FDDF-A540-BF41-BE156F4B427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82DC54-754C-D347-A493-B6434DEE1759}"/>
              </a:ext>
            </a:extLst>
          </p:cNvPr>
          <p:cNvSpPr>
            <a:spLocks noGrp="1"/>
          </p:cNvSpPr>
          <p:nvPr>
            <p:ph type="body" idx="1"/>
          </p:nvPr>
        </p:nvSpPr>
        <p:spPr>
          <a:xfrm>
            <a:off x="839788" y="1681163"/>
            <a:ext cx="5157787" cy="823912"/>
          </a:xfrm>
          <a:solidFill>
            <a:srgbClr val="D7014D"/>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C741B5BE-5B59-1041-B601-8C4E8B9D9090}"/>
              </a:ext>
            </a:extLst>
          </p:cNvPr>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A9EE4A3B-95D8-264A-AC69-DCD7252801AC}"/>
              </a:ext>
            </a:extLst>
          </p:cNvPr>
          <p:cNvSpPr>
            <a:spLocks noGrp="1"/>
          </p:cNvSpPr>
          <p:nvPr>
            <p:ph type="body" sz="quarter" idx="3"/>
          </p:nvPr>
        </p:nvSpPr>
        <p:spPr>
          <a:xfrm>
            <a:off x="6172200" y="1681163"/>
            <a:ext cx="5183188" cy="823912"/>
          </a:xfrm>
          <a:solidFill>
            <a:srgbClr val="FFD932"/>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63569E4-68F9-124C-BAFA-15C75ED6A50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84113C7-3C31-C646-99EB-9D1295DA8F59}"/>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8" name="Footer Placeholder 7">
            <a:extLst>
              <a:ext uri="{FF2B5EF4-FFF2-40B4-BE49-F238E27FC236}">
                <a16:creationId xmlns:a16="http://schemas.microsoft.com/office/drawing/2014/main" id="{4DFF0B22-30FC-D34E-8021-66690730A9C4}"/>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4A131702-9F8A-0B45-893F-4D931E3CEC6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4010217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5477-340D-A742-96B9-4134A01211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F5307EC-5C33-BF49-9FC9-70B65B5D2C94}"/>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4" name="Footer Placeholder 3">
            <a:extLst>
              <a:ext uri="{FF2B5EF4-FFF2-40B4-BE49-F238E27FC236}">
                <a16:creationId xmlns:a16="http://schemas.microsoft.com/office/drawing/2014/main" id="{B727CA99-FEAA-A041-B799-CA174260B457}"/>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CD2A3A13-8413-104A-B192-3C710C3D526E}"/>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64854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D409A-65C8-B049-8D4D-AC56003314C8}"/>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3" name="Footer Placeholder 2">
            <a:extLst>
              <a:ext uri="{FF2B5EF4-FFF2-40B4-BE49-F238E27FC236}">
                <a16:creationId xmlns:a16="http://schemas.microsoft.com/office/drawing/2014/main" id="{BB34244D-50A5-9647-8590-0CED8A23C2EB}"/>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0CDE9667-1147-B84E-8294-D07B6B553AA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97414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60C9-49F1-B143-98BF-F65F0E86C5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97968B-396A-7746-B032-F5FF2D1A14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D0A9890-41E9-B247-BD85-CB0556F34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7D34F8-43C5-D24A-B2B8-3C39C5D825BF}"/>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6" name="Footer Placeholder 5">
            <a:extLst>
              <a:ext uri="{FF2B5EF4-FFF2-40B4-BE49-F238E27FC236}">
                <a16:creationId xmlns:a16="http://schemas.microsoft.com/office/drawing/2014/main" id="{D3FA2E86-D2D2-6C40-A7B2-00ECC21F6BB2}"/>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6392A3B-17A2-CC47-B3CE-70F6DE5BAC9A}"/>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403007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C15CF-2B84-154B-A05B-4ED15C8856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A3297B1-8700-5A41-B4ED-617200FAAC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F754946-1836-5B4E-A53B-0D65AF5487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FCB1631-07AA-AF4B-9C84-79660072A0E8}"/>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6" name="Footer Placeholder 5">
            <a:extLst>
              <a:ext uri="{FF2B5EF4-FFF2-40B4-BE49-F238E27FC236}">
                <a16:creationId xmlns:a16="http://schemas.microsoft.com/office/drawing/2014/main" id="{CCEFD121-C434-574B-A5A6-1D7F4E8EF737}"/>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2B6B891-6D6F-454D-B57D-6799F13780AC}"/>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387951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49A33-F947-254C-B2F1-FC1EEBA7034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A7B2E9-B32D-7849-8EA6-191CD2CB97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AC6D214-C945-D74F-A6BC-88A7A9940AF0}"/>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F2B5F130-A527-DA46-8CFF-AB905CDCB0AB}"/>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744669C9-BB26-C147-9EB3-6A1CF0CF6F31}"/>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108783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C8499E-4FC6-9541-BDE2-B57DE72F84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DB72DD-1B01-4645-8504-9D2CF3F7643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4A9CF8-4FE6-6846-8F14-E50ED82B6E06}"/>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61396104-C547-9E44-93D3-74A7CE7F82E0}"/>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B761153-2906-5C43-AC83-1A71AF6AF275}"/>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296016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81D354-4C58-8E45-A997-CCFC285179F2}"/>
              </a:ext>
            </a:extLst>
          </p:cNvPr>
          <p:cNvSpPr>
            <a:spLocks noGrp="1"/>
          </p:cNvSpPr>
          <p:nvPr>
            <p:ph type="sldNum" sz="quarter" idx="10"/>
          </p:nvPr>
        </p:nvSpPr>
        <p:spPr/>
        <p:txBody>
          <a:bodyPr/>
          <a:lstStyle/>
          <a:p>
            <a:fld id="{783EAA9A-AD91-1245-A5C3-6A0CBEF58DBD}" type="slidenum">
              <a:rPr lang="en-GB" smtClean="0"/>
              <a:t>‹#›</a:t>
            </a:fld>
            <a:endParaRPr lang="en-GB" dirty="0"/>
          </a:p>
        </p:txBody>
      </p:sp>
      <p:sp>
        <p:nvSpPr>
          <p:cNvPr id="4" name="Date Placeholder 3">
            <a:extLst>
              <a:ext uri="{FF2B5EF4-FFF2-40B4-BE49-F238E27FC236}">
                <a16:creationId xmlns:a16="http://schemas.microsoft.com/office/drawing/2014/main" id="{8331BB49-7DD1-3D44-BE19-729C46AB2CC1}"/>
              </a:ext>
            </a:extLst>
          </p:cNvPr>
          <p:cNvSpPr>
            <a:spLocks noGrp="1"/>
          </p:cNvSpPr>
          <p:nvPr>
            <p:ph type="dt" sz="half" idx="11"/>
          </p:nvPr>
        </p:nvSpPr>
        <p:spPr/>
        <p:txBody>
          <a:bodyPr/>
          <a:lstStyle/>
          <a:p>
            <a:fld id="{145D528E-B0C4-574C-AE6E-B35A83CFEB13}" type="datetimeFigureOut">
              <a:rPr lang="en-GB" smtClean="0"/>
              <a:t>31/08/2026</a:t>
            </a:fld>
            <a:endParaRPr lang="en-GB" dirty="0"/>
          </a:p>
        </p:txBody>
      </p:sp>
      <p:sp>
        <p:nvSpPr>
          <p:cNvPr id="5" name="Footer Placeholder 4">
            <a:extLst>
              <a:ext uri="{FF2B5EF4-FFF2-40B4-BE49-F238E27FC236}">
                <a16:creationId xmlns:a16="http://schemas.microsoft.com/office/drawing/2014/main" id="{4C1CC3E4-12C8-2A4F-88E1-B8DC3854ABFD}"/>
              </a:ext>
            </a:extLst>
          </p:cNvPr>
          <p:cNvSpPr>
            <a:spLocks noGrp="1"/>
          </p:cNvSpPr>
          <p:nvPr>
            <p:ph type="ftr" sz="quarter" idx="12"/>
          </p:nvPr>
        </p:nvSpPr>
        <p:spPr/>
        <p:txBody>
          <a:bodyPr/>
          <a:lstStyle/>
          <a:p>
            <a:endParaRPr lang="en-GB" dirty="0"/>
          </a:p>
        </p:txBody>
      </p:sp>
      <p:grpSp>
        <p:nvGrpSpPr>
          <p:cNvPr id="20" name="Group 19">
            <a:extLst>
              <a:ext uri="{FF2B5EF4-FFF2-40B4-BE49-F238E27FC236}">
                <a16:creationId xmlns:a16="http://schemas.microsoft.com/office/drawing/2014/main" id="{D9F62491-F3DB-384B-9F65-EA637FB8DC9F}"/>
              </a:ext>
            </a:extLst>
          </p:cNvPr>
          <p:cNvGrpSpPr/>
          <p:nvPr userDrawn="1"/>
        </p:nvGrpSpPr>
        <p:grpSpPr>
          <a:xfrm>
            <a:off x="2836065" y="3885190"/>
            <a:ext cx="6359384" cy="2140032"/>
            <a:chOff x="3054867" y="3815867"/>
            <a:chExt cx="6359384" cy="2140032"/>
          </a:xfrm>
        </p:grpSpPr>
        <p:grpSp>
          <p:nvGrpSpPr>
            <p:cNvPr id="6" name="Group 5">
              <a:extLst>
                <a:ext uri="{FF2B5EF4-FFF2-40B4-BE49-F238E27FC236}">
                  <a16:creationId xmlns:a16="http://schemas.microsoft.com/office/drawing/2014/main" id="{AB488D83-1A18-A742-8FDC-04F2597CDBB4}"/>
                </a:ext>
              </a:extLst>
            </p:cNvPr>
            <p:cNvGrpSpPr/>
            <p:nvPr userDrawn="1"/>
          </p:nvGrpSpPr>
          <p:grpSpPr>
            <a:xfrm>
              <a:off x="4699683" y="3815867"/>
              <a:ext cx="4714568" cy="2140032"/>
              <a:chOff x="4173580" y="3135225"/>
              <a:chExt cx="5623246" cy="2568070"/>
            </a:xfrm>
          </p:grpSpPr>
          <p:pic>
            <p:nvPicPr>
              <p:cNvPr id="7" name="Picture 4" descr="facebook instagram whatsapp PNG image with transparent background | TOPpng">
                <a:extLst>
                  <a:ext uri="{FF2B5EF4-FFF2-40B4-BE49-F238E27FC236}">
                    <a16:creationId xmlns:a16="http://schemas.microsoft.com/office/drawing/2014/main" id="{21573789-53BB-7148-AEF8-DD9D395D258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69732" l="0" r="98929">
                            <a14:foregroundMark x1="9524" y1="3376" x2="23929" y2="25378"/>
                            <a14:foregroundMark x1="15833" y1="5122" x2="19643" y2="5122"/>
                            <a14:foregroundMark x1="22381" y1="8149" x2="24762" y2="21187"/>
                            <a14:foregroundMark x1="10119" y1="11409" x2="14643" y2="23632"/>
                            <a14:foregroundMark x1="7738" y1="14435" x2="11071" y2="24796"/>
                            <a14:foregroundMark x1="75000" y1="9662" x2="75833" y2="23865"/>
                            <a14:foregroundMark x1="76548" y1="7800" x2="89643" y2="8964"/>
                            <a14:foregroundMark x1="82976" y1="2328" x2="91786" y2="20722"/>
                            <a14:foregroundMark x1="78452" y1="21769" x2="87024" y2="20605"/>
                            <a14:foregroundMark x1="83333" y1="14668" x2="83333" y2="14668"/>
                            <a14:foregroundMark x1="90357" y1="9895" x2="91190" y2="17695"/>
                            <a14:foregroundMark x1="17500" y1="9546" x2="17738" y2="17346"/>
                            <a14:foregroundMark x1="23929" y1="3609" x2="23333" y2="10128"/>
                          </a14:backgroundRemoval>
                        </a14:imgEffect>
                      </a14:imgLayer>
                    </a14:imgProps>
                  </a:ext>
                  <a:ext uri="{28A0092B-C50C-407E-A947-70E740481C1C}">
                    <a14:useLocalDpi xmlns:a14="http://schemas.microsoft.com/office/drawing/2010/main" val="0"/>
                  </a:ext>
                </a:extLst>
              </a:blip>
              <a:srcRect r="66494" b="67238"/>
              <a:stretch/>
            </p:blipFill>
            <p:spPr bwMode="auto">
              <a:xfrm>
                <a:off x="4238019" y="4511394"/>
                <a:ext cx="413410" cy="4299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acebook instagram whatsapp PNG image with transparent background | TOPpng">
                <a:extLst>
                  <a:ext uri="{FF2B5EF4-FFF2-40B4-BE49-F238E27FC236}">
                    <a16:creationId xmlns:a16="http://schemas.microsoft.com/office/drawing/2014/main" id="{CF5CCAE3-1FEE-8B4F-916E-AC6C6A6E4DAA}"/>
                  </a:ext>
                </a:extLst>
              </p:cNvPr>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l="67402" b="69905"/>
              <a:stretch/>
            </p:blipFill>
            <p:spPr bwMode="auto">
              <a:xfrm>
                <a:off x="4296096" y="4883265"/>
                <a:ext cx="413865" cy="406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Round black telephone logo, Telephone Icon, Phone File, electronics, logo,  black And White png | PNGWing">
                <a:extLst>
                  <a:ext uri="{FF2B5EF4-FFF2-40B4-BE49-F238E27FC236}">
                    <a16:creationId xmlns:a16="http://schemas.microsoft.com/office/drawing/2014/main" id="{2DE5DDE9-1F30-6F4B-BA82-27F5D325AE3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97935" l="1522" r="100000">
                            <a14:foregroundMark x1="32717" y1="37283" x2="32717" y2="37283"/>
                            <a14:foregroundMark x1="36957" y1="24565" x2="36957" y2="24565"/>
                            <a14:foregroundMark x1="46304" y1="30435" x2="46304" y2="30435"/>
                            <a14:foregroundMark x1="55435" y1="30326" x2="55435" y2="30326"/>
                            <a14:foregroundMark x1="65870" y1="27826" x2="65870" y2="27826"/>
                            <a14:foregroundMark x1="73152" y1="43478" x2="73152" y2="43478"/>
                            <a14:foregroundMark x1="57500" y1="44783" x2="57500" y2="44783"/>
                            <a14:foregroundMark x1="42826" y1="45000" x2="42826" y2="45000"/>
                            <a14:foregroundMark x1="29348" y1="56413" x2="29348" y2="56413"/>
                            <a14:foregroundMark x1="37283" y1="73913" x2="37283" y2="73913"/>
                            <a14:foregroundMark x1="46630" y1="70870" x2="46630" y2="70870"/>
                            <a14:foregroundMark x1="46087" y1="56413" x2="46087" y2="56413"/>
                            <a14:foregroundMark x1="54022" y1="57500" x2="54022" y2="57500"/>
                            <a14:foregroundMark x1="53696" y1="74457" x2="53696" y2="74457"/>
                            <a14:foregroundMark x1="71630" y1="60761" x2="71630" y2="60761"/>
                            <a14:foregroundMark x1="62283" y1="73696" x2="62283" y2="73696"/>
                          </a14:backgroundRemoval>
                        </a14:imgEffect>
                      </a14:imgLayer>
                    </a14:imgProps>
                  </a:ext>
                  <a:ext uri="{28A0092B-C50C-407E-A947-70E740481C1C}">
                    <a14:useLocalDpi xmlns:a14="http://schemas.microsoft.com/office/drawing/2010/main" val="0"/>
                  </a:ext>
                </a:extLst>
              </a:blip>
              <a:srcRect/>
              <a:stretch>
                <a:fillRect/>
              </a:stretch>
            </p:blipFill>
            <p:spPr bwMode="auto">
              <a:xfrm>
                <a:off x="4275797" y="5317157"/>
                <a:ext cx="371315" cy="3861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30AE2E6-FFA5-B74D-ABFF-5094651B1BA9}"/>
                  </a:ext>
                </a:extLst>
              </p:cNvPr>
              <p:cNvSpPr txBox="1"/>
              <p:nvPr/>
            </p:nvSpPr>
            <p:spPr>
              <a:xfrm>
                <a:off x="4629313" y="4929543"/>
                <a:ext cx="2964236" cy="360103"/>
              </a:xfrm>
              <a:prstGeom prst="rect">
                <a:avLst/>
              </a:prstGeom>
              <a:noFill/>
            </p:spPr>
            <p:txBody>
              <a:bodyPr wrap="square">
                <a:spAutoFit/>
              </a:bodyPr>
              <a:lstStyle/>
              <a:p>
                <a:pPr defTabSz="685800"/>
                <a:r>
                  <a:rPr lang="en-US" sz="1350" dirty="0">
                    <a:solidFill>
                      <a:prstClr val="black"/>
                    </a:solidFill>
                    <a:latin typeface="+mn-lt"/>
                  </a:rPr>
                  <a:t>@</a:t>
                </a:r>
                <a:r>
                  <a:rPr lang="en-US" sz="1350" dirty="0" err="1">
                    <a:solidFill>
                      <a:prstClr val="black"/>
                    </a:solidFill>
                    <a:latin typeface="+mn-lt"/>
                  </a:rPr>
                  <a:t>ugandachristianuniversity</a:t>
                </a:r>
                <a:endParaRPr lang="en-UG" sz="1350" dirty="0">
                  <a:solidFill>
                    <a:prstClr val="black"/>
                  </a:solidFill>
                  <a:latin typeface="+mn-lt"/>
                </a:endParaRPr>
              </a:p>
            </p:txBody>
          </p:sp>
          <p:sp>
            <p:nvSpPr>
              <p:cNvPr id="11" name="TextBox 10">
                <a:extLst>
                  <a:ext uri="{FF2B5EF4-FFF2-40B4-BE49-F238E27FC236}">
                    <a16:creationId xmlns:a16="http://schemas.microsoft.com/office/drawing/2014/main" id="{1A61D6FE-81D1-DE4A-B1A1-CD63DB9652BA}"/>
                  </a:ext>
                </a:extLst>
              </p:cNvPr>
              <p:cNvSpPr txBox="1"/>
              <p:nvPr/>
            </p:nvSpPr>
            <p:spPr>
              <a:xfrm>
                <a:off x="4570065" y="5343192"/>
                <a:ext cx="2851459" cy="360103"/>
              </a:xfrm>
              <a:prstGeom prst="rect">
                <a:avLst/>
              </a:prstGeom>
              <a:noFill/>
            </p:spPr>
            <p:txBody>
              <a:bodyPr wrap="square">
                <a:spAutoFit/>
              </a:bodyPr>
              <a:lstStyle/>
              <a:p>
                <a:pPr defTabSz="685800"/>
                <a:r>
                  <a:rPr lang="en-GB" sz="1350" dirty="0">
                    <a:solidFill>
                      <a:srgbClr val="0000FF"/>
                    </a:solidFill>
                    <a:latin typeface="+mn-lt"/>
                    <a:hlinkClick r:id="rId7">
                      <a:extLst>
                        <a:ext uri="{A12FA001-AC4F-418D-AE19-62706E023703}">
                          <ahyp:hlinkClr xmlns:ahyp="http://schemas.microsoft.com/office/drawing/2018/hyperlinkcolor" val="tx"/>
                        </a:ext>
                      </a:extLst>
                    </a:hlinkClick>
                  </a:rPr>
                  <a:t>https://ucu.ac.ug/</a:t>
                </a:r>
                <a:r>
                  <a:rPr lang="en-GB" sz="1350" dirty="0">
                    <a:solidFill>
                      <a:srgbClr val="0000FF"/>
                    </a:solidFill>
                    <a:latin typeface="+mn-lt"/>
                  </a:rPr>
                  <a:t> </a:t>
                </a:r>
                <a:endParaRPr lang="en-UG" sz="1350" dirty="0">
                  <a:solidFill>
                    <a:srgbClr val="0000FF"/>
                  </a:solidFill>
                  <a:latin typeface="+mn-lt"/>
                </a:endParaRPr>
              </a:p>
            </p:txBody>
          </p:sp>
          <p:sp>
            <p:nvSpPr>
              <p:cNvPr id="12" name="TextBox 11">
                <a:extLst>
                  <a:ext uri="{FF2B5EF4-FFF2-40B4-BE49-F238E27FC236}">
                    <a16:creationId xmlns:a16="http://schemas.microsoft.com/office/drawing/2014/main" id="{F93C9E7D-4A01-5E47-9DC7-A4D726A3C66F}"/>
                  </a:ext>
                </a:extLst>
              </p:cNvPr>
              <p:cNvSpPr txBox="1"/>
              <p:nvPr/>
            </p:nvSpPr>
            <p:spPr>
              <a:xfrm>
                <a:off x="8015811" y="4532448"/>
                <a:ext cx="1781015"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UCUniversity</a:t>
                </a:r>
                <a:endParaRPr lang="en-UG" sz="1350" dirty="0">
                  <a:solidFill>
                    <a:prstClr val="black">
                      <a:lumMod val="95000"/>
                      <a:lumOff val="5000"/>
                    </a:prstClr>
                  </a:solidFill>
                  <a:latin typeface="+mn-lt"/>
                </a:endParaRPr>
              </a:p>
            </p:txBody>
          </p:sp>
          <p:sp>
            <p:nvSpPr>
              <p:cNvPr id="13" name="TextBox 12">
                <a:extLst>
                  <a:ext uri="{FF2B5EF4-FFF2-40B4-BE49-F238E27FC236}">
                    <a16:creationId xmlns:a16="http://schemas.microsoft.com/office/drawing/2014/main" id="{9F8CBAB0-1BA2-7F46-A60A-0E9A062FC2F4}"/>
                  </a:ext>
                </a:extLst>
              </p:cNvPr>
              <p:cNvSpPr txBox="1"/>
              <p:nvPr/>
            </p:nvSpPr>
            <p:spPr>
              <a:xfrm>
                <a:off x="4535920" y="4545114"/>
                <a:ext cx="3240067"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UgandaChristianUniversity</a:t>
                </a:r>
                <a:endParaRPr lang="en-UG" sz="1350" dirty="0">
                  <a:solidFill>
                    <a:prstClr val="black">
                      <a:lumMod val="95000"/>
                      <a:lumOff val="5000"/>
                    </a:prstClr>
                  </a:solidFill>
                  <a:latin typeface="+mn-lt"/>
                </a:endParaRPr>
              </a:p>
            </p:txBody>
          </p:sp>
          <p:sp>
            <p:nvSpPr>
              <p:cNvPr id="14" name="TextBox 13">
                <a:extLst>
                  <a:ext uri="{FF2B5EF4-FFF2-40B4-BE49-F238E27FC236}">
                    <a16:creationId xmlns:a16="http://schemas.microsoft.com/office/drawing/2014/main" id="{6476C215-3CAA-044D-A872-4F32F671EBCA}"/>
                  </a:ext>
                </a:extLst>
              </p:cNvPr>
              <p:cNvSpPr txBox="1"/>
              <p:nvPr/>
            </p:nvSpPr>
            <p:spPr>
              <a:xfrm>
                <a:off x="4201882" y="3514011"/>
                <a:ext cx="3513911" cy="886408"/>
              </a:xfrm>
              <a:prstGeom prst="rect">
                <a:avLst/>
              </a:prstGeom>
              <a:noFill/>
            </p:spPr>
            <p:txBody>
              <a:bodyPr wrap="square">
                <a:spAutoFit/>
              </a:bodyPr>
              <a:lstStyle/>
              <a:p>
                <a:pPr defTabSz="685800"/>
                <a:r>
                  <a:rPr lang="sv-SE" sz="1400" dirty="0">
                    <a:solidFill>
                      <a:srgbClr val="5B9BD5">
                        <a:lumMod val="50000"/>
                      </a:srgbClr>
                    </a:solidFill>
                    <a:latin typeface="+mn-lt"/>
                  </a:rPr>
                  <a:t>P.O. Box 4 Mukono, Uganda</a:t>
                </a:r>
              </a:p>
              <a:p>
                <a:pPr defTabSz="685800"/>
                <a:r>
                  <a:rPr lang="en-GB" sz="1400" dirty="0">
                    <a:solidFill>
                      <a:srgbClr val="5B9BD5">
                        <a:lumMod val="50000"/>
                      </a:srgbClr>
                    </a:solidFill>
                    <a:latin typeface="+mn-lt"/>
                  </a:rPr>
                  <a:t>Tel: 256-312-350800</a:t>
                </a:r>
              </a:p>
              <a:p>
                <a:pPr defTabSz="685800"/>
                <a:r>
                  <a:rPr lang="fr-FR" sz="1400" dirty="0">
                    <a:solidFill>
                      <a:srgbClr val="5B9BD5">
                        <a:lumMod val="50000"/>
                      </a:srgbClr>
                    </a:solidFill>
                    <a:latin typeface="+mn-lt"/>
                  </a:rPr>
                  <a:t>Email: </a:t>
                </a:r>
                <a:r>
                  <a:rPr lang="fr-FR" sz="1400" dirty="0">
                    <a:solidFill>
                      <a:srgbClr val="0000FF"/>
                    </a:solidFill>
                    <a:latin typeface="+mn-lt"/>
                    <a:hlinkClick r:id="rId8">
                      <a:extLst>
                        <a:ext uri="{A12FA001-AC4F-418D-AE19-62706E023703}">
                          <ahyp:hlinkClr xmlns:ahyp="http://schemas.microsoft.com/office/drawing/2018/hyperlinkcolor" val="tx"/>
                        </a:ext>
                      </a:extLst>
                    </a:hlinkClick>
                  </a:rPr>
                  <a:t>info@ucu.ac.ug</a:t>
                </a:r>
                <a:endParaRPr lang="fr-FR" sz="1400" dirty="0">
                  <a:solidFill>
                    <a:srgbClr val="0000FF"/>
                  </a:solidFill>
                  <a:latin typeface="+mn-lt"/>
                </a:endParaRPr>
              </a:p>
            </p:txBody>
          </p:sp>
          <p:sp>
            <p:nvSpPr>
              <p:cNvPr id="15" name="TextBox 14">
                <a:extLst>
                  <a:ext uri="{FF2B5EF4-FFF2-40B4-BE49-F238E27FC236}">
                    <a16:creationId xmlns:a16="http://schemas.microsoft.com/office/drawing/2014/main" id="{6852FF44-A1AC-754F-ACAA-B4A0B8FFDC4F}"/>
                  </a:ext>
                </a:extLst>
              </p:cNvPr>
              <p:cNvSpPr txBox="1"/>
              <p:nvPr/>
            </p:nvSpPr>
            <p:spPr>
              <a:xfrm>
                <a:off x="4173580" y="3135225"/>
                <a:ext cx="4174871" cy="480138"/>
              </a:xfrm>
              <a:prstGeom prst="rect">
                <a:avLst/>
              </a:prstGeom>
              <a:noFill/>
            </p:spPr>
            <p:txBody>
              <a:bodyPr wrap="square">
                <a:spAutoFit/>
              </a:bodyPr>
              <a:lstStyle/>
              <a:p>
                <a:pPr defTabSz="685800"/>
                <a:r>
                  <a:rPr lang="en-GB" sz="2000" b="1" dirty="0">
                    <a:solidFill>
                      <a:srgbClr val="5B9BD5">
                        <a:lumMod val="50000"/>
                      </a:srgbClr>
                    </a:solidFill>
                    <a:latin typeface="+mj-lt"/>
                  </a:rPr>
                  <a:t>Uganda Christian University</a:t>
                </a:r>
                <a:endParaRPr lang="en-UG" sz="2000" dirty="0">
                  <a:solidFill>
                    <a:srgbClr val="5B9BD5">
                      <a:lumMod val="50000"/>
                    </a:srgbClr>
                  </a:solidFill>
                  <a:latin typeface="+mj-lt"/>
                </a:endParaRPr>
              </a:p>
            </p:txBody>
          </p:sp>
          <p:pic>
            <p:nvPicPr>
              <p:cNvPr id="16" name="Picture 6" descr="facebook instagram whatsapp PNG image with transparent background | TOPpng">
                <a:extLst>
                  <a:ext uri="{FF2B5EF4-FFF2-40B4-BE49-F238E27FC236}">
                    <a16:creationId xmlns:a16="http://schemas.microsoft.com/office/drawing/2014/main" id="{9FA1BB22-7CA4-A84B-AB4E-D369D5820D57}"/>
                  </a:ext>
                </a:extLst>
              </p:cNvPr>
              <p:cNvPicPr>
                <a:picLocks noChangeAspect="1" noChangeArrowheads="1"/>
              </p:cNvPicPr>
              <p:nvPr userDrawn="1"/>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t="34921" r="64675" b="31937"/>
              <a:stretch/>
            </p:blipFill>
            <p:spPr bwMode="auto">
              <a:xfrm>
                <a:off x="7686943" y="4513314"/>
                <a:ext cx="448492" cy="44753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a:extLst>
                <a:ext uri="{FF2B5EF4-FFF2-40B4-BE49-F238E27FC236}">
                  <a16:creationId xmlns:a16="http://schemas.microsoft.com/office/drawing/2014/main" id="{D0C7577D-7C00-3A42-BCDC-2DAC137B88F2}"/>
                </a:ext>
              </a:extLst>
            </p:cNvPr>
            <p:cNvPicPr>
              <a:picLocks noChangeAspect="1"/>
            </p:cNvPicPr>
            <p:nvPr userDrawn="1"/>
          </p:nvPicPr>
          <p:blipFill rotWithShape="1">
            <a:blip r:embed="rId9"/>
            <a:srcRect l="4177" t="16271" r="77310" b="16737"/>
            <a:stretch/>
          </p:blipFill>
          <p:spPr>
            <a:xfrm>
              <a:off x="3054867" y="3883165"/>
              <a:ext cx="1730515" cy="1908000"/>
            </a:xfrm>
            <a:prstGeom prst="rect">
              <a:avLst/>
            </a:prstGeom>
          </p:spPr>
        </p:pic>
      </p:grpSp>
      <p:pic>
        <p:nvPicPr>
          <p:cNvPr id="21" name="Picture 2" descr="Red button thank you icon Royalty Free Vector Image">
            <a:extLst>
              <a:ext uri="{FF2B5EF4-FFF2-40B4-BE49-F238E27FC236}">
                <a16:creationId xmlns:a16="http://schemas.microsoft.com/office/drawing/2014/main" id="{7627C261-6001-7C4D-94EE-64BE3F8A7C13}"/>
              </a:ext>
            </a:extLst>
          </p:cNvPr>
          <p:cNvPicPr>
            <a:picLocks noChangeAspect="1" noChangeArrowheads="1"/>
          </p:cNvPicPr>
          <p:nvPr userDrawn="1"/>
        </p:nvPicPr>
        <p:blipFill rotWithShape="1">
          <a:blip r:embed="rId10">
            <a:extLst>
              <a:ext uri="{BEBA8EAE-BF5A-486C-A8C5-ECC9F3942E4B}">
                <a14:imgProps xmlns:a14="http://schemas.microsoft.com/office/drawing/2010/main">
                  <a14:imgLayer r:embed="rId11">
                    <a14:imgEffect>
                      <a14:backgroundRemoval t="8611" b="86019" l="10000" r="90000">
                        <a14:foregroundMark x1="41000" y1="28981" x2="39100" y2="58519"/>
                        <a14:foregroundMark x1="27700" y1="36296" x2="34800" y2="63981"/>
                        <a14:foregroundMark x1="26600" y1="32500" x2="78400" y2="47685"/>
                        <a14:foregroundMark x1="52100" y1="23981" x2="53500" y2="41389"/>
                        <a14:foregroundMark x1="38900" y1="20463" x2="49000" y2="35556"/>
                        <a14:foregroundMark x1="44200" y1="21481" x2="69600" y2="35370"/>
                        <a14:foregroundMark x1="65200" y1="24722" x2="65200" y2="44444"/>
                        <a14:foregroundMark x1="71900" y1="31852" x2="70200" y2="51389"/>
                        <a14:foregroundMark x1="69200" y1="60463" x2="59800" y2="47500"/>
                        <a14:foregroundMark x1="75300" y1="54259" x2="61100" y2="48333"/>
                        <a14:foregroundMark x1="59800" y1="30370" x2="56700" y2="41389"/>
                        <a14:foregroundMark x1="57500" y1="68426" x2="54000" y2="46759"/>
                        <a14:foregroundMark x1="38300" y1="61667" x2="67900" y2="65926"/>
                        <a14:foregroundMark x1="47100" y1="46019" x2="58300" y2="52593"/>
                        <a14:foregroundMark x1="46500" y1="58148" x2="52700" y2="57963"/>
                        <a14:foregroundMark x1="45400" y1="46204" x2="50600" y2="57407"/>
                        <a14:foregroundMark x1="36200" y1="40370" x2="46700" y2="51389"/>
                        <a14:foregroundMark x1="43100" y1="64167" x2="50600" y2="68796"/>
                      </a14:backgroundRemoval>
                    </a14:imgEffect>
                  </a14:imgLayer>
                </a14:imgProps>
              </a:ext>
              <a:ext uri="{28A0092B-C50C-407E-A947-70E740481C1C}">
                <a14:useLocalDpi xmlns:a14="http://schemas.microsoft.com/office/drawing/2010/main" val="0"/>
              </a:ext>
            </a:extLst>
          </a:blip>
          <a:srcRect b="13043"/>
          <a:stretch/>
        </p:blipFill>
        <p:spPr bwMode="auto">
          <a:xfrm>
            <a:off x="4606336" y="1691476"/>
            <a:ext cx="1825644" cy="1704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3925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hyperlink" Target="mailto:info@ucu.ac.ug" TargetMode="External"/><Relationship Id="rId16" Type="http://schemas.openxmlformats.org/officeDocument/2006/relationships/hyperlink" Target="http://www.ucu.ac.u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B9D1C1C-C874-3B4C-BFA8-814DB2F2DE8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776791" y="0"/>
            <a:ext cx="2415209" cy="735885"/>
          </a:xfrm>
          <a:prstGeom prst="rect">
            <a:avLst/>
          </a:prstGeom>
        </p:spPr>
      </p:pic>
      <p:sp>
        <p:nvSpPr>
          <p:cNvPr id="2" name="Title Placeholder 1">
            <a:extLst>
              <a:ext uri="{FF2B5EF4-FFF2-40B4-BE49-F238E27FC236}">
                <a16:creationId xmlns:a16="http://schemas.microsoft.com/office/drawing/2014/main" id="{05C434D8-BE21-3C4F-B966-C264E42D1A88}"/>
              </a:ext>
            </a:extLst>
          </p:cNvPr>
          <p:cNvSpPr>
            <a:spLocks noGrp="1"/>
          </p:cNvSpPr>
          <p:nvPr>
            <p:ph type="title"/>
          </p:nvPr>
        </p:nvSpPr>
        <p:spPr>
          <a:xfrm>
            <a:off x="838200" y="365126"/>
            <a:ext cx="10515600" cy="1143000"/>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DBDB1CAF-D81D-0A48-8CB7-312CE0A6A119}"/>
              </a:ext>
            </a:extLst>
          </p:cNvPr>
          <p:cNvSpPr>
            <a:spLocks noGrp="1"/>
          </p:cNvSpPr>
          <p:nvPr>
            <p:ph type="body" idx="1"/>
          </p:nvPr>
        </p:nvSpPr>
        <p:spPr>
          <a:xfrm>
            <a:off x="838200" y="1687514"/>
            <a:ext cx="10515600" cy="44894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Rectangle 6">
            <a:extLst>
              <a:ext uri="{FF2B5EF4-FFF2-40B4-BE49-F238E27FC236}">
                <a16:creationId xmlns:a16="http://schemas.microsoft.com/office/drawing/2014/main" id="{27B366C6-09A4-FC49-AA7E-13E205387E20}"/>
              </a:ext>
            </a:extLst>
          </p:cNvPr>
          <p:cNvSpPr/>
          <p:nvPr userDrawn="1"/>
        </p:nvSpPr>
        <p:spPr>
          <a:xfrm>
            <a:off x="838200" y="1508126"/>
            <a:ext cx="11353800" cy="179387"/>
          </a:xfrm>
          <a:prstGeom prst="rect">
            <a:avLst/>
          </a:prstGeom>
          <a:solidFill>
            <a:srgbClr val="0B3D9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a:extLst>
              <a:ext uri="{FF2B5EF4-FFF2-40B4-BE49-F238E27FC236}">
                <a16:creationId xmlns:a16="http://schemas.microsoft.com/office/drawing/2014/main" id="{FBA8F2F6-9030-F947-8EE4-619A9675FB06}"/>
              </a:ext>
            </a:extLst>
          </p:cNvPr>
          <p:cNvSpPr/>
          <p:nvPr userDrawn="1"/>
        </p:nvSpPr>
        <p:spPr>
          <a:xfrm>
            <a:off x="0" y="1508126"/>
            <a:ext cx="838200" cy="179387"/>
          </a:xfrm>
          <a:prstGeom prst="rect">
            <a:avLst/>
          </a:prstGeom>
          <a:solidFill>
            <a:srgbClr val="D7014D"/>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Rectangle 11">
            <a:extLst>
              <a:ext uri="{FF2B5EF4-FFF2-40B4-BE49-F238E27FC236}">
                <a16:creationId xmlns:a16="http://schemas.microsoft.com/office/drawing/2014/main" id="{CF36DCC5-4FD1-2248-B65C-9FF0F5F3BFA1}"/>
              </a:ext>
            </a:extLst>
          </p:cNvPr>
          <p:cNvSpPr/>
          <p:nvPr userDrawn="1"/>
        </p:nvSpPr>
        <p:spPr>
          <a:xfrm>
            <a:off x="838200" y="1508125"/>
            <a:ext cx="838200" cy="179387"/>
          </a:xfrm>
          <a:prstGeom prst="rect">
            <a:avLst/>
          </a:prstGeom>
          <a:solidFill>
            <a:srgbClr val="FFD93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a:extLst>
              <a:ext uri="{FF2B5EF4-FFF2-40B4-BE49-F238E27FC236}">
                <a16:creationId xmlns:a16="http://schemas.microsoft.com/office/drawing/2014/main" id="{0BF70F0D-47D2-7442-8BCD-A0A76A1F068D}"/>
              </a:ext>
            </a:extLst>
          </p:cNvPr>
          <p:cNvSpPr>
            <a:spLocks noGrp="1"/>
          </p:cNvSpPr>
          <p:nvPr>
            <p:ph type="sldNum" sz="quarter" idx="4"/>
          </p:nvPr>
        </p:nvSpPr>
        <p:spPr>
          <a:xfrm>
            <a:off x="10809962" y="6356350"/>
            <a:ext cx="5438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3EAA9A-AD91-1245-A5C3-6A0CBEF58DBD}" type="slidenum">
              <a:rPr lang="en-GB" smtClean="0"/>
              <a:t>‹#›</a:t>
            </a:fld>
            <a:endParaRPr lang="en-GB" dirty="0"/>
          </a:p>
        </p:txBody>
      </p:sp>
      <p:sp>
        <p:nvSpPr>
          <p:cNvPr id="4" name="Date Placeholder 3">
            <a:extLst>
              <a:ext uri="{FF2B5EF4-FFF2-40B4-BE49-F238E27FC236}">
                <a16:creationId xmlns:a16="http://schemas.microsoft.com/office/drawing/2014/main" id="{6325CA02-C0BE-C748-BB6D-191D4A1F6F6E}"/>
              </a:ext>
            </a:extLst>
          </p:cNvPr>
          <p:cNvSpPr>
            <a:spLocks noGrp="1"/>
          </p:cNvSpPr>
          <p:nvPr>
            <p:ph type="dt" sz="half" idx="2"/>
          </p:nvPr>
        </p:nvSpPr>
        <p:spPr>
          <a:xfrm>
            <a:off x="838200" y="6356350"/>
            <a:ext cx="102817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D528E-B0C4-574C-AE6E-B35A83CFEB13}" type="datetimeFigureOut">
              <a:rPr lang="en-GB" smtClean="0"/>
              <a:t>31/08/2026</a:t>
            </a:fld>
            <a:endParaRPr lang="en-GB" dirty="0"/>
          </a:p>
        </p:txBody>
      </p:sp>
      <p:sp>
        <p:nvSpPr>
          <p:cNvPr id="5" name="Footer Placeholder 4">
            <a:extLst>
              <a:ext uri="{FF2B5EF4-FFF2-40B4-BE49-F238E27FC236}">
                <a16:creationId xmlns:a16="http://schemas.microsoft.com/office/drawing/2014/main" id="{CE950729-1D81-7842-BB34-E0DBD93FE94C}"/>
              </a:ext>
            </a:extLst>
          </p:cNvPr>
          <p:cNvSpPr>
            <a:spLocks noGrp="1"/>
          </p:cNvSpPr>
          <p:nvPr>
            <p:ph type="ftr" sz="quarter" idx="3"/>
          </p:nvPr>
        </p:nvSpPr>
        <p:spPr>
          <a:xfrm>
            <a:off x="2116899" y="6251714"/>
            <a:ext cx="8129391" cy="4697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15" name="TextBox 14">
            <a:extLst>
              <a:ext uri="{FF2B5EF4-FFF2-40B4-BE49-F238E27FC236}">
                <a16:creationId xmlns:a16="http://schemas.microsoft.com/office/drawing/2014/main" id="{FCD30695-89F9-9D40-8B73-8CF0F208D14C}"/>
              </a:ext>
            </a:extLst>
          </p:cNvPr>
          <p:cNvSpPr txBox="1"/>
          <p:nvPr userDrawn="1"/>
        </p:nvSpPr>
        <p:spPr>
          <a:xfrm>
            <a:off x="3975652" y="6176964"/>
            <a:ext cx="3627783" cy="646331"/>
          </a:xfrm>
          <a:prstGeom prst="rect">
            <a:avLst/>
          </a:prstGeom>
          <a:noFill/>
        </p:spPr>
        <p:txBody>
          <a:bodyPr wrap="square" rtlCol="0">
            <a:spAutoFit/>
          </a:bodyPr>
          <a:lstStyle/>
          <a:p>
            <a:pPr algn="ctr"/>
            <a:r>
              <a:rPr lang="en-GB" sz="850" b="1" dirty="0">
                <a:solidFill>
                  <a:srgbClr val="0B3D91"/>
                </a:solidFill>
              </a:rPr>
              <a:t>A Complete Education for A Complete Person</a:t>
            </a:r>
          </a:p>
          <a:p>
            <a:pPr algn="ctr"/>
            <a:br>
              <a:rPr lang="en-GB" sz="700" dirty="0"/>
            </a:br>
            <a:r>
              <a:rPr lang="en-GB" sz="700" dirty="0"/>
              <a:t>P.O. Box 4, </a:t>
            </a:r>
            <a:r>
              <a:rPr lang="en-GB" sz="700" dirty="0" err="1"/>
              <a:t>Mukono</a:t>
            </a:r>
            <a:r>
              <a:rPr lang="en-GB" sz="700" dirty="0"/>
              <a:t>, Uganda, Plot 67-173, Bishop Tucker Road, </a:t>
            </a:r>
            <a:r>
              <a:rPr lang="en-GB" sz="700" dirty="0" err="1"/>
              <a:t>Mukono</a:t>
            </a:r>
            <a:r>
              <a:rPr lang="en-GB" sz="700" dirty="0"/>
              <a:t> Hill</a:t>
            </a:r>
            <a:endParaRPr lang="en-US" sz="700" dirty="0"/>
          </a:p>
          <a:p>
            <a:pPr algn="ctr"/>
            <a:r>
              <a:rPr lang="en-GB" sz="700" dirty="0"/>
              <a:t>Tel: +256 (0) 312 350 800 Email: </a:t>
            </a:r>
            <a:r>
              <a:rPr lang="en-GB" sz="700" u="sng" dirty="0">
                <a:solidFill>
                  <a:srgbClr val="0000FF"/>
                </a:solidFill>
                <a:hlinkClick r:id="rId15">
                  <a:extLst>
                    <a:ext uri="{A12FA001-AC4F-418D-AE19-62706E023703}">
                      <ahyp:hlinkClr xmlns:ahyp="http://schemas.microsoft.com/office/drawing/2018/hyperlinkcolor" val="tx"/>
                    </a:ext>
                  </a:extLst>
                </a:hlinkClick>
              </a:rPr>
              <a:t>info@ucu.ac.ug</a:t>
            </a:r>
            <a:r>
              <a:rPr lang="en-GB" sz="700" dirty="0">
                <a:solidFill>
                  <a:srgbClr val="0000FF"/>
                </a:solidFill>
              </a:rPr>
              <a:t> </a:t>
            </a:r>
            <a:r>
              <a:rPr lang="en-GB" sz="700" dirty="0"/>
              <a:t>Web: </a:t>
            </a:r>
            <a:r>
              <a:rPr lang="en-GB" sz="700" u="sng" dirty="0">
                <a:solidFill>
                  <a:srgbClr val="0000FF"/>
                </a:solidFill>
              </a:rPr>
              <a:t>https://</a:t>
            </a:r>
            <a:r>
              <a:rPr lang="en-GB" sz="700" u="sng" dirty="0">
                <a:solidFill>
                  <a:srgbClr val="0000FF"/>
                </a:solidFill>
                <a:hlinkClick r:id="rId16">
                  <a:extLst>
                    <a:ext uri="{A12FA001-AC4F-418D-AE19-62706E023703}">
                      <ahyp:hlinkClr xmlns:ahyp="http://schemas.microsoft.com/office/drawing/2018/hyperlinkcolor" val="tx"/>
                    </a:ext>
                  </a:extLst>
                </a:hlinkClick>
              </a:rPr>
              <a:t>ucu.ac.ug</a:t>
            </a:r>
            <a:endParaRPr lang="en-US" sz="700" u="sng" dirty="0">
              <a:solidFill>
                <a:srgbClr val="0000FF"/>
              </a:solidFill>
            </a:endParaRPr>
          </a:p>
          <a:p>
            <a:pPr algn="ctr"/>
            <a:r>
              <a:rPr lang="en-GB" sz="650" dirty="0"/>
              <a:t>Founded by the Province of the Church of Uganda. Chartered by the Government of Uganda</a:t>
            </a:r>
            <a:endParaRPr lang="en-US" sz="650" dirty="0"/>
          </a:p>
        </p:txBody>
      </p:sp>
      <p:cxnSp>
        <p:nvCxnSpPr>
          <p:cNvPr id="17" name="Straight Connector 16">
            <a:extLst>
              <a:ext uri="{FF2B5EF4-FFF2-40B4-BE49-F238E27FC236}">
                <a16:creationId xmlns:a16="http://schemas.microsoft.com/office/drawing/2014/main" id="{CC344BD7-844D-7745-BB54-5181F5646184}"/>
              </a:ext>
            </a:extLst>
          </p:cNvPr>
          <p:cNvCxnSpPr>
            <a:cxnSpLocks/>
          </p:cNvCxnSpPr>
          <p:nvPr userDrawn="1"/>
        </p:nvCxnSpPr>
        <p:spPr>
          <a:xfrm>
            <a:off x="0" y="6395027"/>
            <a:ext cx="12192000" cy="0"/>
          </a:xfrm>
          <a:prstGeom prst="line">
            <a:avLst/>
          </a:prstGeom>
          <a:ln w="12700">
            <a:solidFill>
              <a:srgbClr val="D7016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840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rgbClr val="1F497D"/>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D7014D"/>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B3D91"/>
        </a:buClr>
        <a:buSzPct val="95000"/>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D70167"/>
        </a:buClr>
        <a:buSzPct val="90000"/>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D70167"/>
        </a:buClr>
        <a:buSzPct val="88000"/>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7931"/>
        </a:buClr>
        <a:buSzPct val="86000"/>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069848" y="1737360"/>
            <a:ext cx="10058400" cy="1280160"/>
          </a:xfrm>
        </p:spPr>
        <p:txBody>
          <a:bodyPr/>
          <a:lstStyle/>
          <a:p>
            <a:pPr algn="ctr"/>
            <a:r>
              <a:rPr sz="3600">
                <a:latin typeface="Trebuchet MS"/>
              </a:rPr>
              <a:t>LipScribe: Technical Implementation and System Development</a:t>
            </a:r>
          </a:p>
        </p:txBody>
      </p:sp>
      <p:sp>
        <p:nvSpPr>
          <p:cNvPr id="3" name="Subtitle 2"/>
          <p:cNvSpPr>
            <a:spLocks noGrp="1"/>
          </p:cNvSpPr>
          <p:nvPr>
            <p:ph type="subTitle" idx="1"/>
          </p:nvPr>
        </p:nvSpPr>
        <p:spPr>
          <a:xfrm>
            <a:off x="1069848" y="3063240"/>
            <a:ext cx="10058400" cy="777240"/>
          </a:xfrm>
        </p:spPr>
        <p:txBody>
          <a:bodyPr wrap="square" lIns="54864" rIns="54864" tIns="27432" bIns="27432" anchor="t">
            <a:noAutofit/>
          </a:bodyPr>
          <a:lstStyle/>
          <a:p>
            <a:pPr algn="ctr">
              <a:spcAft>
                <a:spcPts val="0"/>
              </a:spcAft>
            </a:pPr>
            <a:r>
              <a:rPr sz="2200" b="0" i="0">
                <a:solidFill>
                  <a:srgbClr val="1A1A1A"/>
                </a:solidFill>
                <a:latin typeface="Trebuchet MS"/>
              </a:rPr>
              <a:t>Lip-Assisted Speech Recognition for Robust Live Captioning</a:t>
            </a:r>
          </a:p>
          <a:p>
            <a:pPr algn="ctr">
              <a:spcAft>
                <a:spcPts val="0"/>
              </a:spcAft>
            </a:pPr>
            <a:r>
              <a:rPr sz="2200" b="0" i="0">
                <a:solidFill>
                  <a:srgbClr val="1A1A1A"/>
                </a:solidFill>
                <a:latin typeface="Trebuchet MS"/>
              </a:rPr>
              <a:t>Computer Vision and Deep Learning  |  Group 4</a:t>
            </a:r>
          </a:p>
        </p:txBody>
      </p:sp>
      <p:sp>
        <p:nvSpPr>
          <p:cNvPr id="4" name="TextBox 3"/>
          <p:cNvSpPr txBox="1"/>
          <p:nvPr/>
        </p:nvSpPr>
        <p:spPr>
          <a:xfrm>
            <a:off x="1069848" y="4069080"/>
            <a:ext cx="4937760" cy="502920"/>
          </a:xfrm>
          <a:prstGeom prst="rect">
            <a:avLst/>
          </a:prstGeom>
          <a:noFill/>
        </p:spPr>
        <p:txBody>
          <a:bodyPr wrap="square" lIns="54864" rIns="54864" tIns="27432" bIns="27432" anchor="t">
            <a:noAutofit/>
          </a:bodyPr>
          <a:lstStyle/>
          <a:p>
            <a:pPr algn="ctr">
              <a:spcAft>
                <a:spcPts val="0"/>
              </a:spcAft>
            </a:pPr>
            <a:r>
              <a:rPr sz="2200" b="1" i="0">
                <a:solidFill>
                  <a:srgbClr val="1F497D"/>
                </a:solidFill>
                <a:latin typeface="Trebuchet MS"/>
              </a:rPr>
              <a:t>Cole Rodney Migisha</a:t>
            </a:r>
            <a:r>
              <a:rPr sz="2200" b="0" i="0">
                <a:solidFill>
                  <a:srgbClr val="1F497D"/>
                </a:solidFill>
                <a:latin typeface="Trebuchet MS"/>
              </a:rPr>
              <a:t>  </a:t>
            </a:r>
            <a:r>
              <a:rPr sz="2200" b="1" i="0">
                <a:solidFill>
                  <a:srgbClr val="595959"/>
                </a:solidFill>
                <a:latin typeface="Trebuchet MS"/>
              </a:rPr>
              <a:t>B29657</a:t>
            </a:r>
          </a:p>
        </p:txBody>
      </p:sp>
      <p:sp>
        <p:nvSpPr>
          <p:cNvPr id="5" name="TextBox 4"/>
          <p:cNvSpPr txBox="1"/>
          <p:nvPr/>
        </p:nvSpPr>
        <p:spPr>
          <a:xfrm>
            <a:off x="6190488" y="4069080"/>
            <a:ext cx="4937760" cy="502920"/>
          </a:xfrm>
          <a:prstGeom prst="rect">
            <a:avLst/>
          </a:prstGeom>
          <a:noFill/>
        </p:spPr>
        <p:txBody>
          <a:bodyPr wrap="square" lIns="54864" rIns="54864" tIns="27432" bIns="27432" anchor="t">
            <a:noAutofit/>
          </a:bodyPr>
          <a:lstStyle/>
          <a:p>
            <a:pPr algn="ctr">
              <a:spcAft>
                <a:spcPts val="0"/>
              </a:spcAft>
            </a:pPr>
            <a:r>
              <a:rPr sz="2200" b="1" i="0">
                <a:solidFill>
                  <a:srgbClr val="1F497D"/>
                </a:solidFill>
                <a:latin typeface="Trebuchet MS"/>
              </a:rPr>
              <a:t>Charis Opol</a:t>
            </a:r>
            <a:r>
              <a:rPr sz="2200" b="0" i="0">
                <a:solidFill>
                  <a:srgbClr val="1F497D"/>
                </a:solidFill>
                <a:latin typeface="Trebuchet MS"/>
              </a:rPr>
              <a:t>  </a:t>
            </a:r>
            <a:r>
              <a:rPr sz="2200" b="1" i="0">
                <a:solidFill>
                  <a:srgbClr val="595959"/>
                </a:solidFill>
                <a:latin typeface="Trebuchet MS"/>
              </a:rPr>
              <a:t>B29654</a:t>
            </a:r>
          </a:p>
        </p:txBody>
      </p:sp>
      <p:sp>
        <p:nvSpPr>
          <p:cNvPr id="6" name="TextBox 5"/>
          <p:cNvSpPr txBox="1"/>
          <p:nvPr/>
        </p:nvSpPr>
        <p:spPr>
          <a:xfrm>
            <a:off x="1069848" y="4617720"/>
            <a:ext cx="4937760" cy="502920"/>
          </a:xfrm>
          <a:prstGeom prst="rect">
            <a:avLst/>
          </a:prstGeom>
          <a:noFill/>
        </p:spPr>
        <p:txBody>
          <a:bodyPr wrap="square" lIns="54864" rIns="54864" tIns="27432" bIns="27432" anchor="t">
            <a:noAutofit/>
          </a:bodyPr>
          <a:lstStyle/>
          <a:p>
            <a:pPr algn="ctr">
              <a:spcAft>
                <a:spcPts val="0"/>
              </a:spcAft>
            </a:pPr>
            <a:r>
              <a:rPr sz="2200" b="1" i="0">
                <a:solidFill>
                  <a:srgbClr val="1F497D"/>
                </a:solidFill>
                <a:latin typeface="Trebuchet MS"/>
              </a:rPr>
              <a:t>Ainomugisha Faith</a:t>
            </a:r>
            <a:r>
              <a:rPr sz="2200" b="0" i="0">
                <a:solidFill>
                  <a:srgbClr val="1F497D"/>
                </a:solidFill>
                <a:latin typeface="Trebuchet MS"/>
              </a:rPr>
              <a:t>  </a:t>
            </a:r>
            <a:r>
              <a:rPr sz="2200" b="1" i="0">
                <a:solidFill>
                  <a:srgbClr val="595959"/>
                </a:solidFill>
                <a:latin typeface="Trebuchet MS"/>
              </a:rPr>
              <a:t>B27518</a:t>
            </a:r>
          </a:p>
        </p:txBody>
      </p:sp>
      <p:sp>
        <p:nvSpPr>
          <p:cNvPr id="7" name="TextBox 6"/>
          <p:cNvSpPr txBox="1"/>
          <p:nvPr/>
        </p:nvSpPr>
        <p:spPr>
          <a:xfrm>
            <a:off x="6190488" y="4617720"/>
            <a:ext cx="4937760" cy="502920"/>
          </a:xfrm>
          <a:prstGeom prst="rect">
            <a:avLst/>
          </a:prstGeom>
          <a:noFill/>
        </p:spPr>
        <p:txBody>
          <a:bodyPr wrap="square" lIns="54864" rIns="54864" tIns="27432" bIns="27432" anchor="t">
            <a:noAutofit/>
          </a:bodyPr>
          <a:lstStyle/>
          <a:p>
            <a:pPr algn="ctr">
              <a:spcAft>
                <a:spcPts val="0"/>
              </a:spcAft>
            </a:pPr>
            <a:r>
              <a:rPr sz="2200" b="1" i="0">
                <a:solidFill>
                  <a:srgbClr val="1F497D"/>
                </a:solidFill>
                <a:latin typeface="Trebuchet MS"/>
              </a:rPr>
              <a:t>Lisa Lusinga Namugenyi</a:t>
            </a:r>
            <a:r>
              <a:rPr sz="2200" b="0" i="0">
                <a:solidFill>
                  <a:srgbClr val="1F497D"/>
                </a:solidFill>
                <a:latin typeface="Trebuchet MS"/>
              </a:rPr>
              <a:t>  </a:t>
            </a:r>
            <a:r>
              <a:rPr sz="2200" b="1" i="0">
                <a:solidFill>
                  <a:srgbClr val="595959"/>
                </a:solidFill>
                <a:latin typeface="Trebuchet MS"/>
              </a:rPr>
              <a:t>B30300</a:t>
            </a:r>
          </a:p>
        </p:txBody>
      </p:sp>
      <p:sp>
        <p:nvSpPr>
          <p:cNvPr id="8" name="TextBox 7"/>
          <p:cNvSpPr txBox="1"/>
          <p:nvPr/>
        </p:nvSpPr>
        <p:spPr>
          <a:xfrm>
            <a:off x="1069848" y="5166360"/>
            <a:ext cx="4937760" cy="502920"/>
          </a:xfrm>
          <a:prstGeom prst="rect">
            <a:avLst/>
          </a:prstGeom>
          <a:noFill/>
        </p:spPr>
        <p:txBody>
          <a:bodyPr wrap="square" lIns="54864" rIns="54864" tIns="27432" bIns="27432" anchor="t">
            <a:noAutofit/>
          </a:bodyPr>
          <a:lstStyle/>
          <a:p>
            <a:pPr algn="ctr">
              <a:spcAft>
                <a:spcPts val="0"/>
              </a:spcAft>
            </a:pPr>
            <a:r>
              <a:rPr sz="2200" b="1" i="0">
                <a:solidFill>
                  <a:srgbClr val="1F497D"/>
                </a:solidFill>
                <a:latin typeface="Trebuchet MS"/>
              </a:rPr>
              <a:t>Ansasire Nehum Naamaye</a:t>
            </a:r>
            <a:r>
              <a:rPr sz="2200" b="0" i="0">
                <a:solidFill>
                  <a:srgbClr val="1F497D"/>
                </a:solidFill>
                <a:latin typeface="Trebuchet MS"/>
              </a:rPr>
              <a:t>  </a:t>
            </a:r>
            <a:r>
              <a:rPr sz="2200" b="1" i="0">
                <a:solidFill>
                  <a:srgbClr val="595959"/>
                </a:solidFill>
                <a:latin typeface="Trebuchet MS"/>
              </a:rPr>
              <a:t>B29785</a:t>
            </a:r>
          </a:p>
        </p:txBody>
      </p:sp>
      <p:sp>
        <p:nvSpPr>
          <p:cNvPr id="9" name="TextBox 8"/>
          <p:cNvSpPr txBox="1"/>
          <p:nvPr/>
        </p:nvSpPr>
        <p:spPr>
          <a:xfrm>
            <a:off x="6190488" y="5166360"/>
            <a:ext cx="4937760" cy="502920"/>
          </a:xfrm>
          <a:prstGeom prst="rect">
            <a:avLst/>
          </a:prstGeom>
          <a:noFill/>
        </p:spPr>
        <p:txBody>
          <a:bodyPr wrap="square" lIns="54864" rIns="54864" tIns="27432" bIns="27432" anchor="t">
            <a:noAutofit/>
          </a:bodyPr>
          <a:lstStyle/>
          <a:p>
            <a:pPr algn="ctr">
              <a:spcAft>
                <a:spcPts val="0"/>
              </a:spcAft>
            </a:pPr>
            <a:r>
              <a:rPr sz="2200" b="1" i="0">
                <a:solidFill>
                  <a:srgbClr val="1F497D"/>
                </a:solidFill>
                <a:latin typeface="Trebuchet MS"/>
              </a:rPr>
              <a:t>Wakisa Isabelle</a:t>
            </a:r>
            <a:r>
              <a:rPr sz="2200" b="0" i="0">
                <a:solidFill>
                  <a:srgbClr val="1F497D"/>
                </a:solidFill>
                <a:latin typeface="Trebuchet MS"/>
              </a:rPr>
              <a:t>  </a:t>
            </a:r>
            <a:r>
              <a:rPr sz="2200" b="1" i="0">
                <a:solidFill>
                  <a:srgbClr val="595959"/>
                </a:solidFill>
                <a:latin typeface="Trebuchet MS"/>
              </a:rPr>
              <a:t>B30311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Six parts, six presenters</a:t>
            </a:r>
          </a:p>
        </p:txBody>
      </p:sp>
      <p:sp>
        <p:nvSpPr>
          <p:cNvPr id="3" name="Rounded Rectangle 2"/>
          <p:cNvSpPr/>
          <p:nvPr/>
        </p:nvSpPr>
        <p:spPr>
          <a:xfrm>
            <a:off x="841248" y="178308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Oval 3"/>
          <p:cNvSpPr/>
          <p:nvPr/>
        </p:nvSpPr>
        <p:spPr>
          <a:xfrm>
            <a:off x="1042416" y="2011680"/>
            <a:ext cx="548640" cy="54864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5" name="TextBox 4"/>
          <p:cNvSpPr txBox="1"/>
          <p:nvPr/>
        </p:nvSpPr>
        <p:spPr>
          <a:xfrm>
            <a:off x="1709928" y="1938528"/>
            <a:ext cx="2331720" cy="77724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Overview, architecture and tools</a:t>
            </a:r>
          </a:p>
        </p:txBody>
      </p:sp>
      <p:sp>
        <p:nvSpPr>
          <p:cNvPr id="6" name="TextBox 5"/>
          <p:cNvSpPr txBox="1"/>
          <p:nvPr/>
        </p:nvSpPr>
        <p:spPr>
          <a:xfrm>
            <a:off x="1042416" y="2834639"/>
            <a:ext cx="2971800" cy="77724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Cole Rodney Migisha</a:t>
            </a:r>
          </a:p>
        </p:txBody>
      </p:sp>
      <p:sp>
        <p:nvSpPr>
          <p:cNvPr id="7" name="Rounded Rectangle 6"/>
          <p:cNvSpPr/>
          <p:nvPr/>
        </p:nvSpPr>
        <p:spPr>
          <a:xfrm>
            <a:off x="4453128" y="178308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8" name="Oval 7"/>
          <p:cNvSpPr/>
          <p:nvPr/>
        </p:nvSpPr>
        <p:spPr>
          <a:xfrm>
            <a:off x="4654296" y="2011680"/>
            <a:ext cx="548640" cy="54864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9" name="TextBox 8"/>
          <p:cNvSpPr txBox="1"/>
          <p:nvPr/>
        </p:nvSpPr>
        <p:spPr>
          <a:xfrm>
            <a:off x="5321808" y="1938528"/>
            <a:ext cx="2331720" cy="77724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Environment and data</a:t>
            </a:r>
          </a:p>
        </p:txBody>
      </p:sp>
      <p:sp>
        <p:nvSpPr>
          <p:cNvPr id="10" name="TextBox 9"/>
          <p:cNvSpPr txBox="1"/>
          <p:nvPr/>
        </p:nvSpPr>
        <p:spPr>
          <a:xfrm>
            <a:off x="4654296" y="2834639"/>
            <a:ext cx="2971800" cy="77724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Charis Opol</a:t>
            </a:r>
          </a:p>
        </p:txBody>
      </p:sp>
      <p:sp>
        <p:nvSpPr>
          <p:cNvPr id="11" name="Rounded Rectangle 10"/>
          <p:cNvSpPr/>
          <p:nvPr/>
        </p:nvSpPr>
        <p:spPr>
          <a:xfrm>
            <a:off x="8065008" y="178308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2" name="Oval 11"/>
          <p:cNvSpPr/>
          <p:nvPr/>
        </p:nvSpPr>
        <p:spPr>
          <a:xfrm>
            <a:off x="8266176" y="2011680"/>
            <a:ext cx="548640" cy="54864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13" name="TextBox 12"/>
          <p:cNvSpPr txBox="1"/>
          <p:nvPr/>
        </p:nvSpPr>
        <p:spPr>
          <a:xfrm>
            <a:off x="8933688" y="1938528"/>
            <a:ext cx="2331720" cy="77724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Visual and audio pipelines</a:t>
            </a:r>
          </a:p>
        </p:txBody>
      </p:sp>
      <p:sp>
        <p:nvSpPr>
          <p:cNvPr id="14" name="TextBox 13"/>
          <p:cNvSpPr txBox="1"/>
          <p:nvPr/>
        </p:nvSpPr>
        <p:spPr>
          <a:xfrm>
            <a:off x="8266176" y="2834639"/>
            <a:ext cx="2971800" cy="77724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Ainomugisha Faith</a:t>
            </a:r>
          </a:p>
        </p:txBody>
      </p:sp>
      <p:sp>
        <p:nvSpPr>
          <p:cNvPr id="15" name="Rounded Rectangle 14"/>
          <p:cNvSpPr/>
          <p:nvPr/>
        </p:nvSpPr>
        <p:spPr>
          <a:xfrm>
            <a:off x="841248" y="3977639"/>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6" name="Oval 15"/>
          <p:cNvSpPr/>
          <p:nvPr/>
        </p:nvSpPr>
        <p:spPr>
          <a:xfrm>
            <a:off x="1042416" y="4206240"/>
            <a:ext cx="548640" cy="54864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7" name="TextBox 16"/>
          <p:cNvSpPr txBox="1"/>
          <p:nvPr/>
        </p:nvSpPr>
        <p:spPr>
          <a:xfrm>
            <a:off x="1709928" y="4133087"/>
            <a:ext cx="2331720" cy="77724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The multimodal model</a:t>
            </a:r>
          </a:p>
        </p:txBody>
      </p:sp>
      <p:sp>
        <p:nvSpPr>
          <p:cNvPr id="18" name="TextBox 17"/>
          <p:cNvSpPr txBox="1"/>
          <p:nvPr/>
        </p:nvSpPr>
        <p:spPr>
          <a:xfrm>
            <a:off x="1042416" y="5029200"/>
            <a:ext cx="2971800" cy="77724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Lisa Lusinga Namugenyi</a:t>
            </a:r>
          </a:p>
        </p:txBody>
      </p:sp>
      <p:sp>
        <p:nvSpPr>
          <p:cNvPr id="19" name="Rounded Rectangle 18"/>
          <p:cNvSpPr/>
          <p:nvPr/>
        </p:nvSpPr>
        <p:spPr>
          <a:xfrm>
            <a:off x="4453128" y="3977639"/>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20" name="Oval 19"/>
          <p:cNvSpPr/>
          <p:nvPr/>
        </p:nvSpPr>
        <p:spPr>
          <a:xfrm>
            <a:off x="4654296" y="4206240"/>
            <a:ext cx="548640" cy="54864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5</a:t>
            </a:r>
          </a:p>
        </p:txBody>
      </p:sp>
      <p:sp>
        <p:nvSpPr>
          <p:cNvPr id="21" name="TextBox 20"/>
          <p:cNvSpPr txBox="1"/>
          <p:nvPr/>
        </p:nvSpPr>
        <p:spPr>
          <a:xfrm>
            <a:off x="5321808" y="4133087"/>
            <a:ext cx="2331720" cy="77724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Training and evaluation</a:t>
            </a:r>
          </a:p>
        </p:txBody>
      </p:sp>
      <p:sp>
        <p:nvSpPr>
          <p:cNvPr id="22" name="TextBox 21"/>
          <p:cNvSpPr txBox="1"/>
          <p:nvPr/>
        </p:nvSpPr>
        <p:spPr>
          <a:xfrm>
            <a:off x="4654296" y="5029200"/>
            <a:ext cx="2971800" cy="77724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Ansasire Nehum Naamaye</a:t>
            </a:r>
          </a:p>
        </p:txBody>
      </p:sp>
      <p:sp>
        <p:nvSpPr>
          <p:cNvPr id="23" name="Rounded Rectangle 22"/>
          <p:cNvSpPr/>
          <p:nvPr/>
        </p:nvSpPr>
        <p:spPr>
          <a:xfrm>
            <a:off x="8065008" y="3977639"/>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24" name="Oval 23"/>
          <p:cNvSpPr/>
          <p:nvPr/>
        </p:nvSpPr>
        <p:spPr>
          <a:xfrm>
            <a:off x="8266176" y="4206240"/>
            <a:ext cx="548640" cy="54864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6</a:t>
            </a:r>
          </a:p>
        </p:txBody>
      </p:sp>
      <p:sp>
        <p:nvSpPr>
          <p:cNvPr id="25" name="TextBox 24"/>
          <p:cNvSpPr txBox="1"/>
          <p:nvPr/>
        </p:nvSpPr>
        <p:spPr>
          <a:xfrm>
            <a:off x="8933688" y="4133087"/>
            <a:ext cx="2331720" cy="77724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Application, plan and risks</a:t>
            </a:r>
          </a:p>
        </p:txBody>
      </p:sp>
      <p:sp>
        <p:nvSpPr>
          <p:cNvPr id="26" name="TextBox 25"/>
          <p:cNvSpPr txBox="1"/>
          <p:nvPr/>
        </p:nvSpPr>
        <p:spPr>
          <a:xfrm>
            <a:off x="8266176" y="5029200"/>
            <a:ext cx="2971800" cy="77724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Wakisa Isabelle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Part 1: Overview, architecture and tools</a:t>
            </a:r>
          </a:p>
        </p:txBody>
      </p:sp>
      <p:sp>
        <p:nvSpPr>
          <p:cNvPr id="3" name="Rounded Rectangle 2"/>
          <p:cNvSpPr/>
          <p:nvPr/>
        </p:nvSpPr>
        <p:spPr>
          <a:xfrm>
            <a:off x="841248" y="1874519"/>
            <a:ext cx="3017520" cy="3017520"/>
          </a:xfrm>
          <a:prstGeom prst="roundRect">
            <a:avLst>
              <a:gd name="adj" fmla="val 3030"/>
            </a:avLst>
          </a:prstGeom>
          <a:solidFill>
            <a:srgbClr val="1F497D"/>
          </a:solidFill>
          <a:ln>
            <a:noFill/>
          </a:ln>
        </p:spPr>
        <p:txBody>
          <a:bodyPr rtlCol="0" anchor="ctr" wrap="square" lIns="73152" rIns="73152" tIns="27432" bIns="27432">
            <a:noAutofit/>
          </a:bodyPr>
          <a:lstStyle/>
          <a:p>
            <a:pPr algn="ctr">
              <a:spcAft>
                <a:spcPts val="0"/>
              </a:spcAft>
            </a:pPr>
            <a:r>
              <a:rPr sz="9600" b="1" i="0">
                <a:solidFill>
                  <a:srgbClr val="FFFFFF"/>
                </a:solidFill>
                <a:latin typeface="Trebuchet MS"/>
              </a:rPr>
              <a:t>01</a:t>
            </a:r>
          </a:p>
        </p:txBody>
      </p:sp>
      <p:sp>
        <p:nvSpPr>
          <p:cNvPr id="4" name="TextBox 3"/>
          <p:cNvSpPr txBox="1"/>
          <p:nvPr/>
        </p:nvSpPr>
        <p:spPr>
          <a:xfrm>
            <a:off x="841248" y="5074920"/>
            <a:ext cx="3017520" cy="822960"/>
          </a:xfrm>
          <a:prstGeom prst="rect">
            <a:avLst/>
          </a:prstGeom>
          <a:noFill/>
        </p:spPr>
        <p:txBody>
          <a:bodyPr wrap="square" lIns="54864" rIns="54864" tIns="27432" bIns="27432" anchor="t">
            <a:noAutofit/>
          </a:bodyPr>
          <a:lstStyle/>
          <a:p>
            <a:pPr algn="ctr">
              <a:spcAft>
                <a:spcPts val="0"/>
              </a:spcAft>
            </a:pPr>
            <a:r>
              <a:rPr sz="2200" b="0" i="0">
                <a:solidFill>
                  <a:srgbClr val="595959"/>
                </a:solidFill>
                <a:latin typeface="Trebuchet MS"/>
              </a:rPr>
              <a:t>Presented by</a:t>
            </a:r>
          </a:p>
          <a:p>
            <a:pPr algn="ctr">
              <a:spcAft>
                <a:spcPts val="0"/>
              </a:spcAft>
            </a:pPr>
            <a:r>
              <a:rPr sz="2200" b="1" i="0">
                <a:solidFill>
                  <a:srgbClr val="1F497D"/>
                </a:solidFill>
                <a:latin typeface="Trebuchet MS"/>
              </a:rPr>
              <a:t>Cole Rodney Migisha</a:t>
            </a:r>
          </a:p>
        </p:txBody>
      </p:sp>
      <p:sp>
        <p:nvSpPr>
          <p:cNvPr id="5" name="TextBox 4"/>
          <p:cNvSpPr txBox="1"/>
          <p:nvPr/>
        </p:nvSpPr>
        <p:spPr>
          <a:xfrm>
            <a:off x="4480560" y="1828800"/>
            <a:ext cx="6858000" cy="457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In this part</a:t>
            </a:r>
          </a:p>
        </p:txBody>
      </p:sp>
      <p:sp>
        <p:nvSpPr>
          <p:cNvPr id="6" name="TextBox 5"/>
          <p:cNvSpPr txBox="1"/>
          <p:nvPr/>
        </p:nvSpPr>
        <p:spPr>
          <a:xfrm>
            <a:off x="4480560" y="2331720"/>
            <a:ext cx="6858000" cy="3566160"/>
          </a:xfrm>
          <a:prstGeom prst="rect">
            <a:avLst/>
          </a:prstGeom>
          <a:noFill/>
        </p:spPr>
        <p:txBody>
          <a:bodyPr wrap="square" lIns="54864" rIns="54864" tIns="27432" bIns="27432" anchor="t">
            <a:noAutofit/>
          </a:bodyPr>
          <a:lstStyle/>
          <a:p>
            <a:pPr algn="l" marL="292608" indent="-292608">
              <a:spcAft>
                <a:spcPts val="500"/>
              </a:spcAft>
              <a:buClr>
                <a:srgbClr val="D7014D"/>
              </a:buClr>
              <a:buFont typeface="Arial"/>
              <a:buChar char="•"/>
            </a:pPr>
            <a:r>
              <a:rPr sz="2200" b="0" i="0">
                <a:solidFill>
                  <a:srgbClr val="1A1A1A"/>
                </a:solidFill>
                <a:latin typeface="Trebuchet MS"/>
              </a:rPr>
              <a:t>The problem and our objectives</a:t>
            </a:r>
          </a:p>
          <a:p>
            <a:pPr algn="l" marL="292608" indent="-292608">
              <a:spcAft>
                <a:spcPts val="500"/>
              </a:spcAft>
              <a:buClr>
                <a:srgbClr val="D7014D"/>
              </a:buClr>
              <a:buFont typeface="Arial"/>
              <a:buChar char="•"/>
            </a:pPr>
            <a:r>
              <a:rPr sz="2200" b="0" i="0">
                <a:solidFill>
                  <a:srgbClr val="1A1A1A"/>
                </a:solidFill>
                <a:latin typeface="Trebuchet MS"/>
              </a:rPr>
              <a:t>The eight-stage workflow and scope</a:t>
            </a:r>
          </a:p>
          <a:p>
            <a:pPr algn="l" marL="292608" indent="-292608">
              <a:spcAft>
                <a:spcPts val="500"/>
              </a:spcAft>
              <a:buClr>
                <a:srgbClr val="D7014D"/>
              </a:buClr>
              <a:buFont typeface="Arial"/>
              <a:buChar char="•"/>
            </a:pPr>
            <a:r>
              <a:rPr sz="2200" b="0" i="0">
                <a:solidFill>
                  <a:srgbClr val="1A1A1A"/>
                </a:solidFill>
                <a:latin typeface="Trebuchet MS"/>
              </a:rPr>
              <a:t>System architecture, both streams</a:t>
            </a:r>
          </a:p>
          <a:p>
            <a:pPr algn="l" marL="292608" indent="-292608">
              <a:spcAft>
                <a:spcPts val="500"/>
              </a:spcAft>
              <a:buClr>
                <a:srgbClr val="D7014D"/>
              </a:buClr>
              <a:buFont typeface="Arial"/>
              <a:buChar char="•"/>
            </a:pPr>
            <a:r>
              <a:rPr sz="2200" b="0" i="0">
                <a:solidFill>
                  <a:srgbClr val="1A1A1A"/>
                </a:solidFill>
                <a:latin typeface="Trebuchet MS"/>
              </a:rPr>
              <a:t>Training versus inference paths</a:t>
            </a:r>
          </a:p>
          <a:p>
            <a:pPr algn="l" marL="292608" indent="-292608">
              <a:spcAft>
                <a:spcPts val="500"/>
              </a:spcAft>
              <a:buClr>
                <a:srgbClr val="D7014D"/>
              </a:buClr>
              <a:buFont typeface="Arial"/>
              <a:buChar char="•"/>
            </a:pPr>
            <a:r>
              <a:rPr sz="2200" b="0" i="0">
                <a:solidFill>
                  <a:srgbClr val="1A1A1A"/>
                </a:solidFill>
                <a:latin typeface="Trebuchet MS"/>
              </a:rPr>
              <a:t>Frameworks and technology stack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Audio-only captions break down in noise</a:t>
            </a:r>
          </a:p>
        </p:txBody>
      </p:sp>
      <p:sp>
        <p:nvSpPr>
          <p:cNvPr id="3" name="Oval 2"/>
          <p:cNvSpPr/>
          <p:nvPr/>
        </p:nvSpPr>
        <p:spPr>
          <a:xfrm>
            <a:off x="841248" y="1874519"/>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4" name="TextBox 3"/>
          <p:cNvSpPr txBox="1"/>
          <p:nvPr/>
        </p:nvSpPr>
        <p:spPr>
          <a:xfrm>
            <a:off x="1527048" y="1783080"/>
            <a:ext cx="5120640" cy="1234440"/>
          </a:xfrm>
          <a:prstGeom prst="rect">
            <a:avLst/>
          </a:prstGeom>
          <a:noFill/>
        </p:spPr>
        <p:txBody>
          <a:bodyPr wrap="square" lIns="54864" rIns="54864" tIns="27432" bIns="27432" anchor="t">
            <a:noAutofit/>
          </a:bodyPr>
          <a:lstStyle/>
          <a:p>
            <a:pPr algn="l">
              <a:spcAft>
                <a:spcPts val="600"/>
              </a:spcAft>
            </a:pPr>
            <a:r>
              <a:rPr sz="2200" b="0" i="0">
                <a:solidFill>
                  <a:srgbClr val="1A1A1A"/>
                </a:solidFill>
                <a:latin typeface="Trebuchet MS"/>
              </a:rPr>
              <a:t>Speech recognition works in quiet rooms but degrades with noise, overlapping or muffled speech</a:t>
            </a:r>
          </a:p>
        </p:txBody>
      </p:sp>
      <p:sp>
        <p:nvSpPr>
          <p:cNvPr id="5" name="Oval 4"/>
          <p:cNvSpPr/>
          <p:nvPr/>
        </p:nvSpPr>
        <p:spPr>
          <a:xfrm>
            <a:off x="841248" y="324612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6" name="TextBox 5"/>
          <p:cNvSpPr txBox="1"/>
          <p:nvPr/>
        </p:nvSpPr>
        <p:spPr>
          <a:xfrm>
            <a:off x="1527048" y="3154680"/>
            <a:ext cx="5120640" cy="1234440"/>
          </a:xfrm>
          <a:prstGeom prst="rect">
            <a:avLst/>
          </a:prstGeom>
          <a:noFill/>
        </p:spPr>
        <p:txBody>
          <a:bodyPr wrap="square" lIns="54864" rIns="54864" tIns="27432" bIns="27432" anchor="t">
            <a:noAutofit/>
          </a:bodyPr>
          <a:lstStyle/>
          <a:p>
            <a:pPr algn="l">
              <a:spcAft>
                <a:spcPts val="600"/>
              </a:spcAft>
            </a:pPr>
            <a:r>
              <a:rPr sz="2200" b="0" i="0">
                <a:solidFill>
                  <a:srgbClr val="1A1A1A"/>
                </a:solidFill>
                <a:latin typeface="Trebuchet MS"/>
              </a:rPr>
              <a:t>Lip movements are unaffected by acoustic noise, so video keeps evidence when audio fails [2], [6]</a:t>
            </a:r>
          </a:p>
        </p:txBody>
      </p:sp>
      <p:sp>
        <p:nvSpPr>
          <p:cNvPr id="7" name="Oval 6"/>
          <p:cNvSpPr/>
          <p:nvPr/>
        </p:nvSpPr>
        <p:spPr>
          <a:xfrm>
            <a:off x="841248" y="461772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8" name="TextBox 7"/>
          <p:cNvSpPr txBox="1"/>
          <p:nvPr/>
        </p:nvSpPr>
        <p:spPr>
          <a:xfrm>
            <a:off x="1527048" y="4526280"/>
            <a:ext cx="5120640" cy="1234440"/>
          </a:xfrm>
          <a:prstGeom prst="rect">
            <a:avLst/>
          </a:prstGeom>
          <a:noFill/>
        </p:spPr>
        <p:txBody>
          <a:bodyPr wrap="square" lIns="54864" rIns="54864" tIns="27432" bIns="27432" anchor="t">
            <a:noAutofit/>
          </a:bodyPr>
          <a:lstStyle/>
          <a:p>
            <a:pPr algn="l">
              <a:spcAft>
                <a:spcPts val="600"/>
              </a:spcAft>
            </a:pPr>
            <a:r>
              <a:rPr sz="2200" b="0" i="0">
                <a:solidFill>
                  <a:srgbClr val="1A1A1A"/>
                </a:solidFill>
                <a:latin typeface="Trebuchet MS"/>
              </a:rPr>
              <a:t>Deaf and hard-of-hearing users need captions that are correct, not just fast</a:t>
            </a:r>
          </a:p>
        </p:txBody>
      </p:sp>
      <p:sp>
        <p:nvSpPr>
          <p:cNvPr id="9" name="Rounded Rectangle 8"/>
          <p:cNvSpPr/>
          <p:nvPr/>
        </p:nvSpPr>
        <p:spPr>
          <a:xfrm>
            <a:off x="6903720" y="1783080"/>
            <a:ext cx="4453128" cy="4069080"/>
          </a:xfrm>
          <a:prstGeom prst="roundRect">
            <a:avLst>
              <a:gd name="adj" fmla="val 3370"/>
            </a:avLst>
          </a:prstGeom>
          <a:solidFill>
            <a:srgbClr val="FFF4CC"/>
          </a:solidFill>
          <a:ln>
            <a:noFill/>
          </a:ln>
        </p:spPr>
        <p:txBody>
          <a:bodyPr rtlCol="0" anchor="t" wrap="square" lIns="54864" rIns="54864" tIns="27432" bIns="27432">
            <a:noAutofit/>
          </a:bodyPr>
          <a:lstStyle/>
          <a:p>
            <a:pPr algn="l">
              <a:spcAft>
                <a:spcPts val="600"/>
              </a:spcAft>
            </a:pPr>
          </a:p>
        </p:txBody>
      </p:sp>
      <p:sp>
        <p:nvSpPr>
          <p:cNvPr id="10" name="TextBox 9"/>
          <p:cNvSpPr txBox="1"/>
          <p:nvPr/>
        </p:nvSpPr>
        <p:spPr>
          <a:xfrm>
            <a:off x="7132320" y="1965960"/>
            <a:ext cx="4023360" cy="3749039"/>
          </a:xfrm>
          <a:prstGeom prst="rect">
            <a:avLst/>
          </a:prstGeom>
          <a:noFill/>
        </p:spPr>
        <p:txBody>
          <a:bodyPr wrap="square" lIns="54864" rIns="54864" tIns="27432" bIns="27432" anchor="t">
            <a:noAutofit/>
          </a:bodyPr>
          <a:lstStyle/>
          <a:p>
            <a:pPr algn="l">
              <a:spcAft>
                <a:spcPts val="1000"/>
              </a:spcAft>
            </a:pPr>
            <a:r>
              <a:rPr sz="2200" b="1" i="0">
                <a:solidFill>
                  <a:srgbClr val="1F497D"/>
                </a:solidFill>
                <a:latin typeface="Trebuchet MS"/>
              </a:rPr>
              <a:t>Central question</a:t>
            </a:r>
          </a:p>
          <a:p>
            <a:pPr algn="l">
              <a:spcAft>
                <a:spcPts val="1400"/>
              </a:spcAft>
            </a:pPr>
            <a:r>
              <a:rPr sz="2200" b="0" i="0">
                <a:solidFill>
                  <a:srgbClr val="1A1A1A"/>
                </a:solidFill>
                <a:latin typeface="Trebuchet MS"/>
              </a:rPr>
              <a:t>How can combining audio with lip reading keep captions usable when the audio is severely degraded?</a:t>
            </a:r>
          </a:p>
          <a:p>
            <a:pPr algn="l">
              <a:spcAft>
                <a:spcPts val="600"/>
              </a:spcAft>
            </a:pPr>
            <a:r>
              <a:rPr sz="2200" b="1" i="0">
                <a:solidFill>
                  <a:srgbClr val="1F497D"/>
                </a:solidFill>
                <a:latin typeface="Trebuchet MS"/>
              </a:rPr>
              <a:t>Goal</a:t>
            </a:r>
          </a:p>
          <a:p>
            <a:pPr algn="l">
              <a:spcAft>
                <a:spcPts val="600"/>
              </a:spcAft>
            </a:pPr>
            <a:r>
              <a:rPr sz="2200" b="0" i="0">
                <a:solidFill>
                  <a:srgbClr val="1A1A1A"/>
                </a:solidFill>
                <a:latin typeface="Trebuchet MS"/>
              </a:rPr>
              <a:t>Accuracy that degrades more gracefully in noise than audio-only recognition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Four objectives drive the build</a:t>
            </a:r>
          </a:p>
        </p:txBody>
      </p:sp>
      <p:graphicFrame>
        <p:nvGraphicFramePr>
          <p:cNvPr id="3" name="Table 2"/>
          <p:cNvGraphicFramePr>
            <a:graphicFrameLocks noGrp="1"/>
          </p:cNvGraphicFramePr>
          <p:nvPr/>
        </p:nvGraphicFramePr>
        <p:xfrm>
          <a:off x="841248" y="1783080"/>
          <a:ext cx="10515600" cy="3429000"/>
        </p:xfrm>
        <a:graphic>
          <a:graphicData uri="http://schemas.openxmlformats.org/drawingml/2006/table">
            <a:tbl>
              <a:tblPr firstRow="1">
                <a:tableStyleId>{5C22544A-7EE6-4342-B048-85BDC9FD1C3A}</a:tableStyleId>
              </a:tblPr>
              <a:tblGrid>
                <a:gridCol w="3246120"/>
                <a:gridCol w="5486400"/>
                <a:gridCol w="1783080"/>
              </a:tblGrid>
              <a:tr h="685800">
                <a:tc>
                  <a:txBody>
                    <a:bodyPr wrap="square"/>
                    <a:lstStyle/>
                    <a:p>
                      <a:pPr algn="l"/>
                      <a:r>
                        <a:rPr sz="2200" b="1" i="0">
                          <a:solidFill>
                            <a:srgbClr val="FFFFFF"/>
                          </a:solidFill>
                          <a:latin typeface="Trebuchet MS"/>
                        </a:rPr>
                        <a:t>Objective</a:t>
                      </a:r>
                    </a:p>
                  </a:txBody>
                  <a:tcPr marL="82296" marR="82296" marT="36576" marB="36576" anchor="ctr">
                    <a:solidFill>
                      <a:srgbClr val="1F497D"/>
                    </a:solidFill>
                  </a:tcPr>
                </a:tc>
                <a:tc>
                  <a:txBody>
                    <a:bodyPr wrap="square"/>
                    <a:lstStyle/>
                    <a:p>
                      <a:pPr algn="l"/>
                      <a:r>
                        <a:rPr sz="2200" b="1" i="0">
                          <a:solidFill>
                            <a:srgbClr val="FFFFFF"/>
                          </a:solidFill>
                          <a:latin typeface="Trebuchet MS"/>
                        </a:rPr>
                        <a:t>Implementation component</a:t>
                      </a:r>
                    </a:p>
                  </a:txBody>
                  <a:tcPr marL="82296" marR="82296" marT="36576" marB="36576" anchor="ctr">
                    <a:solidFill>
                      <a:srgbClr val="1F497D"/>
                    </a:solidFill>
                  </a:tcPr>
                </a:tc>
                <a:tc>
                  <a:txBody>
                    <a:bodyPr wrap="square"/>
                    <a:lstStyle/>
                    <a:p>
                      <a:pPr algn="l"/>
                      <a:r>
                        <a:rPr sz="2200" b="1" i="0">
                          <a:solidFill>
                            <a:srgbClr val="FFFFFF"/>
                          </a:solidFill>
                          <a:latin typeface="Trebuchet MS"/>
                        </a:rPr>
                        <a:t>Scope</a:t>
                      </a:r>
                    </a:p>
                  </a:txBody>
                  <a:tcPr marL="82296" marR="82296" marT="36576" marB="36576" anchor="ctr">
                    <a:solidFill>
                      <a:srgbClr val="1F497D"/>
                    </a:solidFill>
                  </a:tcPr>
                </a:tc>
              </a:tr>
              <a:tr h="685800">
                <a:tc>
                  <a:txBody>
                    <a:bodyPr wrap="square"/>
                    <a:lstStyle/>
                    <a:p>
                      <a:pPr algn="l"/>
                      <a:r>
                        <a:rPr sz="2200" b="0" i="0">
                          <a:solidFill>
                            <a:srgbClr val="1A1A1A"/>
                          </a:solidFill>
                          <a:latin typeface="Trebuchet MS"/>
                        </a:rPr>
                        <a:t>1. Separate homophenes (RQ1)</a:t>
                      </a:r>
                    </a:p>
                  </a:txBody>
                  <a:tcPr marL="82296" marR="82296" marT="36576" marB="36576" anchor="ctr">
                    <a:solidFill>
                      <a:srgbClr val="FFFFFF"/>
                    </a:solidFill>
                  </a:tcPr>
                </a:tc>
                <a:tc>
                  <a:txBody>
                    <a:bodyPr wrap="square"/>
                    <a:lstStyle/>
                    <a:p>
                      <a:pPr algn="l"/>
                      <a:r>
                        <a:rPr sz="2200" b="0" i="0">
                          <a:solidFill>
                            <a:srgbClr val="1A1A1A"/>
                          </a:solidFill>
                          <a:latin typeface="Trebuchet MS"/>
                        </a:rPr>
                        <a:t>Cross-modal attention plus context from neighbouring frames</a:t>
                      </a:r>
                    </a:p>
                  </a:txBody>
                  <a:tcPr marL="82296" marR="82296" marT="36576" marB="36576" anchor="ctr">
                    <a:solidFill>
                      <a:srgbClr val="FFFFFF"/>
                    </a:solidFill>
                  </a:tcPr>
                </a:tc>
                <a:tc>
                  <a:txBody>
                    <a:bodyPr wrap="square"/>
                    <a:lstStyle/>
                    <a:p>
                      <a:pPr algn="l"/>
                      <a:r>
                        <a:rPr sz="2200" b="0" i="0">
                          <a:solidFill>
                            <a:srgbClr val="1A1A1A"/>
                          </a:solidFill>
                          <a:latin typeface="Trebuchet MS"/>
                        </a:rPr>
                        <a:t>Core</a:t>
                      </a:r>
                    </a:p>
                  </a:txBody>
                  <a:tcPr marL="82296" marR="82296" marT="36576" marB="36576" anchor="ctr">
                    <a:solidFill>
                      <a:srgbClr val="FFFFFF"/>
                    </a:solidFill>
                  </a:tcPr>
                </a:tc>
              </a:tr>
              <a:tr h="685800">
                <a:tc>
                  <a:txBody>
                    <a:bodyPr wrap="square"/>
                    <a:lstStyle/>
                    <a:p>
                      <a:pPr algn="l"/>
                      <a:r>
                        <a:rPr sz="2200" b="0" i="0">
                          <a:solidFill>
                            <a:srgbClr val="1A1A1A"/>
                          </a:solidFill>
                          <a:latin typeface="Trebuchet MS"/>
                        </a:rPr>
                        <a:t>2. Model word sequences (RQ2)</a:t>
                      </a:r>
                    </a:p>
                  </a:txBody>
                  <a:tcPr marL="82296" marR="82296" marT="36576" marB="36576" anchor="ctr">
                    <a:solidFill>
                      <a:srgbClr val="EAF0F8"/>
                    </a:solidFill>
                  </a:tcPr>
                </a:tc>
                <a:tc>
                  <a:txBody>
                    <a:bodyPr wrap="square"/>
                    <a:lstStyle/>
                    <a:p>
                      <a:pPr algn="l"/>
                      <a:r>
                        <a:rPr sz="2200" b="0" i="0">
                          <a:solidFill>
                            <a:srgbClr val="1A1A1A"/>
                          </a:solidFill>
                          <a:latin typeface="Trebuchet MS"/>
                        </a:rPr>
                        <a:t>3D-CNN front-end, BiLSTM encoders and CTC training</a:t>
                      </a:r>
                    </a:p>
                  </a:txBody>
                  <a:tcPr marL="82296" marR="82296" marT="36576" marB="36576" anchor="ctr">
                    <a:solidFill>
                      <a:srgbClr val="EAF0F8"/>
                    </a:solidFill>
                  </a:tcPr>
                </a:tc>
                <a:tc>
                  <a:txBody>
                    <a:bodyPr wrap="square"/>
                    <a:lstStyle/>
                    <a:p>
                      <a:pPr algn="l"/>
                      <a:r>
                        <a:rPr sz="2200" b="0" i="0">
                          <a:solidFill>
                            <a:srgbClr val="1A1A1A"/>
                          </a:solidFill>
                          <a:latin typeface="Trebuchet MS"/>
                        </a:rPr>
                        <a:t>Core</a:t>
                      </a:r>
                    </a:p>
                  </a:txBody>
                  <a:tcPr marL="82296" marR="82296" marT="36576" marB="36576" anchor="ctr">
                    <a:solidFill>
                      <a:srgbClr val="EAF0F8"/>
                    </a:solidFill>
                  </a:tcPr>
                </a:tc>
              </a:tr>
              <a:tr h="685800">
                <a:tc>
                  <a:txBody>
                    <a:bodyPr wrap="square"/>
                    <a:lstStyle/>
                    <a:p>
                      <a:pPr algn="l"/>
                      <a:r>
                        <a:rPr sz="2200" b="0" i="0">
                          <a:solidFill>
                            <a:srgbClr val="595959"/>
                          </a:solidFill>
                          <a:latin typeface="Trebuchet MS"/>
                        </a:rPr>
                        <a:t>3. Detect emotion (RQ3)</a:t>
                      </a:r>
                    </a:p>
                  </a:txBody>
                  <a:tcPr marL="82296" marR="82296" marT="36576" marB="36576" anchor="ctr">
                    <a:solidFill>
                      <a:srgbClr val="FFFFFF"/>
                    </a:solidFill>
                  </a:tcPr>
                </a:tc>
                <a:tc>
                  <a:txBody>
                    <a:bodyPr wrap="square"/>
                    <a:lstStyle/>
                    <a:p>
                      <a:pPr algn="l"/>
                      <a:r>
                        <a:rPr sz="2200" b="0" i="0">
                          <a:solidFill>
                            <a:srgbClr val="595959"/>
                          </a:solidFill>
                          <a:latin typeface="Trebuchet MS"/>
                        </a:rPr>
                        <a:t>Separate landmark-based classifier, emotion-labelled data</a:t>
                      </a:r>
                    </a:p>
                  </a:txBody>
                  <a:tcPr marL="82296" marR="82296" marT="36576" marB="36576" anchor="ctr">
                    <a:solidFill>
                      <a:srgbClr val="FFFFFF"/>
                    </a:solidFill>
                  </a:tcPr>
                </a:tc>
                <a:tc>
                  <a:txBody>
                    <a:bodyPr wrap="square"/>
                    <a:lstStyle/>
                    <a:p>
                      <a:pPr algn="l"/>
                      <a:r>
                        <a:rPr sz="2200" b="0" i="0">
                          <a:solidFill>
                            <a:srgbClr val="595959"/>
                          </a:solidFill>
                          <a:latin typeface="Trebuchet MS"/>
                        </a:rPr>
                        <a:t>Extension</a:t>
                      </a:r>
                    </a:p>
                  </a:txBody>
                  <a:tcPr marL="82296" marR="82296" marT="36576" marB="36576" anchor="ctr">
                    <a:solidFill>
                      <a:srgbClr val="FFFFFF"/>
                    </a:solidFill>
                  </a:tcPr>
                </a:tc>
              </a:tr>
              <a:tr h="685800">
                <a:tc>
                  <a:txBody>
                    <a:bodyPr wrap="square"/>
                    <a:lstStyle/>
                    <a:p>
                      <a:pPr algn="l"/>
                      <a:r>
                        <a:rPr sz="2200" b="0" i="0">
                          <a:solidFill>
                            <a:srgbClr val="595959"/>
                          </a:solidFill>
                          <a:latin typeface="Trebuchet MS"/>
                        </a:rPr>
                        <a:t>4. Identify language (RQ4)</a:t>
                      </a:r>
                    </a:p>
                  </a:txBody>
                  <a:tcPr marL="82296" marR="82296" marT="36576" marB="36576" anchor="ctr">
                    <a:solidFill>
                      <a:srgbClr val="EAF0F8"/>
                    </a:solidFill>
                  </a:tcPr>
                </a:tc>
                <a:tc>
                  <a:txBody>
                    <a:bodyPr wrap="square"/>
                    <a:lstStyle/>
                    <a:p>
                      <a:pPr algn="l"/>
                      <a:r>
                        <a:rPr sz="2200" b="0" i="0">
                          <a:solidFill>
                            <a:srgbClr val="595959"/>
                          </a:solidFill>
                          <a:latin typeface="Trebuchet MS"/>
                        </a:rPr>
                        <a:t>Separate language-ID head, multilingual data</a:t>
                      </a:r>
                    </a:p>
                  </a:txBody>
                  <a:tcPr marL="82296" marR="82296" marT="36576" marB="36576" anchor="ctr">
                    <a:solidFill>
                      <a:srgbClr val="EAF0F8"/>
                    </a:solidFill>
                  </a:tcPr>
                </a:tc>
                <a:tc>
                  <a:txBody>
                    <a:bodyPr wrap="square"/>
                    <a:lstStyle/>
                    <a:p>
                      <a:pPr algn="l"/>
                      <a:r>
                        <a:rPr sz="2200" b="0" i="0">
                          <a:solidFill>
                            <a:srgbClr val="595959"/>
                          </a:solidFill>
                          <a:latin typeface="Trebuchet MS"/>
                        </a:rPr>
                        <a:t>Extension</a:t>
                      </a:r>
                    </a:p>
                  </a:txBody>
                  <a:tcPr marL="82296" marR="82296" marT="36576" marB="36576" anchor="ctr">
                    <a:solidFill>
                      <a:srgbClr val="EAF0F8"/>
                    </a:solidFill>
                  </a:tcPr>
                </a:tc>
              </a:tr>
            </a:tbl>
          </a:graphicData>
        </a:graphic>
      </p:graphicFrame>
      <p:sp>
        <p:nvSpPr>
          <p:cNvPr id="4" name="TextBox 3"/>
          <p:cNvSpPr txBox="1"/>
          <p:nvPr/>
        </p:nvSpPr>
        <p:spPr>
          <a:xfrm>
            <a:off x="841248" y="5532120"/>
            <a:ext cx="10515600" cy="45720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Objectives 1–2 are the core; 3–4 need data that GRID lacks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Eight stages from camera to caption</a:t>
            </a:r>
          </a:p>
        </p:txBody>
      </p:sp>
      <p:sp>
        <p:nvSpPr>
          <p:cNvPr id="3" name="Rounded Rectangle 2"/>
          <p:cNvSpPr/>
          <p:nvPr/>
        </p:nvSpPr>
        <p:spPr>
          <a:xfrm>
            <a:off x="841248" y="1828800"/>
            <a:ext cx="2231136" cy="1371600"/>
          </a:xfrm>
          <a:prstGeom prst="roundRect">
            <a:avLst>
              <a:gd name="adj" fmla="val 6666"/>
            </a:avLst>
          </a:prstGeom>
          <a:solidFill>
            <a:srgbClr val="F2F2F2"/>
          </a:solidFill>
          <a:ln w="15875">
            <a:solidFill>
              <a:srgbClr val="595959"/>
            </a:solidFill>
          </a:ln>
        </p:spPr>
        <p:txBody>
          <a:bodyPr rtlCol="0" anchor="ctr" wrap="square" lIns="73152" rIns="73152" tIns="27432" bIns="27432">
            <a:noAutofit/>
          </a:bodyPr>
          <a:lstStyle/>
          <a:p>
            <a:pPr algn="ctr">
              <a:spcAft>
                <a:spcPts val="0"/>
              </a:spcAft>
            </a:pPr>
            <a:r>
              <a:rPr sz="2200" b="1" i="0">
                <a:solidFill>
                  <a:srgbClr val="595959"/>
                </a:solidFill>
                <a:latin typeface="Trebuchet MS"/>
              </a:rPr>
              <a:t>1</a:t>
            </a:r>
          </a:p>
          <a:p>
            <a:pPr algn="ctr">
              <a:spcAft>
                <a:spcPts val="0"/>
              </a:spcAft>
            </a:pPr>
            <a:r>
              <a:rPr sz="2200" b="0" i="0">
                <a:solidFill>
                  <a:srgbClr val="1A1A1A"/>
                </a:solidFill>
                <a:latin typeface="Trebuchet MS"/>
              </a:rPr>
              <a:t>Capture audio + video</a:t>
            </a:r>
          </a:p>
        </p:txBody>
      </p:sp>
      <p:cxnSp>
        <p:nvCxnSpPr>
          <p:cNvPr id="4" name="Connector 3"/>
          <p:cNvCxnSpPr/>
          <p:nvPr/>
        </p:nvCxnSpPr>
        <p:spPr>
          <a:xfrm>
            <a:off x="3118103" y="2514600"/>
            <a:ext cx="438913" cy="0"/>
          </a:xfrm>
          <a:prstGeom prst="line">
            <a:avLst/>
          </a:prstGeom>
          <a:ln w="25400">
            <a:solidFill>
              <a:srgbClr val="595959"/>
            </a:solidFill>
            <a:tailEnd type="triangle" w="med" len="med"/>
          </a:ln>
        </p:spPr>
      </p:cxnSp>
      <p:sp>
        <p:nvSpPr>
          <p:cNvPr id="5" name="Rounded Rectangle 4"/>
          <p:cNvSpPr/>
          <p:nvPr/>
        </p:nvSpPr>
        <p:spPr>
          <a:xfrm>
            <a:off x="3602736" y="1828800"/>
            <a:ext cx="2231136" cy="1371600"/>
          </a:xfrm>
          <a:prstGeom prst="roundRect">
            <a:avLst>
              <a:gd name="adj" fmla="val 6666"/>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1" i="0">
                <a:solidFill>
                  <a:srgbClr val="C55A11"/>
                </a:solidFill>
                <a:latin typeface="Trebuchet MS"/>
              </a:rPr>
              <a:t>2</a:t>
            </a:r>
          </a:p>
          <a:p>
            <a:pPr algn="ctr">
              <a:spcAft>
                <a:spcPts val="0"/>
              </a:spcAft>
            </a:pPr>
            <a:r>
              <a:rPr sz="2200" b="0" i="0">
                <a:solidFill>
                  <a:srgbClr val="1A1A1A"/>
                </a:solidFill>
                <a:latin typeface="Trebuchet MS"/>
              </a:rPr>
              <a:t>Detect face with Face Mesh</a:t>
            </a:r>
          </a:p>
        </p:txBody>
      </p:sp>
      <p:cxnSp>
        <p:nvCxnSpPr>
          <p:cNvPr id="6" name="Connector 5"/>
          <p:cNvCxnSpPr/>
          <p:nvPr/>
        </p:nvCxnSpPr>
        <p:spPr>
          <a:xfrm>
            <a:off x="5879592" y="2514600"/>
            <a:ext cx="438912" cy="0"/>
          </a:xfrm>
          <a:prstGeom prst="line">
            <a:avLst/>
          </a:prstGeom>
          <a:ln w="25400">
            <a:solidFill>
              <a:srgbClr val="595959"/>
            </a:solidFill>
            <a:tailEnd type="triangle" w="med" len="med"/>
          </a:ln>
        </p:spPr>
      </p:cxnSp>
      <p:sp>
        <p:nvSpPr>
          <p:cNvPr id="7" name="Rounded Rectangle 6"/>
          <p:cNvSpPr/>
          <p:nvPr/>
        </p:nvSpPr>
        <p:spPr>
          <a:xfrm>
            <a:off x="6364224" y="1828800"/>
            <a:ext cx="2231136" cy="1371600"/>
          </a:xfrm>
          <a:prstGeom prst="roundRect">
            <a:avLst>
              <a:gd name="adj" fmla="val 6666"/>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1" i="0">
                <a:solidFill>
                  <a:srgbClr val="C55A11"/>
                </a:solidFill>
                <a:latin typeface="Trebuchet MS"/>
              </a:rPr>
              <a:t>3</a:t>
            </a:r>
          </a:p>
          <a:p>
            <a:pPr algn="ctr">
              <a:spcAft>
                <a:spcPts val="0"/>
              </a:spcAft>
            </a:pPr>
            <a:r>
              <a:rPr sz="2200" b="0" i="0">
                <a:solidFill>
                  <a:srgbClr val="1A1A1A"/>
                </a:solidFill>
                <a:latin typeface="Trebuchet MS"/>
              </a:rPr>
              <a:t>Crop the mouth region</a:t>
            </a:r>
          </a:p>
        </p:txBody>
      </p:sp>
      <p:cxnSp>
        <p:nvCxnSpPr>
          <p:cNvPr id="8" name="Connector 7"/>
          <p:cNvCxnSpPr/>
          <p:nvPr/>
        </p:nvCxnSpPr>
        <p:spPr>
          <a:xfrm>
            <a:off x="8641080" y="2514600"/>
            <a:ext cx="438912" cy="0"/>
          </a:xfrm>
          <a:prstGeom prst="line">
            <a:avLst/>
          </a:prstGeom>
          <a:ln w="25400">
            <a:solidFill>
              <a:srgbClr val="595959"/>
            </a:solidFill>
            <a:tailEnd type="triangle" w="med" len="med"/>
          </a:ln>
        </p:spPr>
      </p:cxnSp>
      <p:sp>
        <p:nvSpPr>
          <p:cNvPr id="9" name="Rounded Rectangle 8"/>
          <p:cNvSpPr/>
          <p:nvPr/>
        </p:nvSpPr>
        <p:spPr>
          <a:xfrm>
            <a:off x="9125712" y="1828800"/>
            <a:ext cx="2231136" cy="1371600"/>
          </a:xfrm>
          <a:prstGeom prst="roundRect">
            <a:avLst>
              <a:gd name="adj" fmla="val 6666"/>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1" i="0">
                <a:solidFill>
                  <a:srgbClr val="2E75B6"/>
                </a:solidFill>
                <a:latin typeface="Trebuchet MS"/>
              </a:rPr>
              <a:t>4</a:t>
            </a:r>
          </a:p>
          <a:p>
            <a:pPr algn="ctr">
              <a:spcAft>
                <a:spcPts val="0"/>
              </a:spcAft>
            </a:pPr>
            <a:r>
              <a:rPr sz="2200" b="0" i="0">
                <a:solidFill>
                  <a:srgbClr val="1A1A1A"/>
                </a:solidFill>
                <a:latin typeface="Trebuchet MS"/>
              </a:rPr>
              <a:t>Extract log-Mel audio features</a:t>
            </a:r>
          </a:p>
        </p:txBody>
      </p:sp>
      <p:sp>
        <p:nvSpPr>
          <p:cNvPr id="10" name="Rounded Rectangle 9"/>
          <p:cNvSpPr/>
          <p:nvPr/>
        </p:nvSpPr>
        <p:spPr>
          <a:xfrm>
            <a:off x="9125712" y="3703320"/>
            <a:ext cx="2231136" cy="1371600"/>
          </a:xfrm>
          <a:prstGeom prst="roundRect">
            <a:avLst>
              <a:gd name="adj" fmla="val 6666"/>
            </a:avLst>
          </a:prstGeom>
          <a:solidFill>
            <a:srgbClr val="F2F2F2"/>
          </a:solidFill>
          <a:ln w="15875">
            <a:solidFill>
              <a:srgbClr val="595959"/>
            </a:solidFill>
          </a:ln>
        </p:spPr>
        <p:txBody>
          <a:bodyPr rtlCol="0" anchor="ctr" wrap="square" lIns="73152" rIns="73152" tIns="27432" bIns="27432">
            <a:noAutofit/>
          </a:bodyPr>
          <a:lstStyle/>
          <a:p>
            <a:pPr algn="ctr">
              <a:spcAft>
                <a:spcPts val="0"/>
              </a:spcAft>
            </a:pPr>
            <a:r>
              <a:rPr sz="2200" b="1" i="0">
                <a:solidFill>
                  <a:srgbClr val="595959"/>
                </a:solidFill>
                <a:latin typeface="Trebuchet MS"/>
              </a:rPr>
              <a:t>5</a:t>
            </a:r>
          </a:p>
          <a:p>
            <a:pPr algn="ctr">
              <a:spcAft>
                <a:spcPts val="0"/>
              </a:spcAft>
            </a:pPr>
            <a:r>
              <a:rPr sz="2200" b="0" i="0">
                <a:solidFill>
                  <a:srgbClr val="1A1A1A"/>
                </a:solidFill>
                <a:latin typeface="Trebuchet MS"/>
              </a:rPr>
              <a:t>Encode each stream</a:t>
            </a:r>
          </a:p>
        </p:txBody>
      </p:sp>
      <p:cxnSp>
        <p:nvCxnSpPr>
          <p:cNvPr id="11" name="Connector 10"/>
          <p:cNvCxnSpPr/>
          <p:nvPr/>
        </p:nvCxnSpPr>
        <p:spPr>
          <a:xfrm flipH="1">
            <a:off x="8641080" y="4389120"/>
            <a:ext cx="438912" cy="0"/>
          </a:xfrm>
          <a:prstGeom prst="line">
            <a:avLst/>
          </a:prstGeom>
          <a:ln w="25400">
            <a:solidFill>
              <a:srgbClr val="595959"/>
            </a:solidFill>
            <a:tailEnd type="triangle" w="med" len="med"/>
          </a:ln>
        </p:spPr>
      </p:cxnSp>
      <p:sp>
        <p:nvSpPr>
          <p:cNvPr id="12" name="Rounded Rectangle 11"/>
          <p:cNvSpPr/>
          <p:nvPr/>
        </p:nvSpPr>
        <p:spPr>
          <a:xfrm>
            <a:off x="6364224" y="3703320"/>
            <a:ext cx="2231136" cy="1371600"/>
          </a:xfrm>
          <a:prstGeom prst="roundRect">
            <a:avLst>
              <a:gd name="adj" fmla="val 6666"/>
            </a:avLst>
          </a:prstGeom>
          <a:solidFill>
            <a:srgbClr val="E2EFDA"/>
          </a:solidFill>
          <a:ln w="15875">
            <a:solidFill>
              <a:srgbClr val="548235"/>
            </a:solidFill>
          </a:ln>
        </p:spPr>
        <p:txBody>
          <a:bodyPr rtlCol="0" anchor="ctr" wrap="square" lIns="73152" rIns="73152" tIns="27432" bIns="27432">
            <a:noAutofit/>
          </a:bodyPr>
          <a:lstStyle/>
          <a:p>
            <a:pPr algn="ctr">
              <a:spcAft>
                <a:spcPts val="0"/>
              </a:spcAft>
            </a:pPr>
            <a:r>
              <a:rPr sz="2200" b="1" i="0">
                <a:solidFill>
                  <a:srgbClr val="548235"/>
                </a:solidFill>
                <a:latin typeface="Trebuchet MS"/>
              </a:rPr>
              <a:t>6</a:t>
            </a:r>
          </a:p>
          <a:p>
            <a:pPr algn="ctr">
              <a:spcAft>
                <a:spcPts val="0"/>
              </a:spcAft>
            </a:pPr>
            <a:r>
              <a:rPr sz="2200" b="0" i="0">
                <a:solidFill>
                  <a:srgbClr val="1A1A1A"/>
                </a:solidFill>
                <a:latin typeface="Trebuchet MS"/>
              </a:rPr>
              <a:t>Fuse with cross-modal attention</a:t>
            </a:r>
          </a:p>
        </p:txBody>
      </p:sp>
      <p:cxnSp>
        <p:nvCxnSpPr>
          <p:cNvPr id="13" name="Connector 12"/>
          <p:cNvCxnSpPr/>
          <p:nvPr/>
        </p:nvCxnSpPr>
        <p:spPr>
          <a:xfrm flipH="1">
            <a:off x="5879592" y="4389120"/>
            <a:ext cx="438912" cy="0"/>
          </a:xfrm>
          <a:prstGeom prst="line">
            <a:avLst/>
          </a:prstGeom>
          <a:ln w="25400">
            <a:solidFill>
              <a:srgbClr val="595959"/>
            </a:solidFill>
            <a:tailEnd type="triangle" w="med" len="med"/>
          </a:ln>
        </p:spPr>
      </p:cxnSp>
      <p:sp>
        <p:nvSpPr>
          <p:cNvPr id="14" name="Rounded Rectangle 13"/>
          <p:cNvSpPr/>
          <p:nvPr/>
        </p:nvSpPr>
        <p:spPr>
          <a:xfrm>
            <a:off x="3602736" y="3703320"/>
            <a:ext cx="2231136" cy="1371600"/>
          </a:xfrm>
          <a:prstGeom prst="roundRect">
            <a:avLst>
              <a:gd name="adj" fmla="val 6666"/>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1" i="0">
                <a:solidFill>
                  <a:srgbClr val="7030A0"/>
                </a:solidFill>
                <a:latin typeface="Trebuchet MS"/>
              </a:rPr>
              <a:t>7</a:t>
            </a:r>
          </a:p>
          <a:p>
            <a:pPr algn="ctr">
              <a:spcAft>
                <a:spcPts val="0"/>
              </a:spcAft>
            </a:pPr>
            <a:r>
              <a:rPr sz="2200" b="0" i="0">
                <a:solidFill>
                  <a:srgbClr val="1A1A1A"/>
                </a:solidFill>
                <a:latin typeface="Trebuchet MS"/>
              </a:rPr>
              <a:t>Decode: CTC + beam search</a:t>
            </a:r>
          </a:p>
        </p:txBody>
      </p:sp>
      <p:cxnSp>
        <p:nvCxnSpPr>
          <p:cNvPr id="15" name="Connector 14"/>
          <p:cNvCxnSpPr/>
          <p:nvPr/>
        </p:nvCxnSpPr>
        <p:spPr>
          <a:xfrm flipH="1">
            <a:off x="3118103" y="4389120"/>
            <a:ext cx="438913" cy="0"/>
          </a:xfrm>
          <a:prstGeom prst="line">
            <a:avLst/>
          </a:prstGeom>
          <a:ln w="25400">
            <a:solidFill>
              <a:srgbClr val="595959"/>
            </a:solidFill>
            <a:tailEnd type="triangle" w="med" len="med"/>
          </a:ln>
        </p:spPr>
      </p:cxnSp>
      <p:sp>
        <p:nvSpPr>
          <p:cNvPr id="16" name="Rounded Rectangle 15"/>
          <p:cNvSpPr/>
          <p:nvPr/>
        </p:nvSpPr>
        <p:spPr>
          <a:xfrm>
            <a:off x="841248" y="3703320"/>
            <a:ext cx="2231136" cy="1371600"/>
          </a:xfrm>
          <a:prstGeom prst="roundRect">
            <a:avLst>
              <a:gd name="adj" fmla="val 6666"/>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1" i="0">
                <a:solidFill>
                  <a:srgbClr val="7030A0"/>
                </a:solidFill>
                <a:latin typeface="Trebuchet MS"/>
              </a:rPr>
              <a:t>8</a:t>
            </a:r>
          </a:p>
          <a:p>
            <a:pPr algn="ctr">
              <a:spcAft>
                <a:spcPts val="0"/>
              </a:spcAft>
            </a:pPr>
            <a:r>
              <a:rPr sz="2200" b="0" i="0">
                <a:solidFill>
                  <a:srgbClr val="1A1A1A"/>
                </a:solidFill>
                <a:latin typeface="Trebuchet MS"/>
              </a:rPr>
              <a:t>Display the caption</a:t>
            </a:r>
          </a:p>
        </p:txBody>
      </p:sp>
      <p:cxnSp>
        <p:nvCxnSpPr>
          <p:cNvPr id="17" name="Connector 16"/>
          <p:cNvCxnSpPr/>
          <p:nvPr/>
        </p:nvCxnSpPr>
        <p:spPr>
          <a:xfrm>
            <a:off x="10241280" y="3246120"/>
            <a:ext cx="0" cy="365760"/>
          </a:xfrm>
          <a:prstGeom prst="line">
            <a:avLst/>
          </a:prstGeom>
          <a:ln w="25400">
            <a:solidFill>
              <a:srgbClr val="595959"/>
            </a:solidFill>
            <a:tailEnd type="triangle" w="med" len="med"/>
          </a:ln>
        </p:spPr>
      </p:cxnSp>
      <p:sp>
        <p:nvSpPr>
          <p:cNvPr id="18" name="Rounded Rectangle 17"/>
          <p:cNvSpPr/>
          <p:nvPr/>
        </p:nvSpPr>
        <p:spPr>
          <a:xfrm>
            <a:off x="841248" y="5440680"/>
            <a:ext cx="365760" cy="365760"/>
          </a:xfrm>
          <a:prstGeom prst="roundRect">
            <a:avLst>
              <a:gd name="adj" fmla="val 12500"/>
            </a:avLst>
          </a:prstGeom>
          <a:solidFill>
            <a:srgbClr val="F2F2F2"/>
          </a:solidFill>
          <a:ln w="15875">
            <a:solidFill>
              <a:srgbClr val="595959"/>
            </a:solidFill>
          </a:ln>
        </p:spPr>
        <p:txBody>
          <a:bodyPr rtlCol="0" anchor="t" wrap="square" lIns="54864" rIns="54864" tIns="27432" bIns="27432">
            <a:noAutofit/>
          </a:bodyPr>
          <a:lstStyle/>
          <a:p>
            <a:pPr algn="l">
              <a:spcAft>
                <a:spcPts val="600"/>
              </a:spcAft>
            </a:pPr>
          </a:p>
        </p:txBody>
      </p:sp>
      <p:sp>
        <p:nvSpPr>
          <p:cNvPr id="19" name="TextBox 18"/>
          <p:cNvSpPr txBox="1"/>
          <p:nvPr/>
        </p:nvSpPr>
        <p:spPr>
          <a:xfrm>
            <a:off x="1298448" y="5394960"/>
            <a:ext cx="1554480" cy="45720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Both</a:t>
            </a:r>
          </a:p>
        </p:txBody>
      </p:sp>
      <p:sp>
        <p:nvSpPr>
          <p:cNvPr id="20" name="Rounded Rectangle 19"/>
          <p:cNvSpPr/>
          <p:nvPr/>
        </p:nvSpPr>
        <p:spPr>
          <a:xfrm>
            <a:off x="2944368" y="5440680"/>
            <a:ext cx="365760" cy="365760"/>
          </a:xfrm>
          <a:prstGeom prst="roundRect">
            <a:avLst>
              <a:gd name="adj" fmla="val 12500"/>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21" name="TextBox 20"/>
          <p:cNvSpPr txBox="1"/>
          <p:nvPr/>
        </p:nvSpPr>
        <p:spPr>
          <a:xfrm>
            <a:off x="3401568" y="5394960"/>
            <a:ext cx="1554480" cy="45720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Visual</a:t>
            </a:r>
          </a:p>
        </p:txBody>
      </p:sp>
      <p:sp>
        <p:nvSpPr>
          <p:cNvPr id="22" name="Rounded Rectangle 21"/>
          <p:cNvSpPr/>
          <p:nvPr/>
        </p:nvSpPr>
        <p:spPr>
          <a:xfrm>
            <a:off x="5047488" y="5440680"/>
            <a:ext cx="365760" cy="365760"/>
          </a:xfrm>
          <a:prstGeom prst="roundRect">
            <a:avLst>
              <a:gd name="adj" fmla="val 12500"/>
            </a:avLst>
          </a:prstGeom>
          <a:solidFill>
            <a:srgbClr val="DDEBF7"/>
          </a:solidFill>
          <a:ln w="15875">
            <a:solidFill>
              <a:srgbClr val="2E75B6"/>
            </a:solidFill>
          </a:ln>
        </p:spPr>
        <p:txBody>
          <a:bodyPr rtlCol="0" anchor="t" wrap="square" lIns="54864" rIns="54864" tIns="27432" bIns="27432">
            <a:noAutofit/>
          </a:bodyPr>
          <a:lstStyle/>
          <a:p>
            <a:pPr algn="l">
              <a:spcAft>
                <a:spcPts val="600"/>
              </a:spcAft>
            </a:pPr>
          </a:p>
        </p:txBody>
      </p:sp>
      <p:sp>
        <p:nvSpPr>
          <p:cNvPr id="23" name="TextBox 22"/>
          <p:cNvSpPr txBox="1"/>
          <p:nvPr/>
        </p:nvSpPr>
        <p:spPr>
          <a:xfrm>
            <a:off x="5504688" y="5394960"/>
            <a:ext cx="1554480" cy="45720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Audio</a:t>
            </a:r>
          </a:p>
        </p:txBody>
      </p:sp>
      <p:sp>
        <p:nvSpPr>
          <p:cNvPr id="24" name="Rounded Rectangle 23"/>
          <p:cNvSpPr/>
          <p:nvPr/>
        </p:nvSpPr>
        <p:spPr>
          <a:xfrm>
            <a:off x="7150607" y="5440680"/>
            <a:ext cx="365760" cy="365760"/>
          </a:xfrm>
          <a:prstGeom prst="roundRect">
            <a:avLst>
              <a:gd name="adj" fmla="val 12500"/>
            </a:avLst>
          </a:prstGeom>
          <a:solidFill>
            <a:srgbClr val="E2EFDA"/>
          </a:solidFill>
          <a:ln w="15875">
            <a:solidFill>
              <a:srgbClr val="548235"/>
            </a:solidFill>
          </a:ln>
        </p:spPr>
        <p:txBody>
          <a:bodyPr rtlCol="0" anchor="t" wrap="square" lIns="54864" rIns="54864" tIns="27432" bIns="27432">
            <a:noAutofit/>
          </a:bodyPr>
          <a:lstStyle/>
          <a:p>
            <a:pPr algn="l">
              <a:spcAft>
                <a:spcPts val="600"/>
              </a:spcAft>
            </a:pPr>
          </a:p>
        </p:txBody>
      </p:sp>
      <p:sp>
        <p:nvSpPr>
          <p:cNvPr id="25" name="TextBox 24"/>
          <p:cNvSpPr txBox="1"/>
          <p:nvPr/>
        </p:nvSpPr>
        <p:spPr>
          <a:xfrm>
            <a:off x="7607808" y="5394960"/>
            <a:ext cx="1554480" cy="45720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Fusion</a:t>
            </a:r>
          </a:p>
        </p:txBody>
      </p:sp>
      <p:sp>
        <p:nvSpPr>
          <p:cNvPr id="26" name="Rounded Rectangle 25"/>
          <p:cNvSpPr/>
          <p:nvPr/>
        </p:nvSpPr>
        <p:spPr>
          <a:xfrm>
            <a:off x="9253728" y="5440680"/>
            <a:ext cx="365760" cy="365760"/>
          </a:xfrm>
          <a:prstGeom prst="roundRect">
            <a:avLst>
              <a:gd name="adj" fmla="val 12500"/>
            </a:avLst>
          </a:prstGeom>
          <a:solidFill>
            <a:srgbClr val="EDE7F6"/>
          </a:solidFill>
          <a:ln w="15875">
            <a:solidFill>
              <a:srgbClr val="7030A0"/>
            </a:solidFill>
          </a:ln>
        </p:spPr>
        <p:txBody>
          <a:bodyPr rtlCol="0" anchor="t" wrap="square" lIns="54864" rIns="54864" tIns="27432" bIns="27432">
            <a:noAutofit/>
          </a:bodyPr>
          <a:lstStyle/>
          <a:p>
            <a:pPr algn="l">
              <a:spcAft>
                <a:spcPts val="600"/>
              </a:spcAft>
            </a:pPr>
          </a:p>
        </p:txBody>
      </p:sp>
      <p:sp>
        <p:nvSpPr>
          <p:cNvPr id="27" name="TextBox 26"/>
          <p:cNvSpPr txBox="1"/>
          <p:nvPr/>
        </p:nvSpPr>
        <p:spPr>
          <a:xfrm>
            <a:off x="9710928" y="5394960"/>
            <a:ext cx="1554480" cy="45720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Core system first, extensions later</a:t>
            </a:r>
          </a:p>
        </p:txBody>
      </p:sp>
      <p:sp>
        <p:nvSpPr>
          <p:cNvPr id="3" name="Rounded Rectangle 2"/>
          <p:cNvSpPr/>
          <p:nvPr/>
        </p:nvSpPr>
        <p:spPr>
          <a:xfrm>
            <a:off x="841248" y="1783080"/>
            <a:ext cx="5074920" cy="4069080"/>
          </a:xfrm>
          <a:prstGeom prst="roundRect">
            <a:avLst>
              <a:gd name="adj" fmla="val 2247"/>
            </a:avLst>
          </a:prstGeom>
          <a:solidFill>
            <a:srgbClr val="E2EFDA"/>
          </a:solidFill>
          <a:ln w="15875">
            <a:solidFill>
              <a:srgbClr val="548235"/>
            </a:solidFill>
          </a:ln>
        </p:spPr>
        <p:txBody>
          <a:bodyPr rtlCol="0" anchor="t" wrap="square" lIns="54864" rIns="54864" tIns="27432" bIns="27432">
            <a:noAutofit/>
          </a:bodyPr>
          <a:lstStyle/>
          <a:p>
            <a:pPr algn="l">
              <a:spcAft>
                <a:spcPts val="600"/>
              </a:spcAft>
            </a:pPr>
          </a:p>
        </p:txBody>
      </p:sp>
      <p:sp>
        <p:nvSpPr>
          <p:cNvPr id="4" name="TextBox 3"/>
          <p:cNvSpPr txBox="1"/>
          <p:nvPr/>
        </p:nvSpPr>
        <p:spPr>
          <a:xfrm>
            <a:off x="1069848" y="1920240"/>
            <a:ext cx="4663440" cy="3840480"/>
          </a:xfrm>
          <a:prstGeom prst="rect">
            <a:avLst/>
          </a:prstGeom>
          <a:noFill/>
        </p:spPr>
        <p:txBody>
          <a:bodyPr wrap="square" lIns="54864" rIns="54864" tIns="27432" bIns="27432" anchor="t">
            <a:noAutofit/>
          </a:bodyPr>
          <a:lstStyle/>
          <a:p>
            <a:pPr algn="l">
              <a:spcAft>
                <a:spcPts val="1000"/>
              </a:spcAft>
            </a:pPr>
            <a:r>
              <a:rPr sz="2200" b="1" i="0">
                <a:solidFill>
                  <a:srgbClr val="1F497D"/>
                </a:solidFill>
                <a:latin typeface="Trebuchet MS"/>
              </a:rPr>
              <a:t>Core deliverable</a:t>
            </a:r>
          </a:p>
          <a:p>
            <a:pPr algn="l" marL="292608" indent="-292608">
              <a:spcAft>
                <a:spcPts val="800"/>
              </a:spcAft>
              <a:buClr>
                <a:srgbClr val="D7014D"/>
              </a:buClr>
              <a:buFont typeface="Arial"/>
              <a:buChar char="•"/>
            </a:pPr>
            <a:r>
              <a:rPr sz="2200" b="0" i="0">
                <a:solidFill>
                  <a:srgbClr val="1A1A1A"/>
                </a:solidFill>
                <a:latin typeface="Trebuchet MS"/>
              </a:rPr>
              <a:t>Audio-visual recogniser and captioning demo</a:t>
            </a:r>
          </a:p>
          <a:p>
            <a:pPr algn="l" marL="292608" indent="-292608">
              <a:spcAft>
                <a:spcPts val="800"/>
              </a:spcAft>
              <a:buClr>
                <a:srgbClr val="D7014D"/>
              </a:buClr>
              <a:buFont typeface="Arial"/>
              <a:buChar char="•"/>
            </a:pPr>
            <a:r>
              <a:rPr sz="2200" b="0" i="0">
                <a:solidFill>
                  <a:srgbClr val="1A1A1A"/>
                </a:solidFill>
                <a:latin typeface="Trebuchet MS"/>
              </a:rPr>
              <a:t>Objectives 1 and 2</a:t>
            </a:r>
          </a:p>
          <a:p>
            <a:pPr algn="l" marL="292608" indent="-292608">
              <a:spcAft>
                <a:spcPts val="800"/>
              </a:spcAft>
              <a:buClr>
                <a:srgbClr val="D7014D"/>
              </a:buClr>
              <a:buFont typeface="Arial"/>
              <a:buChar char="•"/>
            </a:pPr>
            <a:r>
              <a:rPr sz="2200" b="0" i="0">
                <a:solidFill>
                  <a:srgbClr val="1A1A1A"/>
                </a:solidFill>
                <a:latin typeface="Trebuchet MS"/>
              </a:rPr>
              <a:t>GRID [9] + MUSAN noise [10] at clean, 10, 5, 0 and −5 dB SNR</a:t>
            </a:r>
          </a:p>
          <a:p>
            <a:pPr algn="l" marL="292608" indent="-292608">
              <a:spcAft>
                <a:spcPts val="800"/>
              </a:spcAft>
              <a:buClr>
                <a:srgbClr val="D7014D"/>
              </a:buClr>
              <a:buFont typeface="Arial"/>
              <a:buChar char="•"/>
            </a:pPr>
            <a:r>
              <a:rPr sz="2200" b="0" i="0">
                <a:solidFill>
                  <a:srgbClr val="1A1A1A"/>
                </a:solidFill>
                <a:latin typeface="Trebuchet MS"/>
              </a:rPr>
              <a:t>WER and CER on held-out speakers</a:t>
            </a:r>
          </a:p>
        </p:txBody>
      </p:sp>
      <p:sp>
        <p:nvSpPr>
          <p:cNvPr id="5" name="Rounded Rectangle 4"/>
          <p:cNvSpPr/>
          <p:nvPr/>
        </p:nvSpPr>
        <p:spPr>
          <a:xfrm>
            <a:off x="6281928" y="1783080"/>
            <a:ext cx="5074920" cy="4069080"/>
          </a:xfrm>
          <a:prstGeom prst="roundRect">
            <a:avLst>
              <a:gd name="adj" fmla="val 2247"/>
            </a:avLst>
          </a:prstGeom>
          <a:solidFill>
            <a:srgbClr val="F2F2F2"/>
          </a:solidFill>
          <a:ln w="15875">
            <a:solidFill>
              <a:srgbClr val="595959"/>
            </a:solidFill>
          </a:ln>
        </p:spPr>
        <p:txBody>
          <a:bodyPr rtlCol="0" anchor="t" wrap="square" lIns="54864" rIns="54864" tIns="27432" bIns="27432">
            <a:noAutofit/>
          </a:bodyPr>
          <a:lstStyle/>
          <a:p>
            <a:pPr algn="l">
              <a:spcAft>
                <a:spcPts val="600"/>
              </a:spcAft>
            </a:pPr>
          </a:p>
        </p:txBody>
      </p:sp>
      <p:sp>
        <p:nvSpPr>
          <p:cNvPr id="6" name="TextBox 5"/>
          <p:cNvSpPr txBox="1"/>
          <p:nvPr/>
        </p:nvSpPr>
        <p:spPr>
          <a:xfrm>
            <a:off x="6510528" y="1920240"/>
            <a:ext cx="4663440" cy="3840480"/>
          </a:xfrm>
          <a:prstGeom prst="rect">
            <a:avLst/>
          </a:prstGeom>
          <a:noFill/>
        </p:spPr>
        <p:txBody>
          <a:bodyPr wrap="square" lIns="54864" rIns="54864" tIns="27432" bIns="27432" anchor="t">
            <a:noAutofit/>
          </a:bodyPr>
          <a:lstStyle/>
          <a:p>
            <a:pPr algn="l">
              <a:spcAft>
                <a:spcPts val="1000"/>
              </a:spcAft>
            </a:pPr>
            <a:r>
              <a:rPr sz="2200" b="1" i="0">
                <a:solidFill>
                  <a:srgbClr val="1F497D"/>
                </a:solidFill>
                <a:latin typeface="Trebuchet MS"/>
              </a:rPr>
              <a:t>Optional extensions</a:t>
            </a:r>
          </a:p>
          <a:p>
            <a:pPr algn="l" marL="292608" indent="-292608">
              <a:spcAft>
                <a:spcPts val="800"/>
              </a:spcAft>
              <a:buClr>
                <a:srgbClr val="D7014D"/>
              </a:buClr>
              <a:buFont typeface="Arial"/>
              <a:buChar char="•"/>
            </a:pPr>
            <a:r>
              <a:rPr sz="2200" b="0" i="0">
                <a:solidFill>
                  <a:srgbClr val="1A1A1A"/>
                </a:solidFill>
                <a:latin typeface="Trebuchet MS"/>
              </a:rPr>
              <a:t>Emotion detection (objective 3)</a:t>
            </a:r>
          </a:p>
          <a:p>
            <a:pPr algn="l" marL="292608" indent="-292608">
              <a:spcAft>
                <a:spcPts val="800"/>
              </a:spcAft>
              <a:buClr>
                <a:srgbClr val="D7014D"/>
              </a:buClr>
              <a:buFont typeface="Arial"/>
              <a:buChar char="•"/>
            </a:pPr>
            <a:r>
              <a:rPr sz="2200" b="0" i="0">
                <a:solidFill>
                  <a:srgbClr val="1A1A1A"/>
                </a:solidFill>
                <a:latin typeface="Trebuchet MS"/>
              </a:rPr>
              <a:t>Language identification (objective 4)</a:t>
            </a:r>
          </a:p>
          <a:p>
            <a:pPr algn="l" marL="292608" indent="-292608">
              <a:spcAft>
                <a:spcPts val="800"/>
              </a:spcAft>
              <a:buClr>
                <a:srgbClr val="D7014D"/>
              </a:buClr>
              <a:buFont typeface="Arial"/>
              <a:buChar char="•"/>
            </a:pPr>
            <a:r>
              <a:rPr sz="2200" b="0" i="0">
                <a:solidFill>
                  <a:srgbClr val="1A1A1A"/>
                </a:solidFill>
                <a:latin typeface="Trebuchet MS"/>
              </a:rPr>
              <a:t>GRID has no emotion labels and only one language</a:t>
            </a:r>
          </a:p>
          <a:p>
            <a:pPr algn="l" marL="292608" indent="-292608">
              <a:spcAft>
                <a:spcPts val="800"/>
              </a:spcAft>
              <a:buClr>
                <a:srgbClr val="D7014D"/>
              </a:buClr>
              <a:buFont typeface="Arial"/>
              <a:buChar char="•"/>
            </a:pPr>
            <a:r>
              <a:rPr sz="2200" b="0" i="0">
                <a:solidFill>
                  <a:srgbClr val="1A1A1A"/>
                </a:solidFill>
                <a:latin typeface="Trebuchet MS"/>
              </a:rPr>
              <a:t>Separate modules, started only after the core works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Architecture: two parallel streams</a:t>
            </a:r>
          </a:p>
        </p:txBody>
      </p:sp>
      <p:sp>
        <p:nvSpPr>
          <p:cNvPr id="3" name="TextBox 2"/>
          <p:cNvSpPr txBox="1"/>
          <p:nvPr/>
        </p:nvSpPr>
        <p:spPr>
          <a:xfrm>
            <a:off x="841248" y="1783080"/>
            <a:ext cx="5486400" cy="411480"/>
          </a:xfrm>
          <a:prstGeom prst="rect">
            <a:avLst/>
          </a:prstGeom>
          <a:noFill/>
        </p:spPr>
        <p:txBody>
          <a:bodyPr wrap="square" lIns="54864" rIns="54864" tIns="27432" bIns="27432" anchor="t">
            <a:noAutofit/>
          </a:bodyPr>
          <a:lstStyle/>
          <a:p>
            <a:pPr algn="l">
              <a:spcAft>
                <a:spcPts val="0"/>
              </a:spcAft>
            </a:pPr>
            <a:r>
              <a:rPr sz="2200" b="1" i="0">
                <a:solidFill>
                  <a:srgbClr val="C55A11"/>
                </a:solidFill>
                <a:latin typeface="Trebuchet MS"/>
              </a:rPr>
              <a:t>Visual stream</a:t>
            </a:r>
          </a:p>
        </p:txBody>
      </p:sp>
      <p:sp>
        <p:nvSpPr>
          <p:cNvPr id="4" name="Rounded Rectangle 3"/>
          <p:cNvSpPr/>
          <p:nvPr/>
        </p:nvSpPr>
        <p:spPr>
          <a:xfrm>
            <a:off x="841248" y="2240280"/>
            <a:ext cx="1828800" cy="1051560"/>
          </a:xfrm>
          <a:prstGeom prst="roundRect">
            <a:avLst>
              <a:gd name="adj" fmla="val 8695"/>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Video</a:t>
            </a:r>
          </a:p>
          <a:p>
            <a:pPr algn="ctr">
              <a:spcAft>
                <a:spcPts val="0"/>
              </a:spcAft>
            </a:pPr>
            <a:r>
              <a:rPr sz="2200" b="0" i="0">
                <a:solidFill>
                  <a:srgbClr val="1A1A1A"/>
                </a:solidFill>
                <a:latin typeface="Trebuchet MS"/>
              </a:rPr>
              <a:t>25 fps</a:t>
            </a:r>
          </a:p>
        </p:txBody>
      </p:sp>
      <p:cxnSp>
        <p:nvCxnSpPr>
          <p:cNvPr id="5" name="Connector 4"/>
          <p:cNvCxnSpPr/>
          <p:nvPr/>
        </p:nvCxnSpPr>
        <p:spPr>
          <a:xfrm>
            <a:off x="2697479" y="2766060"/>
            <a:ext cx="288037" cy="0"/>
          </a:xfrm>
          <a:prstGeom prst="line">
            <a:avLst/>
          </a:prstGeom>
          <a:ln w="25400">
            <a:solidFill>
              <a:srgbClr val="595959"/>
            </a:solidFill>
            <a:tailEnd type="triangle" w="med" len="med"/>
          </a:ln>
        </p:spPr>
      </p:cxnSp>
      <p:sp>
        <p:nvSpPr>
          <p:cNvPr id="6" name="Rounded Rectangle 5"/>
          <p:cNvSpPr/>
          <p:nvPr/>
        </p:nvSpPr>
        <p:spPr>
          <a:xfrm>
            <a:off x="3012948" y="2240280"/>
            <a:ext cx="1828800" cy="1051560"/>
          </a:xfrm>
          <a:prstGeom prst="roundRect">
            <a:avLst>
              <a:gd name="adj" fmla="val 8695"/>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Decode</a:t>
            </a:r>
          </a:p>
          <a:p>
            <a:pPr algn="ctr">
              <a:spcAft>
                <a:spcPts val="0"/>
              </a:spcAft>
            </a:pPr>
            <a:r>
              <a:rPr sz="2200" b="0" i="0">
                <a:solidFill>
                  <a:srgbClr val="1A1A1A"/>
                </a:solidFill>
                <a:latin typeface="Trebuchet MS"/>
              </a:rPr>
              <a:t>frames</a:t>
            </a:r>
          </a:p>
        </p:txBody>
      </p:sp>
      <p:cxnSp>
        <p:nvCxnSpPr>
          <p:cNvPr id="7" name="Connector 6"/>
          <p:cNvCxnSpPr/>
          <p:nvPr/>
        </p:nvCxnSpPr>
        <p:spPr>
          <a:xfrm>
            <a:off x="4869180" y="2766060"/>
            <a:ext cx="288036" cy="0"/>
          </a:xfrm>
          <a:prstGeom prst="line">
            <a:avLst/>
          </a:prstGeom>
          <a:ln w="25400">
            <a:solidFill>
              <a:srgbClr val="595959"/>
            </a:solidFill>
            <a:tailEnd type="triangle" w="med" len="med"/>
          </a:ln>
        </p:spPr>
      </p:cxnSp>
      <p:sp>
        <p:nvSpPr>
          <p:cNvPr id="8" name="Rounded Rectangle 7"/>
          <p:cNvSpPr/>
          <p:nvPr/>
        </p:nvSpPr>
        <p:spPr>
          <a:xfrm>
            <a:off x="5184648" y="2240280"/>
            <a:ext cx="1828800" cy="1051560"/>
          </a:xfrm>
          <a:prstGeom prst="roundRect">
            <a:avLst>
              <a:gd name="adj" fmla="val 8695"/>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Face Mesh</a:t>
            </a:r>
          </a:p>
          <a:p>
            <a:pPr algn="ctr">
              <a:spcAft>
                <a:spcPts val="0"/>
              </a:spcAft>
            </a:pPr>
            <a:r>
              <a:rPr sz="2200" b="0" i="0">
                <a:solidFill>
                  <a:srgbClr val="1A1A1A"/>
                </a:solidFill>
                <a:latin typeface="Trebuchet MS"/>
              </a:rPr>
              <a:t>468 points</a:t>
            </a:r>
          </a:p>
        </p:txBody>
      </p:sp>
      <p:cxnSp>
        <p:nvCxnSpPr>
          <p:cNvPr id="9" name="Connector 8"/>
          <p:cNvCxnSpPr/>
          <p:nvPr/>
        </p:nvCxnSpPr>
        <p:spPr>
          <a:xfrm>
            <a:off x="7040880" y="2766060"/>
            <a:ext cx="288036" cy="0"/>
          </a:xfrm>
          <a:prstGeom prst="line">
            <a:avLst/>
          </a:prstGeom>
          <a:ln w="25400">
            <a:solidFill>
              <a:srgbClr val="595959"/>
            </a:solidFill>
            <a:tailEnd type="triangle" w="med" len="med"/>
          </a:ln>
        </p:spPr>
      </p:cxnSp>
      <p:sp>
        <p:nvSpPr>
          <p:cNvPr id="10" name="Rounded Rectangle 9"/>
          <p:cNvSpPr/>
          <p:nvPr/>
        </p:nvSpPr>
        <p:spPr>
          <a:xfrm>
            <a:off x="7356348" y="2240280"/>
            <a:ext cx="1828800" cy="1051560"/>
          </a:xfrm>
          <a:prstGeom prst="roundRect">
            <a:avLst>
              <a:gd name="adj" fmla="val 8695"/>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Mouth crop</a:t>
            </a:r>
          </a:p>
          <a:p>
            <a:pPr algn="ctr">
              <a:spcAft>
                <a:spcPts val="0"/>
              </a:spcAft>
            </a:pPr>
            <a:r>
              <a:rPr sz="2200" b="0" i="0">
                <a:solidFill>
                  <a:srgbClr val="1A1A1A"/>
                </a:solidFill>
                <a:latin typeface="Trebuchet MS"/>
              </a:rPr>
              <a:t>96×96 grey</a:t>
            </a:r>
          </a:p>
        </p:txBody>
      </p:sp>
      <p:cxnSp>
        <p:nvCxnSpPr>
          <p:cNvPr id="11" name="Connector 10"/>
          <p:cNvCxnSpPr/>
          <p:nvPr/>
        </p:nvCxnSpPr>
        <p:spPr>
          <a:xfrm>
            <a:off x="9212580" y="2766060"/>
            <a:ext cx="288036" cy="0"/>
          </a:xfrm>
          <a:prstGeom prst="line">
            <a:avLst/>
          </a:prstGeom>
          <a:ln w="25400">
            <a:solidFill>
              <a:srgbClr val="595959"/>
            </a:solidFill>
            <a:tailEnd type="triangle" w="med" len="med"/>
          </a:ln>
        </p:spPr>
      </p:cxnSp>
      <p:sp>
        <p:nvSpPr>
          <p:cNvPr id="12" name="Rounded Rectangle 11"/>
          <p:cNvSpPr/>
          <p:nvPr/>
        </p:nvSpPr>
        <p:spPr>
          <a:xfrm>
            <a:off x="9528048" y="2240280"/>
            <a:ext cx="1828800" cy="1051560"/>
          </a:xfrm>
          <a:prstGeom prst="roundRect">
            <a:avLst>
              <a:gd name="adj" fmla="val 8695"/>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3D-CNN +</a:t>
            </a:r>
          </a:p>
          <a:p>
            <a:pPr algn="ctr">
              <a:spcAft>
                <a:spcPts val="0"/>
              </a:spcAft>
            </a:pPr>
            <a:r>
              <a:rPr sz="2200" b="0" i="0">
                <a:solidFill>
                  <a:srgbClr val="1A1A1A"/>
                </a:solidFill>
                <a:latin typeface="Trebuchet MS"/>
              </a:rPr>
              <a:t>BiLSTM</a:t>
            </a:r>
          </a:p>
        </p:txBody>
      </p:sp>
      <p:sp>
        <p:nvSpPr>
          <p:cNvPr id="13" name="TextBox 12"/>
          <p:cNvSpPr txBox="1"/>
          <p:nvPr/>
        </p:nvSpPr>
        <p:spPr>
          <a:xfrm>
            <a:off x="841248" y="3520439"/>
            <a:ext cx="5486400" cy="411480"/>
          </a:xfrm>
          <a:prstGeom prst="rect">
            <a:avLst/>
          </a:prstGeom>
          <a:noFill/>
        </p:spPr>
        <p:txBody>
          <a:bodyPr wrap="square" lIns="54864" rIns="54864" tIns="27432" bIns="27432" anchor="t">
            <a:noAutofit/>
          </a:bodyPr>
          <a:lstStyle/>
          <a:p>
            <a:pPr algn="l">
              <a:spcAft>
                <a:spcPts val="0"/>
              </a:spcAft>
            </a:pPr>
            <a:r>
              <a:rPr sz="2200" b="1" i="0">
                <a:solidFill>
                  <a:srgbClr val="2E75B6"/>
                </a:solidFill>
                <a:latin typeface="Trebuchet MS"/>
              </a:rPr>
              <a:t>Audio stream</a:t>
            </a:r>
          </a:p>
        </p:txBody>
      </p:sp>
      <p:sp>
        <p:nvSpPr>
          <p:cNvPr id="14" name="Rounded Rectangle 13"/>
          <p:cNvSpPr/>
          <p:nvPr/>
        </p:nvSpPr>
        <p:spPr>
          <a:xfrm>
            <a:off x="841248" y="3977639"/>
            <a:ext cx="182880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Audio</a:t>
            </a:r>
          </a:p>
          <a:p>
            <a:pPr algn="ctr">
              <a:spcAft>
                <a:spcPts val="0"/>
              </a:spcAft>
            </a:pPr>
            <a:r>
              <a:rPr sz="2200" b="0" i="0">
                <a:solidFill>
                  <a:srgbClr val="1A1A1A"/>
                </a:solidFill>
                <a:latin typeface="Trebuchet MS"/>
              </a:rPr>
              <a:t>input</a:t>
            </a:r>
          </a:p>
        </p:txBody>
      </p:sp>
      <p:cxnSp>
        <p:nvCxnSpPr>
          <p:cNvPr id="15" name="Connector 14"/>
          <p:cNvCxnSpPr/>
          <p:nvPr/>
        </p:nvCxnSpPr>
        <p:spPr>
          <a:xfrm>
            <a:off x="2697479" y="4503420"/>
            <a:ext cx="288037" cy="0"/>
          </a:xfrm>
          <a:prstGeom prst="line">
            <a:avLst/>
          </a:prstGeom>
          <a:ln w="25400">
            <a:solidFill>
              <a:srgbClr val="595959"/>
            </a:solidFill>
            <a:tailEnd type="triangle" w="med" len="med"/>
          </a:ln>
        </p:spPr>
      </p:cxnSp>
      <p:sp>
        <p:nvSpPr>
          <p:cNvPr id="16" name="Rounded Rectangle 15"/>
          <p:cNvSpPr/>
          <p:nvPr/>
        </p:nvSpPr>
        <p:spPr>
          <a:xfrm>
            <a:off x="3012948" y="3977639"/>
            <a:ext cx="182880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16 kHz mono</a:t>
            </a:r>
          </a:p>
          <a:p>
            <a:pPr algn="ctr">
              <a:spcAft>
                <a:spcPts val="0"/>
              </a:spcAft>
            </a:pPr>
            <a:r>
              <a:rPr sz="2200" b="0" i="0">
                <a:solidFill>
                  <a:srgbClr val="1A1A1A"/>
                </a:solidFill>
                <a:latin typeface="Trebuchet MS"/>
              </a:rPr>
              <a:t>RMS norm</a:t>
            </a:r>
          </a:p>
        </p:txBody>
      </p:sp>
      <p:cxnSp>
        <p:nvCxnSpPr>
          <p:cNvPr id="17" name="Connector 16"/>
          <p:cNvCxnSpPr/>
          <p:nvPr/>
        </p:nvCxnSpPr>
        <p:spPr>
          <a:xfrm>
            <a:off x="4869180" y="4503420"/>
            <a:ext cx="288036" cy="0"/>
          </a:xfrm>
          <a:prstGeom prst="line">
            <a:avLst/>
          </a:prstGeom>
          <a:ln w="25400">
            <a:solidFill>
              <a:srgbClr val="595959"/>
            </a:solidFill>
            <a:tailEnd type="triangle" w="med" len="med"/>
          </a:ln>
        </p:spPr>
      </p:cxnSp>
      <p:sp>
        <p:nvSpPr>
          <p:cNvPr id="18" name="Rounded Rectangle 17"/>
          <p:cNvSpPr/>
          <p:nvPr/>
        </p:nvSpPr>
        <p:spPr>
          <a:xfrm>
            <a:off x="5184648" y="3977639"/>
            <a:ext cx="182880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80-band</a:t>
            </a:r>
          </a:p>
          <a:p>
            <a:pPr algn="ctr">
              <a:spcAft>
                <a:spcPts val="0"/>
              </a:spcAft>
            </a:pPr>
            <a:r>
              <a:rPr sz="2200" b="0" i="0">
                <a:solidFill>
                  <a:srgbClr val="1A1A1A"/>
                </a:solidFill>
                <a:latin typeface="Trebuchet MS"/>
              </a:rPr>
              <a:t>log-Mel</a:t>
            </a:r>
          </a:p>
        </p:txBody>
      </p:sp>
      <p:cxnSp>
        <p:nvCxnSpPr>
          <p:cNvPr id="19" name="Connector 18"/>
          <p:cNvCxnSpPr/>
          <p:nvPr/>
        </p:nvCxnSpPr>
        <p:spPr>
          <a:xfrm>
            <a:off x="7040880" y="4503420"/>
            <a:ext cx="288036" cy="0"/>
          </a:xfrm>
          <a:prstGeom prst="line">
            <a:avLst/>
          </a:prstGeom>
          <a:ln w="25400">
            <a:solidFill>
              <a:srgbClr val="595959"/>
            </a:solidFill>
            <a:tailEnd type="triangle" w="med" len="med"/>
          </a:ln>
        </p:spPr>
      </p:cxnSp>
      <p:sp>
        <p:nvSpPr>
          <p:cNvPr id="20" name="Rounded Rectangle 19"/>
          <p:cNvSpPr/>
          <p:nvPr/>
        </p:nvSpPr>
        <p:spPr>
          <a:xfrm>
            <a:off x="7356348" y="3977639"/>
            <a:ext cx="182880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Conv1d</a:t>
            </a:r>
          </a:p>
          <a:p>
            <a:pPr algn="ctr">
              <a:spcAft>
                <a:spcPts val="0"/>
              </a:spcAft>
            </a:pPr>
            <a:r>
              <a:rPr sz="2200" b="0" i="0">
                <a:solidFill>
                  <a:srgbClr val="1A1A1A"/>
                </a:solidFill>
                <a:latin typeface="Trebuchet MS"/>
              </a:rPr>
              <a:t>100→25 fps</a:t>
            </a:r>
          </a:p>
        </p:txBody>
      </p:sp>
      <p:cxnSp>
        <p:nvCxnSpPr>
          <p:cNvPr id="21" name="Connector 20"/>
          <p:cNvCxnSpPr/>
          <p:nvPr/>
        </p:nvCxnSpPr>
        <p:spPr>
          <a:xfrm>
            <a:off x="9212580" y="4503420"/>
            <a:ext cx="288036" cy="0"/>
          </a:xfrm>
          <a:prstGeom prst="line">
            <a:avLst/>
          </a:prstGeom>
          <a:ln w="25400">
            <a:solidFill>
              <a:srgbClr val="595959"/>
            </a:solidFill>
            <a:tailEnd type="triangle" w="med" len="med"/>
          </a:ln>
        </p:spPr>
      </p:cxnSp>
      <p:sp>
        <p:nvSpPr>
          <p:cNvPr id="22" name="Rounded Rectangle 21"/>
          <p:cNvSpPr/>
          <p:nvPr/>
        </p:nvSpPr>
        <p:spPr>
          <a:xfrm>
            <a:off x="9528048" y="3977639"/>
            <a:ext cx="182880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BiLSTM</a:t>
            </a:r>
          </a:p>
          <a:p>
            <a:pPr algn="ctr">
              <a:spcAft>
                <a:spcPts val="0"/>
              </a:spcAft>
            </a:pPr>
            <a:r>
              <a:rPr sz="2200" b="0" i="0">
                <a:solidFill>
                  <a:srgbClr val="1A1A1A"/>
                </a:solidFill>
                <a:latin typeface="Trebuchet MS"/>
              </a:rPr>
              <a:t>encoder</a:t>
            </a:r>
          </a:p>
        </p:txBody>
      </p:sp>
      <p:sp>
        <p:nvSpPr>
          <p:cNvPr id="23" name="Rounded Rectangle 22"/>
          <p:cNvSpPr/>
          <p:nvPr/>
        </p:nvSpPr>
        <p:spPr>
          <a:xfrm>
            <a:off x="841248" y="5257800"/>
            <a:ext cx="10515600" cy="640080"/>
          </a:xfrm>
          <a:prstGeom prst="roundRect">
            <a:avLst>
              <a:gd name="adj" fmla="val 14285"/>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Both streams output B × 75 × 512 on the same 40 ms grid, then go to fusion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Architecture: fusion to caption</a:t>
            </a:r>
          </a:p>
        </p:txBody>
      </p:sp>
      <p:sp>
        <p:nvSpPr>
          <p:cNvPr id="3" name="Rounded Rectangle 2"/>
          <p:cNvSpPr/>
          <p:nvPr/>
        </p:nvSpPr>
        <p:spPr>
          <a:xfrm>
            <a:off x="4224528" y="1783080"/>
            <a:ext cx="3383280" cy="548640"/>
          </a:xfrm>
          <a:prstGeom prst="roundRect">
            <a:avLst>
              <a:gd name="adj" fmla="val 16666"/>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Visual: B×75×512</a:t>
            </a:r>
          </a:p>
        </p:txBody>
      </p:sp>
      <p:sp>
        <p:nvSpPr>
          <p:cNvPr id="4" name="Rounded Rectangle 3"/>
          <p:cNvSpPr/>
          <p:nvPr/>
        </p:nvSpPr>
        <p:spPr>
          <a:xfrm>
            <a:off x="7973567" y="1783080"/>
            <a:ext cx="3383280" cy="548640"/>
          </a:xfrm>
          <a:prstGeom prst="roundRect">
            <a:avLst>
              <a:gd name="adj" fmla="val 16666"/>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Audio: B×75×512</a:t>
            </a:r>
          </a:p>
        </p:txBody>
      </p:sp>
      <p:sp>
        <p:nvSpPr>
          <p:cNvPr id="5" name="Rounded Rectangle 4"/>
          <p:cNvSpPr/>
          <p:nvPr/>
        </p:nvSpPr>
        <p:spPr>
          <a:xfrm>
            <a:off x="4224528" y="2697480"/>
            <a:ext cx="7132320" cy="548640"/>
          </a:xfrm>
          <a:prstGeom prst="roundRect">
            <a:avLst>
              <a:gd name="adj" fmla="val 16666"/>
            </a:avLst>
          </a:prstGeom>
          <a:solidFill>
            <a:srgbClr val="E2EFDA"/>
          </a:solidFill>
          <a:ln w="15875">
            <a:solidFill>
              <a:srgbClr val="548235"/>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Cross-modal attention + gated fusion</a:t>
            </a:r>
          </a:p>
        </p:txBody>
      </p:sp>
      <p:cxnSp>
        <p:nvCxnSpPr>
          <p:cNvPr id="6" name="Connector 5"/>
          <p:cNvCxnSpPr/>
          <p:nvPr/>
        </p:nvCxnSpPr>
        <p:spPr>
          <a:xfrm>
            <a:off x="7790688" y="3273552"/>
            <a:ext cx="0" cy="310896"/>
          </a:xfrm>
          <a:prstGeom prst="line">
            <a:avLst/>
          </a:prstGeom>
          <a:ln w="25400">
            <a:solidFill>
              <a:srgbClr val="595959"/>
            </a:solidFill>
            <a:tailEnd type="triangle" w="med" len="med"/>
          </a:ln>
        </p:spPr>
      </p:cxnSp>
      <p:sp>
        <p:nvSpPr>
          <p:cNvPr id="7" name="Rounded Rectangle 6"/>
          <p:cNvSpPr/>
          <p:nvPr/>
        </p:nvSpPr>
        <p:spPr>
          <a:xfrm>
            <a:off x="4224528" y="3611880"/>
            <a:ext cx="7132320" cy="548640"/>
          </a:xfrm>
          <a:prstGeom prst="roundRect">
            <a:avLst>
              <a:gd name="adj" fmla="val 16666"/>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BiLSTM → linear → log-softmax, 28 symbols</a:t>
            </a:r>
          </a:p>
        </p:txBody>
      </p:sp>
      <p:cxnSp>
        <p:nvCxnSpPr>
          <p:cNvPr id="8" name="Connector 7"/>
          <p:cNvCxnSpPr/>
          <p:nvPr/>
        </p:nvCxnSpPr>
        <p:spPr>
          <a:xfrm>
            <a:off x="7790688" y="4187952"/>
            <a:ext cx="0" cy="310896"/>
          </a:xfrm>
          <a:prstGeom prst="line">
            <a:avLst/>
          </a:prstGeom>
          <a:ln w="25400">
            <a:solidFill>
              <a:srgbClr val="595959"/>
            </a:solidFill>
            <a:tailEnd type="triangle" w="med" len="med"/>
          </a:ln>
        </p:spPr>
      </p:cxnSp>
      <p:sp>
        <p:nvSpPr>
          <p:cNvPr id="9" name="Rounded Rectangle 8"/>
          <p:cNvSpPr/>
          <p:nvPr/>
        </p:nvSpPr>
        <p:spPr>
          <a:xfrm>
            <a:off x="4224528" y="4526280"/>
            <a:ext cx="7132320" cy="548640"/>
          </a:xfrm>
          <a:prstGeom prst="roundRect">
            <a:avLst>
              <a:gd name="adj" fmla="val 16666"/>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CTC decode: greedy or beam search</a:t>
            </a:r>
          </a:p>
        </p:txBody>
      </p:sp>
      <p:cxnSp>
        <p:nvCxnSpPr>
          <p:cNvPr id="10" name="Connector 9"/>
          <p:cNvCxnSpPr/>
          <p:nvPr/>
        </p:nvCxnSpPr>
        <p:spPr>
          <a:xfrm>
            <a:off x="7790688" y="5102352"/>
            <a:ext cx="0" cy="310896"/>
          </a:xfrm>
          <a:prstGeom prst="line">
            <a:avLst/>
          </a:prstGeom>
          <a:ln w="25400">
            <a:solidFill>
              <a:srgbClr val="595959"/>
            </a:solidFill>
            <a:tailEnd type="triangle" w="med" len="med"/>
          </a:ln>
        </p:spPr>
      </p:cxnSp>
      <p:sp>
        <p:nvSpPr>
          <p:cNvPr id="11" name="Rounded Rectangle 10"/>
          <p:cNvSpPr/>
          <p:nvPr/>
        </p:nvSpPr>
        <p:spPr>
          <a:xfrm>
            <a:off x="4224528" y="5440680"/>
            <a:ext cx="7132320" cy="548640"/>
          </a:xfrm>
          <a:prstGeom prst="roundRect">
            <a:avLst>
              <a:gd name="adj" fmla="val 16666"/>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Caption: Gradio page or live overlay</a:t>
            </a:r>
          </a:p>
        </p:txBody>
      </p:sp>
      <p:cxnSp>
        <p:nvCxnSpPr>
          <p:cNvPr id="12" name="Connector 11"/>
          <p:cNvCxnSpPr/>
          <p:nvPr/>
        </p:nvCxnSpPr>
        <p:spPr>
          <a:xfrm>
            <a:off x="5916168" y="2359152"/>
            <a:ext cx="0" cy="310896"/>
          </a:xfrm>
          <a:prstGeom prst="line">
            <a:avLst/>
          </a:prstGeom>
          <a:ln w="25400">
            <a:solidFill>
              <a:srgbClr val="595959"/>
            </a:solidFill>
            <a:tailEnd type="triangle" w="med" len="med"/>
          </a:ln>
        </p:spPr>
      </p:cxnSp>
      <p:cxnSp>
        <p:nvCxnSpPr>
          <p:cNvPr id="13" name="Connector 12"/>
          <p:cNvCxnSpPr/>
          <p:nvPr/>
        </p:nvCxnSpPr>
        <p:spPr>
          <a:xfrm>
            <a:off x="9665208" y="2359152"/>
            <a:ext cx="0" cy="310896"/>
          </a:xfrm>
          <a:prstGeom prst="line">
            <a:avLst/>
          </a:prstGeom>
          <a:ln w="25400">
            <a:solidFill>
              <a:srgbClr val="595959"/>
            </a:solidFill>
            <a:tailEnd type="triangle" w="med" len="med"/>
          </a:ln>
        </p:spPr>
      </p:cxnSp>
      <p:sp>
        <p:nvSpPr>
          <p:cNvPr id="14" name="Rounded Rectangle 13"/>
          <p:cNvSpPr/>
          <p:nvPr/>
        </p:nvSpPr>
        <p:spPr>
          <a:xfrm>
            <a:off x="841248" y="2542032"/>
            <a:ext cx="2926080" cy="868680"/>
          </a:xfrm>
          <a:prstGeom prst="roundRect">
            <a:avLst>
              <a:gd name="adj" fmla="val 10526"/>
            </a:avLst>
          </a:prstGeom>
          <a:solidFill>
            <a:srgbClr val="FDECEC"/>
          </a:solidFill>
          <a:ln w="15875">
            <a:solidFill>
              <a:srgbClr val="C00000"/>
            </a:solidFill>
            <a:prstDash val="dash"/>
          </a:ln>
        </p:spPr>
        <p:txBody>
          <a:bodyPr rtlCol="0" anchor="ctr" wrap="square" lIns="73152" rIns="73152" tIns="27432" bIns="27432">
            <a:noAutofit/>
          </a:bodyPr>
          <a:lstStyle/>
          <a:p>
            <a:pPr algn="ctr">
              <a:spcAft>
                <a:spcPts val="0"/>
              </a:spcAft>
            </a:pPr>
            <a:r>
              <a:rPr sz="2200" b="0" i="0">
                <a:solidFill>
                  <a:srgbClr val="1A1A1A"/>
                </a:solidFill>
                <a:latin typeface="Trebuchet MS"/>
              </a:rPr>
              <a:t>Modality dropout</a:t>
            </a:r>
          </a:p>
          <a:p>
            <a:pPr algn="ctr">
              <a:spcAft>
                <a:spcPts val="0"/>
              </a:spcAft>
            </a:pPr>
            <a:r>
              <a:rPr sz="2200" b="0" i="0">
                <a:solidFill>
                  <a:srgbClr val="1A1A1A"/>
                </a:solidFill>
                <a:latin typeface="Trebuchet MS"/>
              </a:rPr>
              <a:t>training only</a:t>
            </a:r>
          </a:p>
        </p:txBody>
      </p:sp>
      <p:cxnSp>
        <p:nvCxnSpPr>
          <p:cNvPr id="15" name="Connector 14"/>
          <p:cNvCxnSpPr/>
          <p:nvPr/>
        </p:nvCxnSpPr>
        <p:spPr>
          <a:xfrm>
            <a:off x="3794760" y="2971800"/>
            <a:ext cx="402336" cy="0"/>
          </a:xfrm>
          <a:prstGeom prst="line">
            <a:avLst/>
          </a:prstGeom>
          <a:ln w="25400">
            <a:solidFill>
              <a:srgbClr val="C00000"/>
            </a:solidFill>
            <a:prstDash val="dash"/>
            <a:tailEnd type="triangle" w="med" len="med"/>
          </a:ln>
        </p:spPr>
      </p:cxnSp>
      <p:sp>
        <p:nvSpPr>
          <p:cNvPr id="16" name="Rounded Rectangle 15"/>
          <p:cNvSpPr/>
          <p:nvPr/>
        </p:nvSpPr>
        <p:spPr>
          <a:xfrm>
            <a:off x="841248" y="3456432"/>
            <a:ext cx="2926080" cy="868680"/>
          </a:xfrm>
          <a:prstGeom prst="roundRect">
            <a:avLst>
              <a:gd name="adj" fmla="val 10526"/>
            </a:avLst>
          </a:prstGeom>
          <a:solidFill>
            <a:srgbClr val="FDECEC"/>
          </a:solidFill>
          <a:ln w="15875">
            <a:solidFill>
              <a:srgbClr val="C00000"/>
            </a:solidFill>
            <a:prstDash val="dash"/>
          </a:ln>
        </p:spPr>
        <p:txBody>
          <a:bodyPr rtlCol="0" anchor="ctr" wrap="square" lIns="73152" rIns="73152" tIns="27432" bIns="27432">
            <a:noAutofit/>
          </a:bodyPr>
          <a:lstStyle/>
          <a:p>
            <a:pPr algn="ctr">
              <a:spcAft>
                <a:spcPts val="0"/>
              </a:spcAft>
            </a:pPr>
            <a:r>
              <a:rPr sz="2200" b="0" i="0">
                <a:solidFill>
                  <a:srgbClr val="1A1A1A"/>
                </a:solidFill>
                <a:latin typeface="Trebuchet MS"/>
              </a:rPr>
              <a:t>CTC loss</a:t>
            </a:r>
          </a:p>
          <a:p>
            <a:pPr algn="ctr">
              <a:spcAft>
                <a:spcPts val="0"/>
              </a:spcAft>
            </a:pPr>
            <a:r>
              <a:rPr sz="2200" b="0" i="0">
                <a:solidFill>
                  <a:srgbClr val="1A1A1A"/>
                </a:solidFill>
                <a:latin typeface="Trebuchet MS"/>
              </a:rPr>
              <a:t>training only</a:t>
            </a:r>
          </a:p>
        </p:txBody>
      </p:sp>
      <p:cxnSp>
        <p:nvCxnSpPr>
          <p:cNvPr id="17" name="Connector 16"/>
          <p:cNvCxnSpPr/>
          <p:nvPr/>
        </p:nvCxnSpPr>
        <p:spPr>
          <a:xfrm flipH="1">
            <a:off x="3794760" y="3886200"/>
            <a:ext cx="402336" cy="0"/>
          </a:xfrm>
          <a:prstGeom prst="line">
            <a:avLst/>
          </a:prstGeom>
          <a:ln w="25400">
            <a:solidFill>
              <a:srgbClr val="C00000"/>
            </a:solidFill>
            <a:prstDash val="dash"/>
            <a:tailEnd type="triangle" w="med" len="med"/>
          </a:ln>
        </p:spPr>
      </p:cxnSp>
      <p:sp>
        <p:nvSpPr>
          <p:cNvPr id="18" name="TextBox 17"/>
          <p:cNvSpPr txBox="1"/>
          <p:nvPr/>
        </p:nvSpPr>
        <p:spPr>
          <a:xfrm>
            <a:off x="841248" y="4572000"/>
            <a:ext cx="3108960" cy="128016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Dashed red parts run only during 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Training and inference share code</a:t>
            </a:r>
          </a:p>
        </p:txBody>
      </p:sp>
      <p:graphicFrame>
        <p:nvGraphicFramePr>
          <p:cNvPr id="3" name="Table 2"/>
          <p:cNvGraphicFramePr>
            <a:graphicFrameLocks noGrp="1"/>
          </p:cNvGraphicFramePr>
          <p:nvPr/>
        </p:nvGraphicFramePr>
        <p:xfrm>
          <a:off x="841248" y="1783080"/>
          <a:ext cx="10515600" cy="2743200"/>
        </p:xfrm>
        <a:graphic>
          <a:graphicData uri="http://schemas.openxmlformats.org/drawingml/2006/table">
            <a:tbl>
              <a:tblPr firstRow="1">
                <a:tableStyleId>{5C22544A-7EE6-4342-B048-85BDC9FD1C3A}</a:tableStyleId>
              </a:tblPr>
              <a:tblGrid>
                <a:gridCol w="2103120"/>
                <a:gridCol w="4206240"/>
                <a:gridCol w="4206240"/>
              </a:tblGrid>
              <a:tr h="457200">
                <a:tc>
                  <a:txBody>
                    <a:bodyPr wrap="square"/>
                    <a:lstStyle/>
                    <a:p>
                      <a:pPr algn="l"/>
                      <a:r>
                        <a:rPr sz="2200" b="1" i="0">
                          <a:solidFill>
                            <a:srgbClr val="FFFFFF"/>
                          </a:solidFill>
                          <a:latin typeface="Trebuchet MS"/>
                        </a:rPr>
                        <a:t>Aspect</a:t>
                      </a:r>
                    </a:p>
                  </a:txBody>
                  <a:tcPr marL="82296" marR="82296" marT="36576" marB="36576" anchor="ctr">
                    <a:solidFill>
                      <a:srgbClr val="1F497D"/>
                    </a:solidFill>
                  </a:tcPr>
                </a:tc>
                <a:tc>
                  <a:txBody>
                    <a:bodyPr wrap="square"/>
                    <a:lstStyle/>
                    <a:p>
                      <a:pPr algn="l"/>
                      <a:r>
                        <a:rPr sz="2200" b="1" i="0">
                          <a:solidFill>
                            <a:srgbClr val="FFFFFF"/>
                          </a:solidFill>
                          <a:latin typeface="Trebuchet MS"/>
                        </a:rPr>
                        <a:t>Training (offline)</a:t>
                      </a:r>
                    </a:p>
                  </a:txBody>
                  <a:tcPr marL="82296" marR="82296" marT="36576" marB="36576" anchor="ctr">
                    <a:solidFill>
                      <a:srgbClr val="1F497D"/>
                    </a:solidFill>
                  </a:tcPr>
                </a:tc>
                <a:tc>
                  <a:txBody>
                    <a:bodyPr wrap="square"/>
                    <a:lstStyle/>
                    <a:p>
                      <a:pPr algn="l"/>
                      <a:r>
                        <a:rPr sz="2200" b="1" i="0">
                          <a:solidFill>
                            <a:srgbClr val="FFFFFF"/>
                          </a:solidFill>
                          <a:latin typeface="Trebuchet MS"/>
                        </a:rPr>
                        <a:t>Inference (demo)</a:t>
                      </a:r>
                    </a:p>
                  </a:txBody>
                  <a:tcPr marL="82296" marR="82296" marT="36576" marB="36576" anchor="ctr">
                    <a:solidFill>
                      <a:srgbClr val="1F497D"/>
                    </a:solidFill>
                  </a:tcPr>
                </a:tc>
              </a:tr>
              <a:tr h="457200">
                <a:tc>
                  <a:txBody>
                    <a:bodyPr wrap="square"/>
                    <a:lstStyle/>
                    <a:p>
                      <a:pPr algn="l"/>
                      <a:r>
                        <a:rPr sz="2200" b="1" i="0">
                          <a:solidFill>
                            <a:srgbClr val="1A1A1A"/>
                          </a:solidFill>
                          <a:latin typeface="Trebuchet MS"/>
                        </a:rPr>
                        <a:t>Mouth crops</a:t>
                      </a:r>
                    </a:p>
                  </a:txBody>
                  <a:tcPr marL="82296" marR="82296" marT="36576" marB="36576" anchor="ctr">
                    <a:solidFill>
                      <a:srgbClr val="FFFFFF"/>
                    </a:solidFill>
                  </a:tcPr>
                </a:tc>
                <a:tc>
                  <a:txBody>
                    <a:bodyPr wrap="square"/>
                    <a:lstStyle/>
                    <a:p>
                      <a:pPr algn="l"/>
                      <a:r>
                        <a:rPr sz="2200" b="0" i="0">
                          <a:solidFill>
                            <a:srgbClr val="1A1A1A"/>
                          </a:solidFill>
                          <a:latin typeface="Trebuchet MS"/>
                        </a:rPr>
                        <a:t>Computed once, cached to disk</a:t>
                      </a:r>
                    </a:p>
                  </a:txBody>
                  <a:tcPr marL="82296" marR="82296" marT="36576" marB="36576" anchor="ctr">
                    <a:solidFill>
                      <a:srgbClr val="FFFFFF"/>
                    </a:solidFill>
                  </a:tcPr>
                </a:tc>
                <a:tc>
                  <a:txBody>
                    <a:bodyPr wrap="square"/>
                    <a:lstStyle/>
                    <a:p>
                      <a:pPr algn="l"/>
                      <a:r>
                        <a:rPr sz="2200" b="0" i="0">
                          <a:solidFill>
                            <a:srgbClr val="1A1A1A"/>
                          </a:solidFill>
                          <a:latin typeface="Trebuchet MS"/>
                        </a:rPr>
                        <a:t>Face Mesh on every frame</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Audio</a:t>
                      </a:r>
                    </a:p>
                  </a:txBody>
                  <a:tcPr marL="82296" marR="82296" marT="36576" marB="36576" anchor="ctr">
                    <a:solidFill>
                      <a:srgbClr val="EAF0F8"/>
                    </a:solidFill>
                  </a:tcPr>
                </a:tc>
                <a:tc>
                  <a:txBody>
                    <a:bodyPr wrap="square"/>
                    <a:lstStyle/>
                    <a:p>
                      <a:pPr algn="l"/>
                      <a:r>
                        <a:rPr sz="2200" b="0" i="0">
                          <a:solidFill>
                            <a:srgbClr val="1A1A1A"/>
                          </a:solidFill>
                          <a:latin typeface="Trebuchet MS"/>
                        </a:rPr>
                        <a:t>GRID + MUSAN noise, mixed on the fly</a:t>
                      </a:r>
                    </a:p>
                  </a:txBody>
                  <a:tcPr marL="82296" marR="82296" marT="36576" marB="36576" anchor="ctr">
                    <a:solidFill>
                      <a:srgbClr val="EAF0F8"/>
                    </a:solidFill>
                  </a:tcPr>
                </a:tc>
                <a:tc>
                  <a:txBody>
                    <a:bodyPr wrap="square"/>
                    <a:lstStyle/>
                    <a:p>
                      <a:pPr algn="l"/>
                      <a:r>
                        <a:rPr sz="2200" b="0" i="0">
                          <a:solidFill>
                            <a:srgbClr val="1A1A1A"/>
                          </a:solidFill>
                          <a:latin typeface="Trebuchet MS"/>
                        </a:rPr>
                        <a:t>Raw microphone, real room noise</a:t>
                      </a:r>
                    </a:p>
                  </a:txBody>
                  <a:tcPr marL="82296" marR="82296" marT="36576" marB="36576" anchor="ctr">
                    <a:solidFill>
                      <a:srgbClr val="EAF0F8"/>
                    </a:solidFill>
                  </a:tcPr>
                </a:tc>
              </a:tr>
              <a:tr h="457200">
                <a:tc>
                  <a:txBody>
                    <a:bodyPr wrap="square"/>
                    <a:lstStyle/>
                    <a:p>
                      <a:pPr algn="l"/>
                      <a:r>
                        <a:rPr sz="2200" b="1" i="0">
                          <a:solidFill>
                            <a:srgbClr val="1A1A1A"/>
                          </a:solidFill>
                          <a:latin typeface="Trebuchet MS"/>
                        </a:rPr>
                        <a:t>Augmentation</a:t>
                      </a:r>
                    </a:p>
                  </a:txBody>
                  <a:tcPr marL="82296" marR="82296" marT="36576" marB="36576" anchor="ctr">
                    <a:solidFill>
                      <a:srgbClr val="FFFFFF"/>
                    </a:solidFill>
                  </a:tcPr>
                </a:tc>
                <a:tc>
                  <a:txBody>
                    <a:bodyPr wrap="square"/>
                    <a:lstStyle/>
                    <a:p>
                      <a:pPr algn="l"/>
                      <a:r>
                        <a:rPr sz="2200" b="0" i="0">
                          <a:solidFill>
                            <a:srgbClr val="1A1A1A"/>
                          </a:solidFill>
                          <a:latin typeface="Trebuchet MS"/>
                        </a:rPr>
                        <a:t>Crop jitter, flip, modality dropout</a:t>
                      </a:r>
                    </a:p>
                  </a:txBody>
                  <a:tcPr marL="82296" marR="82296" marT="36576" marB="36576" anchor="ctr">
                    <a:solidFill>
                      <a:srgbClr val="FFFFFF"/>
                    </a:solidFill>
                  </a:tcPr>
                </a:tc>
                <a:tc>
                  <a:txBody>
                    <a:bodyPr wrap="square"/>
                    <a:lstStyle/>
                    <a:p>
                      <a:pPr algn="l"/>
                      <a:r>
                        <a:rPr sz="2200" b="0" i="0">
                          <a:solidFill>
                            <a:srgbClr val="1A1A1A"/>
                          </a:solidFill>
                          <a:latin typeface="Trebuchet MS"/>
                        </a:rPr>
                        <a:t>None</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Output</a:t>
                      </a:r>
                    </a:p>
                  </a:txBody>
                  <a:tcPr marL="82296" marR="82296" marT="36576" marB="36576" anchor="ctr">
                    <a:solidFill>
                      <a:srgbClr val="EAF0F8"/>
                    </a:solidFill>
                  </a:tcPr>
                </a:tc>
                <a:tc>
                  <a:txBody>
                    <a:bodyPr wrap="square"/>
                    <a:lstStyle/>
                    <a:p>
                      <a:pPr algn="l"/>
                      <a:r>
                        <a:rPr sz="2200" b="0" i="0">
                          <a:solidFill>
                            <a:srgbClr val="1A1A1A"/>
                          </a:solidFill>
                          <a:latin typeface="Trebuchet MS"/>
                        </a:rPr>
                        <a:t>CTC loss against transcript</a:t>
                      </a:r>
                    </a:p>
                  </a:txBody>
                  <a:tcPr marL="82296" marR="82296" marT="36576" marB="36576" anchor="ctr">
                    <a:solidFill>
                      <a:srgbClr val="EAF0F8"/>
                    </a:solidFill>
                  </a:tcPr>
                </a:tc>
                <a:tc>
                  <a:txBody>
                    <a:bodyPr wrap="square"/>
                    <a:lstStyle/>
                    <a:p>
                      <a:pPr algn="l"/>
                      <a:r>
                        <a:rPr sz="2200" b="0" i="0">
                          <a:solidFill>
                            <a:srgbClr val="1A1A1A"/>
                          </a:solidFill>
                          <a:latin typeface="Trebuchet MS"/>
                        </a:rPr>
                        <a:t>Beam-search text</a:t>
                      </a:r>
                    </a:p>
                  </a:txBody>
                  <a:tcPr marL="82296" marR="82296" marT="36576" marB="36576" anchor="ctr">
                    <a:solidFill>
                      <a:srgbClr val="EAF0F8"/>
                    </a:solidFill>
                  </a:tcPr>
                </a:tc>
              </a:tr>
              <a:tr h="457200">
                <a:tc>
                  <a:txBody>
                    <a:bodyPr wrap="square"/>
                    <a:lstStyle/>
                    <a:p>
                      <a:pPr algn="l"/>
                      <a:r>
                        <a:rPr sz="2200" b="1" i="0">
                          <a:solidFill>
                            <a:srgbClr val="1A1A1A"/>
                          </a:solidFill>
                          <a:latin typeface="Trebuchet MS"/>
                        </a:rPr>
                        <a:t>Unit</a:t>
                      </a:r>
                    </a:p>
                  </a:txBody>
                  <a:tcPr marL="82296" marR="82296" marT="36576" marB="36576" anchor="ctr">
                    <a:solidFill>
                      <a:srgbClr val="FFFFFF"/>
                    </a:solidFill>
                  </a:tcPr>
                </a:tc>
                <a:tc>
                  <a:txBody>
                    <a:bodyPr wrap="square"/>
                    <a:lstStyle/>
                    <a:p>
                      <a:pPr algn="l"/>
                      <a:r>
                        <a:rPr sz="2200" b="0" i="0">
                          <a:solidFill>
                            <a:srgbClr val="1A1A1A"/>
                          </a:solidFill>
                          <a:latin typeface="Trebuchet MS"/>
                        </a:rPr>
                        <a:t>Full 3 s utterance</a:t>
                      </a:r>
                    </a:p>
                  </a:txBody>
                  <a:tcPr marL="82296" marR="82296" marT="36576" marB="36576" anchor="ctr">
                    <a:solidFill>
                      <a:srgbClr val="FFFFFF"/>
                    </a:solidFill>
                  </a:tcPr>
                </a:tc>
                <a:tc>
                  <a:txBody>
                    <a:bodyPr wrap="square"/>
                    <a:lstStyle/>
                    <a:p>
                      <a:pPr algn="l"/>
                      <a:r>
                        <a:rPr sz="2200" b="0" i="0">
                          <a:solidFill>
                            <a:srgbClr val="1A1A1A"/>
                          </a:solidFill>
                          <a:latin typeface="Trebuchet MS"/>
                        </a:rPr>
                        <a:t>3 s window from a rolling buffer</a:t>
                      </a:r>
                    </a:p>
                  </a:txBody>
                  <a:tcPr marL="82296" marR="82296" marT="36576" marB="36576" anchor="ctr">
                    <a:solidFill>
                      <a:srgbClr val="FFFFFF"/>
                    </a:solidFill>
                  </a:tcPr>
                </a:tc>
              </a:tr>
            </a:tbl>
          </a:graphicData>
        </a:graphic>
      </p:graphicFrame>
      <p:sp>
        <p:nvSpPr>
          <p:cNvPr id="4" name="Rounded Rectangle 3"/>
          <p:cNvSpPr/>
          <p:nvPr/>
        </p:nvSpPr>
        <p:spPr>
          <a:xfrm>
            <a:off x="841248" y="5440680"/>
            <a:ext cx="10515600" cy="502920"/>
          </a:xfrm>
          <a:prstGeom prst="roundRect">
            <a:avLst>
              <a:gd name="adj" fmla="val 18181"/>
            </a:avLst>
          </a:prstGeom>
          <a:solidFill>
            <a:srgbClr val="FFF4CC"/>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One package, lipscribe/preprocessing, plus a train/inference parity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PyTorch for models, Gradio for demo</a:t>
            </a:r>
          </a:p>
        </p:txBody>
      </p:sp>
      <p:sp>
        <p:nvSpPr>
          <p:cNvPr id="3" name="Rounded Rectangle 2"/>
          <p:cNvSpPr/>
          <p:nvPr/>
        </p:nvSpPr>
        <p:spPr>
          <a:xfrm>
            <a:off x="841248" y="1783080"/>
            <a:ext cx="5074920" cy="4114800"/>
          </a:xfrm>
          <a:prstGeom prst="roundRect">
            <a:avLst>
              <a:gd name="adj" fmla="val 2222"/>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1069848" y="1920240"/>
            <a:ext cx="4663440" cy="3886200"/>
          </a:xfrm>
          <a:prstGeom prst="rect">
            <a:avLst/>
          </a:prstGeom>
          <a:noFill/>
        </p:spPr>
        <p:txBody>
          <a:bodyPr wrap="square" lIns="54864" rIns="54864" tIns="27432" bIns="27432" anchor="t">
            <a:noAutofit/>
          </a:bodyPr>
          <a:lstStyle/>
          <a:p>
            <a:pPr algn="l">
              <a:spcAft>
                <a:spcPts val="1000"/>
              </a:spcAft>
            </a:pPr>
            <a:r>
              <a:rPr sz="2600" b="1" i="0">
                <a:solidFill>
                  <a:srgbClr val="1F497D"/>
                </a:solidFill>
                <a:latin typeface="Trebuchet MS"/>
              </a:rPr>
              <a:t>PyTorch</a:t>
            </a:r>
          </a:p>
          <a:p>
            <a:pPr algn="l" marL="292608" indent="-292608">
              <a:spcAft>
                <a:spcPts val="800"/>
              </a:spcAft>
              <a:buClr>
                <a:srgbClr val="D7014D"/>
              </a:buClr>
              <a:buFont typeface="Arial"/>
              <a:buChar char="•"/>
            </a:pPr>
            <a:r>
              <a:rPr sz="2200" b="0" i="0">
                <a:solidFill>
                  <a:srgbClr val="1A1A1A"/>
                </a:solidFill>
                <a:latin typeface="Trebuchet MS"/>
              </a:rPr>
              <a:t>Conv3d, BiLSTM, multi-head attention and CTC loss built in</a:t>
            </a:r>
          </a:p>
          <a:p>
            <a:pPr algn="l" marL="292608" indent="-292608">
              <a:spcAft>
                <a:spcPts val="800"/>
              </a:spcAft>
              <a:buClr>
                <a:srgbClr val="D7014D"/>
              </a:buClr>
              <a:buFont typeface="Arial"/>
              <a:buChar char="•"/>
            </a:pPr>
            <a:r>
              <a:rPr sz="2200" b="0" i="0">
                <a:solidFill>
                  <a:srgbClr val="1A1A1A"/>
                </a:solidFill>
                <a:latin typeface="Trebuchet MS"/>
              </a:rPr>
              <a:t>torchaudio: log-Mel and MFCC on CPU or GPU</a:t>
            </a:r>
          </a:p>
          <a:p>
            <a:pPr algn="l" marL="292608" indent="-292608">
              <a:spcAft>
                <a:spcPts val="800"/>
              </a:spcAft>
              <a:buClr>
                <a:srgbClr val="D7014D"/>
              </a:buClr>
              <a:buFont typeface="Arial"/>
              <a:buChar char="•"/>
            </a:pPr>
            <a:r>
              <a:rPr sz="2200" b="0" i="0">
                <a:solidFill>
                  <a:srgbClr val="1A1A1A"/>
                </a:solidFill>
                <a:latin typeface="Trebuchet MS"/>
              </a:rPr>
              <a:t>torchvision: pretrained EfficientNet-B0 [13]</a:t>
            </a:r>
          </a:p>
          <a:p>
            <a:pPr algn="l" marL="292608" indent="-292608">
              <a:spcAft>
                <a:spcPts val="800"/>
              </a:spcAft>
              <a:buClr>
                <a:srgbClr val="D7014D"/>
              </a:buClr>
              <a:buFont typeface="Arial"/>
              <a:buChar char="•"/>
            </a:pPr>
            <a:r>
              <a:rPr sz="2200" b="0" i="0">
                <a:solidFill>
                  <a:srgbClr val="1A1A1A"/>
                </a:solidFill>
                <a:latin typeface="Trebuchet MS"/>
              </a:rPr>
              <a:t>One framework for training, evaluation and inference</a:t>
            </a:r>
          </a:p>
        </p:txBody>
      </p:sp>
      <p:sp>
        <p:nvSpPr>
          <p:cNvPr id="5" name="Rounded Rectangle 4"/>
          <p:cNvSpPr/>
          <p:nvPr/>
        </p:nvSpPr>
        <p:spPr>
          <a:xfrm>
            <a:off x="6281928" y="1783080"/>
            <a:ext cx="5074920" cy="4114800"/>
          </a:xfrm>
          <a:prstGeom prst="roundRect">
            <a:avLst>
              <a:gd name="adj" fmla="val 2222"/>
            </a:avLst>
          </a:prstGeom>
          <a:solidFill>
            <a:srgbClr val="EAF0F8"/>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6510528" y="1920240"/>
            <a:ext cx="4663440" cy="3886200"/>
          </a:xfrm>
          <a:prstGeom prst="rect">
            <a:avLst/>
          </a:prstGeom>
          <a:noFill/>
        </p:spPr>
        <p:txBody>
          <a:bodyPr wrap="square" lIns="54864" rIns="54864" tIns="27432" bIns="27432" anchor="t">
            <a:noAutofit/>
          </a:bodyPr>
          <a:lstStyle/>
          <a:p>
            <a:pPr algn="l">
              <a:spcAft>
                <a:spcPts val="1000"/>
              </a:spcAft>
            </a:pPr>
            <a:r>
              <a:rPr sz="2600" b="1" i="0">
                <a:solidFill>
                  <a:srgbClr val="1F497D"/>
                </a:solidFill>
                <a:latin typeface="Trebuchet MS"/>
              </a:rPr>
              <a:t>Gradio</a:t>
            </a:r>
          </a:p>
          <a:p>
            <a:pPr algn="l" marL="292608" indent="-292608">
              <a:spcAft>
                <a:spcPts val="800"/>
              </a:spcAft>
              <a:buClr>
                <a:srgbClr val="D7014D"/>
              </a:buClr>
              <a:buFont typeface="Arial"/>
              <a:buChar char="•"/>
            </a:pPr>
            <a:r>
              <a:rPr sz="2200" b="0" i="0">
                <a:solidFill>
                  <a:srgbClr val="1A1A1A"/>
                </a:solidFill>
                <a:latin typeface="Trebuchet MS"/>
              </a:rPr>
              <a:t>Browser demo built from Python functions</a:t>
            </a:r>
          </a:p>
          <a:p>
            <a:pPr algn="l" marL="292608" indent="-292608">
              <a:spcAft>
                <a:spcPts val="800"/>
              </a:spcAft>
              <a:buClr>
                <a:srgbClr val="D7014D"/>
              </a:buClr>
              <a:buFont typeface="Arial"/>
              <a:buChar char="•"/>
            </a:pPr>
            <a:r>
              <a:rPr sz="2200" b="0" i="0">
                <a:solidFill>
                  <a:srgbClr val="1A1A1A"/>
                </a:solidFill>
                <a:latin typeface="Trebuchet MS"/>
              </a:rPr>
              <a:t>Ready webcam, microphone and upload widgets</a:t>
            </a:r>
          </a:p>
          <a:p>
            <a:pPr algn="l" marL="292608" indent="-292608">
              <a:spcAft>
                <a:spcPts val="800"/>
              </a:spcAft>
              <a:buClr>
                <a:srgbClr val="D7014D"/>
              </a:buClr>
              <a:buFont typeface="Arial"/>
              <a:buChar char="•"/>
            </a:pPr>
            <a:r>
              <a:rPr sz="2200" b="0" i="0">
                <a:solidFill>
                  <a:srgbClr val="1A1A1A"/>
                </a:solidFill>
                <a:latin typeface="Trebuchet MS"/>
              </a:rPr>
              <a:t>No front-end development needed</a:t>
            </a:r>
          </a:p>
          <a:p>
            <a:pPr algn="l" marL="292608" indent="-292608">
              <a:spcAft>
                <a:spcPts val="800"/>
              </a:spcAft>
              <a:buClr>
                <a:srgbClr val="D7014D"/>
              </a:buClr>
              <a:buFont typeface="Arial"/>
              <a:buChar char="•"/>
            </a:pPr>
            <a:r>
              <a:rPr sz="2200" b="0" i="0">
                <a:solidFill>
                  <a:srgbClr val="1A1A1A"/>
                </a:solidFill>
                <a:latin typeface="Trebuchet MS"/>
              </a:rPr>
              <a:t>OpenCV window for the low-latency live mode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Technology stack by role</a:t>
            </a:r>
          </a:p>
        </p:txBody>
      </p:sp>
      <p:sp>
        <p:nvSpPr>
          <p:cNvPr id="3" name="Rounded Rectangle 2"/>
          <p:cNvSpPr/>
          <p:nvPr/>
        </p:nvSpPr>
        <p:spPr>
          <a:xfrm>
            <a:off x="841248" y="178308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978408" y="1892807"/>
            <a:ext cx="3017520" cy="1737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Model and training</a:t>
            </a:r>
          </a:p>
          <a:p>
            <a:pPr algn="l">
              <a:spcAft>
                <a:spcPts val="600"/>
              </a:spcAft>
            </a:pPr>
            <a:r>
              <a:rPr sz="2200" b="0" i="0">
                <a:solidFill>
                  <a:srgbClr val="1A1A1A"/>
                </a:solidFill>
                <a:latin typeface="Trebuchet MS"/>
              </a:rPr>
              <a:t>PyTorch, torchaudio, torchvision</a:t>
            </a:r>
          </a:p>
        </p:txBody>
      </p:sp>
      <p:sp>
        <p:nvSpPr>
          <p:cNvPr id="5" name="Rounded Rectangle 4"/>
          <p:cNvSpPr/>
          <p:nvPr/>
        </p:nvSpPr>
        <p:spPr>
          <a:xfrm>
            <a:off x="4453128" y="178308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4590288" y="1892807"/>
            <a:ext cx="3017520" cy="1737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Vision</a:t>
            </a:r>
          </a:p>
          <a:p>
            <a:pPr algn="l">
              <a:spcAft>
                <a:spcPts val="600"/>
              </a:spcAft>
            </a:pPr>
            <a:r>
              <a:rPr sz="2200" b="0" i="0">
                <a:solidFill>
                  <a:srgbClr val="1A1A1A"/>
                </a:solidFill>
                <a:latin typeface="Trebuchet MS"/>
              </a:rPr>
              <a:t>OpenCV, MediaPipe Face Mesh [14], [15]</a:t>
            </a:r>
          </a:p>
        </p:txBody>
      </p:sp>
      <p:sp>
        <p:nvSpPr>
          <p:cNvPr id="7" name="Rounded Rectangle 6"/>
          <p:cNvSpPr/>
          <p:nvPr/>
        </p:nvSpPr>
        <p:spPr>
          <a:xfrm>
            <a:off x="8065008" y="178308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8" name="TextBox 7"/>
          <p:cNvSpPr txBox="1"/>
          <p:nvPr/>
        </p:nvSpPr>
        <p:spPr>
          <a:xfrm>
            <a:off x="8202168" y="1892807"/>
            <a:ext cx="3017520" cy="1737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Audio</a:t>
            </a:r>
          </a:p>
          <a:p>
            <a:pPr algn="l">
              <a:spcAft>
                <a:spcPts val="600"/>
              </a:spcAft>
            </a:pPr>
            <a:r>
              <a:rPr sz="2200" b="0" i="0">
                <a:solidFill>
                  <a:srgbClr val="1A1A1A"/>
                </a:solidFill>
                <a:latin typeface="Trebuchet MS"/>
              </a:rPr>
              <a:t>soundfile, sounddevice, librosa (tests)</a:t>
            </a:r>
          </a:p>
        </p:txBody>
      </p:sp>
      <p:sp>
        <p:nvSpPr>
          <p:cNvPr id="9" name="Rounded Rectangle 8"/>
          <p:cNvSpPr/>
          <p:nvPr/>
        </p:nvSpPr>
        <p:spPr>
          <a:xfrm>
            <a:off x="841248" y="393192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0" name="TextBox 9"/>
          <p:cNvSpPr txBox="1"/>
          <p:nvPr/>
        </p:nvSpPr>
        <p:spPr>
          <a:xfrm>
            <a:off x="978408" y="4041648"/>
            <a:ext cx="3017520" cy="1737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Data</a:t>
            </a:r>
          </a:p>
          <a:p>
            <a:pPr algn="l">
              <a:spcAft>
                <a:spcPts val="600"/>
              </a:spcAft>
            </a:pPr>
            <a:r>
              <a:rPr sz="2200" b="0" i="0">
                <a:solidFill>
                  <a:srgbClr val="1A1A1A"/>
                </a:solidFill>
                <a:latin typeface="Trebuchet MS"/>
              </a:rPr>
              <a:t>NumPy, pandas, scikit-learn</a:t>
            </a:r>
          </a:p>
        </p:txBody>
      </p:sp>
      <p:sp>
        <p:nvSpPr>
          <p:cNvPr id="11" name="Rounded Rectangle 10"/>
          <p:cNvSpPr/>
          <p:nvPr/>
        </p:nvSpPr>
        <p:spPr>
          <a:xfrm>
            <a:off x="4453128" y="393192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2" name="TextBox 11"/>
          <p:cNvSpPr txBox="1"/>
          <p:nvPr/>
        </p:nvSpPr>
        <p:spPr>
          <a:xfrm>
            <a:off x="4590288" y="4041648"/>
            <a:ext cx="3017520" cy="1737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Evaluation and logs</a:t>
            </a:r>
          </a:p>
          <a:p>
            <a:pPr algn="l">
              <a:spcAft>
                <a:spcPts val="600"/>
              </a:spcAft>
            </a:pPr>
            <a:r>
              <a:rPr sz="2200" b="0" i="0">
                <a:solidFill>
                  <a:srgbClr val="1A1A1A"/>
                </a:solidFill>
                <a:latin typeface="Trebuchet MS"/>
              </a:rPr>
              <a:t>jiwer, Matplotlib, TensorBoard</a:t>
            </a:r>
          </a:p>
        </p:txBody>
      </p:sp>
      <p:sp>
        <p:nvSpPr>
          <p:cNvPr id="13" name="Rounded Rectangle 12"/>
          <p:cNvSpPr/>
          <p:nvPr/>
        </p:nvSpPr>
        <p:spPr>
          <a:xfrm>
            <a:off x="8065008" y="3931920"/>
            <a:ext cx="3291840" cy="1920240"/>
          </a:xfrm>
          <a:prstGeom prst="roundRect">
            <a:avLst>
              <a:gd name="adj" fmla="val 476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4" name="TextBox 13"/>
          <p:cNvSpPr txBox="1"/>
          <p:nvPr/>
        </p:nvSpPr>
        <p:spPr>
          <a:xfrm>
            <a:off x="8202168" y="4041648"/>
            <a:ext cx="3017520" cy="1737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Engineering</a:t>
            </a:r>
          </a:p>
          <a:p>
            <a:pPr algn="l">
              <a:spcAft>
                <a:spcPts val="600"/>
              </a:spcAft>
            </a:pPr>
            <a:r>
              <a:rPr sz="2200" b="0" i="0">
                <a:solidFill>
                  <a:srgbClr val="1A1A1A"/>
                </a:solidFill>
                <a:latin typeface="Trebuchet MS"/>
              </a:rPr>
              <a:t>Python 3.11, PyYAML, pytest, Git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Part 2: Environment and data</a:t>
            </a:r>
          </a:p>
        </p:txBody>
      </p:sp>
      <p:sp>
        <p:nvSpPr>
          <p:cNvPr id="3" name="Rounded Rectangle 2"/>
          <p:cNvSpPr/>
          <p:nvPr/>
        </p:nvSpPr>
        <p:spPr>
          <a:xfrm>
            <a:off x="841248" y="1874519"/>
            <a:ext cx="3017520" cy="3017520"/>
          </a:xfrm>
          <a:prstGeom prst="roundRect">
            <a:avLst>
              <a:gd name="adj" fmla="val 3030"/>
            </a:avLst>
          </a:prstGeom>
          <a:solidFill>
            <a:srgbClr val="1F497D"/>
          </a:solidFill>
          <a:ln>
            <a:noFill/>
          </a:ln>
        </p:spPr>
        <p:txBody>
          <a:bodyPr rtlCol="0" anchor="ctr" wrap="square" lIns="73152" rIns="73152" tIns="27432" bIns="27432">
            <a:noAutofit/>
          </a:bodyPr>
          <a:lstStyle/>
          <a:p>
            <a:pPr algn="ctr">
              <a:spcAft>
                <a:spcPts val="0"/>
              </a:spcAft>
            </a:pPr>
            <a:r>
              <a:rPr sz="9600" b="1" i="0">
                <a:solidFill>
                  <a:srgbClr val="FFFFFF"/>
                </a:solidFill>
                <a:latin typeface="Trebuchet MS"/>
              </a:rPr>
              <a:t>02</a:t>
            </a:r>
          </a:p>
        </p:txBody>
      </p:sp>
      <p:sp>
        <p:nvSpPr>
          <p:cNvPr id="4" name="TextBox 3"/>
          <p:cNvSpPr txBox="1"/>
          <p:nvPr/>
        </p:nvSpPr>
        <p:spPr>
          <a:xfrm>
            <a:off x="841248" y="5074920"/>
            <a:ext cx="3017520" cy="822960"/>
          </a:xfrm>
          <a:prstGeom prst="rect">
            <a:avLst/>
          </a:prstGeom>
          <a:noFill/>
        </p:spPr>
        <p:txBody>
          <a:bodyPr wrap="square" lIns="54864" rIns="54864" tIns="27432" bIns="27432" anchor="t">
            <a:noAutofit/>
          </a:bodyPr>
          <a:lstStyle/>
          <a:p>
            <a:pPr algn="ctr">
              <a:spcAft>
                <a:spcPts val="0"/>
              </a:spcAft>
            </a:pPr>
            <a:r>
              <a:rPr sz="2200" b="0" i="0">
                <a:solidFill>
                  <a:srgbClr val="595959"/>
                </a:solidFill>
                <a:latin typeface="Trebuchet MS"/>
              </a:rPr>
              <a:t>Presented by</a:t>
            </a:r>
          </a:p>
          <a:p>
            <a:pPr algn="ctr">
              <a:spcAft>
                <a:spcPts val="0"/>
              </a:spcAft>
            </a:pPr>
            <a:r>
              <a:rPr sz="2200" b="1" i="0">
                <a:solidFill>
                  <a:srgbClr val="1F497D"/>
                </a:solidFill>
                <a:latin typeface="Trebuchet MS"/>
              </a:rPr>
              <a:t>Charis Opol</a:t>
            </a:r>
          </a:p>
        </p:txBody>
      </p:sp>
      <p:sp>
        <p:nvSpPr>
          <p:cNvPr id="5" name="TextBox 4"/>
          <p:cNvSpPr txBox="1"/>
          <p:nvPr/>
        </p:nvSpPr>
        <p:spPr>
          <a:xfrm>
            <a:off x="4480560" y="1828800"/>
            <a:ext cx="6858000" cy="457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In this part</a:t>
            </a:r>
          </a:p>
        </p:txBody>
      </p:sp>
      <p:sp>
        <p:nvSpPr>
          <p:cNvPr id="6" name="TextBox 5"/>
          <p:cNvSpPr txBox="1"/>
          <p:nvPr/>
        </p:nvSpPr>
        <p:spPr>
          <a:xfrm>
            <a:off x="4480560" y="2331720"/>
            <a:ext cx="6858000" cy="3566160"/>
          </a:xfrm>
          <a:prstGeom prst="rect">
            <a:avLst/>
          </a:prstGeom>
          <a:noFill/>
        </p:spPr>
        <p:txBody>
          <a:bodyPr wrap="square" lIns="54864" rIns="54864" tIns="27432" bIns="27432" anchor="t">
            <a:noAutofit/>
          </a:bodyPr>
          <a:lstStyle/>
          <a:p>
            <a:pPr algn="l" marL="292608" indent="-292608">
              <a:spcAft>
                <a:spcPts val="500"/>
              </a:spcAft>
              <a:buClr>
                <a:srgbClr val="D7014D"/>
              </a:buClr>
              <a:buFont typeface="Arial"/>
              <a:buChar char="•"/>
            </a:pPr>
            <a:r>
              <a:rPr sz="2200" b="0" i="0">
                <a:solidFill>
                  <a:srgbClr val="1A1A1A"/>
                </a:solidFill>
                <a:latin typeface="Trebuchet MS"/>
              </a:rPr>
              <a:t>Hardware and compatibility</a:t>
            </a:r>
          </a:p>
          <a:p>
            <a:pPr algn="l" marL="292608" indent="-292608">
              <a:spcAft>
                <a:spcPts val="500"/>
              </a:spcAft>
              <a:buClr>
                <a:srgbClr val="D7014D"/>
              </a:buClr>
              <a:buFont typeface="Arial"/>
              <a:buChar char="•"/>
            </a:pPr>
            <a:r>
              <a:rPr sz="2200" b="0" i="0">
                <a:solidFill>
                  <a:srgbClr val="1A1A1A"/>
                </a:solidFill>
                <a:latin typeface="Trebuchet MS"/>
              </a:rPr>
              <a:t>Reproducibility rules</a:t>
            </a:r>
          </a:p>
          <a:p>
            <a:pPr algn="l" marL="292608" indent="-292608">
              <a:spcAft>
                <a:spcPts val="500"/>
              </a:spcAft>
              <a:buClr>
                <a:srgbClr val="D7014D"/>
              </a:buClr>
              <a:buFont typeface="Arial"/>
              <a:buChar char="•"/>
            </a:pPr>
            <a:r>
              <a:rPr sz="2200" b="0" i="0">
                <a:solidFill>
                  <a:srgbClr val="1A1A1A"/>
                </a:solidFill>
                <a:latin typeface="Trebuchet MS"/>
              </a:rPr>
              <a:t>The GRID corpus and standardisation</a:t>
            </a:r>
          </a:p>
          <a:p>
            <a:pPr algn="l" marL="292608" indent="-292608">
              <a:spcAft>
                <a:spcPts val="500"/>
              </a:spcAft>
              <a:buClr>
                <a:srgbClr val="D7014D"/>
              </a:buClr>
              <a:buFont typeface="Arial"/>
              <a:buChar char="•"/>
            </a:pPr>
            <a:r>
              <a:rPr sz="2200" b="0" i="0">
                <a:solidFill>
                  <a:srgbClr val="1A1A1A"/>
                </a:solidFill>
                <a:latin typeface="Trebuchet MS"/>
              </a:rPr>
              <a:t>Speaker split and integrity checks</a:t>
            </a:r>
          </a:p>
          <a:p>
            <a:pPr algn="l" marL="292608" indent="-292608">
              <a:spcAft>
                <a:spcPts val="500"/>
              </a:spcAft>
              <a:buClr>
                <a:srgbClr val="D7014D"/>
              </a:buClr>
              <a:buFont typeface="Arial"/>
              <a:buChar char="•"/>
            </a:pPr>
            <a:r>
              <a:rPr sz="2200" b="0" i="0">
                <a:solidFill>
                  <a:srgbClr val="1A1A1A"/>
                </a:solidFill>
                <a:latin typeface="Trebuchet MS"/>
              </a:rPr>
              <a:t>Adding MUSAN noise at exact SNRs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Hardware needs and compatibility</a:t>
            </a:r>
          </a:p>
        </p:txBody>
      </p:sp>
      <p:sp>
        <p:nvSpPr>
          <p:cNvPr id="3" name="Rounded Rectangle 2"/>
          <p:cNvSpPr/>
          <p:nvPr/>
        </p:nvSpPr>
        <p:spPr>
          <a:xfrm>
            <a:off x="841248" y="1783080"/>
            <a:ext cx="2377440" cy="2240280"/>
          </a:xfrm>
          <a:prstGeom prst="roundRect">
            <a:avLst>
              <a:gd name="adj" fmla="val 408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932688" y="1892807"/>
            <a:ext cx="2194560" cy="68580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8 GB</a:t>
            </a:r>
          </a:p>
        </p:txBody>
      </p:sp>
      <p:sp>
        <p:nvSpPr>
          <p:cNvPr id="5" name="TextBox 4"/>
          <p:cNvSpPr txBox="1"/>
          <p:nvPr/>
        </p:nvSpPr>
        <p:spPr>
          <a:xfrm>
            <a:off x="950976" y="2606040"/>
            <a:ext cx="2157984" cy="13716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GPU for batch 16, mixed precision</a:t>
            </a:r>
          </a:p>
        </p:txBody>
      </p:sp>
      <p:sp>
        <p:nvSpPr>
          <p:cNvPr id="6" name="Rounded Rectangle 5"/>
          <p:cNvSpPr/>
          <p:nvPr/>
        </p:nvSpPr>
        <p:spPr>
          <a:xfrm>
            <a:off x="3554272" y="1783080"/>
            <a:ext cx="2377440" cy="2240280"/>
          </a:xfrm>
          <a:prstGeom prst="roundRect">
            <a:avLst>
              <a:gd name="adj" fmla="val 408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7" name="TextBox 6"/>
          <p:cNvSpPr txBox="1"/>
          <p:nvPr/>
        </p:nvSpPr>
        <p:spPr>
          <a:xfrm>
            <a:off x="3645712" y="1892807"/>
            <a:ext cx="2194560" cy="68580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≈23 GB</a:t>
            </a:r>
          </a:p>
        </p:txBody>
      </p:sp>
      <p:sp>
        <p:nvSpPr>
          <p:cNvPr id="8" name="TextBox 7"/>
          <p:cNvSpPr txBox="1"/>
          <p:nvPr/>
        </p:nvSpPr>
        <p:spPr>
          <a:xfrm>
            <a:off x="3664000" y="2606040"/>
            <a:ext cx="2157984" cy="13716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cached 8-bit mouth crops for the corpus</a:t>
            </a:r>
          </a:p>
        </p:txBody>
      </p:sp>
      <p:sp>
        <p:nvSpPr>
          <p:cNvPr id="9" name="Rounded Rectangle 8"/>
          <p:cNvSpPr/>
          <p:nvPr/>
        </p:nvSpPr>
        <p:spPr>
          <a:xfrm>
            <a:off x="6267297" y="1783080"/>
            <a:ext cx="2377440" cy="2240280"/>
          </a:xfrm>
          <a:prstGeom prst="roundRect">
            <a:avLst>
              <a:gd name="adj" fmla="val 408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0" name="TextBox 9"/>
          <p:cNvSpPr txBox="1"/>
          <p:nvPr/>
        </p:nvSpPr>
        <p:spPr>
          <a:xfrm>
            <a:off x="6358737" y="1892807"/>
            <a:ext cx="2194560" cy="68580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100 GB</a:t>
            </a:r>
          </a:p>
        </p:txBody>
      </p:sp>
      <p:sp>
        <p:nvSpPr>
          <p:cNvPr id="11" name="TextBox 10"/>
          <p:cNvSpPr txBox="1"/>
          <p:nvPr/>
        </p:nvSpPr>
        <p:spPr>
          <a:xfrm>
            <a:off x="6377025" y="2606040"/>
            <a:ext cx="2157984" cy="13716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free disk recommended in total</a:t>
            </a:r>
          </a:p>
        </p:txBody>
      </p:sp>
      <p:sp>
        <p:nvSpPr>
          <p:cNvPr id="12" name="Rounded Rectangle 11"/>
          <p:cNvSpPr/>
          <p:nvPr/>
        </p:nvSpPr>
        <p:spPr>
          <a:xfrm>
            <a:off x="8980322" y="1783080"/>
            <a:ext cx="2377440" cy="2240280"/>
          </a:xfrm>
          <a:prstGeom prst="roundRect">
            <a:avLst>
              <a:gd name="adj" fmla="val 408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3" name="TextBox 12"/>
          <p:cNvSpPr txBox="1"/>
          <p:nvPr/>
        </p:nvSpPr>
        <p:spPr>
          <a:xfrm>
            <a:off x="9071762" y="1892807"/>
            <a:ext cx="2194560" cy="68580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Laptop</a:t>
            </a:r>
          </a:p>
        </p:txBody>
      </p:sp>
      <p:sp>
        <p:nvSpPr>
          <p:cNvPr id="14" name="TextBox 13"/>
          <p:cNvSpPr txBox="1"/>
          <p:nvPr/>
        </p:nvSpPr>
        <p:spPr>
          <a:xfrm>
            <a:off x="9090050" y="2606040"/>
            <a:ext cx="2157984" cy="13716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with webcam and mic for the demo</a:t>
            </a:r>
          </a:p>
        </p:txBody>
      </p:sp>
      <p:sp>
        <p:nvSpPr>
          <p:cNvPr id="15" name="TextBox 14"/>
          <p:cNvSpPr txBox="1"/>
          <p:nvPr/>
        </p:nvSpPr>
        <p:spPr>
          <a:xfrm>
            <a:off x="841248" y="4251960"/>
            <a:ext cx="10515600" cy="1737360"/>
          </a:xfrm>
          <a:prstGeom prst="rect">
            <a:avLst/>
          </a:prstGeom>
          <a:noFill/>
        </p:spPr>
        <p:txBody>
          <a:bodyPr wrap="square" lIns="54864" rIns="54864" tIns="27432" bIns="27432" anchor="t">
            <a:noAutofit/>
          </a:bodyPr>
          <a:lstStyle/>
          <a:p>
            <a:pPr algn="l" marL="292608" indent="-292608">
              <a:spcAft>
                <a:spcPts val="600"/>
              </a:spcAft>
              <a:buClr>
                <a:srgbClr val="D7014D"/>
              </a:buClr>
              <a:buFont typeface="Arial"/>
              <a:buChar char="•"/>
            </a:pPr>
            <a:r>
              <a:rPr sz="2200" b="0" i="0">
                <a:solidFill>
                  <a:srgbClr val="1A1A1A"/>
                </a:solidFill>
                <a:latin typeface="Trebuchet MS"/>
              </a:rPr>
              <a:t>MediaPipe: confirm a wheel for Python 3.11 on every member's OS</a:t>
            </a:r>
          </a:p>
          <a:p>
            <a:pPr algn="l" marL="292608" indent="-292608">
              <a:spcAft>
                <a:spcPts val="600"/>
              </a:spcAft>
              <a:buClr>
                <a:srgbClr val="D7014D"/>
              </a:buClr>
              <a:buFont typeface="Arial"/>
              <a:buChar char="•"/>
            </a:pPr>
            <a:r>
              <a:rPr sz="2200" b="0" i="0">
                <a:solidFill>
                  <a:srgbClr val="1A1A1A"/>
                </a:solidFill>
                <a:latin typeface="Trebuchet MS"/>
              </a:rPr>
              <a:t>PyTorch build must match the CUDA driver; CPU build for tests</a:t>
            </a:r>
          </a:p>
          <a:p>
            <a:pPr algn="l" marL="292608" indent="-292608">
              <a:spcAft>
                <a:spcPts val="600"/>
              </a:spcAft>
              <a:buClr>
                <a:srgbClr val="D7014D"/>
              </a:buClr>
              <a:buFont typeface="Arial"/>
              <a:buChar char="•"/>
            </a:pPr>
            <a:r>
              <a:rPr sz="2200" b="0" i="0">
                <a:solidFill>
                  <a:srgbClr val="1A1A1A"/>
                </a:solidFill>
                <a:latin typeface="Trebuchet MS"/>
              </a:rPr>
              <a:t>Install torch, torchaudio and torchvision as one matching set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Every result must be reproducible</a:t>
            </a:r>
          </a:p>
        </p:txBody>
      </p:sp>
      <p:sp>
        <p:nvSpPr>
          <p:cNvPr id="3" name="Oval 2"/>
          <p:cNvSpPr/>
          <p:nvPr/>
        </p:nvSpPr>
        <p:spPr>
          <a:xfrm>
            <a:off x="841248" y="1856231"/>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4" name="TextBox 3"/>
          <p:cNvSpPr txBox="1"/>
          <p:nvPr/>
        </p:nvSpPr>
        <p:spPr>
          <a:xfrm>
            <a:off x="1481328" y="1783080"/>
            <a:ext cx="576072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Pinned requirements.txt and environment.yml</a:t>
            </a:r>
          </a:p>
        </p:txBody>
      </p:sp>
      <p:sp>
        <p:nvSpPr>
          <p:cNvPr id="5" name="Oval 4"/>
          <p:cNvSpPr/>
          <p:nvPr/>
        </p:nvSpPr>
        <p:spPr>
          <a:xfrm>
            <a:off x="841248" y="2697480"/>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6" name="TextBox 5"/>
          <p:cNvSpPr txBox="1"/>
          <p:nvPr/>
        </p:nvSpPr>
        <p:spPr>
          <a:xfrm>
            <a:off x="1481328" y="2624328"/>
            <a:ext cx="576072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One YAML config per run; config and commit hash saved in the checkpoint</a:t>
            </a:r>
          </a:p>
        </p:txBody>
      </p:sp>
      <p:sp>
        <p:nvSpPr>
          <p:cNvPr id="7" name="Oval 6"/>
          <p:cNvSpPr/>
          <p:nvPr/>
        </p:nvSpPr>
        <p:spPr>
          <a:xfrm>
            <a:off x="841248" y="3538728"/>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8" name="TextBox 7"/>
          <p:cNvSpPr txBox="1"/>
          <p:nvPr/>
        </p:nvSpPr>
        <p:spPr>
          <a:xfrm>
            <a:off x="1481328" y="3465576"/>
            <a:ext cx="576072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Seeds fixed for Python, NumPy, PyTorch and test noise</a:t>
            </a:r>
          </a:p>
        </p:txBody>
      </p:sp>
      <p:sp>
        <p:nvSpPr>
          <p:cNvPr id="9" name="Oval 8"/>
          <p:cNvSpPr/>
          <p:nvPr/>
        </p:nvSpPr>
        <p:spPr>
          <a:xfrm>
            <a:off x="841248" y="4379976"/>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0" name="TextBox 9"/>
          <p:cNvSpPr txBox="1"/>
          <p:nvPr/>
        </p:nvSpPr>
        <p:spPr>
          <a:xfrm>
            <a:off x="1481328" y="4306824"/>
            <a:ext cx="576072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splits.csv written once, never regenerated</a:t>
            </a:r>
          </a:p>
        </p:txBody>
      </p:sp>
      <p:sp>
        <p:nvSpPr>
          <p:cNvPr id="11" name="Oval 10"/>
          <p:cNvSpPr/>
          <p:nvPr/>
        </p:nvSpPr>
        <p:spPr>
          <a:xfrm>
            <a:off x="841248" y="5221224"/>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5</a:t>
            </a:r>
          </a:p>
        </p:txBody>
      </p:sp>
      <p:sp>
        <p:nvSpPr>
          <p:cNvPr id="12" name="TextBox 11"/>
          <p:cNvSpPr txBox="1"/>
          <p:nvPr/>
        </p:nvSpPr>
        <p:spPr>
          <a:xfrm>
            <a:off x="1481328" y="5148072"/>
            <a:ext cx="576072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Manifest records MediaPipe version and crop settings</a:t>
            </a:r>
          </a:p>
        </p:txBody>
      </p:sp>
      <p:sp>
        <p:nvSpPr>
          <p:cNvPr id="13" name="Rounded Rectangle 12"/>
          <p:cNvSpPr/>
          <p:nvPr/>
        </p:nvSpPr>
        <p:spPr>
          <a:xfrm>
            <a:off x="7818120" y="1874519"/>
            <a:ext cx="3520440" cy="640080"/>
          </a:xfrm>
          <a:prstGeom prst="roundRect">
            <a:avLst>
              <a:gd name="adj" fmla="val 14285"/>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YAML config</a:t>
            </a:r>
          </a:p>
        </p:txBody>
      </p:sp>
      <p:cxnSp>
        <p:nvCxnSpPr>
          <p:cNvPr id="14" name="Connector 13"/>
          <p:cNvCxnSpPr/>
          <p:nvPr/>
        </p:nvCxnSpPr>
        <p:spPr>
          <a:xfrm>
            <a:off x="9578340" y="2542032"/>
            <a:ext cx="0" cy="329183"/>
          </a:xfrm>
          <a:prstGeom prst="line">
            <a:avLst/>
          </a:prstGeom>
          <a:ln w="25400">
            <a:solidFill>
              <a:srgbClr val="595959"/>
            </a:solidFill>
            <a:tailEnd type="triangle" w="med" len="med"/>
          </a:ln>
        </p:spPr>
      </p:cxnSp>
      <p:sp>
        <p:nvSpPr>
          <p:cNvPr id="15" name="Rounded Rectangle 14"/>
          <p:cNvSpPr/>
          <p:nvPr/>
        </p:nvSpPr>
        <p:spPr>
          <a:xfrm>
            <a:off x="7818120" y="2898648"/>
            <a:ext cx="3520440" cy="640080"/>
          </a:xfrm>
          <a:prstGeom prst="roundRect">
            <a:avLst>
              <a:gd name="adj" fmla="val 14285"/>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Git commit</a:t>
            </a:r>
          </a:p>
        </p:txBody>
      </p:sp>
      <p:cxnSp>
        <p:nvCxnSpPr>
          <p:cNvPr id="16" name="Connector 15"/>
          <p:cNvCxnSpPr/>
          <p:nvPr/>
        </p:nvCxnSpPr>
        <p:spPr>
          <a:xfrm>
            <a:off x="9578340" y="3566160"/>
            <a:ext cx="0" cy="329184"/>
          </a:xfrm>
          <a:prstGeom prst="line">
            <a:avLst/>
          </a:prstGeom>
          <a:ln w="25400">
            <a:solidFill>
              <a:srgbClr val="595959"/>
            </a:solidFill>
            <a:tailEnd type="triangle" w="med" len="med"/>
          </a:ln>
        </p:spPr>
      </p:cxnSp>
      <p:sp>
        <p:nvSpPr>
          <p:cNvPr id="17" name="Rounded Rectangle 16"/>
          <p:cNvSpPr/>
          <p:nvPr/>
        </p:nvSpPr>
        <p:spPr>
          <a:xfrm>
            <a:off x="7818120" y="3922776"/>
            <a:ext cx="3520440" cy="640080"/>
          </a:xfrm>
          <a:prstGeom prst="roundRect">
            <a:avLst>
              <a:gd name="adj" fmla="val 14285"/>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Checkpoint</a:t>
            </a:r>
          </a:p>
        </p:txBody>
      </p:sp>
      <p:cxnSp>
        <p:nvCxnSpPr>
          <p:cNvPr id="18" name="Connector 17"/>
          <p:cNvCxnSpPr/>
          <p:nvPr/>
        </p:nvCxnSpPr>
        <p:spPr>
          <a:xfrm>
            <a:off x="9578340" y="4590288"/>
            <a:ext cx="0" cy="329184"/>
          </a:xfrm>
          <a:prstGeom prst="line">
            <a:avLst/>
          </a:prstGeom>
          <a:ln w="25400">
            <a:solidFill>
              <a:srgbClr val="595959"/>
            </a:solidFill>
            <a:tailEnd type="triangle" w="med" len="med"/>
          </a:ln>
        </p:spPr>
      </p:cxnSp>
      <p:sp>
        <p:nvSpPr>
          <p:cNvPr id="19" name="Rounded Rectangle 18"/>
          <p:cNvSpPr/>
          <p:nvPr/>
        </p:nvSpPr>
        <p:spPr>
          <a:xfrm>
            <a:off x="7818120" y="4946904"/>
            <a:ext cx="3520440" cy="640080"/>
          </a:xfrm>
          <a:prstGeom prst="roundRect">
            <a:avLst>
              <a:gd name="adj" fmla="val 14285"/>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Reported number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GRID corpus: 34 speakers, one grammar</a:t>
            </a:r>
          </a:p>
        </p:txBody>
      </p:sp>
      <p:sp>
        <p:nvSpPr>
          <p:cNvPr id="3" name="Rounded Rectangle 2"/>
          <p:cNvSpPr/>
          <p:nvPr/>
        </p:nvSpPr>
        <p:spPr>
          <a:xfrm>
            <a:off x="841248" y="1783080"/>
            <a:ext cx="2377440" cy="1325880"/>
          </a:xfrm>
          <a:prstGeom prst="roundRect">
            <a:avLst>
              <a:gd name="adj" fmla="val 689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932688" y="1856231"/>
            <a:ext cx="2194560" cy="64008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34</a:t>
            </a:r>
          </a:p>
        </p:txBody>
      </p:sp>
      <p:sp>
        <p:nvSpPr>
          <p:cNvPr id="5" name="TextBox 4"/>
          <p:cNvSpPr txBox="1"/>
          <p:nvPr/>
        </p:nvSpPr>
        <p:spPr>
          <a:xfrm>
            <a:off x="932688" y="2514600"/>
            <a:ext cx="2194560" cy="4572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speakers</a:t>
            </a:r>
          </a:p>
        </p:txBody>
      </p:sp>
      <p:sp>
        <p:nvSpPr>
          <p:cNvPr id="6" name="Rounded Rectangle 5"/>
          <p:cNvSpPr/>
          <p:nvPr/>
        </p:nvSpPr>
        <p:spPr>
          <a:xfrm>
            <a:off x="3554272" y="1783080"/>
            <a:ext cx="2377440" cy="1325880"/>
          </a:xfrm>
          <a:prstGeom prst="roundRect">
            <a:avLst>
              <a:gd name="adj" fmla="val 689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7" name="TextBox 6"/>
          <p:cNvSpPr txBox="1"/>
          <p:nvPr/>
        </p:nvSpPr>
        <p:spPr>
          <a:xfrm>
            <a:off x="3645712" y="1856231"/>
            <a:ext cx="2194560" cy="64008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1,000</a:t>
            </a:r>
          </a:p>
        </p:txBody>
      </p:sp>
      <p:sp>
        <p:nvSpPr>
          <p:cNvPr id="8" name="TextBox 7"/>
          <p:cNvSpPr txBox="1"/>
          <p:nvPr/>
        </p:nvSpPr>
        <p:spPr>
          <a:xfrm>
            <a:off x="3645712" y="2514600"/>
            <a:ext cx="2194560" cy="4572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sentences each</a:t>
            </a:r>
          </a:p>
        </p:txBody>
      </p:sp>
      <p:sp>
        <p:nvSpPr>
          <p:cNvPr id="9" name="Rounded Rectangle 8"/>
          <p:cNvSpPr/>
          <p:nvPr/>
        </p:nvSpPr>
        <p:spPr>
          <a:xfrm>
            <a:off x="6267297" y="1783080"/>
            <a:ext cx="2377440" cy="1325880"/>
          </a:xfrm>
          <a:prstGeom prst="roundRect">
            <a:avLst>
              <a:gd name="adj" fmla="val 689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0" name="TextBox 9"/>
          <p:cNvSpPr txBox="1"/>
          <p:nvPr/>
        </p:nvSpPr>
        <p:spPr>
          <a:xfrm>
            <a:off x="6358737" y="1856231"/>
            <a:ext cx="2194560" cy="64008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≈33,000</a:t>
            </a:r>
          </a:p>
        </p:txBody>
      </p:sp>
      <p:sp>
        <p:nvSpPr>
          <p:cNvPr id="11" name="TextBox 10"/>
          <p:cNvSpPr txBox="1"/>
          <p:nvPr/>
        </p:nvSpPr>
        <p:spPr>
          <a:xfrm>
            <a:off x="6358737" y="2514600"/>
            <a:ext cx="2194560" cy="4572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usable clips</a:t>
            </a:r>
          </a:p>
        </p:txBody>
      </p:sp>
      <p:sp>
        <p:nvSpPr>
          <p:cNvPr id="12" name="Rounded Rectangle 11"/>
          <p:cNvSpPr/>
          <p:nvPr/>
        </p:nvSpPr>
        <p:spPr>
          <a:xfrm>
            <a:off x="8980322" y="1783080"/>
            <a:ext cx="2377440" cy="1325880"/>
          </a:xfrm>
          <a:prstGeom prst="roundRect">
            <a:avLst>
              <a:gd name="adj" fmla="val 689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3" name="TextBox 12"/>
          <p:cNvSpPr txBox="1"/>
          <p:nvPr/>
        </p:nvSpPr>
        <p:spPr>
          <a:xfrm>
            <a:off x="9071762" y="1856231"/>
            <a:ext cx="2194560" cy="640080"/>
          </a:xfrm>
          <a:prstGeom prst="rect">
            <a:avLst/>
          </a:prstGeom>
          <a:noFill/>
        </p:spPr>
        <p:txBody>
          <a:bodyPr wrap="square" lIns="54864" rIns="54864" tIns="27432" bIns="27432" anchor="t">
            <a:noAutofit/>
          </a:bodyPr>
          <a:lstStyle/>
          <a:p>
            <a:pPr algn="ctr">
              <a:spcAft>
                <a:spcPts val="0"/>
              </a:spcAft>
            </a:pPr>
            <a:r>
              <a:rPr sz="3600" b="1" i="0">
                <a:solidFill>
                  <a:srgbClr val="1F497D"/>
                </a:solidFill>
                <a:latin typeface="Trebuchet MS"/>
              </a:rPr>
              <a:t>51</a:t>
            </a:r>
          </a:p>
        </p:txBody>
      </p:sp>
      <p:sp>
        <p:nvSpPr>
          <p:cNvPr id="14" name="TextBox 13"/>
          <p:cNvSpPr txBox="1"/>
          <p:nvPr/>
        </p:nvSpPr>
        <p:spPr>
          <a:xfrm>
            <a:off x="9071762" y="2514600"/>
            <a:ext cx="2194560" cy="4572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word vocabulary</a:t>
            </a:r>
          </a:p>
        </p:txBody>
      </p:sp>
      <p:sp>
        <p:nvSpPr>
          <p:cNvPr id="15" name="Rounded Rectangle 14"/>
          <p:cNvSpPr/>
          <p:nvPr/>
        </p:nvSpPr>
        <p:spPr>
          <a:xfrm>
            <a:off x="841248" y="3429000"/>
            <a:ext cx="1645920" cy="594360"/>
          </a:xfrm>
          <a:prstGeom prst="roundRect">
            <a:avLst>
              <a:gd name="adj" fmla="val 15384"/>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place</a:t>
            </a:r>
          </a:p>
        </p:txBody>
      </p:sp>
      <p:sp>
        <p:nvSpPr>
          <p:cNvPr id="16" name="TextBox 15"/>
          <p:cNvSpPr txBox="1"/>
          <p:nvPr/>
        </p:nvSpPr>
        <p:spPr>
          <a:xfrm>
            <a:off x="749808" y="4069080"/>
            <a:ext cx="18288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command</a:t>
            </a:r>
          </a:p>
        </p:txBody>
      </p:sp>
      <p:sp>
        <p:nvSpPr>
          <p:cNvPr id="17" name="Rounded Rectangle 16"/>
          <p:cNvSpPr/>
          <p:nvPr/>
        </p:nvSpPr>
        <p:spPr>
          <a:xfrm>
            <a:off x="2615184" y="3429000"/>
            <a:ext cx="1645920" cy="594360"/>
          </a:xfrm>
          <a:prstGeom prst="roundRect">
            <a:avLst>
              <a:gd name="adj" fmla="val 15384"/>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green</a:t>
            </a:r>
          </a:p>
        </p:txBody>
      </p:sp>
      <p:sp>
        <p:nvSpPr>
          <p:cNvPr id="18" name="TextBox 17"/>
          <p:cNvSpPr txBox="1"/>
          <p:nvPr/>
        </p:nvSpPr>
        <p:spPr>
          <a:xfrm>
            <a:off x="2523744" y="4069080"/>
            <a:ext cx="18288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colour</a:t>
            </a:r>
          </a:p>
        </p:txBody>
      </p:sp>
      <p:sp>
        <p:nvSpPr>
          <p:cNvPr id="19" name="Rounded Rectangle 18"/>
          <p:cNvSpPr/>
          <p:nvPr/>
        </p:nvSpPr>
        <p:spPr>
          <a:xfrm>
            <a:off x="4389120" y="3429000"/>
            <a:ext cx="1645920" cy="594360"/>
          </a:xfrm>
          <a:prstGeom prst="roundRect">
            <a:avLst>
              <a:gd name="adj" fmla="val 15384"/>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at</a:t>
            </a:r>
          </a:p>
        </p:txBody>
      </p:sp>
      <p:sp>
        <p:nvSpPr>
          <p:cNvPr id="20" name="TextBox 19"/>
          <p:cNvSpPr txBox="1"/>
          <p:nvPr/>
        </p:nvSpPr>
        <p:spPr>
          <a:xfrm>
            <a:off x="4297680" y="4069080"/>
            <a:ext cx="18288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preposition</a:t>
            </a:r>
          </a:p>
        </p:txBody>
      </p:sp>
      <p:sp>
        <p:nvSpPr>
          <p:cNvPr id="21" name="Rounded Rectangle 20"/>
          <p:cNvSpPr/>
          <p:nvPr/>
        </p:nvSpPr>
        <p:spPr>
          <a:xfrm>
            <a:off x="6163056" y="3429000"/>
            <a:ext cx="1645920" cy="594360"/>
          </a:xfrm>
          <a:prstGeom prst="roundRect">
            <a:avLst>
              <a:gd name="adj" fmla="val 15384"/>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b</a:t>
            </a:r>
          </a:p>
        </p:txBody>
      </p:sp>
      <p:sp>
        <p:nvSpPr>
          <p:cNvPr id="22" name="TextBox 21"/>
          <p:cNvSpPr txBox="1"/>
          <p:nvPr/>
        </p:nvSpPr>
        <p:spPr>
          <a:xfrm>
            <a:off x="6071616" y="4069080"/>
            <a:ext cx="18288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letter</a:t>
            </a:r>
          </a:p>
        </p:txBody>
      </p:sp>
      <p:sp>
        <p:nvSpPr>
          <p:cNvPr id="23" name="Rounded Rectangle 22"/>
          <p:cNvSpPr/>
          <p:nvPr/>
        </p:nvSpPr>
        <p:spPr>
          <a:xfrm>
            <a:off x="7936992" y="3429000"/>
            <a:ext cx="1645920" cy="594360"/>
          </a:xfrm>
          <a:prstGeom prst="roundRect">
            <a:avLst>
              <a:gd name="adj" fmla="val 15384"/>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four</a:t>
            </a:r>
          </a:p>
        </p:txBody>
      </p:sp>
      <p:sp>
        <p:nvSpPr>
          <p:cNvPr id="24" name="TextBox 23"/>
          <p:cNvSpPr txBox="1"/>
          <p:nvPr/>
        </p:nvSpPr>
        <p:spPr>
          <a:xfrm>
            <a:off x="7845552" y="4069080"/>
            <a:ext cx="18288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digit</a:t>
            </a:r>
          </a:p>
        </p:txBody>
      </p:sp>
      <p:sp>
        <p:nvSpPr>
          <p:cNvPr id="25" name="Rounded Rectangle 24"/>
          <p:cNvSpPr/>
          <p:nvPr/>
        </p:nvSpPr>
        <p:spPr>
          <a:xfrm>
            <a:off x="9710928" y="3429000"/>
            <a:ext cx="1645920" cy="594360"/>
          </a:xfrm>
          <a:prstGeom prst="roundRect">
            <a:avLst>
              <a:gd name="adj" fmla="val 15384"/>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now</a:t>
            </a:r>
          </a:p>
        </p:txBody>
      </p:sp>
      <p:sp>
        <p:nvSpPr>
          <p:cNvPr id="26" name="TextBox 25"/>
          <p:cNvSpPr txBox="1"/>
          <p:nvPr/>
        </p:nvSpPr>
        <p:spPr>
          <a:xfrm>
            <a:off x="9619488" y="4069080"/>
            <a:ext cx="18288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adverb</a:t>
            </a:r>
          </a:p>
        </p:txBody>
      </p:sp>
      <p:sp>
        <p:nvSpPr>
          <p:cNvPr id="27" name="TextBox 26"/>
          <p:cNvSpPr txBox="1"/>
          <p:nvPr/>
        </p:nvSpPr>
        <p:spPr>
          <a:xfrm>
            <a:off x="841248" y="4709160"/>
            <a:ext cx="10515600" cy="1280160"/>
          </a:xfrm>
          <a:prstGeom prst="rect">
            <a:avLst/>
          </a:prstGeom>
          <a:noFill/>
        </p:spPr>
        <p:txBody>
          <a:bodyPr wrap="square" lIns="54864" rIns="54864" tIns="27432" bIns="27432" anchor="t">
            <a:noAutofit/>
          </a:bodyPr>
          <a:lstStyle/>
          <a:p>
            <a:pPr algn="l" marL="292608" indent="-292608">
              <a:spcAft>
                <a:spcPts val="600"/>
              </a:spcAft>
              <a:buClr>
                <a:srgbClr val="D7014D"/>
              </a:buClr>
              <a:buFont typeface="Arial"/>
              <a:buChar char="•"/>
            </a:pPr>
            <a:r>
              <a:rPr sz="2200" b="0" i="0">
                <a:solidFill>
                  <a:srgbClr val="1A1A1A"/>
                </a:solidFill>
                <a:latin typeface="Trebuchet MS"/>
              </a:rPr>
              <a:t>About 3 s per sentence at 25 fps, so about 75 video frames</a:t>
            </a:r>
          </a:p>
          <a:p>
            <a:pPr algn="l" marL="292608" indent="-292608">
              <a:spcAft>
                <a:spcPts val="600"/>
              </a:spcAft>
              <a:buClr>
                <a:srgbClr val="D7014D"/>
              </a:buClr>
              <a:buFont typeface="Arial"/>
              <a:buChar char="•"/>
            </a:pPr>
            <a:r>
              <a:rPr sz="2200" b="0" i="0">
                <a:solidFill>
                  <a:srgbClr val="1A1A1A"/>
                </a:solidFill>
                <a:latin typeface="Trebuchet MS"/>
              </a:rPr>
              <a:t>Small closed vocabulary: feasible in six weeks, limits generality [9]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Standardising text, audio and video</a:t>
            </a:r>
          </a:p>
        </p:txBody>
      </p:sp>
      <p:sp>
        <p:nvSpPr>
          <p:cNvPr id="3" name="Rounded Rectangle 2"/>
          <p:cNvSpPr/>
          <p:nvPr/>
        </p:nvSpPr>
        <p:spPr>
          <a:xfrm>
            <a:off x="841248" y="1783080"/>
            <a:ext cx="3291840" cy="2514600"/>
          </a:xfrm>
          <a:prstGeom prst="roundRect">
            <a:avLst>
              <a:gd name="adj" fmla="val 363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978408" y="1874519"/>
            <a:ext cx="3063240" cy="237744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Text</a:t>
            </a:r>
          </a:p>
          <a:p>
            <a:pPr algn="l" marL="292608" indent="-292608">
              <a:spcAft>
                <a:spcPts val="400"/>
              </a:spcAft>
              <a:buClr>
                <a:srgbClr val="D7014D"/>
              </a:buClr>
              <a:buFont typeface="Arial"/>
              <a:buChar char="•"/>
            </a:pPr>
            <a:r>
              <a:rPr sz="2200" b="0" i="0">
                <a:solidFill>
                  <a:srgbClr val="1A1A1A"/>
                </a:solidFill>
                <a:latin typeface="Trebuchet MS"/>
              </a:rPr>
              <a:t>Lower-case a–z and space</a:t>
            </a:r>
          </a:p>
          <a:p>
            <a:pPr algn="l" marL="292608" indent="-292608">
              <a:spcAft>
                <a:spcPts val="400"/>
              </a:spcAft>
              <a:buClr>
                <a:srgbClr val="D7014D"/>
              </a:buClr>
              <a:buFont typeface="Arial"/>
              <a:buChar char="•"/>
            </a:pPr>
            <a:r>
              <a:rPr sz="2200" b="0" i="0">
                <a:solidFill>
                  <a:srgbClr val="1A1A1A"/>
                </a:solidFill>
                <a:latin typeface="Trebuchet MS"/>
              </a:rPr>
              <a:t>Digits as words</a:t>
            </a:r>
          </a:p>
          <a:p>
            <a:pPr algn="l" marL="292608" indent="-292608">
              <a:spcAft>
                <a:spcPts val="400"/>
              </a:spcAft>
              <a:buClr>
                <a:srgbClr val="D7014D"/>
              </a:buClr>
              <a:buFont typeface="Arial"/>
              <a:buChar char="•"/>
            </a:pPr>
            <a:r>
              <a:rPr sz="2200" b="0" i="0">
                <a:solidFill>
                  <a:srgbClr val="1A1A1A"/>
                </a:solidFill>
                <a:latin typeface="Trebuchet MS"/>
              </a:rPr>
              <a:t>28 symbols: blank, space, a–z</a:t>
            </a:r>
          </a:p>
        </p:txBody>
      </p:sp>
      <p:sp>
        <p:nvSpPr>
          <p:cNvPr id="5" name="Rounded Rectangle 4"/>
          <p:cNvSpPr/>
          <p:nvPr/>
        </p:nvSpPr>
        <p:spPr>
          <a:xfrm>
            <a:off x="4453128" y="1783080"/>
            <a:ext cx="3291840" cy="2514600"/>
          </a:xfrm>
          <a:prstGeom prst="roundRect">
            <a:avLst>
              <a:gd name="adj" fmla="val 363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4590288" y="1874519"/>
            <a:ext cx="3063240" cy="237744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Audio</a:t>
            </a:r>
          </a:p>
          <a:p>
            <a:pPr algn="l" marL="292608" indent="-292608">
              <a:spcAft>
                <a:spcPts val="400"/>
              </a:spcAft>
              <a:buClr>
                <a:srgbClr val="D7014D"/>
              </a:buClr>
              <a:buFont typeface="Arial"/>
              <a:buChar char="•"/>
            </a:pPr>
            <a:r>
              <a:rPr sz="2200" b="0" i="0">
                <a:solidFill>
                  <a:srgbClr val="1A1A1A"/>
                </a:solidFill>
                <a:latin typeface="Trebuchet MS"/>
              </a:rPr>
              <a:t>16 kHz 16-bit mono</a:t>
            </a:r>
          </a:p>
          <a:p>
            <a:pPr algn="l" marL="292608" indent="-292608">
              <a:spcAft>
                <a:spcPts val="400"/>
              </a:spcAft>
              <a:buClr>
                <a:srgbClr val="D7014D"/>
              </a:buClr>
              <a:buFont typeface="Arial"/>
              <a:buChar char="•"/>
            </a:pPr>
            <a:r>
              <a:rPr sz="2200" b="0" i="0">
                <a:solidFill>
                  <a:srgbClr val="1A1A1A"/>
                </a:solidFill>
                <a:latin typeface="Trebuchet MS"/>
              </a:rPr>
              <a:t>Anti-aliased resampling</a:t>
            </a:r>
          </a:p>
          <a:p>
            <a:pPr algn="l" marL="292608" indent="-292608">
              <a:spcAft>
                <a:spcPts val="400"/>
              </a:spcAft>
              <a:buClr>
                <a:srgbClr val="D7014D"/>
              </a:buClr>
              <a:buFont typeface="Arial"/>
              <a:buChar char="•"/>
            </a:pPr>
            <a:r>
              <a:rPr sz="2200" b="0" i="0">
                <a:solidFill>
                  <a:srgbClr val="1A1A1A"/>
                </a:solidFill>
                <a:latin typeface="Trebuchet MS"/>
              </a:rPr>
              <a:t>Matches demo mic</a:t>
            </a:r>
          </a:p>
        </p:txBody>
      </p:sp>
      <p:sp>
        <p:nvSpPr>
          <p:cNvPr id="7" name="Rounded Rectangle 6"/>
          <p:cNvSpPr/>
          <p:nvPr/>
        </p:nvSpPr>
        <p:spPr>
          <a:xfrm>
            <a:off x="8065008" y="1783080"/>
            <a:ext cx="3291840" cy="2514600"/>
          </a:xfrm>
          <a:prstGeom prst="roundRect">
            <a:avLst>
              <a:gd name="adj" fmla="val 363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8" name="TextBox 7"/>
          <p:cNvSpPr txBox="1"/>
          <p:nvPr/>
        </p:nvSpPr>
        <p:spPr>
          <a:xfrm>
            <a:off x="8202168" y="1874519"/>
            <a:ext cx="3063240" cy="237744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Video</a:t>
            </a:r>
          </a:p>
          <a:p>
            <a:pPr algn="l" marL="292608" indent="-292608">
              <a:spcAft>
                <a:spcPts val="400"/>
              </a:spcAft>
              <a:buClr>
                <a:srgbClr val="D7014D"/>
              </a:buClr>
              <a:buFont typeface="Arial"/>
              <a:buChar char="•"/>
            </a:pPr>
            <a:r>
              <a:rPr sz="2200" b="0" i="0">
                <a:solidFill>
                  <a:srgbClr val="1A1A1A"/>
                </a:solidFill>
                <a:latin typeface="Trebuchet MS"/>
              </a:rPr>
              <a:t>25 fps, ≈75 frames per clip</a:t>
            </a:r>
          </a:p>
          <a:p>
            <a:pPr algn="l" marL="292608" indent="-292608">
              <a:spcAft>
                <a:spcPts val="400"/>
              </a:spcAft>
              <a:buClr>
                <a:srgbClr val="D7014D"/>
              </a:buClr>
              <a:buFont typeface="Arial"/>
              <a:buChar char="•"/>
            </a:pPr>
            <a:r>
              <a:rPr sz="2200" b="0" i="0">
                <a:solidFill>
                  <a:srgbClr val="1A1A1A"/>
                </a:solidFill>
                <a:latin typeface="Trebuchet MS"/>
              </a:rPr>
              <a:t>Frame count checked against audio</a:t>
            </a:r>
          </a:p>
        </p:txBody>
      </p:sp>
      <p:sp>
        <p:nvSpPr>
          <p:cNvPr id="9" name="Rounded Rectangle 8"/>
          <p:cNvSpPr/>
          <p:nvPr/>
        </p:nvSpPr>
        <p:spPr>
          <a:xfrm>
            <a:off x="841248" y="4572000"/>
            <a:ext cx="3657600" cy="548640"/>
          </a:xfrm>
          <a:prstGeom prst="roundRect">
            <a:avLst>
              <a:gd name="adj" fmla="val 16666"/>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1 video frame = 40 ms</a:t>
            </a:r>
          </a:p>
        </p:txBody>
      </p:sp>
      <p:sp>
        <p:nvSpPr>
          <p:cNvPr id="10" name="Rounded Rectangle 9"/>
          <p:cNvSpPr/>
          <p:nvPr/>
        </p:nvSpPr>
        <p:spPr>
          <a:xfrm>
            <a:off x="841248" y="5257800"/>
            <a:ext cx="859536" cy="548640"/>
          </a:xfrm>
          <a:prstGeom prst="roundRect">
            <a:avLst>
              <a:gd name="adj" fmla="val 16666"/>
            </a:avLst>
          </a:prstGeom>
          <a:solidFill>
            <a:srgbClr val="DDEBF7"/>
          </a:solidFill>
          <a:ln w="15875">
            <a:solidFill>
              <a:srgbClr val="2E75B6"/>
            </a:solidFill>
          </a:ln>
        </p:spPr>
        <p:txBody>
          <a:bodyPr rtlCol="0" anchor="ctr" wrap="square" lIns="0" rIns="0" tIns="27432" bIns="27432">
            <a:noAutofit/>
          </a:bodyPr>
          <a:lstStyle/>
          <a:p>
            <a:pPr algn="ctr">
              <a:spcAft>
                <a:spcPts val="0"/>
              </a:spcAft>
            </a:pPr>
            <a:r>
              <a:rPr sz="2200" b="0" i="0">
                <a:solidFill>
                  <a:srgbClr val="1A1A1A"/>
                </a:solidFill>
                <a:latin typeface="Trebuchet MS"/>
              </a:rPr>
              <a:t>10 ms</a:t>
            </a:r>
          </a:p>
        </p:txBody>
      </p:sp>
      <p:sp>
        <p:nvSpPr>
          <p:cNvPr id="11" name="Rounded Rectangle 10"/>
          <p:cNvSpPr/>
          <p:nvPr/>
        </p:nvSpPr>
        <p:spPr>
          <a:xfrm>
            <a:off x="1755648" y="5257800"/>
            <a:ext cx="859536" cy="548640"/>
          </a:xfrm>
          <a:prstGeom prst="roundRect">
            <a:avLst>
              <a:gd name="adj" fmla="val 16666"/>
            </a:avLst>
          </a:prstGeom>
          <a:solidFill>
            <a:srgbClr val="DDEBF7"/>
          </a:solidFill>
          <a:ln w="15875">
            <a:solidFill>
              <a:srgbClr val="2E75B6"/>
            </a:solidFill>
          </a:ln>
        </p:spPr>
        <p:txBody>
          <a:bodyPr rtlCol="0" anchor="ctr" wrap="square" lIns="0" rIns="0" tIns="27432" bIns="27432">
            <a:noAutofit/>
          </a:bodyPr>
          <a:lstStyle/>
          <a:p>
            <a:pPr algn="ctr">
              <a:spcAft>
                <a:spcPts val="0"/>
              </a:spcAft>
            </a:pPr>
            <a:r>
              <a:rPr sz="2200" b="0" i="0">
                <a:solidFill>
                  <a:srgbClr val="1A1A1A"/>
                </a:solidFill>
                <a:latin typeface="Trebuchet MS"/>
              </a:rPr>
              <a:t>10 ms</a:t>
            </a:r>
          </a:p>
        </p:txBody>
      </p:sp>
      <p:sp>
        <p:nvSpPr>
          <p:cNvPr id="12" name="Rounded Rectangle 11"/>
          <p:cNvSpPr/>
          <p:nvPr/>
        </p:nvSpPr>
        <p:spPr>
          <a:xfrm>
            <a:off x="2670048" y="5257800"/>
            <a:ext cx="859536" cy="548640"/>
          </a:xfrm>
          <a:prstGeom prst="roundRect">
            <a:avLst>
              <a:gd name="adj" fmla="val 16666"/>
            </a:avLst>
          </a:prstGeom>
          <a:solidFill>
            <a:srgbClr val="DDEBF7"/>
          </a:solidFill>
          <a:ln w="15875">
            <a:solidFill>
              <a:srgbClr val="2E75B6"/>
            </a:solidFill>
          </a:ln>
        </p:spPr>
        <p:txBody>
          <a:bodyPr rtlCol="0" anchor="ctr" wrap="square" lIns="0" rIns="0" tIns="27432" bIns="27432">
            <a:noAutofit/>
          </a:bodyPr>
          <a:lstStyle/>
          <a:p>
            <a:pPr algn="ctr">
              <a:spcAft>
                <a:spcPts val="0"/>
              </a:spcAft>
            </a:pPr>
            <a:r>
              <a:rPr sz="2200" b="0" i="0">
                <a:solidFill>
                  <a:srgbClr val="1A1A1A"/>
                </a:solidFill>
                <a:latin typeface="Trebuchet MS"/>
              </a:rPr>
              <a:t>10 ms</a:t>
            </a:r>
          </a:p>
        </p:txBody>
      </p:sp>
      <p:sp>
        <p:nvSpPr>
          <p:cNvPr id="13" name="Rounded Rectangle 12"/>
          <p:cNvSpPr/>
          <p:nvPr/>
        </p:nvSpPr>
        <p:spPr>
          <a:xfrm>
            <a:off x="3584448" y="5257800"/>
            <a:ext cx="859536" cy="548640"/>
          </a:xfrm>
          <a:prstGeom prst="roundRect">
            <a:avLst>
              <a:gd name="adj" fmla="val 16666"/>
            </a:avLst>
          </a:prstGeom>
          <a:solidFill>
            <a:srgbClr val="DDEBF7"/>
          </a:solidFill>
          <a:ln w="15875">
            <a:solidFill>
              <a:srgbClr val="2E75B6"/>
            </a:solidFill>
          </a:ln>
        </p:spPr>
        <p:txBody>
          <a:bodyPr rtlCol="0" anchor="ctr" wrap="square" lIns="0" rIns="0" tIns="27432" bIns="27432">
            <a:noAutofit/>
          </a:bodyPr>
          <a:lstStyle/>
          <a:p>
            <a:pPr algn="ctr">
              <a:spcAft>
                <a:spcPts val="0"/>
              </a:spcAft>
            </a:pPr>
            <a:r>
              <a:rPr sz="2200" b="0" i="0">
                <a:solidFill>
                  <a:srgbClr val="1A1A1A"/>
                </a:solidFill>
                <a:latin typeface="Trebuchet MS"/>
              </a:rPr>
              <a:t>10 ms</a:t>
            </a:r>
          </a:p>
        </p:txBody>
      </p:sp>
      <p:sp>
        <p:nvSpPr>
          <p:cNvPr id="14" name="TextBox 13"/>
          <p:cNvSpPr txBox="1"/>
          <p:nvPr/>
        </p:nvSpPr>
        <p:spPr>
          <a:xfrm>
            <a:off x="4864608" y="4526280"/>
            <a:ext cx="6492240" cy="1371600"/>
          </a:xfrm>
          <a:prstGeom prst="rect">
            <a:avLst/>
          </a:prstGeom>
          <a:noFill/>
        </p:spPr>
        <p:txBody>
          <a:bodyPr wrap="square" lIns="54864" rIns="54864" tIns="27432" bIns="27432" anchor="t">
            <a:noAutofit/>
          </a:bodyPr>
          <a:lstStyle/>
          <a:p>
            <a:pPr algn="l">
              <a:spcAft>
                <a:spcPts val="200"/>
              </a:spcAft>
            </a:pPr>
            <a:r>
              <a:rPr sz="2200" b="0" i="0">
                <a:solidFill>
                  <a:srgbClr val="1A1A1A"/>
                </a:solidFill>
                <a:latin typeface="Trebuchet MS"/>
              </a:rPr>
              <a:t>= 640 audio samples at 16 kHz</a:t>
            </a:r>
          </a:p>
          <a:p>
            <a:pPr algn="l">
              <a:spcAft>
                <a:spcPts val="200"/>
              </a:spcAft>
            </a:pPr>
            <a:r>
              <a:rPr sz="2200" b="0" i="0">
                <a:solidFill>
                  <a:srgbClr val="1A1A1A"/>
                </a:solidFill>
                <a:latin typeface="Trebuchet MS"/>
              </a:rPr>
              <a:t>= 4 log-Mel frames (10 ms hop)</a:t>
            </a:r>
          </a:p>
          <a:p>
            <a:pPr algn="l">
              <a:spcAft>
                <a:spcPts val="200"/>
              </a:spcAft>
            </a:pPr>
            <a:r>
              <a:rPr sz="2200" b="1" i="0">
                <a:solidFill>
                  <a:srgbClr val="1F497D"/>
                </a:solidFill>
                <a:latin typeface="Trebuchet MS"/>
              </a:rPr>
              <a:t>Fixed 4 : 1 ratio used everywhere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Splitting by speaker stops leakage</a:t>
            </a:r>
          </a:p>
        </p:txBody>
      </p:sp>
      <p:sp>
        <p:nvSpPr>
          <p:cNvPr id="3" name="Rectangle 2"/>
          <p:cNvSpPr/>
          <p:nvPr/>
        </p:nvSpPr>
        <p:spPr>
          <a:xfrm>
            <a:off x="841248" y="1783080"/>
            <a:ext cx="8314047" cy="685800"/>
          </a:xfrm>
          <a:prstGeom prst="rect">
            <a:avLst/>
          </a:prstGeom>
          <a:solidFill>
            <a:srgbClr val="1F497D"/>
          </a:solidFill>
          <a:ln>
            <a:noFill/>
          </a:ln>
        </p:spPr>
        <p:txBody>
          <a:bodyPr rtlCol="0" anchor="ctr" wrap="square" lIns="18288" rIns="18288" tIns="27432" bIns="27432">
            <a:noAutofit/>
          </a:bodyPr>
          <a:lstStyle/>
          <a:p>
            <a:pPr algn="ctr">
              <a:spcAft>
                <a:spcPts val="0"/>
              </a:spcAft>
            </a:pPr>
            <a:r>
              <a:rPr sz="2200" b="1" i="0">
                <a:solidFill>
                  <a:srgbClr val="FFFFFF"/>
                </a:solidFill>
                <a:latin typeface="Trebuchet MS"/>
              </a:rPr>
              <a:t>Train: ≈27 speakers</a:t>
            </a:r>
          </a:p>
        </p:txBody>
      </p:sp>
      <p:sp>
        <p:nvSpPr>
          <p:cNvPr id="4" name="Rectangle 3"/>
          <p:cNvSpPr/>
          <p:nvPr/>
        </p:nvSpPr>
        <p:spPr>
          <a:xfrm>
            <a:off x="9191871" y="1783080"/>
            <a:ext cx="891271" cy="685800"/>
          </a:xfrm>
          <a:prstGeom prst="rect">
            <a:avLst/>
          </a:prstGeom>
          <a:solidFill>
            <a:srgbClr val="2E75B6"/>
          </a:solidFill>
          <a:ln>
            <a:noFill/>
          </a:ln>
        </p:spPr>
        <p:txBody>
          <a:bodyPr rtlCol="0" anchor="ctr" wrap="square" lIns="18288" rIns="18288" tIns="27432" bIns="27432">
            <a:noAutofit/>
          </a:bodyPr>
          <a:lstStyle/>
          <a:p>
            <a:pPr algn="ctr">
              <a:spcAft>
                <a:spcPts val="0"/>
              </a:spcAft>
            </a:pPr>
            <a:r>
              <a:rPr sz="2200" b="1" i="0">
                <a:solidFill>
                  <a:srgbClr val="FFFFFF"/>
                </a:solidFill>
                <a:latin typeface="Trebuchet MS"/>
              </a:rPr>
              <a:t>Val: 3</a:t>
            </a:r>
          </a:p>
        </p:txBody>
      </p:sp>
      <p:sp>
        <p:nvSpPr>
          <p:cNvPr id="5" name="Rectangle 4"/>
          <p:cNvSpPr/>
          <p:nvPr/>
        </p:nvSpPr>
        <p:spPr>
          <a:xfrm>
            <a:off x="10119718" y="1783080"/>
            <a:ext cx="1200553" cy="685800"/>
          </a:xfrm>
          <a:prstGeom prst="rect">
            <a:avLst/>
          </a:prstGeom>
          <a:solidFill>
            <a:srgbClr val="D7014D"/>
          </a:solidFill>
          <a:ln>
            <a:noFill/>
          </a:ln>
        </p:spPr>
        <p:txBody>
          <a:bodyPr rtlCol="0" anchor="ctr" wrap="square" lIns="18288" rIns="18288" tIns="27432" bIns="27432">
            <a:noAutofit/>
          </a:bodyPr>
          <a:lstStyle/>
          <a:p>
            <a:pPr algn="ctr">
              <a:spcAft>
                <a:spcPts val="0"/>
              </a:spcAft>
            </a:pPr>
            <a:r>
              <a:rPr sz="2200" b="1" i="0">
                <a:solidFill>
                  <a:srgbClr val="FFFFFF"/>
                </a:solidFill>
                <a:latin typeface="Trebuchet MS"/>
              </a:rPr>
              <a:t>Test: 4</a:t>
            </a:r>
          </a:p>
        </p:txBody>
      </p:sp>
      <p:sp>
        <p:nvSpPr>
          <p:cNvPr id="6" name="TextBox 5"/>
          <p:cNvSpPr txBox="1"/>
          <p:nvPr/>
        </p:nvSpPr>
        <p:spPr>
          <a:xfrm>
            <a:off x="841248" y="2560320"/>
            <a:ext cx="10515600" cy="82296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Validation: early stopping and model selection.  Test (2 female, 2 male): final reporting only</a:t>
            </a:r>
          </a:p>
        </p:txBody>
      </p:sp>
      <p:sp>
        <p:nvSpPr>
          <p:cNvPr id="7" name="Rounded Rectangle 6"/>
          <p:cNvSpPr/>
          <p:nvPr/>
        </p:nvSpPr>
        <p:spPr>
          <a:xfrm>
            <a:off x="841248" y="3520440"/>
            <a:ext cx="5074920" cy="2423160"/>
          </a:xfrm>
          <a:prstGeom prst="roundRect">
            <a:avLst>
              <a:gd name="adj" fmla="val 3773"/>
            </a:avLst>
          </a:prstGeom>
          <a:solidFill>
            <a:srgbClr val="EAF0F8"/>
          </a:solidFill>
          <a:ln>
            <a:noFill/>
          </a:ln>
        </p:spPr>
        <p:txBody>
          <a:bodyPr rtlCol="0" anchor="t" wrap="square" lIns="54864" rIns="54864" tIns="27432" bIns="27432">
            <a:noAutofit/>
          </a:bodyPr>
          <a:lstStyle/>
          <a:p>
            <a:pPr algn="l">
              <a:spcAft>
                <a:spcPts val="600"/>
              </a:spcAft>
            </a:pPr>
          </a:p>
        </p:txBody>
      </p:sp>
      <p:sp>
        <p:nvSpPr>
          <p:cNvPr id="8" name="TextBox 7"/>
          <p:cNvSpPr txBox="1"/>
          <p:nvPr/>
        </p:nvSpPr>
        <p:spPr>
          <a:xfrm>
            <a:off x="1024128" y="3611880"/>
            <a:ext cx="4709160" cy="22860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Why leakage matters</a:t>
            </a:r>
          </a:p>
          <a:p>
            <a:pPr algn="l" marL="292608" indent="-292608">
              <a:spcAft>
                <a:spcPts val="400"/>
              </a:spcAft>
              <a:buClr>
                <a:srgbClr val="D7014D"/>
              </a:buClr>
              <a:buFont typeface="Arial"/>
              <a:buChar char="•"/>
            </a:pPr>
            <a:r>
              <a:rPr sz="2200" b="0" i="0">
                <a:solidFill>
                  <a:srgbClr val="1A1A1A"/>
                </a:solidFill>
                <a:latin typeface="Trebuchet MS"/>
              </a:rPr>
              <a:t>Model can memorise a known speaker's lips, face and voice</a:t>
            </a:r>
          </a:p>
          <a:p>
            <a:pPr algn="l" marL="292608" indent="-292608">
              <a:spcAft>
                <a:spcPts val="400"/>
              </a:spcAft>
              <a:buClr>
                <a:srgbClr val="D7014D"/>
              </a:buClr>
              <a:buFont typeface="Arial"/>
              <a:buChar char="•"/>
            </a:pPr>
            <a:r>
              <a:rPr sz="2200" b="0" i="0">
                <a:solidFill>
                  <a:srgbClr val="1A1A1A"/>
                </a:solidFill>
                <a:latin typeface="Trebuchet MS"/>
              </a:rPr>
              <a:t>Test WER would then be optimistically biased</a:t>
            </a:r>
          </a:p>
        </p:txBody>
      </p:sp>
      <p:sp>
        <p:nvSpPr>
          <p:cNvPr id="9" name="Rounded Rectangle 8"/>
          <p:cNvSpPr/>
          <p:nvPr/>
        </p:nvSpPr>
        <p:spPr>
          <a:xfrm>
            <a:off x="6281928" y="3520440"/>
            <a:ext cx="5074920" cy="2423160"/>
          </a:xfrm>
          <a:prstGeom prst="roundRect">
            <a:avLst>
              <a:gd name="adj" fmla="val 3773"/>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0" name="TextBox 9"/>
          <p:cNvSpPr txBox="1"/>
          <p:nvPr/>
        </p:nvSpPr>
        <p:spPr>
          <a:xfrm>
            <a:off x="6464808" y="3611880"/>
            <a:ext cx="4709160" cy="22860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Three safeguards</a:t>
            </a:r>
          </a:p>
          <a:p>
            <a:pPr algn="l" marL="292608" indent="-292608">
              <a:spcAft>
                <a:spcPts val="400"/>
              </a:spcAft>
              <a:buClr>
                <a:srgbClr val="D7014D"/>
              </a:buClr>
              <a:buFont typeface="Arial"/>
              <a:buChar char="•"/>
            </a:pPr>
            <a:r>
              <a:rPr sz="2200" b="0" i="0">
                <a:solidFill>
                  <a:srgbClr val="1A1A1A"/>
                </a:solidFill>
                <a:latin typeface="Trebuchet MS"/>
              </a:rPr>
              <a:t>splits.csv: the only source of membership</a:t>
            </a:r>
          </a:p>
          <a:p>
            <a:pPr algn="l" marL="292608" indent="-292608">
              <a:spcAft>
                <a:spcPts val="400"/>
              </a:spcAft>
              <a:buClr>
                <a:srgbClr val="D7014D"/>
              </a:buClr>
              <a:buFont typeface="Arial"/>
              <a:buChar char="•"/>
            </a:pPr>
            <a:r>
              <a:rPr sz="2200" b="0" i="0">
                <a:solidFill>
                  <a:srgbClr val="1A1A1A"/>
                </a:solidFill>
                <a:latin typeface="Trebuchet MS"/>
              </a:rPr>
              <a:t>Loader rejects shared speakers</a:t>
            </a:r>
          </a:p>
          <a:p>
            <a:pPr algn="l" marL="292608" indent="-292608">
              <a:spcAft>
                <a:spcPts val="400"/>
              </a:spcAft>
              <a:buClr>
                <a:srgbClr val="D7014D"/>
              </a:buClr>
              <a:buFont typeface="Arial"/>
              <a:buChar char="•"/>
            </a:pPr>
            <a:r>
              <a:rPr sz="2200" b="0" i="0">
                <a:solidFill>
                  <a:srgbClr val="1A1A1A"/>
                </a:solidFill>
                <a:latin typeface="Trebuchet MS"/>
              </a:rPr>
              <a:t>Unit test: sets are disjoint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Integrity checks before training</a:t>
            </a:r>
          </a:p>
        </p:txBody>
      </p:sp>
      <p:sp>
        <p:nvSpPr>
          <p:cNvPr id="3" name="Rounded Rectangle 2"/>
          <p:cNvSpPr/>
          <p:nvPr/>
        </p:nvSpPr>
        <p:spPr>
          <a:xfrm>
            <a:off x="841248" y="1783080"/>
            <a:ext cx="5074920" cy="1143000"/>
          </a:xfrm>
          <a:prstGeom prst="roundRect">
            <a:avLst>
              <a:gd name="adj" fmla="val 8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Oval 3"/>
          <p:cNvSpPr/>
          <p:nvPr/>
        </p:nvSpPr>
        <p:spPr>
          <a:xfrm>
            <a:off x="1024128" y="210312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5" name="TextBox 4"/>
          <p:cNvSpPr txBox="1"/>
          <p:nvPr/>
        </p:nvSpPr>
        <p:spPr>
          <a:xfrm>
            <a:off x="1664208" y="1856231"/>
            <a:ext cx="4114800" cy="100584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Video, audio and alignment files all present</a:t>
            </a:r>
          </a:p>
        </p:txBody>
      </p:sp>
      <p:sp>
        <p:nvSpPr>
          <p:cNvPr id="6" name="Rounded Rectangle 5"/>
          <p:cNvSpPr/>
          <p:nvPr/>
        </p:nvSpPr>
        <p:spPr>
          <a:xfrm>
            <a:off x="6281928" y="1783080"/>
            <a:ext cx="5074920" cy="1143000"/>
          </a:xfrm>
          <a:prstGeom prst="roundRect">
            <a:avLst>
              <a:gd name="adj" fmla="val 8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7" name="Oval 6"/>
          <p:cNvSpPr/>
          <p:nvPr/>
        </p:nvSpPr>
        <p:spPr>
          <a:xfrm>
            <a:off x="6464808" y="210312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8" name="TextBox 7"/>
          <p:cNvSpPr txBox="1"/>
          <p:nvPr/>
        </p:nvSpPr>
        <p:spPr>
          <a:xfrm>
            <a:off x="7104888" y="1856231"/>
            <a:ext cx="4114800" cy="100584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Video decodes with 75 ± 2 frames</a:t>
            </a:r>
          </a:p>
        </p:txBody>
      </p:sp>
      <p:sp>
        <p:nvSpPr>
          <p:cNvPr id="9" name="Rounded Rectangle 8"/>
          <p:cNvSpPr/>
          <p:nvPr/>
        </p:nvSpPr>
        <p:spPr>
          <a:xfrm>
            <a:off x="841248" y="3108960"/>
            <a:ext cx="5074920" cy="1143000"/>
          </a:xfrm>
          <a:prstGeom prst="roundRect">
            <a:avLst>
              <a:gd name="adj" fmla="val 8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0" name="Oval 9"/>
          <p:cNvSpPr/>
          <p:nvPr/>
        </p:nvSpPr>
        <p:spPr>
          <a:xfrm>
            <a:off x="1024128" y="342900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11" name="TextBox 10"/>
          <p:cNvSpPr txBox="1"/>
          <p:nvPr/>
        </p:nvSpPr>
        <p:spPr>
          <a:xfrm>
            <a:off x="1664208" y="3182112"/>
            <a:ext cx="4114800" cy="100584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Audio and video lengths match within 40 ms</a:t>
            </a:r>
          </a:p>
        </p:txBody>
      </p:sp>
      <p:sp>
        <p:nvSpPr>
          <p:cNvPr id="12" name="Rounded Rectangle 11"/>
          <p:cNvSpPr/>
          <p:nvPr/>
        </p:nvSpPr>
        <p:spPr>
          <a:xfrm>
            <a:off x="6281928" y="3108960"/>
            <a:ext cx="5074920" cy="1143000"/>
          </a:xfrm>
          <a:prstGeom prst="roundRect">
            <a:avLst>
              <a:gd name="adj" fmla="val 8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3" name="Oval 12"/>
          <p:cNvSpPr/>
          <p:nvPr/>
        </p:nvSpPr>
        <p:spPr>
          <a:xfrm>
            <a:off x="6464808" y="342900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4" name="TextBox 13"/>
          <p:cNvSpPr txBox="1"/>
          <p:nvPr/>
        </p:nvSpPr>
        <p:spPr>
          <a:xfrm>
            <a:off x="7104888" y="3182112"/>
            <a:ext cx="4114800" cy="100584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Transcript has six valid GRID words</a:t>
            </a:r>
          </a:p>
        </p:txBody>
      </p:sp>
      <p:sp>
        <p:nvSpPr>
          <p:cNvPr id="15" name="Rounded Rectangle 14"/>
          <p:cNvSpPr/>
          <p:nvPr/>
        </p:nvSpPr>
        <p:spPr>
          <a:xfrm>
            <a:off x="841248" y="4434840"/>
            <a:ext cx="5074920" cy="1143000"/>
          </a:xfrm>
          <a:prstGeom prst="roundRect">
            <a:avLst>
              <a:gd name="adj" fmla="val 8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6" name="Oval 15"/>
          <p:cNvSpPr/>
          <p:nvPr/>
        </p:nvSpPr>
        <p:spPr>
          <a:xfrm>
            <a:off x="1024128" y="4754879"/>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5</a:t>
            </a:r>
          </a:p>
        </p:txBody>
      </p:sp>
      <p:sp>
        <p:nvSpPr>
          <p:cNvPr id="17" name="TextBox 16"/>
          <p:cNvSpPr txBox="1"/>
          <p:nvPr/>
        </p:nvSpPr>
        <p:spPr>
          <a:xfrm>
            <a:off x="1664208" y="4507992"/>
            <a:ext cx="4114800" cy="100584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Face Mesh succeeds on at least 90% of frames</a:t>
            </a:r>
          </a:p>
        </p:txBody>
      </p:sp>
      <p:sp>
        <p:nvSpPr>
          <p:cNvPr id="18" name="Rounded Rectangle 17"/>
          <p:cNvSpPr/>
          <p:nvPr/>
        </p:nvSpPr>
        <p:spPr>
          <a:xfrm>
            <a:off x="6281928" y="4434840"/>
            <a:ext cx="5074920" cy="1143000"/>
          </a:xfrm>
          <a:prstGeom prst="roundRect">
            <a:avLst>
              <a:gd name="adj" fmla="val 8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9" name="Oval 18"/>
          <p:cNvSpPr/>
          <p:nvPr/>
        </p:nvSpPr>
        <p:spPr>
          <a:xfrm>
            <a:off x="6464808" y="4754879"/>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6</a:t>
            </a:r>
          </a:p>
        </p:txBody>
      </p:sp>
      <p:sp>
        <p:nvSpPr>
          <p:cNvPr id="20" name="TextBox 19"/>
          <p:cNvSpPr txBox="1"/>
          <p:nvPr/>
        </p:nvSpPr>
        <p:spPr>
          <a:xfrm>
            <a:off x="7104888" y="4507992"/>
            <a:ext cx="4114800" cy="100584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Audio not silent or clipped throughout</a:t>
            </a:r>
          </a:p>
        </p:txBody>
      </p:sp>
      <p:sp>
        <p:nvSpPr>
          <p:cNvPr id="21" name="TextBox 20"/>
          <p:cNvSpPr txBox="1"/>
          <p:nvPr/>
        </p:nvSpPr>
        <p:spPr>
          <a:xfrm>
            <a:off x="841248" y="5577840"/>
            <a:ext cx="10515600" cy="41148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verify_dataset.py writes a report; its counts become our dataset statistics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Mixing MUSAN noise at an exact SNR</a:t>
            </a:r>
          </a:p>
        </p:txBody>
      </p:sp>
      <p:sp>
        <p:nvSpPr>
          <p:cNvPr id="3" name="Rounded Rectangle 2"/>
          <p:cNvSpPr/>
          <p:nvPr/>
        </p:nvSpPr>
        <p:spPr>
          <a:xfrm>
            <a:off x="841248" y="1783080"/>
            <a:ext cx="1920240" cy="548640"/>
          </a:xfrm>
          <a:prstGeom prst="roundRect">
            <a:avLst>
              <a:gd name="adj" fmla="val 16666"/>
            </a:avLst>
          </a:prstGeom>
          <a:solidFill>
            <a:srgbClr val="DDEBF7"/>
          </a:solidFill>
          <a:ln>
            <a:noFill/>
          </a:ln>
        </p:spPr>
        <p:txBody>
          <a:bodyPr rtlCol="0" anchor="ctr" wrap="square" lIns="73152" rIns="73152" tIns="27432" bIns="27432">
            <a:noAutofit/>
          </a:bodyPr>
          <a:lstStyle/>
          <a:p>
            <a:pPr algn="ctr">
              <a:spcAft>
                <a:spcPts val="0"/>
              </a:spcAft>
            </a:pPr>
            <a:r>
              <a:rPr sz="2200" b="1" i="0">
                <a:solidFill>
                  <a:srgbClr val="1A1A1A"/>
                </a:solidFill>
                <a:latin typeface="Trebuchet MS"/>
              </a:rPr>
              <a:t>Clean</a:t>
            </a:r>
          </a:p>
        </p:txBody>
      </p:sp>
      <p:sp>
        <p:nvSpPr>
          <p:cNvPr id="4" name="Rounded Rectangle 3"/>
          <p:cNvSpPr/>
          <p:nvPr/>
        </p:nvSpPr>
        <p:spPr>
          <a:xfrm>
            <a:off x="2990088" y="1783080"/>
            <a:ext cx="1920240" cy="548640"/>
          </a:xfrm>
          <a:prstGeom prst="roundRect">
            <a:avLst>
              <a:gd name="adj" fmla="val 16666"/>
            </a:avLst>
          </a:prstGeom>
          <a:solidFill>
            <a:srgbClr val="BDD7EE"/>
          </a:solidFill>
          <a:ln>
            <a:noFill/>
          </a:ln>
        </p:spPr>
        <p:txBody>
          <a:bodyPr rtlCol="0" anchor="ctr" wrap="square" lIns="73152" rIns="73152" tIns="27432" bIns="27432">
            <a:noAutofit/>
          </a:bodyPr>
          <a:lstStyle/>
          <a:p>
            <a:pPr algn="ctr">
              <a:spcAft>
                <a:spcPts val="0"/>
              </a:spcAft>
            </a:pPr>
            <a:r>
              <a:rPr sz="2200" b="1" i="0">
                <a:solidFill>
                  <a:srgbClr val="1A1A1A"/>
                </a:solidFill>
                <a:latin typeface="Trebuchet MS"/>
              </a:rPr>
              <a:t>10 dB</a:t>
            </a:r>
          </a:p>
        </p:txBody>
      </p:sp>
      <p:sp>
        <p:nvSpPr>
          <p:cNvPr id="5" name="Rounded Rectangle 4"/>
          <p:cNvSpPr/>
          <p:nvPr/>
        </p:nvSpPr>
        <p:spPr>
          <a:xfrm>
            <a:off x="5138928" y="1783080"/>
            <a:ext cx="1920240" cy="548640"/>
          </a:xfrm>
          <a:prstGeom prst="roundRect">
            <a:avLst>
              <a:gd name="adj" fmla="val 16666"/>
            </a:avLst>
          </a:prstGeom>
          <a:solidFill>
            <a:srgbClr val="9DC3E6"/>
          </a:solidFill>
          <a:ln>
            <a:noFill/>
          </a:ln>
        </p:spPr>
        <p:txBody>
          <a:bodyPr rtlCol="0" anchor="ctr" wrap="square" lIns="73152" rIns="73152" tIns="27432" bIns="27432">
            <a:noAutofit/>
          </a:bodyPr>
          <a:lstStyle/>
          <a:p>
            <a:pPr algn="ctr">
              <a:spcAft>
                <a:spcPts val="0"/>
              </a:spcAft>
            </a:pPr>
            <a:r>
              <a:rPr sz="2200" b="1" i="0">
                <a:solidFill>
                  <a:srgbClr val="1A1A1A"/>
                </a:solidFill>
                <a:latin typeface="Trebuchet MS"/>
              </a:rPr>
              <a:t>5 dB</a:t>
            </a:r>
          </a:p>
        </p:txBody>
      </p:sp>
      <p:sp>
        <p:nvSpPr>
          <p:cNvPr id="6" name="Rounded Rectangle 5"/>
          <p:cNvSpPr/>
          <p:nvPr/>
        </p:nvSpPr>
        <p:spPr>
          <a:xfrm>
            <a:off x="7287768" y="1783080"/>
            <a:ext cx="1920240" cy="548640"/>
          </a:xfrm>
          <a:prstGeom prst="roundRect">
            <a:avLst>
              <a:gd name="adj" fmla="val 16666"/>
            </a:avLst>
          </a:prstGeom>
          <a:solidFill>
            <a:srgbClr val="5B9BD5"/>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0 dB</a:t>
            </a:r>
          </a:p>
        </p:txBody>
      </p:sp>
      <p:sp>
        <p:nvSpPr>
          <p:cNvPr id="7" name="Rounded Rectangle 6"/>
          <p:cNvSpPr/>
          <p:nvPr/>
        </p:nvSpPr>
        <p:spPr>
          <a:xfrm>
            <a:off x="9436608" y="1783080"/>
            <a:ext cx="1920240" cy="548640"/>
          </a:xfrm>
          <a:prstGeom prst="roundRect">
            <a:avLst>
              <a:gd name="adj" fmla="val 16666"/>
            </a:avLst>
          </a:prstGeom>
          <a:solidFill>
            <a:srgbClr val="2E75B6"/>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−5 dB</a:t>
            </a:r>
          </a:p>
        </p:txBody>
      </p:sp>
      <p:sp>
        <p:nvSpPr>
          <p:cNvPr id="8" name="Rounded Rectangle 7"/>
          <p:cNvSpPr/>
          <p:nvPr/>
        </p:nvSpPr>
        <p:spPr>
          <a:xfrm>
            <a:off x="841248" y="2606040"/>
            <a:ext cx="5120640" cy="2240280"/>
          </a:xfrm>
          <a:prstGeom prst="roundRect">
            <a:avLst>
              <a:gd name="adj" fmla="val 4081"/>
            </a:avLst>
          </a:prstGeom>
          <a:solidFill>
            <a:srgbClr val="FFF4CC"/>
          </a:solidFill>
          <a:ln>
            <a:noFill/>
          </a:ln>
        </p:spPr>
        <p:txBody>
          <a:bodyPr rtlCol="0" anchor="t" wrap="square" lIns="54864" rIns="54864" tIns="27432" bIns="27432">
            <a:noAutofit/>
          </a:bodyPr>
          <a:lstStyle/>
          <a:p>
            <a:pPr algn="l">
              <a:spcAft>
                <a:spcPts val="600"/>
              </a:spcAft>
            </a:pPr>
          </a:p>
        </p:txBody>
      </p:sp>
      <p:sp>
        <p:nvSpPr>
          <p:cNvPr id="9" name="TextBox 8"/>
          <p:cNvSpPr txBox="1"/>
          <p:nvPr/>
        </p:nvSpPr>
        <p:spPr>
          <a:xfrm>
            <a:off x="1024128" y="2697480"/>
            <a:ext cx="4754880" cy="2103120"/>
          </a:xfrm>
          <a:prstGeom prst="rect">
            <a:avLst/>
          </a:prstGeom>
          <a:noFill/>
        </p:spPr>
        <p:txBody>
          <a:bodyPr wrap="square" lIns="54864" rIns="54864" tIns="27432" bIns="27432" anchor="ctr">
            <a:noAutofit/>
          </a:bodyPr>
          <a:lstStyle/>
          <a:p>
            <a:pPr algn="l">
              <a:spcAft>
                <a:spcPts val="1200"/>
              </a:spcAft>
            </a:pPr>
            <a:r>
              <a:rPr sz="2400" b="0" i="0">
                <a:solidFill>
                  <a:srgbClr val="1A1A1A"/>
                </a:solidFill>
                <a:latin typeface="Trebuchet MS"/>
              </a:rPr>
              <a:t>P</a:t>
            </a:r>
            <a:r>
              <a:rPr sz="2400" b="0" i="0" baseline="-25000">
                <a:solidFill>
                  <a:srgbClr val="1A1A1A"/>
                </a:solidFill>
                <a:latin typeface="Trebuchet MS"/>
              </a:rPr>
              <a:t>s</a:t>
            </a:r>
            <a:r>
              <a:rPr sz="2400" b="0" i="0">
                <a:solidFill>
                  <a:srgbClr val="1A1A1A"/>
                </a:solidFill>
                <a:latin typeface="Trebuchet MS"/>
              </a:rPr>
              <a:t> = mean(s²),  P</a:t>
            </a:r>
            <a:r>
              <a:rPr sz="2400" b="0" i="0" baseline="-25000">
                <a:solidFill>
                  <a:srgbClr val="1A1A1A"/>
                </a:solidFill>
                <a:latin typeface="Trebuchet MS"/>
              </a:rPr>
              <a:t>w</a:t>
            </a:r>
            <a:r>
              <a:rPr sz="2400" b="0" i="0">
                <a:solidFill>
                  <a:srgbClr val="1A1A1A"/>
                </a:solidFill>
                <a:latin typeface="Trebuchet MS"/>
              </a:rPr>
              <a:t> = mean(w²)</a:t>
            </a:r>
          </a:p>
          <a:p>
            <a:pPr algn="l">
              <a:spcAft>
                <a:spcPts val="1200"/>
              </a:spcAft>
            </a:pPr>
            <a:r>
              <a:rPr sz="2400" b="0" i="0">
                <a:solidFill>
                  <a:srgbClr val="1A1A1A"/>
                </a:solidFill>
                <a:latin typeface="Trebuchet MS"/>
              </a:rPr>
              <a:t>α = √( P</a:t>
            </a:r>
            <a:r>
              <a:rPr sz="2400" b="0" i="0" baseline="-25000">
                <a:solidFill>
                  <a:srgbClr val="1A1A1A"/>
                </a:solidFill>
                <a:latin typeface="Trebuchet MS"/>
              </a:rPr>
              <a:t>s</a:t>
            </a:r>
            <a:r>
              <a:rPr sz="2400" b="0" i="0">
                <a:solidFill>
                  <a:srgbClr val="1A1A1A"/>
                </a:solidFill>
                <a:latin typeface="Trebuchet MS"/>
              </a:rPr>
              <a:t> / (P</a:t>
            </a:r>
            <a:r>
              <a:rPr sz="2400" b="0" i="0" baseline="-25000">
                <a:solidFill>
                  <a:srgbClr val="1A1A1A"/>
                </a:solidFill>
                <a:latin typeface="Trebuchet MS"/>
              </a:rPr>
              <a:t>w</a:t>
            </a:r>
            <a:r>
              <a:rPr sz="2400" b="0" i="0">
                <a:solidFill>
                  <a:srgbClr val="1A1A1A"/>
                </a:solidFill>
                <a:latin typeface="Trebuchet MS"/>
              </a:rPr>
              <a:t> · 10</a:t>
            </a:r>
            <a:r>
              <a:rPr sz="2400" b="0" i="0" baseline="30000">
                <a:solidFill>
                  <a:srgbClr val="1A1A1A"/>
                </a:solidFill>
                <a:latin typeface="Trebuchet MS"/>
              </a:rPr>
              <a:t>ρ/10</a:t>
            </a:r>
            <a:r>
              <a:rPr sz="2400" b="0" i="0">
                <a:solidFill>
                  <a:srgbClr val="1A1A1A"/>
                </a:solidFill>
                <a:latin typeface="Trebuchet MS"/>
              </a:rPr>
              <a:t>) )</a:t>
            </a:r>
          </a:p>
          <a:p>
            <a:pPr algn="l">
              <a:spcAft>
                <a:spcPts val="1200"/>
              </a:spcAft>
            </a:pPr>
            <a:r>
              <a:rPr sz="2400" b="0" i="0">
                <a:solidFill>
                  <a:srgbClr val="1A1A1A"/>
                </a:solidFill>
                <a:latin typeface="Trebuchet MS"/>
              </a:rPr>
              <a:t>y = s + α · w</a:t>
            </a:r>
          </a:p>
        </p:txBody>
      </p:sp>
      <p:sp>
        <p:nvSpPr>
          <p:cNvPr id="10" name="TextBox 9"/>
          <p:cNvSpPr txBox="1"/>
          <p:nvPr/>
        </p:nvSpPr>
        <p:spPr>
          <a:xfrm>
            <a:off x="841248" y="4983480"/>
            <a:ext cx="5120640" cy="100584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SNR uses whole-clip speech power, silences included</a:t>
            </a:r>
          </a:p>
        </p:txBody>
      </p:sp>
      <p:sp>
        <p:nvSpPr>
          <p:cNvPr id="11" name="Oval 10"/>
          <p:cNvSpPr/>
          <p:nvPr/>
        </p:nvSpPr>
        <p:spPr>
          <a:xfrm>
            <a:off x="6355080" y="2679192"/>
            <a:ext cx="457200" cy="457200"/>
          </a:xfrm>
          <a:prstGeom prst="ellipse">
            <a:avLst/>
          </a:prstGeom>
          <a:solidFill>
            <a:srgbClr val="2E75B6"/>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12" name="TextBox 11"/>
          <p:cNvSpPr txBox="1"/>
          <p:nvPr/>
        </p:nvSpPr>
        <p:spPr>
          <a:xfrm>
            <a:off x="6903720" y="2606040"/>
            <a:ext cx="4453128" cy="658368"/>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Cut a random noise segment</a:t>
            </a:r>
          </a:p>
        </p:txBody>
      </p:sp>
      <p:sp>
        <p:nvSpPr>
          <p:cNvPr id="13" name="Oval 12"/>
          <p:cNvSpPr/>
          <p:nvPr/>
        </p:nvSpPr>
        <p:spPr>
          <a:xfrm>
            <a:off x="6355080" y="3364992"/>
            <a:ext cx="457200" cy="457200"/>
          </a:xfrm>
          <a:prstGeom prst="ellipse">
            <a:avLst/>
          </a:prstGeom>
          <a:solidFill>
            <a:srgbClr val="2E75B6"/>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14" name="TextBox 13"/>
          <p:cNvSpPr txBox="1"/>
          <p:nvPr/>
        </p:nvSpPr>
        <p:spPr>
          <a:xfrm>
            <a:off x="6903720" y="3291840"/>
            <a:ext cx="4453128" cy="658368"/>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Measure speech, noise power</a:t>
            </a:r>
          </a:p>
        </p:txBody>
      </p:sp>
      <p:sp>
        <p:nvSpPr>
          <p:cNvPr id="15" name="Oval 14"/>
          <p:cNvSpPr/>
          <p:nvPr/>
        </p:nvSpPr>
        <p:spPr>
          <a:xfrm>
            <a:off x="6355080" y="4050791"/>
            <a:ext cx="457200" cy="457200"/>
          </a:xfrm>
          <a:prstGeom prst="ellipse">
            <a:avLst/>
          </a:prstGeom>
          <a:solidFill>
            <a:srgbClr val="2E75B6"/>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16" name="TextBox 15"/>
          <p:cNvSpPr txBox="1"/>
          <p:nvPr/>
        </p:nvSpPr>
        <p:spPr>
          <a:xfrm>
            <a:off x="6903720" y="3977639"/>
            <a:ext cx="4453128" cy="658368"/>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Scale noise by α, then add</a:t>
            </a:r>
          </a:p>
        </p:txBody>
      </p:sp>
      <p:sp>
        <p:nvSpPr>
          <p:cNvPr id="17" name="Oval 16"/>
          <p:cNvSpPr/>
          <p:nvPr/>
        </p:nvSpPr>
        <p:spPr>
          <a:xfrm>
            <a:off x="6355080" y="4736592"/>
            <a:ext cx="457200" cy="457200"/>
          </a:xfrm>
          <a:prstGeom prst="ellipse">
            <a:avLst/>
          </a:prstGeom>
          <a:solidFill>
            <a:srgbClr val="2E75B6"/>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8" name="TextBox 17"/>
          <p:cNvSpPr txBox="1"/>
          <p:nvPr/>
        </p:nvSpPr>
        <p:spPr>
          <a:xfrm>
            <a:off x="6903720" y="4663440"/>
            <a:ext cx="4453128" cy="658368"/>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Check SNR within 0.01 dB</a:t>
            </a:r>
          </a:p>
        </p:txBody>
      </p:sp>
      <p:sp>
        <p:nvSpPr>
          <p:cNvPr id="19" name="Oval 18"/>
          <p:cNvSpPr/>
          <p:nvPr/>
        </p:nvSpPr>
        <p:spPr>
          <a:xfrm>
            <a:off x="6355080" y="5422392"/>
            <a:ext cx="457200" cy="457200"/>
          </a:xfrm>
          <a:prstGeom prst="ellipse">
            <a:avLst/>
          </a:prstGeom>
          <a:solidFill>
            <a:srgbClr val="2E75B6"/>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5</a:t>
            </a:r>
          </a:p>
        </p:txBody>
      </p:sp>
      <p:sp>
        <p:nvSpPr>
          <p:cNvPr id="20" name="TextBox 19"/>
          <p:cNvSpPr txBox="1"/>
          <p:nvPr/>
        </p:nvSpPr>
        <p:spPr>
          <a:xfrm>
            <a:off x="6903720" y="5349240"/>
            <a:ext cx="4453128" cy="658368"/>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Peak over 1? Scale mix down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Noise policy for training and testing</a:t>
            </a:r>
          </a:p>
        </p:txBody>
      </p:sp>
      <p:sp>
        <p:nvSpPr>
          <p:cNvPr id="3" name="Rounded Rectangle 2"/>
          <p:cNvSpPr/>
          <p:nvPr/>
        </p:nvSpPr>
        <p:spPr>
          <a:xfrm>
            <a:off x="841248" y="1783080"/>
            <a:ext cx="5074920" cy="2926080"/>
          </a:xfrm>
          <a:prstGeom prst="roundRect">
            <a:avLst>
              <a:gd name="adj" fmla="val 3125"/>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1024128" y="1892807"/>
            <a:ext cx="4709160" cy="2743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Training</a:t>
            </a:r>
          </a:p>
          <a:p>
            <a:pPr algn="l" marL="292608" indent="-292608">
              <a:spcAft>
                <a:spcPts val="600"/>
              </a:spcAft>
              <a:buClr>
                <a:srgbClr val="D7014D"/>
              </a:buClr>
              <a:buFont typeface="Arial"/>
              <a:buChar char="•"/>
            </a:pPr>
            <a:r>
              <a:rPr sz="2200" b="0" i="0">
                <a:solidFill>
                  <a:srgbClr val="1A1A1A"/>
                </a:solidFill>
                <a:latin typeface="Trebuchet MS"/>
              </a:rPr>
              <a:t>SNR drawn per utterance from the five levels, equal odds</a:t>
            </a:r>
          </a:p>
          <a:p>
            <a:pPr algn="l" marL="292608" indent="-292608">
              <a:spcAft>
                <a:spcPts val="600"/>
              </a:spcAft>
              <a:buClr>
                <a:srgbClr val="D7014D"/>
              </a:buClr>
              <a:buFont typeface="Arial"/>
              <a:buChar char="•"/>
            </a:pPr>
            <a:r>
              <a:rPr sz="2200" b="0" i="0">
                <a:solidFill>
                  <a:srgbClr val="1A1A1A"/>
                </a:solidFill>
                <a:latin typeface="Trebuchet MS"/>
              </a:rPr>
              <a:t>Mixed on the fly: new noise every epoch</a:t>
            </a:r>
          </a:p>
          <a:p>
            <a:pPr algn="l" marL="292608" indent="-292608">
              <a:spcAft>
                <a:spcPts val="600"/>
              </a:spcAft>
              <a:buClr>
                <a:srgbClr val="D7014D"/>
              </a:buClr>
              <a:buFont typeface="Arial"/>
              <a:buChar char="•"/>
            </a:pPr>
            <a:r>
              <a:rPr sz="2200" b="0" i="0">
                <a:solidFill>
                  <a:srgbClr val="1A1A1A"/>
                </a:solidFill>
                <a:latin typeface="Trebuchet MS"/>
              </a:rPr>
              <a:t>Training noise files only</a:t>
            </a:r>
          </a:p>
        </p:txBody>
      </p:sp>
      <p:sp>
        <p:nvSpPr>
          <p:cNvPr id="5" name="Rounded Rectangle 4"/>
          <p:cNvSpPr/>
          <p:nvPr/>
        </p:nvSpPr>
        <p:spPr>
          <a:xfrm>
            <a:off x="6281928" y="1783080"/>
            <a:ext cx="5074920" cy="2926080"/>
          </a:xfrm>
          <a:prstGeom prst="roundRect">
            <a:avLst>
              <a:gd name="adj" fmla="val 3125"/>
            </a:avLst>
          </a:prstGeom>
          <a:solidFill>
            <a:srgbClr val="EAF0F8"/>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6464808" y="1892807"/>
            <a:ext cx="4709160" cy="2743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Validation and test</a:t>
            </a:r>
          </a:p>
          <a:p>
            <a:pPr algn="l" marL="292608" indent="-292608">
              <a:spcAft>
                <a:spcPts val="600"/>
              </a:spcAft>
              <a:buClr>
                <a:srgbClr val="D7014D"/>
              </a:buClr>
              <a:buFont typeface="Arial"/>
              <a:buChar char="•"/>
            </a:pPr>
            <a:r>
              <a:rPr sz="2200" b="0" i="0">
                <a:solidFill>
                  <a:srgbClr val="1A1A1A"/>
                </a:solidFill>
                <a:latin typeface="Trebuchet MS"/>
              </a:rPr>
              <a:t>Each utterance mixed once per SNR, fixed seed</a:t>
            </a:r>
          </a:p>
          <a:p>
            <a:pPr algn="l" marL="292608" indent="-292608">
              <a:spcAft>
                <a:spcPts val="600"/>
              </a:spcAft>
              <a:buClr>
                <a:srgbClr val="D7014D"/>
              </a:buClr>
              <a:buFont typeface="Arial"/>
              <a:buChar char="•"/>
            </a:pPr>
            <a:r>
              <a:rPr sz="2200" b="0" i="0">
                <a:solidFill>
                  <a:srgbClr val="1A1A1A"/>
                </a:solidFill>
                <a:latin typeface="Trebuchet MS"/>
              </a:rPr>
              <a:t>Stored in processed/noisy_test/</a:t>
            </a:r>
          </a:p>
          <a:p>
            <a:pPr algn="l" marL="292608" indent="-292608">
              <a:spcAft>
                <a:spcPts val="600"/>
              </a:spcAft>
              <a:buClr>
                <a:srgbClr val="D7014D"/>
              </a:buClr>
              <a:buFont typeface="Arial"/>
              <a:buChar char="•"/>
            </a:pPr>
            <a:r>
              <a:rPr sz="2200" b="0" i="0">
                <a:solidFill>
                  <a:srgbClr val="1A1A1A"/>
                </a:solidFill>
                <a:latin typeface="Trebuchet MS"/>
              </a:rPr>
              <a:t>Unseen noise files: robustness, not memory</a:t>
            </a:r>
          </a:p>
        </p:txBody>
      </p:sp>
      <p:sp>
        <p:nvSpPr>
          <p:cNvPr id="7" name="Rounded Rectangle 6"/>
          <p:cNvSpPr/>
          <p:nvPr/>
        </p:nvSpPr>
        <p:spPr>
          <a:xfrm>
            <a:off x="841248" y="4937760"/>
            <a:ext cx="10515600" cy="1005840"/>
          </a:xfrm>
          <a:prstGeom prst="roundRect">
            <a:avLst>
              <a:gd name="adj" fmla="val 9090"/>
            </a:avLst>
          </a:prstGeom>
          <a:solidFill>
            <a:srgbClr val="1F497D"/>
          </a:solidFill>
          <a:ln>
            <a:noFill/>
          </a:ln>
        </p:spPr>
        <p:txBody>
          <a:bodyPr rtlCol="0" anchor="ctr" wrap="square" lIns="73152" rIns="73152" tIns="27432" bIns="27432">
            <a:noAutofit/>
          </a:bodyPr>
          <a:lstStyle/>
          <a:p>
            <a:pPr algn="ctr">
              <a:spcAft>
                <a:spcPts val="0"/>
              </a:spcAft>
            </a:pPr>
            <a:r>
              <a:rPr sz="2200" b="0" i="0">
                <a:solidFill>
                  <a:srgbClr val="FFFFFF"/>
                </a:solidFill>
                <a:latin typeface="Trebuchet MS"/>
              </a:rPr>
              <a:t>Noise changes only the audio. Video and transcript stay the same, so the same sentences are scored at every SNR.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Part 3: Visual and audio pipelines</a:t>
            </a:r>
          </a:p>
        </p:txBody>
      </p:sp>
      <p:sp>
        <p:nvSpPr>
          <p:cNvPr id="3" name="Rounded Rectangle 2"/>
          <p:cNvSpPr/>
          <p:nvPr/>
        </p:nvSpPr>
        <p:spPr>
          <a:xfrm>
            <a:off x="841248" y="1874519"/>
            <a:ext cx="3017520" cy="3017520"/>
          </a:xfrm>
          <a:prstGeom prst="roundRect">
            <a:avLst>
              <a:gd name="adj" fmla="val 3030"/>
            </a:avLst>
          </a:prstGeom>
          <a:solidFill>
            <a:srgbClr val="1F497D"/>
          </a:solidFill>
          <a:ln>
            <a:noFill/>
          </a:ln>
        </p:spPr>
        <p:txBody>
          <a:bodyPr rtlCol="0" anchor="ctr" wrap="square" lIns="73152" rIns="73152" tIns="27432" bIns="27432">
            <a:noAutofit/>
          </a:bodyPr>
          <a:lstStyle/>
          <a:p>
            <a:pPr algn="ctr">
              <a:spcAft>
                <a:spcPts val="0"/>
              </a:spcAft>
            </a:pPr>
            <a:r>
              <a:rPr sz="9600" b="1" i="0">
                <a:solidFill>
                  <a:srgbClr val="FFFFFF"/>
                </a:solidFill>
                <a:latin typeface="Trebuchet MS"/>
              </a:rPr>
              <a:t>03</a:t>
            </a:r>
          </a:p>
        </p:txBody>
      </p:sp>
      <p:sp>
        <p:nvSpPr>
          <p:cNvPr id="4" name="TextBox 3"/>
          <p:cNvSpPr txBox="1"/>
          <p:nvPr/>
        </p:nvSpPr>
        <p:spPr>
          <a:xfrm>
            <a:off x="841248" y="5074920"/>
            <a:ext cx="3017520" cy="822960"/>
          </a:xfrm>
          <a:prstGeom prst="rect">
            <a:avLst/>
          </a:prstGeom>
          <a:noFill/>
        </p:spPr>
        <p:txBody>
          <a:bodyPr wrap="square" lIns="54864" rIns="54864" tIns="27432" bIns="27432" anchor="t">
            <a:noAutofit/>
          </a:bodyPr>
          <a:lstStyle/>
          <a:p>
            <a:pPr algn="ctr">
              <a:spcAft>
                <a:spcPts val="0"/>
              </a:spcAft>
            </a:pPr>
            <a:r>
              <a:rPr sz="2200" b="0" i="0">
                <a:solidFill>
                  <a:srgbClr val="595959"/>
                </a:solidFill>
                <a:latin typeface="Trebuchet MS"/>
              </a:rPr>
              <a:t>Presented by</a:t>
            </a:r>
          </a:p>
          <a:p>
            <a:pPr algn="ctr">
              <a:spcAft>
                <a:spcPts val="0"/>
              </a:spcAft>
            </a:pPr>
            <a:r>
              <a:rPr sz="2200" b="1" i="0">
                <a:solidFill>
                  <a:srgbClr val="1F497D"/>
                </a:solidFill>
                <a:latin typeface="Trebuchet MS"/>
              </a:rPr>
              <a:t>Ainomugisha Faith</a:t>
            </a:r>
          </a:p>
        </p:txBody>
      </p:sp>
      <p:sp>
        <p:nvSpPr>
          <p:cNvPr id="5" name="TextBox 4"/>
          <p:cNvSpPr txBox="1"/>
          <p:nvPr/>
        </p:nvSpPr>
        <p:spPr>
          <a:xfrm>
            <a:off x="4480560" y="1828800"/>
            <a:ext cx="6858000" cy="457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In this part</a:t>
            </a:r>
          </a:p>
        </p:txBody>
      </p:sp>
      <p:sp>
        <p:nvSpPr>
          <p:cNvPr id="6" name="TextBox 5"/>
          <p:cNvSpPr txBox="1"/>
          <p:nvPr/>
        </p:nvSpPr>
        <p:spPr>
          <a:xfrm>
            <a:off x="4480560" y="2331720"/>
            <a:ext cx="6858000" cy="3566160"/>
          </a:xfrm>
          <a:prstGeom prst="rect">
            <a:avLst/>
          </a:prstGeom>
          <a:noFill/>
        </p:spPr>
        <p:txBody>
          <a:bodyPr wrap="square" lIns="54864" rIns="54864" tIns="27432" bIns="27432" anchor="t">
            <a:noAutofit/>
          </a:bodyPr>
          <a:lstStyle/>
          <a:p>
            <a:pPr algn="l" marL="292608" indent="-292608">
              <a:spcAft>
                <a:spcPts val="500"/>
              </a:spcAft>
              <a:buClr>
                <a:srgbClr val="D7014D"/>
              </a:buClr>
              <a:buFont typeface="Arial"/>
              <a:buChar char="•"/>
            </a:pPr>
            <a:r>
              <a:rPr sz="2200" b="0" i="0">
                <a:solidFill>
                  <a:srgbClr val="1A1A1A"/>
                </a:solidFill>
                <a:latin typeface="Trebuchet MS"/>
              </a:rPr>
              <a:t>Mouth extraction, step by step</a:t>
            </a:r>
          </a:p>
          <a:p>
            <a:pPr algn="l" marL="292608" indent="-292608">
              <a:spcAft>
                <a:spcPts val="500"/>
              </a:spcAft>
              <a:buClr>
                <a:srgbClr val="D7014D"/>
              </a:buClr>
              <a:buFont typeface="Arial"/>
              <a:buChar char="•"/>
            </a:pPr>
            <a:r>
              <a:rPr sz="2200" b="0" i="0">
                <a:solidFill>
                  <a:srgbClr val="1A1A1A"/>
                </a:solidFill>
                <a:latin typeface="Trebuchet MS"/>
              </a:rPr>
              <a:t>Mouth box geometry and failures</a:t>
            </a:r>
          </a:p>
          <a:p>
            <a:pPr algn="l" marL="292608" indent="-292608">
              <a:spcAft>
                <a:spcPts val="500"/>
              </a:spcAft>
              <a:buClr>
                <a:srgbClr val="D7014D"/>
              </a:buClr>
              <a:buFont typeface="Arial"/>
              <a:buChar char="•"/>
            </a:pPr>
            <a:r>
              <a:rPr sz="2200" b="0" i="0">
                <a:solidFill>
                  <a:srgbClr val="1A1A1A"/>
                </a:solidFill>
                <a:latin typeface="Trebuchet MS"/>
              </a:rPr>
              <a:t>Visual encoder options and tensor shapes</a:t>
            </a:r>
          </a:p>
          <a:p>
            <a:pPr algn="l" marL="292608" indent="-292608">
              <a:spcAft>
                <a:spcPts val="500"/>
              </a:spcAft>
              <a:buClr>
                <a:srgbClr val="D7014D"/>
              </a:buClr>
              <a:buFont typeface="Arial"/>
              <a:buChar char="•"/>
            </a:pPr>
            <a:r>
              <a:rPr sz="2200" b="0" i="0">
                <a:solidFill>
                  <a:srgbClr val="1A1A1A"/>
                </a:solidFill>
                <a:latin typeface="Trebuchet MS"/>
              </a:rPr>
              <a:t>Audio features and audio encoder</a:t>
            </a:r>
          </a:p>
          <a:p>
            <a:pPr algn="l" marL="292608" indent="-292608">
              <a:spcAft>
                <a:spcPts val="500"/>
              </a:spcAft>
              <a:buClr>
                <a:srgbClr val="D7014D"/>
              </a:buClr>
              <a:buFont typeface="Arial"/>
              <a:buChar char="•"/>
            </a:pPr>
            <a:r>
              <a:rPr sz="2200" b="0" i="0">
                <a:solidFill>
                  <a:srgbClr val="1A1A1A"/>
                </a:solidFill>
                <a:latin typeface="Trebuchet MS"/>
              </a:rPr>
              <a:t>Batching and pipeline tests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Mouth extraction in nine steps</a:t>
            </a:r>
          </a:p>
        </p:txBody>
      </p:sp>
      <p:sp>
        <p:nvSpPr>
          <p:cNvPr id="3" name="Rounded Rectangle 2"/>
          <p:cNvSpPr/>
          <p:nvPr/>
        </p:nvSpPr>
        <p:spPr>
          <a:xfrm>
            <a:off x="841248" y="178308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4" name="Oval 3"/>
          <p:cNvSpPr/>
          <p:nvPr/>
        </p:nvSpPr>
        <p:spPr>
          <a:xfrm>
            <a:off x="978408" y="213055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5" name="TextBox 4"/>
          <p:cNvSpPr txBox="1"/>
          <p:nvPr/>
        </p:nvSpPr>
        <p:spPr>
          <a:xfrm>
            <a:off x="1572768" y="1837943"/>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Read frames, BGR to RGB</a:t>
            </a:r>
          </a:p>
        </p:txBody>
      </p:sp>
      <p:sp>
        <p:nvSpPr>
          <p:cNvPr id="6" name="Rounded Rectangle 5"/>
          <p:cNvSpPr/>
          <p:nvPr/>
        </p:nvSpPr>
        <p:spPr>
          <a:xfrm>
            <a:off x="4453128" y="178308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7" name="Oval 6"/>
          <p:cNvSpPr/>
          <p:nvPr/>
        </p:nvSpPr>
        <p:spPr>
          <a:xfrm>
            <a:off x="4590288" y="213055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8" name="TextBox 7"/>
          <p:cNvSpPr txBox="1"/>
          <p:nvPr/>
        </p:nvSpPr>
        <p:spPr>
          <a:xfrm>
            <a:off x="5184648" y="1837943"/>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Face Mesh: 468 landmarks</a:t>
            </a:r>
          </a:p>
        </p:txBody>
      </p:sp>
      <p:sp>
        <p:nvSpPr>
          <p:cNvPr id="9" name="Rounded Rectangle 8"/>
          <p:cNvSpPr/>
          <p:nvPr/>
        </p:nvSpPr>
        <p:spPr>
          <a:xfrm>
            <a:off x="8065008" y="178308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10" name="Oval 9"/>
          <p:cNvSpPr/>
          <p:nvPr/>
        </p:nvSpPr>
        <p:spPr>
          <a:xfrm>
            <a:off x="8202168" y="213055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11" name="TextBox 10"/>
          <p:cNvSpPr txBox="1"/>
          <p:nvPr/>
        </p:nvSpPr>
        <p:spPr>
          <a:xfrm>
            <a:off x="8796528" y="1837943"/>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Lip points from FACEMESH_LIPS</a:t>
            </a:r>
          </a:p>
        </p:txBody>
      </p:sp>
      <p:sp>
        <p:nvSpPr>
          <p:cNvPr id="12" name="Rounded Rectangle 11"/>
          <p:cNvSpPr/>
          <p:nvPr/>
        </p:nvSpPr>
        <p:spPr>
          <a:xfrm>
            <a:off x="841248" y="320040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13" name="Oval 12"/>
          <p:cNvSpPr/>
          <p:nvPr/>
        </p:nvSpPr>
        <p:spPr>
          <a:xfrm>
            <a:off x="978408" y="354787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4" name="TextBox 13"/>
          <p:cNvSpPr txBox="1"/>
          <p:nvPr/>
        </p:nvSpPr>
        <p:spPr>
          <a:xfrm>
            <a:off x="1572768" y="3255264"/>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Square box around the lips</a:t>
            </a:r>
          </a:p>
        </p:txBody>
      </p:sp>
      <p:sp>
        <p:nvSpPr>
          <p:cNvPr id="15" name="Rounded Rectangle 14"/>
          <p:cNvSpPr/>
          <p:nvPr/>
        </p:nvSpPr>
        <p:spPr>
          <a:xfrm>
            <a:off x="4453128" y="320040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16" name="Oval 15"/>
          <p:cNvSpPr/>
          <p:nvPr/>
        </p:nvSpPr>
        <p:spPr>
          <a:xfrm>
            <a:off x="4590288" y="354787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5</a:t>
            </a:r>
          </a:p>
        </p:txBody>
      </p:sp>
      <p:sp>
        <p:nvSpPr>
          <p:cNvPr id="17" name="TextBox 16"/>
          <p:cNvSpPr txBox="1"/>
          <p:nvPr/>
        </p:nvSpPr>
        <p:spPr>
          <a:xfrm>
            <a:off x="5184648" y="3255264"/>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25% margin, 5-frame smoothing</a:t>
            </a:r>
          </a:p>
        </p:txBody>
      </p:sp>
      <p:sp>
        <p:nvSpPr>
          <p:cNvPr id="18" name="Rounded Rectangle 17"/>
          <p:cNvSpPr/>
          <p:nvPr/>
        </p:nvSpPr>
        <p:spPr>
          <a:xfrm>
            <a:off x="8065008" y="320040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19" name="Oval 18"/>
          <p:cNvSpPr/>
          <p:nvPr/>
        </p:nvSpPr>
        <p:spPr>
          <a:xfrm>
            <a:off x="8202168" y="354787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6</a:t>
            </a:r>
          </a:p>
        </p:txBody>
      </p:sp>
      <p:sp>
        <p:nvSpPr>
          <p:cNvPr id="20" name="TextBox 19"/>
          <p:cNvSpPr txBox="1"/>
          <p:nvPr/>
        </p:nvSpPr>
        <p:spPr>
          <a:xfrm>
            <a:off x="8796528" y="3255264"/>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Crop and resize to 96×96</a:t>
            </a:r>
          </a:p>
        </p:txBody>
      </p:sp>
      <p:sp>
        <p:nvSpPr>
          <p:cNvPr id="21" name="Rounded Rectangle 20"/>
          <p:cNvSpPr/>
          <p:nvPr/>
        </p:nvSpPr>
        <p:spPr>
          <a:xfrm>
            <a:off x="841248" y="461772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22" name="Oval 21"/>
          <p:cNvSpPr/>
          <p:nvPr/>
        </p:nvSpPr>
        <p:spPr>
          <a:xfrm>
            <a:off x="978408" y="496519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7</a:t>
            </a:r>
          </a:p>
        </p:txBody>
      </p:sp>
      <p:sp>
        <p:nvSpPr>
          <p:cNvPr id="23" name="TextBox 22"/>
          <p:cNvSpPr txBox="1"/>
          <p:nvPr/>
        </p:nvSpPr>
        <p:spPr>
          <a:xfrm>
            <a:off x="1572768" y="4672583"/>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Grey-scale and standardise</a:t>
            </a:r>
          </a:p>
        </p:txBody>
      </p:sp>
      <p:sp>
        <p:nvSpPr>
          <p:cNvPr id="24" name="Rounded Rectangle 23"/>
          <p:cNvSpPr/>
          <p:nvPr/>
        </p:nvSpPr>
        <p:spPr>
          <a:xfrm>
            <a:off x="4453128" y="461772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25" name="Oval 24"/>
          <p:cNvSpPr/>
          <p:nvPr/>
        </p:nvSpPr>
        <p:spPr>
          <a:xfrm>
            <a:off x="4590288" y="496519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8</a:t>
            </a:r>
          </a:p>
        </p:txBody>
      </p:sp>
      <p:sp>
        <p:nvSpPr>
          <p:cNvPr id="26" name="TextBox 25"/>
          <p:cNvSpPr txBox="1"/>
          <p:nvPr/>
        </p:nvSpPr>
        <p:spPr>
          <a:xfrm>
            <a:off x="5184648" y="4672583"/>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Stack frames: T × 96 × 96</a:t>
            </a:r>
          </a:p>
        </p:txBody>
      </p:sp>
      <p:sp>
        <p:nvSpPr>
          <p:cNvPr id="27" name="Rounded Rectangle 26"/>
          <p:cNvSpPr/>
          <p:nvPr/>
        </p:nvSpPr>
        <p:spPr>
          <a:xfrm>
            <a:off x="8065008" y="4617720"/>
            <a:ext cx="3291840" cy="1207008"/>
          </a:xfrm>
          <a:prstGeom prst="roundRect">
            <a:avLst>
              <a:gd name="adj" fmla="val 7575"/>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28" name="Oval 27"/>
          <p:cNvSpPr/>
          <p:nvPr/>
        </p:nvSpPr>
        <p:spPr>
          <a:xfrm>
            <a:off x="8202168" y="4965192"/>
            <a:ext cx="502920" cy="502920"/>
          </a:xfrm>
          <a:prstGeom prst="ellipse">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9</a:t>
            </a:r>
          </a:p>
        </p:txBody>
      </p:sp>
      <p:sp>
        <p:nvSpPr>
          <p:cNvPr id="29" name="TextBox 28"/>
          <p:cNvSpPr txBox="1"/>
          <p:nvPr/>
        </p:nvSpPr>
        <p:spPr>
          <a:xfrm>
            <a:off x="8796528" y="4672583"/>
            <a:ext cx="2514600" cy="10972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Handle failed detections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Mouth box and failure handling</a:t>
            </a:r>
          </a:p>
        </p:txBody>
      </p:sp>
      <p:sp>
        <p:nvSpPr>
          <p:cNvPr id="3" name="Rectangle 2"/>
          <p:cNvSpPr/>
          <p:nvPr/>
        </p:nvSpPr>
        <p:spPr>
          <a:xfrm>
            <a:off x="1325880" y="1920240"/>
            <a:ext cx="3017520" cy="3017520"/>
          </a:xfrm>
          <a:prstGeom prst="rect">
            <a:avLst/>
          </a:prstGeom>
          <a:noFill/>
          <a:ln w="25400">
            <a:solidFill>
              <a:srgbClr val="C55A11"/>
            </a:solidFill>
            <a:prstDash val="dash"/>
          </a:ln>
        </p:spPr>
        <p:txBody>
          <a:bodyPr rtlCol="0" anchor="t" wrap="square" lIns="54864" rIns="54864" tIns="27432" bIns="27432">
            <a:noAutofit/>
          </a:bodyPr>
          <a:lstStyle/>
          <a:p>
            <a:pPr algn="l">
              <a:spcAft>
                <a:spcPts val="600"/>
              </a:spcAft>
            </a:pPr>
          </a:p>
        </p:txBody>
      </p:sp>
      <p:sp>
        <p:nvSpPr>
          <p:cNvPr id="4" name="Oval 3"/>
          <p:cNvSpPr/>
          <p:nvPr/>
        </p:nvSpPr>
        <p:spPr>
          <a:xfrm>
            <a:off x="2057400" y="2971800"/>
            <a:ext cx="1554480" cy="914400"/>
          </a:xfrm>
          <a:prstGeom prst="ellipse">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lips</a:t>
            </a:r>
          </a:p>
        </p:txBody>
      </p:sp>
      <p:sp>
        <p:nvSpPr>
          <p:cNvPr id="5" name="TextBox 4"/>
          <p:cNvSpPr txBox="1"/>
          <p:nvPr/>
        </p:nvSpPr>
        <p:spPr>
          <a:xfrm>
            <a:off x="1325880" y="1965960"/>
            <a:ext cx="3017520" cy="457200"/>
          </a:xfrm>
          <a:prstGeom prst="rect">
            <a:avLst/>
          </a:prstGeom>
          <a:noFill/>
        </p:spPr>
        <p:txBody>
          <a:bodyPr wrap="square" lIns="54864" rIns="54864" tIns="27432" bIns="27432" anchor="t">
            <a:noAutofit/>
          </a:bodyPr>
          <a:lstStyle/>
          <a:p>
            <a:pPr algn="ctr">
              <a:spcAft>
                <a:spcPts val="0"/>
              </a:spcAft>
            </a:pPr>
            <a:r>
              <a:rPr sz="2200" b="0" i="0">
                <a:solidFill>
                  <a:srgbClr val="1A1A1A"/>
                </a:solidFill>
                <a:latin typeface="Trebuchet MS"/>
              </a:rPr>
              <a:t>L</a:t>
            </a:r>
            <a:r>
              <a:rPr sz="2200" b="0" i="0" baseline="-25000">
                <a:solidFill>
                  <a:srgbClr val="1A1A1A"/>
                </a:solidFill>
                <a:latin typeface="Trebuchet MS"/>
              </a:rPr>
              <a:t>t</a:t>
            </a:r>
            <a:r>
              <a:rPr sz="2200" b="0" i="0">
                <a:solidFill>
                  <a:srgbClr val="1A1A1A"/>
                </a:solidFill>
                <a:latin typeface="Trebuchet MS"/>
              </a:rPr>
              <a:t> = (1 + 2m)·S</a:t>
            </a:r>
            <a:r>
              <a:rPr sz="2200" b="0" i="0" baseline="-25000">
                <a:solidFill>
                  <a:srgbClr val="1A1A1A"/>
                </a:solidFill>
                <a:latin typeface="Trebuchet MS"/>
              </a:rPr>
              <a:t>t</a:t>
            </a:r>
          </a:p>
        </p:txBody>
      </p:sp>
      <p:sp>
        <p:nvSpPr>
          <p:cNvPr id="6" name="TextBox 5"/>
          <p:cNvSpPr txBox="1"/>
          <p:nvPr/>
        </p:nvSpPr>
        <p:spPr>
          <a:xfrm>
            <a:off x="1325880" y="3977639"/>
            <a:ext cx="3017520" cy="457200"/>
          </a:xfrm>
          <a:prstGeom prst="rect">
            <a:avLst/>
          </a:prstGeom>
          <a:noFill/>
        </p:spPr>
        <p:txBody>
          <a:bodyPr wrap="square" lIns="54864" rIns="54864" tIns="27432" bIns="27432" anchor="t">
            <a:noAutofit/>
          </a:bodyPr>
          <a:lstStyle/>
          <a:p>
            <a:pPr algn="ctr">
              <a:spcAft>
                <a:spcPts val="0"/>
              </a:spcAft>
            </a:pPr>
            <a:r>
              <a:rPr sz="2200" b="0" i="0">
                <a:solidFill>
                  <a:srgbClr val="595959"/>
                </a:solidFill>
                <a:latin typeface="Trebuchet MS"/>
              </a:rPr>
              <a:t>S</a:t>
            </a:r>
            <a:r>
              <a:rPr sz="2200" b="0" i="0" baseline="-25000">
                <a:solidFill>
                  <a:srgbClr val="595959"/>
                </a:solidFill>
                <a:latin typeface="Trebuchet MS"/>
              </a:rPr>
              <a:t>t</a:t>
            </a:r>
            <a:r>
              <a:rPr sz="2200" b="0" i="0">
                <a:solidFill>
                  <a:srgbClr val="595959"/>
                </a:solidFill>
                <a:latin typeface="Trebuchet MS"/>
              </a:rPr>
              <a:t>: lip box side</a:t>
            </a:r>
          </a:p>
        </p:txBody>
      </p:sp>
      <p:sp>
        <p:nvSpPr>
          <p:cNvPr id="7" name="TextBox 6"/>
          <p:cNvSpPr txBox="1"/>
          <p:nvPr/>
        </p:nvSpPr>
        <p:spPr>
          <a:xfrm>
            <a:off x="841248" y="5120640"/>
            <a:ext cx="4480560" cy="82296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m = 0.25. Centre and size smoothed over 5 frames</a:t>
            </a:r>
          </a:p>
        </p:txBody>
      </p:sp>
      <p:sp>
        <p:nvSpPr>
          <p:cNvPr id="8" name="TextBox 7"/>
          <p:cNvSpPr txBox="1"/>
          <p:nvPr/>
        </p:nvSpPr>
        <p:spPr>
          <a:xfrm>
            <a:off x="5669280" y="1783080"/>
            <a:ext cx="5669280" cy="4206240"/>
          </a:xfrm>
          <a:prstGeom prst="rect">
            <a:avLst/>
          </a:prstGeom>
          <a:noFill/>
        </p:spPr>
        <p:txBody>
          <a:bodyPr wrap="square" lIns="54864" rIns="54864" tIns="27432" bIns="27432" anchor="t">
            <a:noAutofit/>
          </a:bodyPr>
          <a:lstStyle/>
          <a:p>
            <a:pPr algn="l">
              <a:spcAft>
                <a:spcPts val="800"/>
              </a:spcAft>
            </a:pPr>
            <a:r>
              <a:rPr sz="2200" b="1" i="0">
                <a:solidFill>
                  <a:srgbClr val="1F497D"/>
                </a:solidFill>
                <a:latin typeface="Trebuchet MS"/>
              </a:rPr>
              <a:t>Failures and alignment</a:t>
            </a:r>
          </a:p>
          <a:p>
            <a:pPr algn="l" marL="292608" indent="-292608">
              <a:spcAft>
                <a:spcPts val="800"/>
              </a:spcAft>
              <a:buClr>
                <a:srgbClr val="D7014D"/>
              </a:buClr>
              <a:buFont typeface="Arial"/>
              <a:buChar char="•"/>
            </a:pPr>
            <a:r>
              <a:rPr sz="2200" b="0" i="0">
                <a:solidFill>
                  <a:srgbClr val="1A1A1A"/>
                </a:solidFill>
                <a:latin typeface="Trebuchet MS"/>
              </a:rPr>
              <a:t>Few failed frames: interpolate the box, mark invalid</a:t>
            </a:r>
          </a:p>
          <a:p>
            <a:pPr algn="l" marL="292608" indent="-292608">
              <a:spcAft>
                <a:spcPts val="800"/>
              </a:spcAft>
              <a:buClr>
                <a:srgbClr val="D7014D"/>
              </a:buClr>
              <a:buFont typeface="Arial"/>
              <a:buChar char="•"/>
            </a:pPr>
            <a:r>
              <a:rPr sz="2200" b="0" i="0">
                <a:solidFill>
                  <a:srgbClr val="1A1A1A"/>
                </a:solidFill>
                <a:latin typeface="Trebuchet MS"/>
              </a:rPr>
              <a:t>Over 10% failed: exclude the utterance</a:t>
            </a:r>
          </a:p>
          <a:p>
            <a:pPr algn="l" marL="292608" indent="-292608">
              <a:spcAft>
                <a:spcPts val="800"/>
              </a:spcAft>
              <a:buClr>
                <a:srgbClr val="D7014D"/>
              </a:buClr>
              <a:buFont typeface="Arial"/>
              <a:buChar char="•"/>
            </a:pPr>
            <a:r>
              <a:rPr sz="2200" b="0" i="0">
                <a:solidFill>
                  <a:srgbClr val="1A1A1A"/>
                </a:solidFill>
                <a:latin typeface="Trebuchet MS"/>
              </a:rPr>
              <a:t>Length mismatch: pad or trim to the audio length</a:t>
            </a:r>
          </a:p>
          <a:p>
            <a:pPr algn="l" marL="292608" indent="-292608">
              <a:spcAft>
                <a:spcPts val="800"/>
              </a:spcAft>
              <a:buClr>
                <a:srgbClr val="D7014D"/>
              </a:buClr>
              <a:buFont typeface="Arial"/>
              <a:buChar char="•"/>
            </a:pPr>
            <a:r>
              <a:rPr sz="2200" b="0" i="0">
                <a:solidFill>
                  <a:srgbClr val="1A1A1A"/>
                </a:solidFill>
                <a:latin typeface="Trebuchet MS"/>
              </a:rPr>
              <a:t>Frames are never dropped, so frame t matches audio frames 4t to 4t+3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Visual encoder: two configurations</a:t>
            </a:r>
          </a:p>
        </p:txBody>
      </p:sp>
      <p:sp>
        <p:nvSpPr>
          <p:cNvPr id="3" name="Rounded Rectangle 2"/>
          <p:cNvSpPr/>
          <p:nvPr/>
        </p:nvSpPr>
        <p:spPr>
          <a:xfrm>
            <a:off x="841248" y="1783080"/>
            <a:ext cx="5074920" cy="4160520"/>
          </a:xfrm>
          <a:prstGeom prst="roundRect">
            <a:avLst>
              <a:gd name="adj" fmla="val 2197"/>
            </a:avLst>
          </a:prstGeom>
          <a:solidFill>
            <a:srgbClr val="FCE4D6"/>
          </a:solidFill>
          <a:ln w="15875">
            <a:solidFill>
              <a:srgbClr val="C55A11"/>
            </a:solidFill>
          </a:ln>
        </p:spPr>
        <p:txBody>
          <a:bodyPr rtlCol="0" anchor="t" wrap="square" lIns="54864" rIns="54864" tIns="27432" bIns="27432">
            <a:noAutofit/>
          </a:bodyPr>
          <a:lstStyle/>
          <a:p>
            <a:pPr algn="l">
              <a:spcAft>
                <a:spcPts val="600"/>
              </a:spcAft>
            </a:pPr>
          </a:p>
        </p:txBody>
      </p:sp>
      <p:sp>
        <p:nvSpPr>
          <p:cNvPr id="4" name="Rounded Rectangle 3"/>
          <p:cNvSpPr/>
          <p:nvPr/>
        </p:nvSpPr>
        <p:spPr>
          <a:xfrm>
            <a:off x="4315968" y="1965960"/>
            <a:ext cx="1417320" cy="457200"/>
          </a:xfrm>
          <a:prstGeom prst="roundRect">
            <a:avLst>
              <a:gd name="adj" fmla="val 20000"/>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Primary</a:t>
            </a:r>
          </a:p>
        </p:txBody>
      </p:sp>
      <p:sp>
        <p:nvSpPr>
          <p:cNvPr id="5" name="TextBox 4"/>
          <p:cNvSpPr txBox="1"/>
          <p:nvPr/>
        </p:nvSpPr>
        <p:spPr>
          <a:xfrm>
            <a:off x="1024128" y="1920240"/>
            <a:ext cx="3291840" cy="91440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V1: 3D-CNN + BiLSTM</a:t>
            </a:r>
          </a:p>
        </p:txBody>
      </p:sp>
      <p:sp>
        <p:nvSpPr>
          <p:cNvPr id="6" name="TextBox 5"/>
          <p:cNvSpPr txBox="1"/>
          <p:nvPr/>
        </p:nvSpPr>
        <p:spPr>
          <a:xfrm>
            <a:off x="1024128" y="2880360"/>
            <a:ext cx="4709160" cy="3017520"/>
          </a:xfrm>
          <a:prstGeom prst="rect">
            <a:avLst/>
          </a:prstGeom>
          <a:noFill/>
        </p:spPr>
        <p:txBody>
          <a:bodyPr wrap="square" lIns="54864" rIns="54864" tIns="27432" bIns="27432" anchor="t">
            <a:noAutofit/>
          </a:bodyPr>
          <a:lstStyle/>
          <a:p>
            <a:pPr algn="l" marL="292608" indent="-292608">
              <a:spcAft>
                <a:spcPts val="800"/>
              </a:spcAft>
              <a:buClr>
                <a:srgbClr val="D7014D"/>
              </a:buClr>
              <a:buFont typeface="Arial"/>
              <a:buChar char="•"/>
            </a:pPr>
            <a:r>
              <a:rPr sz="2200" b="0" i="0">
                <a:solidFill>
                  <a:srgbClr val="1A1A1A"/>
                </a:solidFill>
                <a:latin typeface="Trebuchet MS"/>
              </a:rPr>
              <a:t>3 Conv3d blocks, kernels span 3 frames</a:t>
            </a:r>
          </a:p>
          <a:p>
            <a:pPr algn="l" marL="292608" indent="-292608">
              <a:spcAft>
                <a:spcPts val="800"/>
              </a:spcAft>
              <a:buClr>
                <a:srgbClr val="D7014D"/>
              </a:buClr>
              <a:buFont typeface="Arial"/>
              <a:buChar char="•"/>
            </a:pPr>
            <a:r>
              <a:rPr sz="2200" b="0" i="0">
                <a:solidFill>
                  <a:srgbClr val="1A1A1A"/>
                </a:solidFill>
                <a:latin typeface="Trebuchet MS"/>
              </a:rPr>
              <a:t>Temporal stride 1: one vector per frame</a:t>
            </a:r>
          </a:p>
          <a:p>
            <a:pPr algn="l" marL="292608" indent="-292608">
              <a:spcAft>
                <a:spcPts val="800"/>
              </a:spcAft>
              <a:buClr>
                <a:srgbClr val="D7014D"/>
              </a:buClr>
              <a:buFont typeface="Arial"/>
              <a:buChar char="•"/>
            </a:pPr>
            <a:r>
              <a:rPr sz="2200" b="0" i="0">
                <a:solidFill>
                  <a:srgbClr val="1A1A1A"/>
                </a:solidFill>
                <a:latin typeface="Trebuchet MS"/>
              </a:rPr>
              <a:t>Linear 3456 → 512, then 2-layer BiLSTM</a:t>
            </a:r>
          </a:p>
          <a:p>
            <a:pPr algn="l" marL="292608" indent="-292608">
              <a:spcAft>
                <a:spcPts val="800"/>
              </a:spcAft>
              <a:buClr>
                <a:srgbClr val="D7014D"/>
              </a:buClr>
              <a:buFont typeface="Arial"/>
              <a:buChar char="•"/>
            </a:pPr>
            <a:r>
              <a:rPr sz="2200" b="0" i="0">
                <a:solidFill>
                  <a:srgbClr val="1A1A1A"/>
                </a:solidFill>
                <a:latin typeface="Trebuchet MS"/>
              </a:rPr>
              <a:t>Used in all main experiments</a:t>
            </a:r>
          </a:p>
        </p:txBody>
      </p:sp>
      <p:sp>
        <p:nvSpPr>
          <p:cNvPr id="7" name="Rounded Rectangle 6"/>
          <p:cNvSpPr/>
          <p:nvPr/>
        </p:nvSpPr>
        <p:spPr>
          <a:xfrm>
            <a:off x="6281928" y="1783080"/>
            <a:ext cx="5074920" cy="4160520"/>
          </a:xfrm>
          <a:prstGeom prst="roundRect">
            <a:avLst>
              <a:gd name="adj" fmla="val 2197"/>
            </a:avLst>
          </a:prstGeom>
          <a:solidFill>
            <a:srgbClr val="F2F2F2"/>
          </a:solidFill>
          <a:ln w="15875">
            <a:solidFill>
              <a:srgbClr val="595959"/>
            </a:solidFill>
          </a:ln>
        </p:spPr>
        <p:txBody>
          <a:bodyPr rtlCol="0" anchor="t" wrap="square" lIns="54864" rIns="54864" tIns="27432" bIns="27432">
            <a:noAutofit/>
          </a:bodyPr>
          <a:lstStyle/>
          <a:p>
            <a:pPr algn="l">
              <a:spcAft>
                <a:spcPts val="600"/>
              </a:spcAft>
            </a:pPr>
          </a:p>
        </p:txBody>
      </p:sp>
      <p:sp>
        <p:nvSpPr>
          <p:cNvPr id="8" name="Rounded Rectangle 7"/>
          <p:cNvSpPr/>
          <p:nvPr/>
        </p:nvSpPr>
        <p:spPr>
          <a:xfrm>
            <a:off x="9756648" y="1965960"/>
            <a:ext cx="1417320" cy="457200"/>
          </a:xfrm>
          <a:prstGeom prst="roundRect">
            <a:avLst>
              <a:gd name="adj" fmla="val 20000"/>
            </a:avLst>
          </a:prstGeom>
          <a:solidFill>
            <a:srgbClr val="595959"/>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Optional</a:t>
            </a:r>
          </a:p>
        </p:txBody>
      </p:sp>
      <p:sp>
        <p:nvSpPr>
          <p:cNvPr id="9" name="TextBox 8"/>
          <p:cNvSpPr txBox="1"/>
          <p:nvPr/>
        </p:nvSpPr>
        <p:spPr>
          <a:xfrm>
            <a:off x="6464808" y="1920240"/>
            <a:ext cx="3291840" cy="91440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V2: 3D stem + EfficientNet-B0</a:t>
            </a:r>
          </a:p>
        </p:txBody>
      </p:sp>
      <p:sp>
        <p:nvSpPr>
          <p:cNvPr id="10" name="TextBox 9"/>
          <p:cNvSpPr txBox="1"/>
          <p:nvPr/>
        </p:nvSpPr>
        <p:spPr>
          <a:xfrm>
            <a:off x="6464808" y="2880360"/>
            <a:ext cx="4709160" cy="3017520"/>
          </a:xfrm>
          <a:prstGeom prst="rect">
            <a:avLst/>
          </a:prstGeom>
          <a:noFill/>
        </p:spPr>
        <p:txBody>
          <a:bodyPr wrap="square" lIns="54864" rIns="54864" tIns="27432" bIns="27432" anchor="t">
            <a:noAutofit/>
          </a:bodyPr>
          <a:lstStyle/>
          <a:p>
            <a:pPr algn="l" marL="292608" indent="-292608">
              <a:spcAft>
                <a:spcPts val="800"/>
              </a:spcAft>
              <a:buClr>
                <a:srgbClr val="D7014D"/>
              </a:buClr>
              <a:buFont typeface="Arial"/>
              <a:buChar char="•"/>
            </a:pPr>
            <a:r>
              <a:rPr sz="2200" b="0" i="0">
                <a:solidFill>
                  <a:srgbClr val="1A1A1A"/>
                </a:solidFill>
                <a:latin typeface="Trebuchet MS"/>
              </a:rPr>
              <a:t>One 3D conv makes a 3-channel map</a:t>
            </a:r>
          </a:p>
          <a:p>
            <a:pPr algn="l" marL="292608" indent="-292608">
              <a:spcAft>
                <a:spcPts val="800"/>
              </a:spcAft>
              <a:buClr>
                <a:srgbClr val="D7014D"/>
              </a:buClr>
              <a:buFont typeface="Arial"/>
              <a:buChar char="•"/>
            </a:pPr>
            <a:r>
              <a:rPr sz="2200" b="0" i="0">
                <a:solidFill>
                  <a:srgbClr val="1A1A1A"/>
                </a:solidFill>
                <a:latin typeface="Trebuchet MS"/>
              </a:rPr>
              <a:t>ImageNet EfficientNet-B0 per frame [13]</a:t>
            </a:r>
          </a:p>
          <a:p>
            <a:pPr algn="l" marL="292608" indent="-292608">
              <a:spcAft>
                <a:spcPts val="800"/>
              </a:spcAft>
              <a:buClr>
                <a:srgbClr val="D7014D"/>
              </a:buClr>
              <a:buFont typeface="Arial"/>
              <a:buChar char="•"/>
            </a:pPr>
            <a:r>
              <a:rPr sz="2200" b="0" i="0">
                <a:solidFill>
                  <a:srgbClr val="1A1A1A"/>
                </a:solidFill>
                <a:latin typeface="Trebuchet MS"/>
              </a:rPr>
              <a:t>Pool 1280 → 512, same BiLSTM</a:t>
            </a:r>
          </a:p>
          <a:p>
            <a:pPr algn="l" marL="292608" indent="-292608">
              <a:spcAft>
                <a:spcPts val="800"/>
              </a:spcAft>
              <a:buClr>
                <a:srgbClr val="D7014D"/>
              </a:buClr>
              <a:buFont typeface="Arial"/>
              <a:buChar char="•"/>
            </a:pPr>
            <a:r>
              <a:rPr sz="2200" b="0" i="0">
                <a:solidFill>
                  <a:srgbClr val="1A1A1A"/>
                </a:solidFill>
                <a:latin typeface="Trebuchet MS"/>
              </a:rPr>
              <a:t>Several times costlier: ablation only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Visual encoder V1: tensor shapes</a:t>
            </a:r>
          </a:p>
        </p:txBody>
      </p:sp>
      <p:graphicFrame>
        <p:nvGraphicFramePr>
          <p:cNvPr id="3" name="Table 2"/>
          <p:cNvGraphicFramePr>
            <a:graphicFrameLocks noGrp="1"/>
          </p:cNvGraphicFramePr>
          <p:nvPr/>
        </p:nvGraphicFramePr>
        <p:xfrm>
          <a:off x="841248" y="1783080"/>
          <a:ext cx="10515600" cy="3657600"/>
        </p:xfrm>
        <a:graphic>
          <a:graphicData uri="http://schemas.openxmlformats.org/drawingml/2006/table">
            <a:tbl>
              <a:tblPr firstRow="1">
                <a:tableStyleId>{5C22544A-7EE6-4342-B048-85BDC9FD1C3A}</a:tableStyleId>
              </a:tblPr>
              <a:tblGrid>
                <a:gridCol w="6126480"/>
                <a:gridCol w="4389120"/>
              </a:tblGrid>
              <a:tr h="457200">
                <a:tc>
                  <a:txBody>
                    <a:bodyPr wrap="square"/>
                    <a:lstStyle/>
                    <a:p>
                      <a:pPr algn="l"/>
                      <a:r>
                        <a:rPr sz="2200" b="1" i="0">
                          <a:solidFill>
                            <a:srgbClr val="FFFFFF"/>
                          </a:solidFill>
                          <a:latin typeface="Trebuchet MS"/>
                        </a:rPr>
                        <a:t>Stage (batch of 16 clips)</a:t>
                      </a:r>
                    </a:p>
                  </a:txBody>
                  <a:tcPr marL="82296" marR="82296" marT="36576" marB="36576" anchor="ctr">
                    <a:solidFill>
                      <a:srgbClr val="1F497D"/>
                    </a:solidFill>
                  </a:tcPr>
                </a:tc>
                <a:tc>
                  <a:txBody>
                    <a:bodyPr wrap="square"/>
                    <a:lstStyle/>
                    <a:p>
                      <a:pPr algn="l"/>
                      <a:r>
                        <a:rPr sz="2200" b="1" i="0">
                          <a:solidFill>
                            <a:srgbClr val="FFFFFF"/>
                          </a:solidFill>
                          <a:latin typeface="Trebuchet MS"/>
                        </a:rPr>
                        <a:t>Output shape</a:t>
                      </a:r>
                    </a:p>
                  </a:txBody>
                  <a:tcPr marL="82296" marR="82296" marT="36576" marB="36576" anchor="ctr">
                    <a:solidFill>
                      <a:srgbClr val="1F497D"/>
                    </a:solidFill>
                  </a:tcPr>
                </a:tc>
              </a:tr>
              <a:tr h="457200">
                <a:tc>
                  <a:txBody>
                    <a:bodyPr wrap="square"/>
                    <a:lstStyle/>
                    <a:p>
                      <a:pPr algn="l"/>
                      <a:r>
                        <a:rPr sz="2200" b="0" i="0">
                          <a:solidFill>
                            <a:srgbClr val="1A1A1A"/>
                          </a:solidFill>
                          <a:latin typeface="Trebuchet MS"/>
                        </a:rPr>
                        <a:t>Input: grey mouth crops</a:t>
                      </a:r>
                    </a:p>
                  </a:txBody>
                  <a:tcPr marL="82296" marR="82296" marT="36576" marB="36576" anchor="ctr">
                    <a:solidFill>
                      <a:srgbClr val="FFFFFF"/>
                    </a:solidFill>
                  </a:tcPr>
                </a:tc>
                <a:tc>
                  <a:txBody>
                    <a:bodyPr wrap="square"/>
                    <a:lstStyle/>
                    <a:p>
                      <a:pPr algn="l"/>
                      <a:r>
                        <a:rPr sz="2200" b="0" i="0">
                          <a:solidFill>
                            <a:srgbClr val="1A1A1A"/>
                          </a:solidFill>
                          <a:latin typeface="Trebuchet MS"/>
                        </a:rPr>
                        <a:t>16 × 1 × 75 × 96 × 96</a:t>
                      </a:r>
                    </a:p>
                  </a:txBody>
                  <a:tcPr marL="82296" marR="82296" marT="36576" marB="36576" anchor="ctr">
                    <a:solidFill>
                      <a:srgbClr val="FFFFFF"/>
                    </a:solidFill>
                  </a:tcPr>
                </a:tc>
              </a:tr>
              <a:tr h="457200">
                <a:tc>
                  <a:txBody>
                    <a:bodyPr wrap="square"/>
                    <a:lstStyle/>
                    <a:p>
                      <a:pPr algn="l"/>
                      <a:r>
                        <a:rPr sz="2200" b="0" i="0">
                          <a:solidFill>
                            <a:srgbClr val="1A1A1A"/>
                          </a:solidFill>
                          <a:latin typeface="Trebuchet MS"/>
                        </a:rPr>
                        <a:t>Conv3d 1→32, stride 1×2×2, max-pool</a:t>
                      </a:r>
                    </a:p>
                  </a:txBody>
                  <a:tcPr marL="82296" marR="82296" marT="36576" marB="36576" anchor="ctr">
                    <a:solidFill>
                      <a:srgbClr val="EAF0F8"/>
                    </a:solidFill>
                  </a:tcPr>
                </a:tc>
                <a:tc>
                  <a:txBody>
                    <a:bodyPr wrap="square"/>
                    <a:lstStyle/>
                    <a:p>
                      <a:pPr algn="l"/>
                      <a:r>
                        <a:rPr sz="2200" b="0" i="0">
                          <a:solidFill>
                            <a:srgbClr val="1A1A1A"/>
                          </a:solidFill>
                          <a:latin typeface="Trebuchet MS"/>
                        </a:rPr>
                        <a:t>16 × 32 × 75 × 24 × 24</a:t>
                      </a:r>
                    </a:p>
                  </a:txBody>
                  <a:tcPr marL="82296" marR="82296" marT="36576" marB="36576" anchor="ctr">
                    <a:solidFill>
                      <a:srgbClr val="EAF0F8"/>
                    </a:solidFill>
                  </a:tcPr>
                </a:tc>
              </a:tr>
              <a:tr h="457200">
                <a:tc>
                  <a:txBody>
                    <a:bodyPr wrap="square"/>
                    <a:lstStyle/>
                    <a:p>
                      <a:pPr algn="l"/>
                      <a:r>
                        <a:rPr sz="2200" b="0" i="0">
                          <a:solidFill>
                            <a:srgbClr val="1A1A1A"/>
                          </a:solidFill>
                          <a:latin typeface="Trebuchet MS"/>
                        </a:rPr>
                        <a:t>Conv3d 32→64, max-pool</a:t>
                      </a:r>
                    </a:p>
                  </a:txBody>
                  <a:tcPr marL="82296" marR="82296" marT="36576" marB="36576" anchor="ctr">
                    <a:solidFill>
                      <a:srgbClr val="FFFFFF"/>
                    </a:solidFill>
                  </a:tcPr>
                </a:tc>
                <a:tc>
                  <a:txBody>
                    <a:bodyPr wrap="square"/>
                    <a:lstStyle/>
                    <a:p>
                      <a:pPr algn="l"/>
                      <a:r>
                        <a:rPr sz="2200" b="0" i="0">
                          <a:solidFill>
                            <a:srgbClr val="1A1A1A"/>
                          </a:solidFill>
                          <a:latin typeface="Trebuchet MS"/>
                        </a:rPr>
                        <a:t>16 × 64 × 75 × 12 × 12</a:t>
                      </a:r>
                    </a:p>
                  </a:txBody>
                  <a:tcPr marL="82296" marR="82296" marT="36576" marB="36576" anchor="ctr">
                    <a:solidFill>
                      <a:srgbClr val="FFFFFF"/>
                    </a:solidFill>
                  </a:tcPr>
                </a:tc>
              </a:tr>
              <a:tr h="457200">
                <a:tc>
                  <a:txBody>
                    <a:bodyPr wrap="square"/>
                    <a:lstStyle/>
                    <a:p>
                      <a:pPr algn="l"/>
                      <a:r>
                        <a:rPr sz="2200" b="0" i="0">
                          <a:solidFill>
                            <a:srgbClr val="1A1A1A"/>
                          </a:solidFill>
                          <a:latin typeface="Trebuchet MS"/>
                        </a:rPr>
                        <a:t>Conv3d 64→96, max-pool</a:t>
                      </a:r>
                    </a:p>
                  </a:txBody>
                  <a:tcPr marL="82296" marR="82296" marT="36576" marB="36576" anchor="ctr">
                    <a:solidFill>
                      <a:srgbClr val="EAF0F8"/>
                    </a:solidFill>
                  </a:tcPr>
                </a:tc>
                <a:tc>
                  <a:txBody>
                    <a:bodyPr wrap="square"/>
                    <a:lstStyle/>
                    <a:p>
                      <a:pPr algn="l"/>
                      <a:r>
                        <a:rPr sz="2200" b="0" i="0">
                          <a:solidFill>
                            <a:srgbClr val="1A1A1A"/>
                          </a:solidFill>
                          <a:latin typeface="Trebuchet MS"/>
                        </a:rPr>
                        <a:t>16 × 96 × 75 × 6 × 6</a:t>
                      </a:r>
                    </a:p>
                  </a:txBody>
                  <a:tcPr marL="82296" marR="82296" marT="36576" marB="36576" anchor="ctr">
                    <a:solidFill>
                      <a:srgbClr val="EAF0F8"/>
                    </a:solidFill>
                  </a:tcPr>
                </a:tc>
              </a:tr>
              <a:tr h="457200">
                <a:tc>
                  <a:txBody>
                    <a:bodyPr wrap="square"/>
                    <a:lstStyle/>
                    <a:p>
                      <a:pPr algn="l"/>
                      <a:r>
                        <a:rPr sz="2200" b="0" i="0">
                          <a:solidFill>
                            <a:srgbClr val="1A1A1A"/>
                          </a:solidFill>
                          <a:latin typeface="Trebuchet MS"/>
                        </a:rPr>
                        <a:t>Flatten each frame (96·6·6)</a:t>
                      </a:r>
                    </a:p>
                  </a:txBody>
                  <a:tcPr marL="82296" marR="82296" marT="36576" marB="36576" anchor="ctr">
                    <a:solidFill>
                      <a:srgbClr val="FFFFFF"/>
                    </a:solidFill>
                  </a:tcPr>
                </a:tc>
                <a:tc>
                  <a:txBody>
                    <a:bodyPr wrap="square"/>
                    <a:lstStyle/>
                    <a:p>
                      <a:pPr algn="l"/>
                      <a:r>
                        <a:rPr sz="2200" b="0" i="0">
                          <a:solidFill>
                            <a:srgbClr val="1A1A1A"/>
                          </a:solidFill>
                          <a:latin typeface="Trebuchet MS"/>
                        </a:rPr>
                        <a:t>16 × 75 × 3456</a:t>
                      </a:r>
                    </a:p>
                  </a:txBody>
                  <a:tcPr marL="82296" marR="82296" marT="36576" marB="36576" anchor="ctr">
                    <a:solidFill>
                      <a:srgbClr val="FFFFFF"/>
                    </a:solidFill>
                  </a:tcPr>
                </a:tc>
              </a:tr>
              <a:tr h="457200">
                <a:tc>
                  <a:txBody>
                    <a:bodyPr wrap="square"/>
                    <a:lstStyle/>
                    <a:p>
                      <a:pPr algn="l"/>
                      <a:r>
                        <a:rPr sz="2200" b="0" i="0">
                          <a:solidFill>
                            <a:srgbClr val="1A1A1A"/>
                          </a:solidFill>
                          <a:latin typeface="Trebuchet MS"/>
                        </a:rPr>
                        <a:t>Linear → 512, ReLU, dropout 0.3</a:t>
                      </a:r>
                    </a:p>
                  </a:txBody>
                  <a:tcPr marL="82296" marR="82296" marT="36576" marB="36576" anchor="ctr">
                    <a:solidFill>
                      <a:srgbClr val="EAF0F8"/>
                    </a:solidFill>
                  </a:tcPr>
                </a:tc>
                <a:tc>
                  <a:txBody>
                    <a:bodyPr wrap="square"/>
                    <a:lstStyle/>
                    <a:p>
                      <a:pPr algn="l"/>
                      <a:r>
                        <a:rPr sz="2200" b="0" i="0">
                          <a:solidFill>
                            <a:srgbClr val="1A1A1A"/>
                          </a:solidFill>
                          <a:latin typeface="Trebuchet MS"/>
                        </a:rPr>
                        <a:t>16 × 75 × 512</a:t>
                      </a:r>
                    </a:p>
                  </a:txBody>
                  <a:tcPr marL="82296" marR="82296" marT="36576" marB="36576" anchor="ctr">
                    <a:solidFill>
                      <a:srgbClr val="EAF0F8"/>
                    </a:solidFill>
                  </a:tcPr>
                </a:tc>
              </a:tr>
              <a:tr h="457200">
                <a:tc>
                  <a:txBody>
                    <a:bodyPr wrap="square"/>
                    <a:lstStyle/>
                    <a:p>
                      <a:pPr algn="l"/>
                      <a:r>
                        <a:rPr sz="2200" b="0" i="0">
                          <a:solidFill>
                            <a:srgbClr val="1A1A1A"/>
                          </a:solidFill>
                          <a:latin typeface="Trebuchet MS"/>
                        </a:rPr>
                        <a:t>BiLSTM, 2 layers, 256 per direction</a:t>
                      </a:r>
                    </a:p>
                  </a:txBody>
                  <a:tcPr marL="82296" marR="82296" marT="36576" marB="36576" anchor="ctr">
                    <a:solidFill>
                      <a:srgbClr val="FFFFFF"/>
                    </a:solidFill>
                  </a:tcPr>
                </a:tc>
                <a:tc>
                  <a:txBody>
                    <a:bodyPr wrap="square"/>
                    <a:lstStyle/>
                    <a:p>
                      <a:pPr algn="l"/>
                      <a:r>
                        <a:rPr sz="2200" b="0" i="0">
                          <a:solidFill>
                            <a:srgbClr val="1A1A1A"/>
                          </a:solidFill>
                          <a:latin typeface="Trebuchet MS"/>
                        </a:rPr>
                        <a:t>16 × 75 × 512</a:t>
                      </a:r>
                    </a:p>
                  </a:txBody>
                  <a:tcPr marL="82296" marR="82296" marT="36576" marB="36576" anchor="ctr">
                    <a:solidFill>
                      <a:srgbClr val="FFFFFF"/>
                    </a:solidFill>
                  </a:tcPr>
                </a:tc>
              </a:tr>
            </a:tbl>
          </a:graphicData>
        </a:graphic>
      </p:graphicFrame>
      <p:sp>
        <p:nvSpPr>
          <p:cNvPr id="4" name="TextBox 3"/>
          <p:cNvSpPr txBox="1"/>
          <p:nvPr/>
        </p:nvSpPr>
        <p:spPr>
          <a:xfrm>
            <a:off x="841248" y="5532120"/>
            <a:ext cx="10515600" cy="45720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Temporal padding keeps T = 75: one 512-d vector per video frame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Audio: waveform to log-Mel features</a:t>
            </a:r>
          </a:p>
        </p:txBody>
      </p:sp>
      <p:sp>
        <p:nvSpPr>
          <p:cNvPr id="3" name="Rounded Rectangle 2"/>
          <p:cNvSpPr/>
          <p:nvPr/>
        </p:nvSpPr>
        <p:spPr>
          <a:xfrm>
            <a:off x="841248" y="1783080"/>
            <a:ext cx="1920240" cy="1234440"/>
          </a:xfrm>
          <a:prstGeom prst="roundRect">
            <a:avLst>
              <a:gd name="adj" fmla="val 7407"/>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Load, mono,</a:t>
            </a:r>
          </a:p>
          <a:p>
            <a:pPr algn="ctr">
              <a:spcAft>
                <a:spcPts val="0"/>
              </a:spcAft>
            </a:pPr>
            <a:r>
              <a:rPr sz="2200" b="0" i="0">
                <a:solidFill>
                  <a:srgbClr val="1A1A1A"/>
                </a:solidFill>
                <a:latin typeface="Trebuchet MS"/>
              </a:rPr>
              <a:t>16 kHz</a:t>
            </a:r>
          </a:p>
        </p:txBody>
      </p:sp>
      <p:cxnSp>
        <p:nvCxnSpPr>
          <p:cNvPr id="4" name="Connector 3"/>
          <p:cNvCxnSpPr/>
          <p:nvPr/>
        </p:nvCxnSpPr>
        <p:spPr>
          <a:xfrm>
            <a:off x="2788920" y="2400300"/>
            <a:ext cx="173736" cy="0"/>
          </a:xfrm>
          <a:prstGeom prst="line">
            <a:avLst/>
          </a:prstGeom>
          <a:ln w="25400">
            <a:solidFill>
              <a:srgbClr val="595959"/>
            </a:solidFill>
            <a:tailEnd type="triangle" w="med" len="med"/>
          </a:ln>
        </p:spPr>
      </p:cxnSp>
      <p:sp>
        <p:nvSpPr>
          <p:cNvPr id="5" name="Rounded Rectangle 4"/>
          <p:cNvSpPr/>
          <p:nvPr/>
        </p:nvSpPr>
        <p:spPr>
          <a:xfrm>
            <a:off x="2990088" y="1783080"/>
            <a:ext cx="1920240" cy="1234440"/>
          </a:xfrm>
          <a:prstGeom prst="roundRect">
            <a:avLst>
              <a:gd name="adj" fmla="val 7407"/>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RMS level</a:t>
            </a:r>
          </a:p>
          <a:p>
            <a:pPr algn="ctr">
              <a:spcAft>
                <a:spcPts val="0"/>
              </a:spcAft>
            </a:pPr>
            <a:r>
              <a:rPr sz="2200" b="0" i="0">
                <a:solidFill>
                  <a:srgbClr val="1A1A1A"/>
                </a:solidFill>
                <a:latin typeface="Trebuchet MS"/>
              </a:rPr>
              <a:t>−25 dBFS</a:t>
            </a:r>
          </a:p>
        </p:txBody>
      </p:sp>
      <p:cxnSp>
        <p:nvCxnSpPr>
          <p:cNvPr id="6" name="Connector 5"/>
          <p:cNvCxnSpPr/>
          <p:nvPr/>
        </p:nvCxnSpPr>
        <p:spPr>
          <a:xfrm>
            <a:off x="4937760" y="2400300"/>
            <a:ext cx="173736" cy="0"/>
          </a:xfrm>
          <a:prstGeom prst="line">
            <a:avLst/>
          </a:prstGeom>
          <a:ln w="25400">
            <a:solidFill>
              <a:srgbClr val="595959"/>
            </a:solidFill>
            <a:tailEnd type="triangle" w="med" len="med"/>
          </a:ln>
        </p:spPr>
      </p:cxnSp>
      <p:sp>
        <p:nvSpPr>
          <p:cNvPr id="7" name="Rounded Rectangle 6"/>
          <p:cNvSpPr/>
          <p:nvPr/>
        </p:nvSpPr>
        <p:spPr>
          <a:xfrm>
            <a:off x="5138928" y="1783080"/>
            <a:ext cx="1920240" cy="1234440"/>
          </a:xfrm>
          <a:prstGeom prst="roundRect">
            <a:avLst>
              <a:gd name="adj" fmla="val 7407"/>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25 ms Hann,</a:t>
            </a:r>
          </a:p>
          <a:p>
            <a:pPr algn="ctr">
              <a:spcAft>
                <a:spcPts val="0"/>
              </a:spcAft>
            </a:pPr>
            <a:r>
              <a:rPr sz="2200" b="0" i="0">
                <a:solidFill>
                  <a:srgbClr val="1A1A1A"/>
                </a:solidFill>
                <a:latin typeface="Trebuchet MS"/>
              </a:rPr>
              <a:t>10 ms hop</a:t>
            </a:r>
          </a:p>
        </p:txBody>
      </p:sp>
      <p:cxnSp>
        <p:nvCxnSpPr>
          <p:cNvPr id="8" name="Connector 7"/>
          <p:cNvCxnSpPr/>
          <p:nvPr/>
        </p:nvCxnSpPr>
        <p:spPr>
          <a:xfrm>
            <a:off x="7086600" y="2400300"/>
            <a:ext cx="173736" cy="0"/>
          </a:xfrm>
          <a:prstGeom prst="line">
            <a:avLst/>
          </a:prstGeom>
          <a:ln w="25400">
            <a:solidFill>
              <a:srgbClr val="595959"/>
            </a:solidFill>
            <a:tailEnd type="triangle" w="med" len="med"/>
          </a:ln>
        </p:spPr>
      </p:cxnSp>
      <p:sp>
        <p:nvSpPr>
          <p:cNvPr id="9" name="Rounded Rectangle 8"/>
          <p:cNvSpPr/>
          <p:nvPr/>
        </p:nvSpPr>
        <p:spPr>
          <a:xfrm>
            <a:off x="7287768" y="1783080"/>
            <a:ext cx="1920240" cy="1234440"/>
          </a:xfrm>
          <a:prstGeom prst="roundRect">
            <a:avLst>
              <a:gd name="adj" fmla="val 7407"/>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512-pt STFT,</a:t>
            </a:r>
          </a:p>
          <a:p>
            <a:pPr algn="ctr">
              <a:spcAft>
                <a:spcPts val="0"/>
              </a:spcAft>
            </a:pPr>
            <a:r>
              <a:rPr sz="2200" b="0" i="0">
                <a:solidFill>
                  <a:srgbClr val="1A1A1A"/>
                </a:solidFill>
                <a:latin typeface="Trebuchet MS"/>
              </a:rPr>
              <a:t>80 Mel bands</a:t>
            </a:r>
          </a:p>
        </p:txBody>
      </p:sp>
      <p:cxnSp>
        <p:nvCxnSpPr>
          <p:cNvPr id="10" name="Connector 9"/>
          <p:cNvCxnSpPr/>
          <p:nvPr/>
        </p:nvCxnSpPr>
        <p:spPr>
          <a:xfrm>
            <a:off x="9235440" y="2400300"/>
            <a:ext cx="173736" cy="0"/>
          </a:xfrm>
          <a:prstGeom prst="line">
            <a:avLst/>
          </a:prstGeom>
          <a:ln w="25400">
            <a:solidFill>
              <a:srgbClr val="595959"/>
            </a:solidFill>
            <a:tailEnd type="triangle" w="med" len="med"/>
          </a:ln>
        </p:spPr>
      </p:cxnSp>
      <p:sp>
        <p:nvSpPr>
          <p:cNvPr id="11" name="Rounded Rectangle 10"/>
          <p:cNvSpPr/>
          <p:nvPr/>
        </p:nvSpPr>
        <p:spPr>
          <a:xfrm>
            <a:off x="9436608" y="1783080"/>
            <a:ext cx="1920240" cy="1234440"/>
          </a:xfrm>
          <a:prstGeom prst="roundRect">
            <a:avLst>
              <a:gd name="adj" fmla="val 7407"/>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log, then</a:t>
            </a:r>
          </a:p>
          <a:p>
            <a:pPr algn="ctr">
              <a:spcAft>
                <a:spcPts val="0"/>
              </a:spcAft>
            </a:pPr>
            <a:r>
              <a:rPr sz="2200" b="0" i="0">
                <a:solidFill>
                  <a:srgbClr val="1A1A1A"/>
                </a:solidFill>
                <a:latin typeface="Trebuchet MS"/>
              </a:rPr>
              <a:t>standardise</a:t>
            </a:r>
          </a:p>
        </p:txBody>
      </p:sp>
      <p:sp>
        <p:nvSpPr>
          <p:cNvPr id="12" name="Rounded Rectangle 11"/>
          <p:cNvSpPr/>
          <p:nvPr/>
        </p:nvSpPr>
        <p:spPr>
          <a:xfrm>
            <a:off x="841248" y="3291840"/>
            <a:ext cx="10515600" cy="731520"/>
          </a:xfrm>
          <a:prstGeom prst="roundRect">
            <a:avLst>
              <a:gd name="adj" fmla="val 12500"/>
            </a:avLst>
          </a:prstGeom>
          <a:solidFill>
            <a:srgbClr val="FFF4CC"/>
          </a:solidFill>
          <a:ln>
            <a:noFill/>
          </a:ln>
        </p:spPr>
        <p:txBody>
          <a:bodyPr rtlCol="0" anchor="ctr" wrap="square" lIns="73152" rIns="73152" tIns="27432" bIns="27432">
            <a:noAutofit/>
          </a:bodyPr>
          <a:lstStyle/>
          <a:p>
            <a:pPr algn="ctr">
              <a:spcAft>
                <a:spcPts val="0"/>
              </a:spcAft>
            </a:pPr>
            <a:r>
              <a:rPr sz="2400" b="0" i="0">
                <a:solidFill>
                  <a:srgbClr val="1A1A1A"/>
                </a:solidFill>
                <a:latin typeface="Trebuchet MS"/>
              </a:rPr>
              <a:t>LM</a:t>
            </a:r>
            <a:r>
              <a:rPr sz="2400" b="0" i="0" baseline="-25000">
                <a:solidFill>
                  <a:srgbClr val="1A1A1A"/>
                </a:solidFill>
                <a:latin typeface="Trebuchet MS"/>
              </a:rPr>
              <a:t>m</a:t>
            </a:r>
            <a:r>
              <a:rPr sz="2400" b="0" i="0">
                <a:solidFill>
                  <a:srgbClr val="1A1A1A"/>
                </a:solidFill>
                <a:latin typeface="Trebuchet MS"/>
              </a:rPr>
              <a:t>(τ) = log( ε + Σ</a:t>
            </a:r>
            <a:r>
              <a:rPr sz="2400" b="0" i="0" baseline="-25000">
                <a:solidFill>
                  <a:srgbClr val="1A1A1A"/>
                </a:solidFill>
                <a:latin typeface="Trebuchet MS"/>
              </a:rPr>
              <a:t>k</a:t>
            </a:r>
            <a:r>
              <a:rPr sz="2400" b="0" i="0">
                <a:solidFill>
                  <a:srgbClr val="1A1A1A"/>
                </a:solidFill>
                <a:latin typeface="Trebuchet MS"/>
              </a:rPr>
              <a:t> H</a:t>
            </a:r>
            <a:r>
              <a:rPr sz="2400" b="0" i="0" baseline="-25000">
                <a:solidFill>
                  <a:srgbClr val="1A1A1A"/>
                </a:solidFill>
                <a:latin typeface="Trebuchet MS"/>
              </a:rPr>
              <a:t>m</a:t>
            </a:r>
            <a:r>
              <a:rPr sz="2400" b="0" i="0">
                <a:solidFill>
                  <a:srgbClr val="1A1A1A"/>
                </a:solidFill>
                <a:latin typeface="Trebuchet MS"/>
              </a:rPr>
              <a:t>(k) · |X</a:t>
            </a:r>
            <a:r>
              <a:rPr sz="2400" b="0" i="0" baseline="-25000">
                <a:solidFill>
                  <a:srgbClr val="1A1A1A"/>
                </a:solidFill>
                <a:latin typeface="Trebuchet MS"/>
              </a:rPr>
              <a:t>k</a:t>
            </a:r>
            <a:r>
              <a:rPr sz="2400" b="0" i="0">
                <a:solidFill>
                  <a:srgbClr val="1A1A1A"/>
                </a:solidFill>
                <a:latin typeface="Trebuchet MS"/>
              </a:rPr>
              <a:t>(τ)|² ),   m = 1 … 80</a:t>
            </a:r>
          </a:p>
        </p:txBody>
      </p:sp>
      <p:sp>
        <p:nvSpPr>
          <p:cNvPr id="13" name="TextBox 12"/>
          <p:cNvSpPr txBox="1"/>
          <p:nvPr/>
        </p:nvSpPr>
        <p:spPr>
          <a:xfrm>
            <a:off x="841248" y="4206240"/>
            <a:ext cx="10515600" cy="1737360"/>
          </a:xfrm>
          <a:prstGeom prst="rect">
            <a:avLst/>
          </a:prstGeom>
          <a:noFill/>
        </p:spPr>
        <p:txBody>
          <a:bodyPr wrap="square" lIns="54864" rIns="54864" tIns="27432" bIns="27432" anchor="t">
            <a:noAutofit/>
          </a:bodyPr>
          <a:lstStyle/>
          <a:p>
            <a:pPr algn="l" marL="292608" indent="-292608">
              <a:spcAft>
                <a:spcPts val="600"/>
              </a:spcAft>
              <a:buClr>
                <a:srgbClr val="D7014D"/>
              </a:buClr>
              <a:buFont typeface="Arial"/>
              <a:buChar char="•"/>
            </a:pPr>
            <a:r>
              <a:rPr sz="2200" b="0" i="0">
                <a:solidFill>
                  <a:srgbClr val="1A1A1A"/>
                </a:solidFill>
                <a:latin typeface="Trebuchet MS"/>
              </a:rPr>
              <a:t>Normalise after mixing, so the SNR is unchanged</a:t>
            </a:r>
          </a:p>
          <a:p>
            <a:pPr algn="l" marL="292608" indent="-292608">
              <a:spcAft>
                <a:spcPts val="600"/>
              </a:spcAft>
              <a:buClr>
                <a:srgbClr val="D7014D"/>
              </a:buClr>
              <a:buFont typeface="Arial"/>
              <a:buChar char="•"/>
            </a:pPr>
            <a:r>
              <a:rPr sz="2200" b="0" i="0">
                <a:solidFill>
                  <a:srgbClr val="1A1A1A"/>
                </a:solidFill>
                <a:latin typeface="Trebuchet MS"/>
              </a:rPr>
              <a:t>100 feature frames per second: exactly 4 per video frame</a:t>
            </a:r>
          </a:p>
          <a:p>
            <a:pPr algn="l" marL="292608" indent="-292608">
              <a:spcAft>
                <a:spcPts val="600"/>
              </a:spcAft>
              <a:buClr>
                <a:srgbClr val="D7014D"/>
              </a:buClr>
              <a:buFont typeface="Arial"/>
              <a:buChar char="•"/>
            </a:pPr>
            <a:r>
              <a:rPr sz="2200" b="0" i="0">
                <a:solidFill>
                  <a:srgbClr val="1A1A1A"/>
                </a:solidFill>
                <a:latin typeface="Trebuchet MS"/>
              </a:rPr>
              <a:t>Mean and std from training data, reused at inference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Audio feature options and encoder</a:t>
            </a:r>
          </a:p>
        </p:txBody>
      </p:sp>
      <p:sp>
        <p:nvSpPr>
          <p:cNvPr id="3" name="Rounded Rectangle 2"/>
          <p:cNvSpPr/>
          <p:nvPr/>
        </p:nvSpPr>
        <p:spPr>
          <a:xfrm>
            <a:off x="841248" y="1783080"/>
            <a:ext cx="3291840" cy="1234440"/>
          </a:xfrm>
          <a:prstGeom prst="roundRect">
            <a:avLst>
              <a:gd name="adj" fmla="val 7407"/>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1" i="0">
                <a:solidFill>
                  <a:srgbClr val="1F497D"/>
                </a:solidFill>
                <a:latin typeface="Trebuchet MS"/>
              </a:rPr>
              <a:t>A1: primary</a:t>
            </a:r>
          </a:p>
          <a:p>
            <a:pPr algn="ctr">
              <a:spcAft>
                <a:spcPts val="0"/>
              </a:spcAft>
            </a:pPr>
            <a:r>
              <a:rPr sz="2200" b="0" i="0">
                <a:solidFill>
                  <a:srgbClr val="1A1A1A"/>
                </a:solidFill>
                <a:latin typeface="Trebuchet MS"/>
              </a:rPr>
              <a:t>80 log-Mel</a:t>
            </a:r>
          </a:p>
        </p:txBody>
      </p:sp>
      <p:sp>
        <p:nvSpPr>
          <p:cNvPr id="4" name="Rounded Rectangle 3"/>
          <p:cNvSpPr/>
          <p:nvPr/>
        </p:nvSpPr>
        <p:spPr>
          <a:xfrm>
            <a:off x="4453128" y="1783080"/>
            <a:ext cx="3291840" cy="1234440"/>
          </a:xfrm>
          <a:prstGeom prst="roundRect">
            <a:avLst>
              <a:gd name="adj" fmla="val 7407"/>
            </a:avLst>
          </a:prstGeom>
          <a:solidFill>
            <a:srgbClr val="F2F2F2"/>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A2: experiment</a:t>
            </a:r>
          </a:p>
          <a:p>
            <a:pPr algn="ctr">
              <a:spcAft>
                <a:spcPts val="0"/>
              </a:spcAft>
            </a:pPr>
            <a:r>
              <a:rPr sz="2200" b="0" i="0">
                <a:solidFill>
                  <a:srgbClr val="1A1A1A"/>
                </a:solidFill>
                <a:latin typeface="Trebuchet MS"/>
              </a:rPr>
              <a:t>13 MFCC + Δ + ΔΔ = 39</a:t>
            </a:r>
          </a:p>
        </p:txBody>
      </p:sp>
      <p:sp>
        <p:nvSpPr>
          <p:cNvPr id="5" name="Rounded Rectangle 4"/>
          <p:cNvSpPr/>
          <p:nvPr/>
        </p:nvSpPr>
        <p:spPr>
          <a:xfrm>
            <a:off x="8065008" y="1783080"/>
            <a:ext cx="3291840" cy="1234440"/>
          </a:xfrm>
          <a:prstGeom prst="roundRect">
            <a:avLst>
              <a:gd name="adj" fmla="val 7407"/>
            </a:avLst>
          </a:prstGeom>
          <a:solidFill>
            <a:srgbClr val="F2F2F2"/>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A3: experiment</a:t>
            </a:r>
          </a:p>
          <a:p>
            <a:pPr algn="ctr">
              <a:spcAft>
                <a:spcPts val="0"/>
              </a:spcAft>
            </a:pPr>
            <a:r>
              <a:rPr sz="2200" b="0" i="0">
                <a:solidFill>
                  <a:srgbClr val="1A1A1A"/>
                </a:solidFill>
                <a:latin typeface="Trebuchet MS"/>
              </a:rPr>
              <a:t>log-Mel ⊕ MFCC = 119</a:t>
            </a:r>
          </a:p>
        </p:txBody>
      </p:sp>
      <p:sp>
        <p:nvSpPr>
          <p:cNvPr id="6" name="TextBox 5"/>
          <p:cNvSpPr txBox="1"/>
          <p:nvPr/>
        </p:nvSpPr>
        <p:spPr>
          <a:xfrm>
            <a:off x="841248" y="3200400"/>
            <a:ext cx="10515600" cy="41148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Audio encoder, per 3 s clip</a:t>
            </a:r>
          </a:p>
        </p:txBody>
      </p:sp>
      <p:sp>
        <p:nvSpPr>
          <p:cNvPr id="7" name="Rounded Rectangle 6"/>
          <p:cNvSpPr/>
          <p:nvPr/>
        </p:nvSpPr>
        <p:spPr>
          <a:xfrm>
            <a:off x="841248" y="3657600"/>
            <a:ext cx="201168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1" i="0">
                <a:solidFill>
                  <a:srgbClr val="1A1A1A"/>
                </a:solidFill>
                <a:latin typeface="Trebuchet MS"/>
              </a:rPr>
              <a:t>Log-Mel</a:t>
            </a:r>
          </a:p>
          <a:p>
            <a:pPr algn="ctr">
              <a:spcAft>
                <a:spcPts val="0"/>
              </a:spcAft>
            </a:pPr>
            <a:r>
              <a:rPr sz="2200" b="0" i="0">
                <a:solidFill>
                  <a:srgbClr val="1A1A1A"/>
                </a:solidFill>
                <a:latin typeface="Trebuchet MS"/>
              </a:rPr>
              <a:t>300 × 80</a:t>
            </a:r>
          </a:p>
        </p:txBody>
      </p:sp>
      <p:cxnSp>
        <p:nvCxnSpPr>
          <p:cNvPr id="8" name="Connector 7"/>
          <p:cNvCxnSpPr/>
          <p:nvPr/>
        </p:nvCxnSpPr>
        <p:spPr>
          <a:xfrm>
            <a:off x="2898648" y="4183380"/>
            <a:ext cx="731520" cy="0"/>
          </a:xfrm>
          <a:prstGeom prst="line">
            <a:avLst/>
          </a:prstGeom>
          <a:ln w="25400">
            <a:solidFill>
              <a:srgbClr val="595959"/>
            </a:solidFill>
            <a:tailEnd type="triangle" w="med" len="med"/>
          </a:ln>
        </p:spPr>
      </p:cxnSp>
      <p:sp>
        <p:nvSpPr>
          <p:cNvPr id="9" name="Rounded Rectangle 8"/>
          <p:cNvSpPr/>
          <p:nvPr/>
        </p:nvSpPr>
        <p:spPr>
          <a:xfrm>
            <a:off x="3675888" y="3657600"/>
            <a:ext cx="201168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1" i="0">
                <a:solidFill>
                  <a:srgbClr val="1A1A1A"/>
                </a:solidFill>
                <a:latin typeface="Trebuchet MS"/>
              </a:rPr>
              <a:t>Conv1d s=2</a:t>
            </a:r>
          </a:p>
          <a:p>
            <a:pPr algn="ctr">
              <a:spcAft>
                <a:spcPts val="0"/>
              </a:spcAft>
            </a:pPr>
            <a:r>
              <a:rPr sz="2200" b="0" i="0">
                <a:solidFill>
                  <a:srgbClr val="1A1A1A"/>
                </a:solidFill>
                <a:latin typeface="Trebuchet MS"/>
              </a:rPr>
              <a:t>150 × 256</a:t>
            </a:r>
          </a:p>
        </p:txBody>
      </p:sp>
      <p:cxnSp>
        <p:nvCxnSpPr>
          <p:cNvPr id="10" name="Connector 9"/>
          <p:cNvCxnSpPr/>
          <p:nvPr/>
        </p:nvCxnSpPr>
        <p:spPr>
          <a:xfrm>
            <a:off x="5733288" y="4183380"/>
            <a:ext cx="731520" cy="0"/>
          </a:xfrm>
          <a:prstGeom prst="line">
            <a:avLst/>
          </a:prstGeom>
          <a:ln w="25400">
            <a:solidFill>
              <a:srgbClr val="595959"/>
            </a:solidFill>
            <a:tailEnd type="triangle" w="med" len="med"/>
          </a:ln>
        </p:spPr>
      </p:cxnSp>
      <p:sp>
        <p:nvSpPr>
          <p:cNvPr id="11" name="Rounded Rectangle 10"/>
          <p:cNvSpPr/>
          <p:nvPr/>
        </p:nvSpPr>
        <p:spPr>
          <a:xfrm>
            <a:off x="6510528" y="3657600"/>
            <a:ext cx="201168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1" i="0">
                <a:solidFill>
                  <a:srgbClr val="1A1A1A"/>
                </a:solidFill>
                <a:latin typeface="Trebuchet MS"/>
              </a:rPr>
              <a:t>Conv1d s=2</a:t>
            </a:r>
          </a:p>
          <a:p>
            <a:pPr algn="ctr">
              <a:spcAft>
                <a:spcPts val="0"/>
              </a:spcAft>
            </a:pPr>
            <a:r>
              <a:rPr sz="2200" b="0" i="0">
                <a:solidFill>
                  <a:srgbClr val="1A1A1A"/>
                </a:solidFill>
                <a:latin typeface="Trebuchet MS"/>
              </a:rPr>
              <a:t>75 × 256</a:t>
            </a:r>
          </a:p>
        </p:txBody>
      </p:sp>
      <p:cxnSp>
        <p:nvCxnSpPr>
          <p:cNvPr id="12" name="Connector 11"/>
          <p:cNvCxnSpPr/>
          <p:nvPr/>
        </p:nvCxnSpPr>
        <p:spPr>
          <a:xfrm>
            <a:off x="8567928" y="4183380"/>
            <a:ext cx="731520" cy="0"/>
          </a:xfrm>
          <a:prstGeom prst="line">
            <a:avLst/>
          </a:prstGeom>
          <a:ln w="25400">
            <a:solidFill>
              <a:srgbClr val="595959"/>
            </a:solidFill>
            <a:tailEnd type="triangle" w="med" len="med"/>
          </a:ln>
        </p:spPr>
      </p:cxnSp>
      <p:sp>
        <p:nvSpPr>
          <p:cNvPr id="13" name="Rounded Rectangle 12"/>
          <p:cNvSpPr/>
          <p:nvPr/>
        </p:nvSpPr>
        <p:spPr>
          <a:xfrm>
            <a:off x="9345168" y="3657600"/>
            <a:ext cx="2011680" cy="1051560"/>
          </a:xfrm>
          <a:prstGeom prst="roundRect">
            <a:avLst>
              <a:gd name="adj" fmla="val 8695"/>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1" i="0">
                <a:solidFill>
                  <a:srgbClr val="1A1A1A"/>
                </a:solidFill>
                <a:latin typeface="Trebuchet MS"/>
              </a:rPr>
              <a:t>BiLSTM ×2</a:t>
            </a:r>
          </a:p>
          <a:p>
            <a:pPr algn="ctr">
              <a:spcAft>
                <a:spcPts val="0"/>
              </a:spcAft>
            </a:pPr>
            <a:r>
              <a:rPr sz="2200" b="0" i="0">
                <a:solidFill>
                  <a:srgbClr val="1A1A1A"/>
                </a:solidFill>
                <a:latin typeface="Trebuchet MS"/>
              </a:rPr>
              <a:t>75 × 512</a:t>
            </a:r>
          </a:p>
        </p:txBody>
      </p:sp>
      <p:sp>
        <p:nvSpPr>
          <p:cNvPr id="14" name="TextBox 13"/>
          <p:cNvSpPr txBox="1"/>
          <p:nvPr/>
        </p:nvSpPr>
        <p:spPr>
          <a:xfrm>
            <a:off x="841248" y="4937760"/>
            <a:ext cx="10515600" cy="100584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Output length = ⌈T</a:t>
            </a:r>
            <a:r>
              <a:rPr sz="2200" b="0" i="0" baseline="-25000">
                <a:solidFill>
                  <a:srgbClr val="595959"/>
                </a:solidFill>
                <a:latin typeface="Trebuchet MS"/>
              </a:rPr>
              <a:t>a</a:t>
            </a:r>
            <a:r>
              <a:rPr sz="2200" b="0" i="0">
                <a:solidFill>
                  <a:srgbClr val="595959"/>
                </a:solidFill>
                <a:latin typeface="Trebuchet MS"/>
              </a:rPr>
              <a:t> / 4⌉, the same T = 75 as video.  A2 and A3 are tried on the audio-only baseline first.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Batching and pipeline tests</a:t>
            </a:r>
          </a:p>
        </p:txBody>
      </p:sp>
      <p:sp>
        <p:nvSpPr>
          <p:cNvPr id="3" name="Rounded Rectangle 2"/>
          <p:cNvSpPr/>
          <p:nvPr/>
        </p:nvSpPr>
        <p:spPr>
          <a:xfrm>
            <a:off x="841248" y="1783080"/>
            <a:ext cx="5074920" cy="4160520"/>
          </a:xfrm>
          <a:prstGeom prst="roundRect">
            <a:avLst>
              <a:gd name="adj" fmla="val 2197"/>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1024128" y="1892807"/>
            <a:ext cx="4709160" cy="3977639"/>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Collate function</a:t>
            </a:r>
          </a:p>
          <a:p>
            <a:pPr algn="l" marL="292608" indent="-292608">
              <a:spcAft>
                <a:spcPts val="600"/>
              </a:spcAft>
              <a:buClr>
                <a:srgbClr val="D7014D"/>
              </a:buClr>
              <a:buFont typeface="Arial"/>
              <a:buChar char="•"/>
            </a:pPr>
            <a:r>
              <a:rPr sz="2200" b="0" i="0">
                <a:solidFill>
                  <a:srgbClr val="1A1A1A"/>
                </a:solidFill>
                <a:latin typeface="Trebuchet MS"/>
              </a:rPr>
              <a:t>Pad waveforms with zeros</a:t>
            </a:r>
          </a:p>
          <a:p>
            <a:pPr algn="l" marL="292608" indent="-292608">
              <a:spcAft>
                <a:spcPts val="600"/>
              </a:spcAft>
              <a:buClr>
                <a:srgbClr val="D7014D"/>
              </a:buClr>
              <a:buFont typeface="Arial"/>
              <a:buChar char="•"/>
            </a:pPr>
            <a:r>
              <a:rPr sz="2200" b="0" i="0">
                <a:solidFill>
                  <a:srgbClr val="1A1A1A"/>
                </a:solidFill>
                <a:latin typeface="Trebuchet MS"/>
              </a:rPr>
              <a:t>Record true feature lengths</a:t>
            </a:r>
          </a:p>
          <a:p>
            <a:pPr algn="l" marL="292608" indent="-292608">
              <a:spcAft>
                <a:spcPts val="600"/>
              </a:spcAft>
              <a:buClr>
                <a:srgbClr val="D7014D"/>
              </a:buClr>
              <a:buFont typeface="Arial"/>
              <a:buChar char="•"/>
            </a:pPr>
            <a:r>
              <a:rPr sz="2200" b="0" i="0">
                <a:solidFill>
                  <a:srgbClr val="1A1A1A"/>
                </a:solidFill>
                <a:latin typeface="Trebuchet MS"/>
              </a:rPr>
              <a:t>Encoder length = ⌈T</a:t>
            </a:r>
            <a:r>
              <a:rPr sz="2200" b="0" i="0" baseline="-25000">
                <a:solidFill>
                  <a:srgbClr val="1A1A1A"/>
                </a:solidFill>
                <a:latin typeface="Trebuchet MS"/>
              </a:rPr>
              <a:t>a</a:t>
            </a:r>
            <a:r>
              <a:rPr sz="2200" b="0" i="0">
                <a:solidFill>
                  <a:srgbClr val="1A1A1A"/>
                </a:solidFill>
                <a:latin typeface="Trebuchet MS"/>
              </a:rPr>
              <a:t> / 4⌉</a:t>
            </a:r>
          </a:p>
          <a:p>
            <a:pPr algn="l" marL="292608" indent="-292608">
              <a:spcAft>
                <a:spcPts val="600"/>
              </a:spcAft>
              <a:buClr>
                <a:srgbClr val="D7014D"/>
              </a:buClr>
              <a:buFont typeface="Arial"/>
              <a:buChar char="•"/>
            </a:pPr>
            <a:r>
              <a:rPr sz="2200" b="0" i="0">
                <a:solidFill>
                  <a:srgbClr val="1A1A1A"/>
                </a:solidFill>
                <a:latin typeface="Trebuchet MS"/>
              </a:rPr>
              <a:t>Boolean padding mask, B × T</a:t>
            </a:r>
          </a:p>
          <a:p>
            <a:pPr algn="l">
              <a:spcAft>
                <a:spcPts val="600"/>
              </a:spcAft>
            </a:pPr>
            <a:r>
              <a:rPr sz="2200" b="0" i="0">
                <a:solidFill>
                  <a:srgbClr val="595959"/>
                </a:solidFill>
                <a:latin typeface="Trebuchet MS"/>
              </a:rPr>
              <a:t>Packed BiLSTM, masked attention, true lengths to CTC</a:t>
            </a:r>
          </a:p>
        </p:txBody>
      </p:sp>
      <p:sp>
        <p:nvSpPr>
          <p:cNvPr id="5" name="Rounded Rectangle 4"/>
          <p:cNvSpPr/>
          <p:nvPr/>
        </p:nvSpPr>
        <p:spPr>
          <a:xfrm>
            <a:off x="6281928" y="1783080"/>
            <a:ext cx="5074920" cy="4160520"/>
          </a:xfrm>
          <a:prstGeom prst="roundRect">
            <a:avLst>
              <a:gd name="adj" fmla="val 2197"/>
            </a:avLst>
          </a:prstGeom>
          <a:solidFill>
            <a:srgbClr val="EAF0F8"/>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6464808" y="1892807"/>
            <a:ext cx="4709160" cy="3977639"/>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Tests</a:t>
            </a:r>
          </a:p>
          <a:p>
            <a:pPr algn="l" marL="292608" indent="-292608">
              <a:spcAft>
                <a:spcPts val="600"/>
              </a:spcAft>
              <a:buClr>
                <a:srgbClr val="D7014D"/>
              </a:buClr>
              <a:buFont typeface="Arial"/>
              <a:buChar char="•"/>
            </a:pPr>
            <a:r>
              <a:rPr sz="2200" b="0" i="0">
                <a:solidFill>
                  <a:srgbClr val="1A1A1A"/>
                </a:solidFill>
                <a:latin typeface="Trebuchet MS"/>
              </a:rPr>
              <a:t>Crop: 96×96, uint8, centred low on the face</a:t>
            </a:r>
          </a:p>
          <a:p>
            <a:pPr algn="l" marL="292608" indent="-292608">
              <a:spcAft>
                <a:spcPts val="600"/>
              </a:spcAft>
              <a:buClr>
                <a:srgbClr val="D7014D"/>
              </a:buClr>
              <a:buFont typeface="Arial"/>
              <a:buChar char="•"/>
            </a:pPr>
            <a:r>
              <a:rPr sz="2200" b="0" i="0">
                <a:solidFill>
                  <a:srgbClr val="1A1A1A"/>
                </a:solidFill>
                <a:latin typeface="Trebuchet MS"/>
              </a:rPr>
              <a:t>Contact sheet of crops checked by eye</a:t>
            </a:r>
          </a:p>
          <a:p>
            <a:pPr algn="l" marL="292608" indent="-292608">
              <a:spcAft>
                <a:spcPts val="600"/>
              </a:spcAft>
              <a:buClr>
                <a:srgbClr val="D7014D"/>
              </a:buClr>
              <a:buFont typeface="Arial"/>
              <a:buChar char="•"/>
            </a:pPr>
            <a:r>
              <a:rPr sz="2200" b="0" i="0">
                <a:solidFill>
                  <a:srgbClr val="1A1A1A"/>
                </a:solidFill>
                <a:latin typeface="Trebuchet MS"/>
              </a:rPr>
              <a:t>Log-Mel matches librosa within 10</a:t>
            </a:r>
            <a:r>
              <a:rPr sz="2200" b="0" i="0" baseline="30000">
                <a:solidFill>
                  <a:srgbClr val="1A1A1A"/>
                </a:solidFill>
                <a:latin typeface="Trebuchet MS"/>
              </a:rPr>
              <a:t>−3</a:t>
            </a:r>
          </a:p>
          <a:p>
            <a:pPr algn="l" marL="292608" indent="-292608">
              <a:spcAft>
                <a:spcPts val="600"/>
              </a:spcAft>
              <a:buClr>
                <a:srgbClr val="D7014D"/>
              </a:buClr>
              <a:buFont typeface="Arial"/>
              <a:buChar char="•"/>
            </a:pPr>
            <a:r>
              <a:rPr sz="2200" b="0" i="0">
                <a:solidFill>
                  <a:srgbClr val="1A1A1A"/>
                </a:solidFill>
                <a:latin typeface="Trebuchet MS"/>
              </a:rPr>
              <a:t>3 s audio → 300 → 75 frames</a:t>
            </a:r>
          </a:p>
          <a:p>
            <a:pPr algn="l" marL="292608" indent="-292608">
              <a:spcAft>
                <a:spcPts val="600"/>
              </a:spcAft>
              <a:buClr>
                <a:srgbClr val="D7014D"/>
              </a:buClr>
              <a:buFont typeface="Arial"/>
              <a:buChar char="•"/>
            </a:pPr>
            <a:r>
              <a:rPr sz="2200" b="0" i="0">
                <a:solidFill>
                  <a:srgbClr val="1A1A1A"/>
                </a:solidFill>
                <a:latin typeface="Trebuchet MS"/>
              </a:rPr>
              <a:t>Both encoders output B × 75 × 512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Part 4: The multimodal model</a:t>
            </a:r>
          </a:p>
        </p:txBody>
      </p:sp>
      <p:sp>
        <p:nvSpPr>
          <p:cNvPr id="3" name="Rounded Rectangle 2"/>
          <p:cNvSpPr/>
          <p:nvPr/>
        </p:nvSpPr>
        <p:spPr>
          <a:xfrm>
            <a:off x="841248" y="1874519"/>
            <a:ext cx="3017520" cy="3017520"/>
          </a:xfrm>
          <a:prstGeom prst="roundRect">
            <a:avLst>
              <a:gd name="adj" fmla="val 3030"/>
            </a:avLst>
          </a:prstGeom>
          <a:solidFill>
            <a:srgbClr val="1F497D"/>
          </a:solidFill>
          <a:ln>
            <a:noFill/>
          </a:ln>
        </p:spPr>
        <p:txBody>
          <a:bodyPr rtlCol="0" anchor="ctr" wrap="square" lIns="73152" rIns="73152" tIns="27432" bIns="27432">
            <a:noAutofit/>
          </a:bodyPr>
          <a:lstStyle/>
          <a:p>
            <a:pPr algn="ctr">
              <a:spcAft>
                <a:spcPts val="0"/>
              </a:spcAft>
            </a:pPr>
            <a:r>
              <a:rPr sz="9600" b="1" i="0">
                <a:solidFill>
                  <a:srgbClr val="FFFFFF"/>
                </a:solidFill>
                <a:latin typeface="Trebuchet MS"/>
              </a:rPr>
              <a:t>04</a:t>
            </a:r>
          </a:p>
        </p:txBody>
      </p:sp>
      <p:sp>
        <p:nvSpPr>
          <p:cNvPr id="4" name="TextBox 3"/>
          <p:cNvSpPr txBox="1"/>
          <p:nvPr/>
        </p:nvSpPr>
        <p:spPr>
          <a:xfrm>
            <a:off x="841248" y="5074920"/>
            <a:ext cx="3017520" cy="822960"/>
          </a:xfrm>
          <a:prstGeom prst="rect">
            <a:avLst/>
          </a:prstGeom>
          <a:noFill/>
        </p:spPr>
        <p:txBody>
          <a:bodyPr wrap="square" lIns="54864" rIns="54864" tIns="27432" bIns="27432" anchor="t">
            <a:noAutofit/>
          </a:bodyPr>
          <a:lstStyle/>
          <a:p>
            <a:pPr algn="ctr">
              <a:spcAft>
                <a:spcPts val="0"/>
              </a:spcAft>
            </a:pPr>
            <a:r>
              <a:rPr sz="2200" b="0" i="0">
                <a:solidFill>
                  <a:srgbClr val="595959"/>
                </a:solidFill>
                <a:latin typeface="Trebuchet MS"/>
              </a:rPr>
              <a:t>Presented by</a:t>
            </a:r>
          </a:p>
          <a:p>
            <a:pPr algn="ctr">
              <a:spcAft>
                <a:spcPts val="0"/>
              </a:spcAft>
            </a:pPr>
            <a:r>
              <a:rPr sz="2200" b="1" i="0">
                <a:solidFill>
                  <a:srgbClr val="1F497D"/>
                </a:solidFill>
                <a:latin typeface="Trebuchet MS"/>
              </a:rPr>
              <a:t>Lisa Lusinga Namugenyi</a:t>
            </a:r>
          </a:p>
        </p:txBody>
      </p:sp>
      <p:sp>
        <p:nvSpPr>
          <p:cNvPr id="5" name="TextBox 4"/>
          <p:cNvSpPr txBox="1"/>
          <p:nvPr/>
        </p:nvSpPr>
        <p:spPr>
          <a:xfrm>
            <a:off x="4480560" y="1828800"/>
            <a:ext cx="6858000" cy="457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In this part</a:t>
            </a:r>
          </a:p>
        </p:txBody>
      </p:sp>
      <p:sp>
        <p:nvSpPr>
          <p:cNvPr id="6" name="TextBox 5"/>
          <p:cNvSpPr txBox="1"/>
          <p:nvPr/>
        </p:nvSpPr>
        <p:spPr>
          <a:xfrm>
            <a:off x="4480560" y="2331720"/>
            <a:ext cx="6858000" cy="3566160"/>
          </a:xfrm>
          <a:prstGeom prst="rect">
            <a:avLst/>
          </a:prstGeom>
          <a:noFill/>
        </p:spPr>
        <p:txBody>
          <a:bodyPr wrap="square" lIns="54864" rIns="54864" tIns="27432" bIns="27432" anchor="t">
            <a:noAutofit/>
          </a:bodyPr>
          <a:lstStyle/>
          <a:p>
            <a:pPr algn="l" marL="292608" indent="-292608">
              <a:spcAft>
                <a:spcPts val="500"/>
              </a:spcAft>
              <a:buClr>
                <a:srgbClr val="D7014D"/>
              </a:buClr>
              <a:buFont typeface="Arial"/>
              <a:buChar char="•"/>
            </a:pPr>
            <a:r>
              <a:rPr sz="2200" b="0" i="0">
                <a:solidFill>
                  <a:srgbClr val="1A1A1A"/>
                </a:solidFill>
                <a:latin typeface="Trebuchet MS"/>
              </a:rPr>
              <a:t>The complete model</a:t>
            </a:r>
          </a:p>
          <a:p>
            <a:pPr algn="l" marL="292608" indent="-292608">
              <a:spcAft>
                <a:spcPts val="500"/>
              </a:spcAft>
              <a:buClr>
                <a:srgbClr val="D7014D"/>
              </a:buClr>
              <a:buFont typeface="Arial"/>
              <a:buChar char="•"/>
            </a:pPr>
            <a:r>
              <a:rPr sz="2200" b="0" i="0">
                <a:solidFill>
                  <a:srgbClr val="1A1A1A"/>
                </a:solidFill>
                <a:latin typeface="Trebuchet MS"/>
              </a:rPr>
              <a:t>Cross-modal attention and the fusion gate</a:t>
            </a:r>
          </a:p>
          <a:p>
            <a:pPr algn="l" marL="292608" indent="-292608">
              <a:spcAft>
                <a:spcPts val="500"/>
              </a:spcAft>
              <a:buClr>
                <a:srgbClr val="D7014D"/>
              </a:buClr>
              <a:buFont typeface="Arial"/>
              <a:buChar char="•"/>
            </a:pPr>
            <a:r>
              <a:rPr sz="2200" b="0" i="0">
                <a:solidFill>
                  <a:srgbClr val="1A1A1A"/>
                </a:solidFill>
                <a:latin typeface="Trebuchet MS"/>
              </a:rPr>
              <a:t>How the model learns to trust the lips</a:t>
            </a:r>
          </a:p>
          <a:p>
            <a:pPr algn="l" marL="292608" indent="-292608">
              <a:spcAft>
                <a:spcPts val="500"/>
              </a:spcAft>
              <a:buClr>
                <a:srgbClr val="D7014D"/>
              </a:buClr>
              <a:buFont typeface="Arial"/>
              <a:buChar char="•"/>
            </a:pPr>
            <a:r>
              <a:rPr sz="2200" b="0" i="0">
                <a:solidFill>
                  <a:srgbClr val="1A1A1A"/>
                </a:solidFill>
                <a:latin typeface="Trebuchet MS"/>
              </a:rPr>
              <a:t>Modality dropout</a:t>
            </a:r>
          </a:p>
          <a:p>
            <a:pPr algn="l" marL="292608" indent="-292608">
              <a:spcAft>
                <a:spcPts val="500"/>
              </a:spcAft>
              <a:buClr>
                <a:srgbClr val="D7014D"/>
              </a:buClr>
              <a:buFont typeface="Arial"/>
              <a:buChar char="•"/>
            </a:pPr>
            <a:r>
              <a:rPr sz="2200" b="0" i="0">
                <a:solidFill>
                  <a:srgbClr val="1A1A1A"/>
                </a:solidFill>
                <a:latin typeface="Trebuchet MS"/>
              </a:rPr>
              <a:t>CTC training and decoding</a:t>
            </a:r>
          </a:p>
          <a:p>
            <a:pPr algn="l" marL="292608" indent="-292608">
              <a:spcAft>
                <a:spcPts val="500"/>
              </a:spcAft>
              <a:buClr>
                <a:srgbClr val="D7014D"/>
              </a:buClr>
              <a:buFont typeface="Arial"/>
              <a:buChar char="•"/>
            </a:pPr>
            <a:r>
              <a:rPr sz="2200" b="0" i="0">
                <a:solidFill>
                  <a:srgbClr val="1A1A1A"/>
                </a:solidFill>
                <a:latin typeface="Trebuchet MS"/>
              </a:rPr>
              <a:t>The forward pass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The complete model at a glance</a:t>
            </a:r>
          </a:p>
        </p:txBody>
      </p:sp>
      <p:graphicFrame>
        <p:nvGraphicFramePr>
          <p:cNvPr id="3" name="Table 2"/>
          <p:cNvGraphicFramePr>
            <a:graphicFrameLocks noGrp="1"/>
          </p:cNvGraphicFramePr>
          <p:nvPr/>
        </p:nvGraphicFramePr>
        <p:xfrm>
          <a:off x="841248" y="1783080"/>
          <a:ext cx="10515600" cy="3877056"/>
        </p:xfrm>
        <a:graphic>
          <a:graphicData uri="http://schemas.openxmlformats.org/drawingml/2006/table">
            <a:tbl>
              <a:tblPr firstRow="1">
                <a:tableStyleId>{5C22544A-7EE6-4342-B048-85BDC9FD1C3A}</a:tableStyleId>
              </a:tblPr>
              <a:tblGrid>
                <a:gridCol w="2743200"/>
                <a:gridCol w="5486400"/>
                <a:gridCol w="2286000"/>
              </a:tblGrid>
              <a:tr h="484632">
                <a:tc>
                  <a:txBody>
                    <a:bodyPr wrap="square"/>
                    <a:lstStyle/>
                    <a:p>
                      <a:pPr algn="l"/>
                      <a:r>
                        <a:rPr sz="2200" b="1" i="0">
                          <a:solidFill>
                            <a:srgbClr val="FFFFFF"/>
                          </a:solidFill>
                          <a:latin typeface="Trebuchet MS"/>
                        </a:rPr>
                        <a:t>Component</a:t>
                      </a:r>
                    </a:p>
                  </a:txBody>
                  <a:tcPr marL="82296" marR="82296" marT="36576" marB="36576" anchor="ctr">
                    <a:solidFill>
                      <a:srgbClr val="1F497D"/>
                    </a:solidFill>
                  </a:tcPr>
                </a:tc>
                <a:tc>
                  <a:txBody>
                    <a:bodyPr wrap="square"/>
                    <a:lstStyle/>
                    <a:p>
                      <a:pPr algn="l"/>
                      <a:r>
                        <a:rPr sz="2200" b="1" i="0">
                          <a:solidFill>
                            <a:srgbClr val="FFFFFF"/>
                          </a:solidFill>
                          <a:latin typeface="Trebuchet MS"/>
                        </a:rPr>
                        <a:t>Configuration</a:t>
                      </a:r>
                    </a:p>
                  </a:txBody>
                  <a:tcPr marL="82296" marR="82296" marT="36576" marB="36576" anchor="ctr">
                    <a:solidFill>
                      <a:srgbClr val="1F497D"/>
                    </a:solidFill>
                  </a:tcPr>
                </a:tc>
                <a:tc>
                  <a:txBody>
                    <a:bodyPr wrap="square"/>
                    <a:lstStyle/>
                    <a:p>
                      <a:pPr algn="l"/>
                      <a:r>
                        <a:rPr sz="2200" b="1" i="0">
                          <a:solidFill>
                            <a:srgbClr val="FFFFFF"/>
                          </a:solidFill>
                          <a:latin typeface="Trebuchet MS"/>
                        </a:rPr>
                        <a:t>Output</a:t>
                      </a:r>
                    </a:p>
                  </a:txBody>
                  <a:tcPr marL="82296" marR="82296" marT="36576" marB="36576" anchor="ctr">
                    <a:solidFill>
                      <a:srgbClr val="1F497D"/>
                    </a:solidFill>
                  </a:tcPr>
                </a:tc>
              </a:tr>
              <a:tr h="484632">
                <a:tc>
                  <a:txBody>
                    <a:bodyPr wrap="square"/>
                    <a:lstStyle/>
                    <a:p>
                      <a:pPr algn="l"/>
                      <a:r>
                        <a:rPr sz="2200" b="1" i="0">
                          <a:solidFill>
                            <a:srgbClr val="1A1A1A"/>
                          </a:solidFill>
                          <a:latin typeface="Trebuchet MS"/>
                        </a:rPr>
                        <a:t>Visual encoder</a:t>
                      </a:r>
                    </a:p>
                  </a:txBody>
                  <a:tcPr marL="82296" marR="82296" marT="36576" marB="36576" anchor="ctr">
                    <a:solidFill>
                      <a:srgbClr val="FFFFFF"/>
                    </a:solidFill>
                  </a:tcPr>
                </a:tc>
                <a:tc>
                  <a:txBody>
                    <a:bodyPr wrap="square"/>
                    <a:lstStyle/>
                    <a:p>
                      <a:pPr algn="l"/>
                      <a:r>
                        <a:rPr sz="2200" b="0" i="0">
                          <a:solidFill>
                            <a:srgbClr val="1A1A1A"/>
                          </a:solidFill>
                          <a:latin typeface="Trebuchet MS"/>
                        </a:rPr>
                        <a:t>3 Conv3d, Linear 512, BiLSTM ×2</a:t>
                      </a:r>
                    </a:p>
                  </a:txBody>
                  <a:tcPr marL="82296" marR="82296" marT="36576" marB="36576" anchor="ctr">
                    <a:solidFill>
                      <a:srgbClr val="FFFFFF"/>
                    </a:solidFill>
                  </a:tcPr>
                </a:tc>
                <a:tc>
                  <a:txBody>
                    <a:bodyPr wrap="square"/>
                    <a:lstStyle/>
                    <a:p>
                      <a:pPr algn="l"/>
                      <a:r>
                        <a:rPr sz="2200" b="0" i="0">
                          <a:solidFill>
                            <a:srgbClr val="1A1A1A"/>
                          </a:solidFill>
                          <a:latin typeface="Trebuchet MS"/>
                        </a:rPr>
                        <a:t>B×T×512</a:t>
                      </a:r>
                    </a:p>
                  </a:txBody>
                  <a:tcPr marL="82296" marR="82296" marT="36576" marB="36576" anchor="ctr">
                    <a:solidFill>
                      <a:srgbClr val="FFFFFF"/>
                    </a:solidFill>
                  </a:tcPr>
                </a:tc>
              </a:tr>
              <a:tr h="484632">
                <a:tc>
                  <a:txBody>
                    <a:bodyPr wrap="square"/>
                    <a:lstStyle/>
                    <a:p>
                      <a:pPr algn="l"/>
                      <a:r>
                        <a:rPr sz="2200" b="1" i="0">
                          <a:solidFill>
                            <a:srgbClr val="1A1A1A"/>
                          </a:solidFill>
                          <a:latin typeface="Trebuchet MS"/>
                        </a:rPr>
                        <a:t>Audio encoder</a:t>
                      </a:r>
                    </a:p>
                  </a:txBody>
                  <a:tcPr marL="82296" marR="82296" marT="36576" marB="36576" anchor="ctr">
                    <a:solidFill>
                      <a:srgbClr val="EAF0F8"/>
                    </a:solidFill>
                  </a:tcPr>
                </a:tc>
                <a:tc>
                  <a:txBody>
                    <a:bodyPr wrap="square"/>
                    <a:lstStyle/>
                    <a:p>
                      <a:pPr algn="l"/>
                      <a:r>
                        <a:rPr sz="2200" b="0" i="0">
                          <a:solidFill>
                            <a:srgbClr val="1A1A1A"/>
                          </a:solidFill>
                          <a:latin typeface="Trebuchet MS"/>
                        </a:rPr>
                        <a:t>2 strided Conv1d, BiLSTM ×2</a:t>
                      </a:r>
                    </a:p>
                  </a:txBody>
                  <a:tcPr marL="82296" marR="82296" marT="36576" marB="36576" anchor="ctr">
                    <a:solidFill>
                      <a:srgbClr val="EAF0F8"/>
                    </a:solidFill>
                  </a:tcPr>
                </a:tc>
                <a:tc>
                  <a:txBody>
                    <a:bodyPr wrap="square"/>
                    <a:lstStyle/>
                    <a:p>
                      <a:pPr algn="l"/>
                      <a:r>
                        <a:rPr sz="2200" b="0" i="0">
                          <a:solidFill>
                            <a:srgbClr val="1A1A1A"/>
                          </a:solidFill>
                          <a:latin typeface="Trebuchet MS"/>
                        </a:rPr>
                        <a:t>B×T×512</a:t>
                      </a:r>
                    </a:p>
                  </a:txBody>
                  <a:tcPr marL="82296" marR="82296" marT="36576" marB="36576" anchor="ctr">
                    <a:solidFill>
                      <a:srgbClr val="EAF0F8"/>
                    </a:solidFill>
                  </a:tcPr>
                </a:tc>
              </a:tr>
              <a:tr h="484632">
                <a:tc>
                  <a:txBody>
                    <a:bodyPr wrap="square"/>
                    <a:lstStyle/>
                    <a:p>
                      <a:pPr algn="l"/>
                      <a:r>
                        <a:rPr sz="2200" b="1" i="0">
                          <a:solidFill>
                            <a:srgbClr val="1A1A1A"/>
                          </a:solidFill>
                          <a:latin typeface="Trebuchet MS"/>
                        </a:rPr>
                        <a:t>Projections</a:t>
                      </a:r>
                    </a:p>
                  </a:txBody>
                  <a:tcPr marL="82296" marR="82296" marT="36576" marB="36576" anchor="ctr">
                    <a:solidFill>
                      <a:srgbClr val="FFFFFF"/>
                    </a:solidFill>
                  </a:tcPr>
                </a:tc>
                <a:tc>
                  <a:txBody>
                    <a:bodyPr wrap="square"/>
                    <a:lstStyle/>
                    <a:p>
                      <a:pPr algn="l"/>
                      <a:r>
                        <a:rPr sz="2200" b="0" i="0">
                          <a:solidFill>
                            <a:srgbClr val="1A1A1A"/>
                          </a:solidFill>
                          <a:latin typeface="Trebuchet MS"/>
                        </a:rPr>
                        <a:t>Linear 512→256 + LayerNorm</a:t>
                      </a:r>
                    </a:p>
                  </a:txBody>
                  <a:tcPr marL="82296" marR="82296" marT="36576" marB="36576" anchor="ctr">
                    <a:solidFill>
                      <a:srgbClr val="FFFFFF"/>
                    </a:solidFill>
                  </a:tcPr>
                </a:tc>
                <a:tc>
                  <a:txBody>
                    <a:bodyPr wrap="square"/>
                    <a:lstStyle/>
                    <a:p>
                      <a:pPr algn="l"/>
                      <a:r>
                        <a:rPr sz="2200" b="0" i="0">
                          <a:solidFill>
                            <a:srgbClr val="1A1A1A"/>
                          </a:solidFill>
                          <a:latin typeface="Trebuchet MS"/>
                        </a:rPr>
                        <a:t>B×T×256</a:t>
                      </a:r>
                    </a:p>
                  </a:txBody>
                  <a:tcPr marL="82296" marR="82296" marT="36576" marB="36576" anchor="ctr">
                    <a:solidFill>
                      <a:srgbClr val="FFFFFF"/>
                    </a:solidFill>
                  </a:tcPr>
                </a:tc>
              </a:tr>
              <a:tr h="484632">
                <a:tc>
                  <a:txBody>
                    <a:bodyPr wrap="square"/>
                    <a:lstStyle/>
                    <a:p>
                      <a:pPr algn="l"/>
                      <a:r>
                        <a:rPr sz="2200" b="1" i="0">
                          <a:solidFill>
                            <a:srgbClr val="1A1A1A"/>
                          </a:solidFill>
                          <a:latin typeface="Trebuchet MS"/>
                        </a:rPr>
                        <a:t>Cross-attention</a:t>
                      </a:r>
                    </a:p>
                  </a:txBody>
                  <a:tcPr marL="82296" marR="82296" marT="36576" marB="36576" anchor="ctr">
                    <a:solidFill>
                      <a:srgbClr val="EAF0F8"/>
                    </a:solidFill>
                  </a:tcPr>
                </a:tc>
                <a:tc>
                  <a:txBody>
                    <a:bodyPr wrap="square"/>
                    <a:lstStyle/>
                    <a:p>
                      <a:pPr algn="l"/>
                      <a:r>
                        <a:rPr sz="2200" b="0" i="0">
                          <a:solidFill>
                            <a:srgbClr val="1A1A1A"/>
                          </a:solidFill>
                          <a:latin typeface="Trebuchet MS"/>
                        </a:rPr>
                        <a:t>A→V and V→A, 4 heads, d = 256</a:t>
                      </a:r>
                    </a:p>
                  </a:txBody>
                  <a:tcPr marL="82296" marR="82296" marT="36576" marB="36576" anchor="ctr">
                    <a:solidFill>
                      <a:srgbClr val="EAF0F8"/>
                    </a:solidFill>
                  </a:tcPr>
                </a:tc>
                <a:tc>
                  <a:txBody>
                    <a:bodyPr wrap="square"/>
                    <a:lstStyle/>
                    <a:p>
                      <a:pPr algn="l"/>
                      <a:r>
                        <a:rPr sz="2200" b="0" i="0">
                          <a:solidFill>
                            <a:srgbClr val="1A1A1A"/>
                          </a:solidFill>
                          <a:latin typeface="Trebuchet MS"/>
                        </a:rPr>
                        <a:t>B×T×256</a:t>
                      </a:r>
                    </a:p>
                  </a:txBody>
                  <a:tcPr marL="82296" marR="82296" marT="36576" marB="36576" anchor="ctr">
                    <a:solidFill>
                      <a:srgbClr val="EAF0F8"/>
                    </a:solidFill>
                  </a:tcPr>
                </a:tc>
              </a:tr>
              <a:tr h="484632">
                <a:tc>
                  <a:txBody>
                    <a:bodyPr wrap="square"/>
                    <a:lstStyle/>
                    <a:p>
                      <a:pPr algn="l"/>
                      <a:r>
                        <a:rPr sz="2200" b="1" i="0">
                          <a:solidFill>
                            <a:srgbClr val="1A1A1A"/>
                          </a:solidFill>
                          <a:latin typeface="Trebuchet MS"/>
                        </a:rPr>
                        <a:t>Gated fusion</a:t>
                      </a:r>
                    </a:p>
                  </a:txBody>
                  <a:tcPr marL="82296" marR="82296" marT="36576" marB="36576" anchor="ctr">
                    <a:solidFill>
                      <a:srgbClr val="FFFFFF"/>
                    </a:solidFill>
                  </a:tcPr>
                </a:tc>
                <a:tc>
                  <a:txBody>
                    <a:bodyPr wrap="square"/>
                    <a:lstStyle/>
                    <a:p>
                      <a:pPr algn="l"/>
                      <a:r>
                        <a:rPr sz="2200" b="0" i="0">
                          <a:solidFill>
                            <a:srgbClr val="1A1A1A"/>
                          </a:solidFill>
                          <a:latin typeface="Trebuchet MS"/>
                        </a:rPr>
                        <a:t>Per-frame gate g</a:t>
                      </a:r>
                      <a:r>
                        <a:rPr sz="2200" b="0" i="0" baseline="-25000">
                          <a:solidFill>
                            <a:srgbClr val="1A1A1A"/>
                          </a:solidFill>
                          <a:latin typeface="Trebuchet MS"/>
                        </a:rPr>
                        <a:t>t</a:t>
                      </a:r>
                    </a:p>
                  </a:txBody>
                  <a:tcPr marL="82296" marR="82296" marT="36576" marB="36576" anchor="ctr">
                    <a:solidFill>
                      <a:srgbClr val="FFFFFF"/>
                    </a:solidFill>
                  </a:tcPr>
                </a:tc>
                <a:tc>
                  <a:txBody>
                    <a:bodyPr wrap="square"/>
                    <a:lstStyle/>
                    <a:p>
                      <a:pPr algn="l"/>
                      <a:r>
                        <a:rPr sz="2200" b="0" i="0">
                          <a:solidFill>
                            <a:srgbClr val="1A1A1A"/>
                          </a:solidFill>
                          <a:latin typeface="Trebuchet MS"/>
                        </a:rPr>
                        <a:t>B×T×256</a:t>
                      </a:r>
                    </a:p>
                  </a:txBody>
                  <a:tcPr marL="82296" marR="82296" marT="36576" marB="36576" anchor="ctr">
                    <a:solidFill>
                      <a:srgbClr val="FFFFFF"/>
                    </a:solidFill>
                  </a:tcPr>
                </a:tc>
              </a:tr>
              <a:tr h="484632">
                <a:tc>
                  <a:txBody>
                    <a:bodyPr wrap="square"/>
                    <a:lstStyle/>
                    <a:p>
                      <a:pPr algn="l"/>
                      <a:r>
                        <a:rPr sz="2200" b="1" i="0">
                          <a:solidFill>
                            <a:srgbClr val="1A1A1A"/>
                          </a:solidFill>
                          <a:latin typeface="Trebuchet MS"/>
                        </a:rPr>
                        <a:t>Sequence model</a:t>
                      </a:r>
                    </a:p>
                  </a:txBody>
                  <a:tcPr marL="82296" marR="82296" marT="36576" marB="36576" anchor="ctr">
                    <a:solidFill>
                      <a:srgbClr val="EAF0F8"/>
                    </a:solidFill>
                  </a:tcPr>
                </a:tc>
                <a:tc>
                  <a:txBody>
                    <a:bodyPr wrap="square"/>
                    <a:lstStyle/>
                    <a:p>
                      <a:pPr algn="l"/>
                      <a:r>
                        <a:rPr sz="2200" b="0" i="0">
                          <a:solidFill>
                            <a:srgbClr val="1A1A1A"/>
                          </a:solidFill>
                          <a:latin typeface="Trebuchet MS"/>
                        </a:rPr>
                        <a:t>1-layer BiLSTM, 128 per direction</a:t>
                      </a:r>
                    </a:p>
                  </a:txBody>
                  <a:tcPr marL="82296" marR="82296" marT="36576" marB="36576" anchor="ctr">
                    <a:solidFill>
                      <a:srgbClr val="EAF0F8"/>
                    </a:solidFill>
                  </a:tcPr>
                </a:tc>
                <a:tc>
                  <a:txBody>
                    <a:bodyPr wrap="square"/>
                    <a:lstStyle/>
                    <a:p>
                      <a:pPr algn="l"/>
                      <a:r>
                        <a:rPr sz="2200" b="0" i="0">
                          <a:solidFill>
                            <a:srgbClr val="1A1A1A"/>
                          </a:solidFill>
                          <a:latin typeface="Trebuchet MS"/>
                        </a:rPr>
                        <a:t>B×T×256</a:t>
                      </a:r>
                    </a:p>
                  </a:txBody>
                  <a:tcPr marL="82296" marR="82296" marT="36576" marB="36576" anchor="ctr">
                    <a:solidFill>
                      <a:srgbClr val="EAF0F8"/>
                    </a:solidFill>
                  </a:tcPr>
                </a:tc>
              </a:tr>
              <a:tr h="484632">
                <a:tc>
                  <a:txBody>
                    <a:bodyPr wrap="square"/>
                    <a:lstStyle/>
                    <a:p>
                      <a:pPr algn="l"/>
                      <a:r>
                        <a:rPr sz="2200" b="1" i="0">
                          <a:solidFill>
                            <a:srgbClr val="1A1A1A"/>
                          </a:solidFill>
                          <a:latin typeface="Trebuchet MS"/>
                        </a:rPr>
                        <a:t>CTC output</a:t>
                      </a:r>
                    </a:p>
                  </a:txBody>
                  <a:tcPr marL="82296" marR="82296" marT="36576" marB="36576" anchor="ctr">
                    <a:solidFill>
                      <a:srgbClr val="FFFFFF"/>
                    </a:solidFill>
                  </a:tcPr>
                </a:tc>
                <a:tc>
                  <a:txBody>
                    <a:bodyPr wrap="square"/>
                    <a:lstStyle/>
                    <a:p>
                      <a:pPr algn="l"/>
                      <a:r>
                        <a:rPr sz="2200" b="0" i="0">
                          <a:solidFill>
                            <a:srgbClr val="1A1A1A"/>
                          </a:solidFill>
                          <a:latin typeface="Trebuchet MS"/>
                        </a:rPr>
                        <a:t>Linear 256→28, log-softmax</a:t>
                      </a:r>
                    </a:p>
                  </a:txBody>
                  <a:tcPr marL="82296" marR="82296" marT="36576" marB="36576" anchor="ctr">
                    <a:solidFill>
                      <a:srgbClr val="FFFFFF"/>
                    </a:solidFill>
                  </a:tcPr>
                </a:tc>
                <a:tc>
                  <a:txBody>
                    <a:bodyPr wrap="square"/>
                    <a:lstStyle/>
                    <a:p>
                      <a:pPr algn="l"/>
                      <a:r>
                        <a:rPr sz="2200" b="0" i="0">
                          <a:solidFill>
                            <a:srgbClr val="1A1A1A"/>
                          </a:solidFill>
                          <a:latin typeface="Trebuchet MS"/>
                        </a:rPr>
                        <a:t>T×B×28</a:t>
                      </a:r>
                    </a:p>
                  </a:txBody>
                  <a:tcPr marL="82296" marR="82296"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Cross-modal attention on one time grid</a:t>
            </a:r>
          </a:p>
        </p:txBody>
      </p:sp>
      <p:sp>
        <p:nvSpPr>
          <p:cNvPr id="3" name="TextBox 2"/>
          <p:cNvSpPr txBox="1"/>
          <p:nvPr/>
        </p:nvSpPr>
        <p:spPr>
          <a:xfrm>
            <a:off x="841248" y="1737360"/>
            <a:ext cx="5303520" cy="411480"/>
          </a:xfrm>
          <a:prstGeom prst="rect">
            <a:avLst/>
          </a:prstGeom>
          <a:noFill/>
        </p:spPr>
        <p:txBody>
          <a:bodyPr wrap="square" lIns="54864" rIns="54864" tIns="27432" bIns="27432" anchor="t">
            <a:noAutofit/>
          </a:bodyPr>
          <a:lstStyle/>
          <a:p>
            <a:pPr algn="l">
              <a:spcAft>
                <a:spcPts val="0"/>
              </a:spcAft>
            </a:pPr>
            <a:r>
              <a:rPr sz="2200" b="1" i="0">
                <a:solidFill>
                  <a:srgbClr val="2E75B6"/>
                </a:solidFill>
                <a:latin typeface="Trebuchet MS"/>
              </a:rPr>
              <a:t>Audio A: queries</a:t>
            </a:r>
          </a:p>
        </p:txBody>
      </p:sp>
      <p:sp>
        <p:nvSpPr>
          <p:cNvPr id="4" name="Rectangle 3"/>
          <p:cNvSpPr/>
          <p:nvPr/>
        </p:nvSpPr>
        <p:spPr>
          <a:xfrm>
            <a:off x="1024128" y="2240280"/>
            <a:ext cx="548640" cy="548640"/>
          </a:xfrm>
          <a:prstGeom prst="rect">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p>
        </p:txBody>
      </p:sp>
      <p:sp>
        <p:nvSpPr>
          <p:cNvPr id="5" name="Rectangle 4"/>
          <p:cNvSpPr/>
          <p:nvPr/>
        </p:nvSpPr>
        <p:spPr>
          <a:xfrm>
            <a:off x="1024128" y="4114800"/>
            <a:ext cx="548640" cy="548640"/>
          </a:xfrm>
          <a:prstGeom prst="rect">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p>
        </p:txBody>
      </p:sp>
      <p:sp>
        <p:nvSpPr>
          <p:cNvPr id="6" name="Rectangle 5"/>
          <p:cNvSpPr/>
          <p:nvPr/>
        </p:nvSpPr>
        <p:spPr>
          <a:xfrm>
            <a:off x="1737360" y="2240280"/>
            <a:ext cx="548640" cy="548640"/>
          </a:xfrm>
          <a:prstGeom prst="rect">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p>
        </p:txBody>
      </p:sp>
      <p:sp>
        <p:nvSpPr>
          <p:cNvPr id="7" name="Rectangle 6"/>
          <p:cNvSpPr/>
          <p:nvPr/>
        </p:nvSpPr>
        <p:spPr>
          <a:xfrm>
            <a:off x="1737360" y="4114800"/>
            <a:ext cx="548640" cy="548640"/>
          </a:xfrm>
          <a:prstGeom prst="rect">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p>
        </p:txBody>
      </p:sp>
      <p:sp>
        <p:nvSpPr>
          <p:cNvPr id="8" name="Rectangle 7"/>
          <p:cNvSpPr/>
          <p:nvPr/>
        </p:nvSpPr>
        <p:spPr>
          <a:xfrm>
            <a:off x="2450592" y="2240280"/>
            <a:ext cx="548640" cy="548640"/>
          </a:xfrm>
          <a:prstGeom prst="rect">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p>
        </p:txBody>
      </p:sp>
      <p:sp>
        <p:nvSpPr>
          <p:cNvPr id="9" name="Rectangle 8"/>
          <p:cNvSpPr/>
          <p:nvPr/>
        </p:nvSpPr>
        <p:spPr>
          <a:xfrm>
            <a:off x="2450592" y="4114800"/>
            <a:ext cx="548640" cy="548640"/>
          </a:xfrm>
          <a:prstGeom prst="rect">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p>
        </p:txBody>
      </p:sp>
      <p:sp>
        <p:nvSpPr>
          <p:cNvPr id="10" name="Rectangle 9"/>
          <p:cNvSpPr/>
          <p:nvPr/>
        </p:nvSpPr>
        <p:spPr>
          <a:xfrm>
            <a:off x="3163824" y="2240280"/>
            <a:ext cx="548640" cy="548640"/>
          </a:xfrm>
          <a:prstGeom prst="rect">
            <a:avLst/>
          </a:prstGeom>
          <a:solidFill>
            <a:srgbClr val="2E75B6"/>
          </a:solidFill>
          <a:ln w="15875">
            <a:solidFill>
              <a:srgbClr val="2E75B6"/>
            </a:solidFill>
          </a:ln>
        </p:spPr>
        <p:txBody>
          <a:bodyPr rtlCol="0" anchor="ctr" wrap="square" lIns="73152" rIns="73152" tIns="27432" bIns="27432">
            <a:noAutofit/>
          </a:bodyPr>
          <a:lstStyle/>
          <a:p>
            <a:pPr algn="ctr">
              <a:spcAft>
                <a:spcPts val="0"/>
              </a:spcAft>
            </a:pPr>
          </a:p>
        </p:txBody>
      </p:sp>
      <p:sp>
        <p:nvSpPr>
          <p:cNvPr id="11" name="Rectangle 10"/>
          <p:cNvSpPr/>
          <p:nvPr/>
        </p:nvSpPr>
        <p:spPr>
          <a:xfrm>
            <a:off x="3163824" y="4114800"/>
            <a:ext cx="548640" cy="548640"/>
          </a:xfrm>
          <a:prstGeom prst="rect">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p>
        </p:txBody>
      </p:sp>
      <p:sp>
        <p:nvSpPr>
          <p:cNvPr id="12" name="Rectangle 11"/>
          <p:cNvSpPr/>
          <p:nvPr/>
        </p:nvSpPr>
        <p:spPr>
          <a:xfrm>
            <a:off x="3877056" y="2240280"/>
            <a:ext cx="548640" cy="548640"/>
          </a:xfrm>
          <a:prstGeom prst="rect">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p>
        </p:txBody>
      </p:sp>
      <p:sp>
        <p:nvSpPr>
          <p:cNvPr id="13" name="Rectangle 12"/>
          <p:cNvSpPr/>
          <p:nvPr/>
        </p:nvSpPr>
        <p:spPr>
          <a:xfrm>
            <a:off x="3877056" y="4114800"/>
            <a:ext cx="548640" cy="548640"/>
          </a:xfrm>
          <a:prstGeom prst="rect">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p>
        </p:txBody>
      </p:sp>
      <p:sp>
        <p:nvSpPr>
          <p:cNvPr id="14" name="Rectangle 13"/>
          <p:cNvSpPr/>
          <p:nvPr/>
        </p:nvSpPr>
        <p:spPr>
          <a:xfrm>
            <a:off x="4590288" y="2240280"/>
            <a:ext cx="548640" cy="548640"/>
          </a:xfrm>
          <a:prstGeom prst="rect">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p>
        </p:txBody>
      </p:sp>
      <p:sp>
        <p:nvSpPr>
          <p:cNvPr id="15" name="Rectangle 14"/>
          <p:cNvSpPr/>
          <p:nvPr/>
        </p:nvSpPr>
        <p:spPr>
          <a:xfrm>
            <a:off x="4590288" y="4114800"/>
            <a:ext cx="548640" cy="548640"/>
          </a:xfrm>
          <a:prstGeom prst="rect">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p>
        </p:txBody>
      </p:sp>
      <p:sp>
        <p:nvSpPr>
          <p:cNvPr id="16" name="Rectangle 15"/>
          <p:cNvSpPr/>
          <p:nvPr/>
        </p:nvSpPr>
        <p:spPr>
          <a:xfrm>
            <a:off x="5303520" y="2240280"/>
            <a:ext cx="548640" cy="548640"/>
          </a:xfrm>
          <a:prstGeom prst="rect">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p>
        </p:txBody>
      </p:sp>
      <p:sp>
        <p:nvSpPr>
          <p:cNvPr id="17" name="Rectangle 16"/>
          <p:cNvSpPr/>
          <p:nvPr/>
        </p:nvSpPr>
        <p:spPr>
          <a:xfrm>
            <a:off x="5303520" y="4114800"/>
            <a:ext cx="548640" cy="548640"/>
          </a:xfrm>
          <a:prstGeom prst="rect">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p>
        </p:txBody>
      </p:sp>
      <p:cxnSp>
        <p:nvCxnSpPr>
          <p:cNvPr id="18" name="Connector 17"/>
          <p:cNvCxnSpPr/>
          <p:nvPr/>
        </p:nvCxnSpPr>
        <p:spPr>
          <a:xfrm flipH="1">
            <a:off x="1298448" y="2816352"/>
            <a:ext cx="2139696" cy="1271016"/>
          </a:xfrm>
          <a:prstGeom prst="line">
            <a:avLst/>
          </a:prstGeom>
          <a:ln w="9525">
            <a:solidFill>
              <a:srgbClr val="548235"/>
            </a:solidFill>
          </a:ln>
        </p:spPr>
      </p:cxnSp>
      <p:cxnSp>
        <p:nvCxnSpPr>
          <p:cNvPr id="19" name="Connector 18"/>
          <p:cNvCxnSpPr/>
          <p:nvPr/>
        </p:nvCxnSpPr>
        <p:spPr>
          <a:xfrm flipH="1">
            <a:off x="2011680" y="2816352"/>
            <a:ext cx="1426464" cy="1271016"/>
          </a:xfrm>
          <a:prstGeom prst="line">
            <a:avLst/>
          </a:prstGeom>
          <a:ln w="19050">
            <a:solidFill>
              <a:srgbClr val="548235"/>
            </a:solidFill>
          </a:ln>
        </p:spPr>
      </p:cxnSp>
      <p:cxnSp>
        <p:nvCxnSpPr>
          <p:cNvPr id="20" name="Connector 19"/>
          <p:cNvCxnSpPr/>
          <p:nvPr/>
        </p:nvCxnSpPr>
        <p:spPr>
          <a:xfrm flipH="1">
            <a:off x="2724912" y="2816352"/>
            <a:ext cx="713232" cy="1271016"/>
          </a:xfrm>
          <a:prstGeom prst="line">
            <a:avLst/>
          </a:prstGeom>
          <a:ln w="38100">
            <a:solidFill>
              <a:srgbClr val="548235"/>
            </a:solidFill>
          </a:ln>
        </p:spPr>
      </p:cxnSp>
      <p:cxnSp>
        <p:nvCxnSpPr>
          <p:cNvPr id="21" name="Connector 20"/>
          <p:cNvCxnSpPr/>
          <p:nvPr/>
        </p:nvCxnSpPr>
        <p:spPr>
          <a:xfrm>
            <a:off x="3438144" y="2816352"/>
            <a:ext cx="0" cy="1271016"/>
          </a:xfrm>
          <a:prstGeom prst="line">
            <a:avLst/>
          </a:prstGeom>
          <a:ln w="76200">
            <a:solidFill>
              <a:srgbClr val="548235"/>
            </a:solidFill>
          </a:ln>
        </p:spPr>
      </p:cxnSp>
      <p:cxnSp>
        <p:nvCxnSpPr>
          <p:cNvPr id="22" name="Connector 21"/>
          <p:cNvCxnSpPr/>
          <p:nvPr/>
        </p:nvCxnSpPr>
        <p:spPr>
          <a:xfrm>
            <a:off x="3438144" y="2816352"/>
            <a:ext cx="713232" cy="1271016"/>
          </a:xfrm>
          <a:prstGeom prst="line">
            <a:avLst/>
          </a:prstGeom>
          <a:ln w="38100">
            <a:solidFill>
              <a:srgbClr val="548235"/>
            </a:solidFill>
          </a:ln>
        </p:spPr>
      </p:cxnSp>
      <p:cxnSp>
        <p:nvCxnSpPr>
          <p:cNvPr id="23" name="Connector 22"/>
          <p:cNvCxnSpPr/>
          <p:nvPr/>
        </p:nvCxnSpPr>
        <p:spPr>
          <a:xfrm>
            <a:off x="3438144" y="2816352"/>
            <a:ext cx="1426464" cy="1271016"/>
          </a:xfrm>
          <a:prstGeom prst="line">
            <a:avLst/>
          </a:prstGeom>
          <a:ln w="19050">
            <a:solidFill>
              <a:srgbClr val="548235"/>
            </a:solidFill>
          </a:ln>
        </p:spPr>
      </p:cxnSp>
      <p:cxnSp>
        <p:nvCxnSpPr>
          <p:cNvPr id="24" name="Connector 23"/>
          <p:cNvCxnSpPr/>
          <p:nvPr/>
        </p:nvCxnSpPr>
        <p:spPr>
          <a:xfrm>
            <a:off x="3438144" y="2816352"/>
            <a:ext cx="2139696" cy="1271016"/>
          </a:xfrm>
          <a:prstGeom prst="line">
            <a:avLst/>
          </a:prstGeom>
          <a:ln w="9525">
            <a:solidFill>
              <a:srgbClr val="548235"/>
            </a:solidFill>
          </a:ln>
        </p:spPr>
      </p:cxnSp>
      <p:sp>
        <p:nvSpPr>
          <p:cNvPr id="25" name="TextBox 24"/>
          <p:cNvSpPr txBox="1"/>
          <p:nvPr/>
        </p:nvSpPr>
        <p:spPr>
          <a:xfrm>
            <a:off x="841248" y="4709160"/>
            <a:ext cx="5303520" cy="411480"/>
          </a:xfrm>
          <a:prstGeom prst="rect">
            <a:avLst/>
          </a:prstGeom>
          <a:noFill/>
        </p:spPr>
        <p:txBody>
          <a:bodyPr wrap="square" lIns="54864" rIns="54864" tIns="27432" bIns="27432" anchor="t">
            <a:noAutofit/>
          </a:bodyPr>
          <a:lstStyle/>
          <a:p>
            <a:pPr algn="l">
              <a:spcAft>
                <a:spcPts val="0"/>
              </a:spcAft>
            </a:pPr>
            <a:r>
              <a:rPr sz="2200" b="1" i="0">
                <a:solidFill>
                  <a:srgbClr val="C55A11"/>
                </a:solidFill>
                <a:latin typeface="Trebuchet MS"/>
              </a:rPr>
              <a:t>Video V: keys and values</a:t>
            </a:r>
          </a:p>
        </p:txBody>
      </p:sp>
      <p:sp>
        <p:nvSpPr>
          <p:cNvPr id="26" name="TextBox 25"/>
          <p:cNvSpPr txBox="1"/>
          <p:nvPr/>
        </p:nvSpPr>
        <p:spPr>
          <a:xfrm>
            <a:off x="841248" y="5212080"/>
            <a:ext cx="5303520" cy="731520"/>
          </a:xfrm>
          <a:prstGeom prst="rect">
            <a:avLst/>
          </a:prstGeom>
          <a:noFill/>
        </p:spPr>
        <p:txBody>
          <a:bodyPr wrap="square" lIns="54864" rIns="54864" tIns="27432" bIns="27432" anchor="t">
            <a:noAutofit/>
          </a:bodyPr>
          <a:lstStyle/>
          <a:p>
            <a:pPr algn="l">
              <a:spcAft>
                <a:spcPts val="0"/>
              </a:spcAft>
            </a:pPr>
            <a:r>
              <a:rPr sz="2400" b="0" i="0">
                <a:solidFill>
                  <a:srgbClr val="1A1A1A"/>
                </a:solidFill>
                <a:latin typeface="Trebuchet MS"/>
              </a:rPr>
              <a:t>α = softmax(QKᵀ / √d</a:t>
            </a:r>
            <a:r>
              <a:rPr sz="2400" b="0" i="0" baseline="-25000">
                <a:solidFill>
                  <a:srgbClr val="1A1A1A"/>
                </a:solidFill>
                <a:latin typeface="Trebuchet MS"/>
              </a:rPr>
              <a:t>k</a:t>
            </a:r>
            <a:r>
              <a:rPr sz="2400" b="0" i="0">
                <a:solidFill>
                  <a:srgbClr val="1A1A1A"/>
                </a:solidFill>
                <a:latin typeface="Trebuchet MS"/>
              </a:rPr>
              <a:t> + M)</a:t>
            </a:r>
          </a:p>
        </p:txBody>
      </p:sp>
      <p:sp>
        <p:nvSpPr>
          <p:cNvPr id="27" name="TextBox 26"/>
          <p:cNvSpPr txBox="1"/>
          <p:nvPr/>
        </p:nvSpPr>
        <p:spPr>
          <a:xfrm>
            <a:off x="6400800" y="1783080"/>
            <a:ext cx="4956048" cy="4206240"/>
          </a:xfrm>
          <a:prstGeom prst="rect">
            <a:avLst/>
          </a:prstGeom>
          <a:noFill/>
        </p:spPr>
        <p:txBody>
          <a:bodyPr wrap="square" lIns="54864" rIns="54864" tIns="27432" bIns="27432" anchor="t">
            <a:noAutofit/>
          </a:bodyPr>
          <a:lstStyle/>
          <a:p>
            <a:pPr algn="l" marL="292608" indent="-292608">
              <a:spcAft>
                <a:spcPts val="800"/>
              </a:spcAft>
              <a:buClr>
                <a:srgbClr val="D7014D"/>
              </a:buClr>
              <a:buFont typeface="Arial"/>
              <a:buChar char="•"/>
            </a:pPr>
            <a:r>
              <a:rPr sz="2200" b="0" i="0">
                <a:solidFill>
                  <a:srgbClr val="1A1A1A"/>
                </a:solidFill>
                <a:latin typeface="Trebuchet MS"/>
              </a:rPr>
              <a:t>Audio is subsampled ×4, so both streams have length T</a:t>
            </a:r>
          </a:p>
          <a:p>
            <a:pPr algn="l" marL="292608" indent="-292608">
              <a:spcAft>
                <a:spcPts val="800"/>
              </a:spcAft>
              <a:buClr>
                <a:srgbClr val="D7014D"/>
              </a:buClr>
              <a:buFont typeface="Arial"/>
              <a:buChar char="•"/>
            </a:pPr>
            <a:r>
              <a:rPr sz="2200" b="0" i="0">
                <a:solidFill>
                  <a:srgbClr val="1A1A1A"/>
                </a:solidFill>
                <a:latin typeface="Trebuchet MS"/>
              </a:rPr>
              <a:t>Each stream projected to d = 256 with LayerNorm</a:t>
            </a:r>
          </a:p>
          <a:p>
            <a:pPr algn="l" marL="292608" indent="-292608">
              <a:spcAft>
                <a:spcPts val="800"/>
              </a:spcAft>
              <a:buClr>
                <a:srgbClr val="D7014D"/>
              </a:buClr>
              <a:buFont typeface="Arial"/>
              <a:buChar char="•"/>
            </a:pPr>
            <a:r>
              <a:rPr sz="2200" b="0" i="0">
                <a:solidFill>
                  <a:srgbClr val="1A1A1A"/>
                </a:solidFill>
                <a:latin typeface="Trebuchet MS"/>
              </a:rPr>
              <a:t>4 heads of 64; padded keys masked</a:t>
            </a:r>
          </a:p>
          <a:p>
            <a:pPr algn="l" marL="292608" indent="-292608">
              <a:spcAft>
                <a:spcPts val="800"/>
              </a:spcAft>
              <a:buClr>
                <a:srgbClr val="D7014D"/>
              </a:buClr>
              <a:buFont typeface="Arial"/>
              <a:buChar char="•"/>
            </a:pPr>
            <a:r>
              <a:rPr sz="2200" b="0" i="0">
                <a:solidFill>
                  <a:srgbClr val="1A1A1A"/>
                </a:solidFill>
                <a:latin typeface="Trebuchet MS"/>
              </a:rPr>
              <a:t>Audio borrows lip evidence and video borrows sound evidence, which separates homophenes [2]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A gate weights the streams per frame</a:t>
            </a:r>
          </a:p>
        </p:txBody>
      </p:sp>
      <p:sp>
        <p:nvSpPr>
          <p:cNvPr id="3" name="Rounded Rectangle 2"/>
          <p:cNvSpPr/>
          <p:nvPr/>
        </p:nvSpPr>
        <p:spPr>
          <a:xfrm>
            <a:off x="841248" y="1783080"/>
            <a:ext cx="10515600" cy="1234440"/>
          </a:xfrm>
          <a:prstGeom prst="roundRect">
            <a:avLst>
              <a:gd name="adj" fmla="val 7407"/>
            </a:avLst>
          </a:prstGeom>
          <a:solidFill>
            <a:srgbClr val="FFF4CC"/>
          </a:solidFill>
          <a:ln>
            <a:noFill/>
          </a:ln>
        </p:spPr>
        <p:txBody>
          <a:bodyPr rtlCol="0" anchor="ctr" wrap="square" lIns="73152" rIns="73152" tIns="27432" bIns="27432">
            <a:noAutofit/>
          </a:bodyPr>
          <a:lstStyle/>
          <a:p>
            <a:pPr algn="ctr">
              <a:spcAft>
                <a:spcPts val="400"/>
              </a:spcAft>
            </a:pPr>
            <a:r>
              <a:rPr sz="2400" b="0" i="0">
                <a:solidFill>
                  <a:srgbClr val="1A1A1A"/>
                </a:solidFill>
                <a:latin typeface="Trebuchet MS"/>
              </a:rPr>
              <a:t>g</a:t>
            </a:r>
            <a:r>
              <a:rPr sz="2400" b="0" i="0" baseline="-25000">
                <a:solidFill>
                  <a:srgbClr val="1A1A1A"/>
                </a:solidFill>
                <a:latin typeface="Trebuchet MS"/>
              </a:rPr>
              <a:t>t</a:t>
            </a:r>
            <a:r>
              <a:rPr sz="2400" b="0" i="0">
                <a:solidFill>
                  <a:srgbClr val="1A1A1A"/>
                </a:solidFill>
                <a:latin typeface="Trebuchet MS"/>
              </a:rPr>
              <a:t> = σ( w</a:t>
            </a:r>
            <a:r>
              <a:rPr sz="2400" b="0" i="0" baseline="-25000">
                <a:solidFill>
                  <a:srgbClr val="1A1A1A"/>
                </a:solidFill>
                <a:latin typeface="Trebuchet MS"/>
              </a:rPr>
              <a:t>g</a:t>
            </a:r>
            <a:r>
              <a:rPr sz="2400" b="0" i="0">
                <a:solidFill>
                  <a:srgbClr val="1A1A1A"/>
                </a:solidFill>
                <a:latin typeface="Trebuchet MS"/>
              </a:rPr>
              <a:t>ᵀ [ ã</a:t>
            </a:r>
            <a:r>
              <a:rPr sz="2400" b="0" i="0" baseline="-25000">
                <a:solidFill>
                  <a:srgbClr val="1A1A1A"/>
                </a:solidFill>
                <a:latin typeface="Trebuchet MS"/>
              </a:rPr>
              <a:t>t</a:t>
            </a:r>
            <a:r>
              <a:rPr sz="2400" b="0" i="0">
                <a:solidFill>
                  <a:srgbClr val="1A1A1A"/>
                </a:solidFill>
                <a:latin typeface="Trebuchet MS"/>
              </a:rPr>
              <a:t> ; ṽ</a:t>
            </a:r>
            <a:r>
              <a:rPr sz="2400" b="0" i="0" baseline="-25000">
                <a:solidFill>
                  <a:srgbClr val="1A1A1A"/>
                </a:solidFill>
                <a:latin typeface="Trebuchet MS"/>
              </a:rPr>
              <a:t>t</a:t>
            </a:r>
            <a:r>
              <a:rPr sz="2400" b="0" i="0">
                <a:solidFill>
                  <a:srgbClr val="1A1A1A"/>
                </a:solidFill>
                <a:latin typeface="Trebuchet MS"/>
              </a:rPr>
              <a:t> ] + b</a:t>
            </a:r>
            <a:r>
              <a:rPr sz="2400" b="0" i="0" baseline="-25000">
                <a:solidFill>
                  <a:srgbClr val="1A1A1A"/>
                </a:solidFill>
                <a:latin typeface="Trebuchet MS"/>
              </a:rPr>
              <a:t>g</a:t>
            </a:r>
            <a:r>
              <a:rPr sz="2400" b="0" i="0">
                <a:solidFill>
                  <a:srgbClr val="1A1A1A"/>
                </a:solidFill>
                <a:latin typeface="Trebuchet MS"/>
              </a:rPr>
              <a:t> )</a:t>
            </a:r>
          </a:p>
          <a:p>
            <a:pPr algn="ctr">
              <a:spcAft>
                <a:spcPts val="400"/>
              </a:spcAft>
            </a:pPr>
            <a:r>
              <a:rPr sz="2400" b="0" i="0">
                <a:solidFill>
                  <a:srgbClr val="1A1A1A"/>
                </a:solidFill>
                <a:latin typeface="Trebuchet MS"/>
              </a:rPr>
              <a:t>f</a:t>
            </a:r>
            <a:r>
              <a:rPr sz="2400" b="0" i="0" baseline="-25000">
                <a:solidFill>
                  <a:srgbClr val="1A1A1A"/>
                </a:solidFill>
                <a:latin typeface="Trebuchet MS"/>
              </a:rPr>
              <a:t>t</a:t>
            </a:r>
            <a:r>
              <a:rPr sz="2400" b="0" i="0">
                <a:solidFill>
                  <a:srgbClr val="1A1A1A"/>
                </a:solidFill>
                <a:latin typeface="Trebuchet MS"/>
              </a:rPr>
              <a:t> = g</a:t>
            </a:r>
            <a:r>
              <a:rPr sz="2400" b="0" i="0" baseline="-25000">
                <a:solidFill>
                  <a:srgbClr val="1A1A1A"/>
                </a:solidFill>
                <a:latin typeface="Trebuchet MS"/>
              </a:rPr>
              <a:t>t</a:t>
            </a:r>
            <a:r>
              <a:rPr sz="2400" b="0" i="0">
                <a:solidFill>
                  <a:srgbClr val="1A1A1A"/>
                </a:solidFill>
                <a:latin typeface="Trebuchet MS"/>
              </a:rPr>
              <a:t> · ã</a:t>
            </a:r>
            <a:r>
              <a:rPr sz="2400" b="0" i="0" baseline="-25000">
                <a:solidFill>
                  <a:srgbClr val="1A1A1A"/>
                </a:solidFill>
                <a:latin typeface="Trebuchet MS"/>
              </a:rPr>
              <a:t>t</a:t>
            </a:r>
            <a:r>
              <a:rPr sz="2400" b="0" i="0">
                <a:solidFill>
                  <a:srgbClr val="1A1A1A"/>
                </a:solidFill>
                <a:latin typeface="Trebuchet MS"/>
              </a:rPr>
              <a:t> + (1 − g</a:t>
            </a:r>
            <a:r>
              <a:rPr sz="2400" b="0" i="0" baseline="-25000">
                <a:solidFill>
                  <a:srgbClr val="1A1A1A"/>
                </a:solidFill>
                <a:latin typeface="Trebuchet MS"/>
              </a:rPr>
              <a:t>t</a:t>
            </a:r>
            <a:r>
              <a:rPr sz="2400" b="0" i="0">
                <a:solidFill>
                  <a:srgbClr val="1A1A1A"/>
                </a:solidFill>
                <a:latin typeface="Trebuchet MS"/>
              </a:rPr>
              <a:t>) · ṽ</a:t>
            </a:r>
            <a:r>
              <a:rPr sz="2400" b="0" i="0" baseline="-25000">
                <a:solidFill>
                  <a:srgbClr val="1A1A1A"/>
                </a:solidFill>
                <a:latin typeface="Trebuchet MS"/>
              </a:rPr>
              <a:t>t</a:t>
            </a:r>
          </a:p>
        </p:txBody>
      </p:sp>
      <p:sp>
        <p:nvSpPr>
          <p:cNvPr id="4" name="Rounded Rectangle 3"/>
          <p:cNvSpPr/>
          <p:nvPr/>
        </p:nvSpPr>
        <p:spPr>
          <a:xfrm>
            <a:off x="841248" y="3337560"/>
            <a:ext cx="2468880" cy="777240"/>
          </a:xfrm>
          <a:prstGeom prst="roundRect">
            <a:avLst>
              <a:gd name="adj" fmla="val 11764"/>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ã</a:t>
            </a:r>
            <a:r>
              <a:rPr sz="2200" b="0" i="0" baseline="-25000">
                <a:solidFill>
                  <a:srgbClr val="1A1A1A"/>
                </a:solidFill>
                <a:latin typeface="Trebuchet MS"/>
              </a:rPr>
              <a:t>t</a:t>
            </a:r>
            <a:r>
              <a:rPr sz="2200" b="0" i="0">
                <a:solidFill>
                  <a:srgbClr val="1A1A1A"/>
                </a:solidFill>
                <a:latin typeface="Trebuchet MS"/>
              </a:rPr>
              <a:t>: audio side</a:t>
            </a:r>
          </a:p>
        </p:txBody>
      </p:sp>
      <p:sp>
        <p:nvSpPr>
          <p:cNvPr id="5" name="Rounded Rectangle 4"/>
          <p:cNvSpPr/>
          <p:nvPr/>
        </p:nvSpPr>
        <p:spPr>
          <a:xfrm>
            <a:off x="841248" y="4800600"/>
            <a:ext cx="2468880" cy="777240"/>
          </a:xfrm>
          <a:prstGeom prst="roundRect">
            <a:avLst>
              <a:gd name="adj" fmla="val 11764"/>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ṽ</a:t>
            </a:r>
            <a:r>
              <a:rPr sz="2200" b="0" i="0" baseline="-25000">
                <a:solidFill>
                  <a:srgbClr val="1A1A1A"/>
                </a:solidFill>
                <a:latin typeface="Trebuchet MS"/>
              </a:rPr>
              <a:t>t</a:t>
            </a:r>
            <a:r>
              <a:rPr sz="2200" b="0" i="0">
                <a:solidFill>
                  <a:srgbClr val="1A1A1A"/>
                </a:solidFill>
                <a:latin typeface="Trebuchet MS"/>
              </a:rPr>
              <a:t>: video side</a:t>
            </a:r>
          </a:p>
        </p:txBody>
      </p:sp>
      <p:sp>
        <p:nvSpPr>
          <p:cNvPr id="6" name="Oval 5"/>
          <p:cNvSpPr/>
          <p:nvPr/>
        </p:nvSpPr>
        <p:spPr>
          <a:xfrm>
            <a:off x="4160520" y="3931920"/>
            <a:ext cx="1371600" cy="1051560"/>
          </a:xfrm>
          <a:prstGeom prst="ellipse">
            <a:avLst/>
          </a:prstGeom>
          <a:solidFill>
            <a:srgbClr val="E2EFDA"/>
          </a:solidFill>
          <a:ln w="15875">
            <a:solidFill>
              <a:srgbClr val="548235"/>
            </a:solidFill>
          </a:ln>
        </p:spPr>
        <p:txBody>
          <a:bodyPr rtlCol="0" anchor="ctr" wrap="square" lIns="73152" rIns="73152" tIns="27432" bIns="27432">
            <a:noAutofit/>
          </a:bodyPr>
          <a:lstStyle/>
          <a:p>
            <a:pPr algn="ctr">
              <a:spcAft>
                <a:spcPts val="0"/>
              </a:spcAft>
            </a:pPr>
            <a:r>
              <a:rPr sz="2600" b="1" i="0">
                <a:solidFill>
                  <a:srgbClr val="1A1A1A"/>
                </a:solidFill>
                <a:latin typeface="Trebuchet MS"/>
              </a:rPr>
              <a:t>g</a:t>
            </a:r>
            <a:r>
              <a:rPr sz="2600" b="1" i="0" baseline="-25000">
                <a:solidFill>
                  <a:srgbClr val="1A1A1A"/>
                </a:solidFill>
                <a:latin typeface="Trebuchet MS"/>
              </a:rPr>
              <a:t>t</a:t>
            </a:r>
          </a:p>
        </p:txBody>
      </p:sp>
      <p:sp>
        <p:nvSpPr>
          <p:cNvPr id="7" name="Rounded Rectangle 6"/>
          <p:cNvSpPr/>
          <p:nvPr/>
        </p:nvSpPr>
        <p:spPr>
          <a:xfrm>
            <a:off x="6309360" y="4069080"/>
            <a:ext cx="1463040" cy="777240"/>
          </a:xfrm>
          <a:prstGeom prst="roundRect">
            <a:avLst>
              <a:gd name="adj" fmla="val 11764"/>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1" i="0">
                <a:solidFill>
                  <a:srgbClr val="1A1A1A"/>
                </a:solidFill>
                <a:latin typeface="Trebuchet MS"/>
              </a:rPr>
              <a:t>f</a:t>
            </a:r>
            <a:r>
              <a:rPr sz="2200" b="1" i="0" baseline="-25000">
                <a:solidFill>
                  <a:srgbClr val="1A1A1A"/>
                </a:solidFill>
                <a:latin typeface="Trebuchet MS"/>
              </a:rPr>
              <a:t>t</a:t>
            </a:r>
          </a:p>
        </p:txBody>
      </p:sp>
      <p:cxnSp>
        <p:nvCxnSpPr>
          <p:cNvPr id="8" name="Connector 7"/>
          <p:cNvCxnSpPr/>
          <p:nvPr/>
        </p:nvCxnSpPr>
        <p:spPr>
          <a:xfrm>
            <a:off x="3337560" y="3721608"/>
            <a:ext cx="868680" cy="530352"/>
          </a:xfrm>
          <a:prstGeom prst="line">
            <a:avLst/>
          </a:prstGeom>
          <a:ln w="25400">
            <a:solidFill>
              <a:srgbClr val="595959"/>
            </a:solidFill>
            <a:tailEnd type="triangle" w="med" len="med"/>
          </a:ln>
        </p:spPr>
      </p:cxnSp>
      <p:cxnSp>
        <p:nvCxnSpPr>
          <p:cNvPr id="9" name="Connector 8"/>
          <p:cNvCxnSpPr/>
          <p:nvPr/>
        </p:nvCxnSpPr>
        <p:spPr>
          <a:xfrm flipV="1">
            <a:off x="3337560" y="4663440"/>
            <a:ext cx="868680" cy="521208"/>
          </a:xfrm>
          <a:prstGeom prst="line">
            <a:avLst/>
          </a:prstGeom>
          <a:ln w="25400">
            <a:solidFill>
              <a:srgbClr val="595959"/>
            </a:solidFill>
            <a:tailEnd type="triangle" w="med" len="med"/>
          </a:ln>
        </p:spPr>
      </p:cxnSp>
      <p:cxnSp>
        <p:nvCxnSpPr>
          <p:cNvPr id="10" name="Connector 9"/>
          <p:cNvCxnSpPr/>
          <p:nvPr/>
        </p:nvCxnSpPr>
        <p:spPr>
          <a:xfrm>
            <a:off x="5559552" y="4457700"/>
            <a:ext cx="722376" cy="0"/>
          </a:xfrm>
          <a:prstGeom prst="line">
            <a:avLst/>
          </a:prstGeom>
          <a:ln w="25400">
            <a:solidFill>
              <a:srgbClr val="595959"/>
            </a:solidFill>
            <a:tailEnd type="triangle" w="med" len="med"/>
          </a:ln>
        </p:spPr>
      </p:cxnSp>
      <p:sp>
        <p:nvSpPr>
          <p:cNvPr id="11" name="TextBox 10"/>
          <p:cNvSpPr txBox="1"/>
          <p:nvPr/>
        </p:nvSpPr>
        <p:spPr>
          <a:xfrm>
            <a:off x="8092440" y="3291840"/>
            <a:ext cx="3264408" cy="2651760"/>
          </a:xfrm>
          <a:prstGeom prst="rect">
            <a:avLst/>
          </a:prstGeom>
          <a:noFill/>
        </p:spPr>
        <p:txBody>
          <a:bodyPr wrap="square" lIns="54864" rIns="54864" tIns="27432" bIns="27432" anchor="t">
            <a:noAutofit/>
          </a:bodyPr>
          <a:lstStyle/>
          <a:p>
            <a:pPr algn="l" marL="292608" indent="-292608">
              <a:spcAft>
                <a:spcPts val="800"/>
              </a:spcAft>
              <a:buClr>
                <a:srgbClr val="D7014D"/>
              </a:buClr>
              <a:buFont typeface="Arial"/>
              <a:buChar char="•"/>
            </a:pPr>
            <a:r>
              <a:rPr sz="2200" b="0" i="0">
                <a:solidFill>
                  <a:srgbClr val="1A1A1A"/>
                </a:solidFill>
                <a:latin typeface="Trebuchet MS"/>
              </a:rPr>
              <a:t>g</a:t>
            </a:r>
            <a:r>
              <a:rPr sz="2200" b="0" i="0" baseline="-25000">
                <a:solidFill>
                  <a:srgbClr val="1A1A1A"/>
                </a:solidFill>
                <a:latin typeface="Trebuchet MS"/>
              </a:rPr>
              <a:t>t</a:t>
            </a:r>
            <a:r>
              <a:rPr sz="2200" b="0" i="0">
                <a:solidFill>
                  <a:srgbClr val="1A1A1A"/>
                </a:solidFill>
                <a:latin typeface="Trebuchet MS"/>
              </a:rPr>
              <a:t> near 1: lean on audio</a:t>
            </a:r>
          </a:p>
          <a:p>
            <a:pPr algn="l" marL="292608" indent="-292608">
              <a:spcAft>
                <a:spcPts val="800"/>
              </a:spcAft>
              <a:buClr>
                <a:srgbClr val="D7014D"/>
              </a:buClr>
              <a:buFont typeface="Arial"/>
              <a:buChar char="•"/>
            </a:pPr>
            <a:r>
              <a:rPr sz="2200" b="0" i="0">
                <a:solidFill>
                  <a:srgbClr val="1A1A1A"/>
                </a:solidFill>
                <a:latin typeface="Trebuchet MS"/>
              </a:rPr>
              <a:t>g</a:t>
            </a:r>
            <a:r>
              <a:rPr sz="2200" b="0" i="0" baseline="-25000">
                <a:solidFill>
                  <a:srgbClr val="1A1A1A"/>
                </a:solidFill>
                <a:latin typeface="Trebuchet MS"/>
              </a:rPr>
              <a:t>t</a:t>
            </a:r>
            <a:r>
              <a:rPr sz="2200" b="0" i="0">
                <a:solidFill>
                  <a:srgbClr val="1A1A1A"/>
                </a:solidFill>
                <a:latin typeface="Trebuchet MS"/>
              </a:rPr>
              <a:t> near 0: lean on the lips</a:t>
            </a:r>
          </a:p>
          <a:p>
            <a:pPr algn="l" marL="292608" indent="-292608">
              <a:spcAft>
                <a:spcPts val="800"/>
              </a:spcAft>
              <a:buClr>
                <a:srgbClr val="D7014D"/>
              </a:buClr>
              <a:buFont typeface="Arial"/>
              <a:buChar char="•"/>
            </a:pPr>
            <a:r>
              <a:rPr sz="2200" b="0" i="0">
                <a:solidFill>
                  <a:srgbClr val="1A1A1A"/>
                </a:solidFill>
                <a:latin typeface="Trebuchet MS"/>
              </a:rPr>
              <a:t>Then BiLSTM and CTC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Learning to trust lips in noise</a:t>
            </a:r>
          </a:p>
        </p:txBody>
      </p:sp>
      <p:sp>
        <p:nvSpPr>
          <p:cNvPr id="3" name="Rounded Rectangle 2"/>
          <p:cNvSpPr/>
          <p:nvPr/>
        </p:nvSpPr>
        <p:spPr>
          <a:xfrm>
            <a:off x="841248" y="1783080"/>
            <a:ext cx="3291840" cy="2103120"/>
          </a:xfrm>
          <a:prstGeom prst="roundRect">
            <a:avLst>
              <a:gd name="adj" fmla="val 4347"/>
            </a:avLst>
          </a:prstGeom>
          <a:solidFill>
            <a:srgbClr val="F2F2F2"/>
          </a:solidFill>
          <a:ln>
            <a:noFill/>
          </a:ln>
        </p:spPr>
        <p:txBody>
          <a:bodyPr rtlCol="0" anchor="t" wrap="square" lIns="164592" rIns="164592" tIns="27432" bIns="27432">
            <a:noAutofit/>
          </a:bodyPr>
          <a:lstStyle/>
          <a:p>
            <a:pPr algn="l">
              <a:spcAft>
                <a:spcPts val="600"/>
              </a:spcAft>
            </a:pPr>
            <a:r>
              <a:rPr sz="2200" b="1" i="0">
                <a:solidFill>
                  <a:srgbClr val="1A1A1A"/>
                </a:solidFill>
                <a:latin typeface="Trebuchet MS"/>
              </a:rPr>
              <a:t>(a) Explicit SNR input</a:t>
            </a:r>
          </a:p>
          <a:p>
            <a:pPr algn="l">
              <a:spcAft>
                <a:spcPts val="0"/>
              </a:spcAft>
            </a:pPr>
            <a:r>
              <a:rPr sz="2200" b="0" i="0">
                <a:solidFill>
                  <a:srgbClr val="1A1A1A"/>
                </a:solidFill>
                <a:latin typeface="Trebuchet MS"/>
              </a:rPr>
              <a:t>Not usable live: the true SNR is unknown</a:t>
            </a:r>
          </a:p>
        </p:txBody>
      </p:sp>
      <p:sp>
        <p:nvSpPr>
          <p:cNvPr id="4" name="Rounded Rectangle 3"/>
          <p:cNvSpPr/>
          <p:nvPr/>
        </p:nvSpPr>
        <p:spPr>
          <a:xfrm>
            <a:off x="4453128" y="1783080"/>
            <a:ext cx="3291840" cy="2103120"/>
          </a:xfrm>
          <a:prstGeom prst="roundRect">
            <a:avLst>
              <a:gd name="adj" fmla="val 4347"/>
            </a:avLst>
          </a:prstGeom>
          <a:solidFill>
            <a:srgbClr val="F2F2F2"/>
          </a:solidFill>
          <a:ln>
            <a:noFill/>
          </a:ln>
        </p:spPr>
        <p:txBody>
          <a:bodyPr rtlCol="0" anchor="t" wrap="square" lIns="164592" rIns="164592" tIns="27432" bIns="27432">
            <a:noAutofit/>
          </a:bodyPr>
          <a:lstStyle/>
          <a:p>
            <a:pPr algn="l">
              <a:spcAft>
                <a:spcPts val="600"/>
              </a:spcAft>
            </a:pPr>
            <a:r>
              <a:rPr sz="2200" b="1" i="0">
                <a:solidFill>
                  <a:srgbClr val="1A1A1A"/>
                </a:solidFill>
                <a:latin typeface="Trebuchet MS"/>
              </a:rPr>
              <a:t>(b) Learned SNR head</a:t>
            </a:r>
          </a:p>
          <a:p>
            <a:pPr algn="l">
              <a:spcAft>
                <a:spcPts val="0"/>
              </a:spcAft>
            </a:pPr>
            <a:r>
              <a:rPr sz="2200" b="0" i="0">
                <a:solidFill>
                  <a:srgbClr val="1A1A1A"/>
                </a:solidFill>
                <a:latin typeface="Trebuchet MS"/>
              </a:rPr>
              <a:t>Auxiliary regressor, loss weight 0.1 (experiment X6)</a:t>
            </a:r>
          </a:p>
        </p:txBody>
      </p:sp>
      <p:sp>
        <p:nvSpPr>
          <p:cNvPr id="5" name="Rounded Rectangle 4"/>
          <p:cNvSpPr/>
          <p:nvPr/>
        </p:nvSpPr>
        <p:spPr>
          <a:xfrm>
            <a:off x="8065008" y="1783080"/>
            <a:ext cx="3291840" cy="2103120"/>
          </a:xfrm>
          <a:prstGeom prst="roundRect">
            <a:avLst>
              <a:gd name="adj" fmla="val 4347"/>
            </a:avLst>
          </a:prstGeom>
          <a:solidFill>
            <a:srgbClr val="1F497D"/>
          </a:solidFill>
          <a:ln>
            <a:noFill/>
          </a:ln>
        </p:spPr>
        <p:txBody>
          <a:bodyPr rtlCol="0" anchor="t" wrap="square" lIns="164592" rIns="164592" tIns="27432" bIns="27432">
            <a:noAutofit/>
          </a:bodyPr>
          <a:lstStyle/>
          <a:p>
            <a:pPr algn="l">
              <a:spcAft>
                <a:spcPts val="600"/>
              </a:spcAft>
            </a:pPr>
            <a:r>
              <a:rPr sz="2200" b="1" i="0">
                <a:solidFill>
                  <a:srgbClr val="FFFFFF"/>
                </a:solidFill>
                <a:latin typeface="Trebuchet MS"/>
              </a:rPr>
              <a:t>(c) Implicit learning</a:t>
            </a:r>
          </a:p>
          <a:p>
            <a:pPr algn="l">
              <a:spcAft>
                <a:spcPts val="0"/>
              </a:spcAft>
            </a:pPr>
            <a:r>
              <a:rPr sz="2200" b="0" i="0">
                <a:solidFill>
                  <a:srgbClr val="FFFFFF"/>
                </a:solidFill>
                <a:latin typeface="Trebuchet MS"/>
              </a:rPr>
              <a:t>Train on all five SNRs plus modality dropout. Chosen</a:t>
            </a:r>
          </a:p>
        </p:txBody>
      </p:sp>
      <p:sp>
        <p:nvSpPr>
          <p:cNvPr id="6" name="TextBox 5"/>
          <p:cNvSpPr txBox="1"/>
          <p:nvPr/>
        </p:nvSpPr>
        <p:spPr>
          <a:xfrm>
            <a:off x="841248" y="4114800"/>
            <a:ext cx="10515600" cy="41148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How we will check it works</a:t>
            </a:r>
          </a:p>
        </p:txBody>
      </p:sp>
      <p:sp>
        <p:nvSpPr>
          <p:cNvPr id="7" name="TextBox 6"/>
          <p:cNvSpPr txBox="1"/>
          <p:nvPr/>
        </p:nvSpPr>
        <p:spPr>
          <a:xfrm>
            <a:off x="841248" y="4572000"/>
            <a:ext cx="5120640" cy="1371600"/>
          </a:xfrm>
          <a:prstGeom prst="rect">
            <a:avLst/>
          </a:prstGeom>
          <a:noFill/>
        </p:spPr>
        <p:txBody>
          <a:bodyPr wrap="square" lIns="54864" rIns="54864" tIns="27432" bIns="27432" anchor="t">
            <a:noAutofit/>
          </a:bodyPr>
          <a:lstStyle/>
          <a:p>
            <a:pPr algn="l" marL="292608" indent="-292608">
              <a:spcAft>
                <a:spcPts val="600"/>
              </a:spcAft>
              <a:buClr>
                <a:srgbClr val="D7014D"/>
              </a:buClr>
              <a:buFont typeface="Arial"/>
              <a:buChar char="•"/>
            </a:pPr>
            <a:r>
              <a:rPr sz="2200" b="0" i="0">
                <a:solidFill>
                  <a:srgbClr val="1A1A1A"/>
                </a:solidFill>
                <a:latin typeface="Trebuchet MS"/>
              </a:rPr>
              <a:t>Record mean gate ḡ per utterance</a:t>
            </a:r>
          </a:p>
          <a:p>
            <a:pPr algn="l" marL="292608" indent="-292608">
              <a:spcAft>
                <a:spcPts val="600"/>
              </a:spcAft>
              <a:buClr>
                <a:srgbClr val="D7014D"/>
              </a:buClr>
              <a:buFont typeface="Arial"/>
              <a:buChar char="•"/>
            </a:pPr>
            <a:r>
              <a:rPr sz="2200" b="0" i="0">
                <a:solidFill>
                  <a:srgbClr val="1A1A1A"/>
                </a:solidFill>
                <a:latin typeface="Trebuchet MS"/>
              </a:rPr>
              <a:t>Expect ḡ to fall as SNR falls</a:t>
            </a:r>
          </a:p>
        </p:txBody>
      </p:sp>
      <p:sp>
        <p:nvSpPr>
          <p:cNvPr id="8" name="TextBox 7"/>
          <p:cNvSpPr txBox="1"/>
          <p:nvPr/>
        </p:nvSpPr>
        <p:spPr>
          <a:xfrm>
            <a:off x="6281928" y="4572000"/>
            <a:ext cx="5074920" cy="1371600"/>
          </a:xfrm>
          <a:prstGeom prst="rect">
            <a:avLst/>
          </a:prstGeom>
          <a:noFill/>
        </p:spPr>
        <p:txBody>
          <a:bodyPr wrap="square" lIns="54864" rIns="54864" tIns="27432" bIns="27432" anchor="t">
            <a:noAutofit/>
          </a:bodyPr>
          <a:lstStyle/>
          <a:p>
            <a:pPr algn="l" marL="292608" indent="-292608">
              <a:spcAft>
                <a:spcPts val="600"/>
              </a:spcAft>
              <a:buClr>
                <a:srgbClr val="D7014D"/>
              </a:buClr>
              <a:buFont typeface="Arial"/>
              <a:buChar char="•"/>
            </a:pPr>
            <a:r>
              <a:rPr sz="2200" b="0" i="0">
                <a:solidFill>
                  <a:srgbClr val="1A1A1A"/>
                </a:solidFill>
                <a:latin typeface="Trebuchet MS"/>
              </a:rPr>
              <a:t>Expect bigger gains at 0 and −5 dB</a:t>
            </a:r>
          </a:p>
          <a:p>
            <a:pPr algn="l" marL="292608" indent="-292608">
              <a:spcAft>
                <a:spcPts val="600"/>
              </a:spcAft>
              <a:buClr>
                <a:srgbClr val="D7014D"/>
              </a:buClr>
              <a:buFont typeface="Arial"/>
              <a:buChar char="•"/>
            </a:pPr>
            <a:r>
              <a:rPr sz="2200" b="0" i="0">
                <a:solidFill>
                  <a:srgbClr val="1A1A1A"/>
                </a:solidFill>
                <a:latin typeface="Trebuchet MS"/>
              </a:rPr>
              <a:t>Test-time ablations: direct proof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Modality dropout keeps video in play</a:t>
            </a:r>
          </a:p>
        </p:txBody>
      </p:sp>
      <p:sp>
        <p:nvSpPr>
          <p:cNvPr id="3" name="TextBox 2"/>
          <p:cNvSpPr txBox="1"/>
          <p:nvPr/>
        </p:nvSpPr>
        <p:spPr>
          <a:xfrm>
            <a:off x="841248" y="1737360"/>
            <a:ext cx="10515600" cy="411480"/>
          </a:xfrm>
          <a:prstGeom prst="rect">
            <a:avLst/>
          </a:prstGeom>
          <a:noFill/>
        </p:spPr>
        <p:txBody>
          <a:bodyPr wrap="square" lIns="54864" rIns="54864" tIns="27432" bIns="27432" anchor="t">
            <a:noAutofit/>
          </a:bodyPr>
          <a:lstStyle/>
          <a:p>
            <a:pPr algn="l">
              <a:spcAft>
                <a:spcPts val="0"/>
              </a:spcAft>
            </a:pPr>
            <a:r>
              <a:rPr sz="2200" b="0" i="0">
                <a:solidFill>
                  <a:srgbClr val="595959"/>
                </a:solidFill>
                <a:latin typeface="Trebuchet MS"/>
              </a:rPr>
              <a:t>Per training utterance, draw u from U(0, 1)</a:t>
            </a:r>
          </a:p>
        </p:txBody>
      </p:sp>
      <p:sp>
        <p:nvSpPr>
          <p:cNvPr id="4" name="Rectangle 3"/>
          <p:cNvSpPr/>
          <p:nvPr/>
        </p:nvSpPr>
        <p:spPr>
          <a:xfrm>
            <a:off x="841248" y="2240280"/>
            <a:ext cx="2592324" cy="685800"/>
          </a:xfrm>
          <a:prstGeom prst="rect">
            <a:avLst/>
          </a:prstGeom>
          <a:solidFill>
            <a:srgbClr val="C55A11"/>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Video only</a:t>
            </a:r>
          </a:p>
        </p:txBody>
      </p:sp>
      <p:sp>
        <p:nvSpPr>
          <p:cNvPr id="5" name="Rectangle 4"/>
          <p:cNvSpPr/>
          <p:nvPr/>
        </p:nvSpPr>
        <p:spPr>
          <a:xfrm>
            <a:off x="3470148" y="2240280"/>
            <a:ext cx="1540763" cy="685800"/>
          </a:xfrm>
          <a:prstGeom prst="rect">
            <a:avLst/>
          </a:prstGeom>
          <a:solidFill>
            <a:srgbClr val="2E75B6"/>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Audio</a:t>
            </a:r>
          </a:p>
        </p:txBody>
      </p:sp>
      <p:sp>
        <p:nvSpPr>
          <p:cNvPr id="6" name="Rectangle 5"/>
          <p:cNvSpPr/>
          <p:nvPr/>
        </p:nvSpPr>
        <p:spPr>
          <a:xfrm>
            <a:off x="5047488" y="2240280"/>
            <a:ext cx="6272783" cy="685800"/>
          </a:xfrm>
          <a:prstGeom prst="rect">
            <a:avLst/>
          </a:prstGeom>
          <a:solidFill>
            <a:srgbClr val="548235"/>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Both streams</a:t>
            </a:r>
          </a:p>
        </p:txBody>
      </p:sp>
      <p:sp>
        <p:nvSpPr>
          <p:cNvPr id="7" name="TextBox 6"/>
          <p:cNvSpPr txBox="1"/>
          <p:nvPr/>
        </p:nvSpPr>
        <p:spPr>
          <a:xfrm>
            <a:off x="384048" y="2971800"/>
            <a:ext cx="9144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0</a:t>
            </a:r>
          </a:p>
        </p:txBody>
      </p:sp>
      <p:sp>
        <p:nvSpPr>
          <p:cNvPr id="8" name="TextBox 7"/>
          <p:cNvSpPr txBox="1"/>
          <p:nvPr/>
        </p:nvSpPr>
        <p:spPr>
          <a:xfrm>
            <a:off x="3012948" y="2971800"/>
            <a:ext cx="9144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0.25</a:t>
            </a:r>
          </a:p>
        </p:txBody>
      </p:sp>
      <p:sp>
        <p:nvSpPr>
          <p:cNvPr id="9" name="TextBox 8"/>
          <p:cNvSpPr txBox="1"/>
          <p:nvPr/>
        </p:nvSpPr>
        <p:spPr>
          <a:xfrm>
            <a:off x="4590288" y="2971800"/>
            <a:ext cx="9144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0.40</a:t>
            </a:r>
          </a:p>
        </p:txBody>
      </p:sp>
      <p:sp>
        <p:nvSpPr>
          <p:cNvPr id="10" name="TextBox 9"/>
          <p:cNvSpPr txBox="1"/>
          <p:nvPr/>
        </p:nvSpPr>
        <p:spPr>
          <a:xfrm>
            <a:off x="10899648" y="2971800"/>
            <a:ext cx="914400" cy="411480"/>
          </a:xfrm>
          <a:prstGeom prst="rect">
            <a:avLst/>
          </a:prstGeom>
          <a:noFill/>
        </p:spPr>
        <p:txBody>
          <a:bodyPr wrap="square" lIns="0" rIns="0" tIns="27432" bIns="27432" anchor="t">
            <a:noAutofit/>
          </a:bodyPr>
          <a:lstStyle/>
          <a:p>
            <a:pPr algn="ctr">
              <a:spcAft>
                <a:spcPts val="0"/>
              </a:spcAft>
            </a:pPr>
            <a:r>
              <a:rPr sz="2200" b="0" i="0">
                <a:solidFill>
                  <a:srgbClr val="595959"/>
                </a:solidFill>
                <a:latin typeface="Trebuchet MS"/>
              </a:rPr>
              <a:t>1</a:t>
            </a:r>
          </a:p>
        </p:txBody>
      </p:sp>
      <p:sp>
        <p:nvSpPr>
          <p:cNvPr id="11" name="Rounded Rectangle 10"/>
          <p:cNvSpPr/>
          <p:nvPr/>
        </p:nvSpPr>
        <p:spPr>
          <a:xfrm>
            <a:off x="841248" y="3566160"/>
            <a:ext cx="5074920" cy="2377440"/>
          </a:xfrm>
          <a:prstGeom prst="roundRect">
            <a:avLst>
              <a:gd name="adj" fmla="val 384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2" name="TextBox 11"/>
          <p:cNvSpPr txBox="1"/>
          <p:nvPr/>
        </p:nvSpPr>
        <p:spPr>
          <a:xfrm>
            <a:off x="1024128" y="3639312"/>
            <a:ext cx="4709160" cy="2267712"/>
          </a:xfrm>
          <a:prstGeom prst="rect">
            <a:avLst/>
          </a:prstGeom>
          <a:noFill/>
        </p:spPr>
        <p:txBody>
          <a:bodyPr wrap="square" lIns="54864" rIns="54864" tIns="27432" bIns="27432" anchor="t">
            <a:noAutofit/>
          </a:bodyPr>
          <a:lstStyle/>
          <a:p>
            <a:pPr algn="l">
              <a:spcAft>
                <a:spcPts val="400"/>
              </a:spcAft>
            </a:pPr>
            <a:r>
              <a:rPr sz="2200" b="1" i="0">
                <a:solidFill>
                  <a:srgbClr val="1F497D"/>
                </a:solidFill>
                <a:latin typeface="Trebuchet MS"/>
              </a:rPr>
              <a:t>Why</a:t>
            </a:r>
          </a:p>
          <a:p>
            <a:pPr algn="l" marL="292608" indent="-292608">
              <a:spcAft>
                <a:spcPts val="400"/>
              </a:spcAft>
              <a:buClr>
                <a:srgbClr val="D7014D"/>
              </a:buClr>
              <a:buFont typeface="Arial"/>
              <a:buChar char="•"/>
            </a:pPr>
            <a:r>
              <a:rPr sz="2200" b="0" i="0">
                <a:solidFill>
                  <a:srgbClr val="1A1A1A"/>
                </a:solidFill>
                <a:latin typeface="Trebuchet MS"/>
              </a:rPr>
              <a:t>Audio usually carries more, so a fused model can ignore video</a:t>
            </a:r>
          </a:p>
          <a:p>
            <a:pPr algn="l" marL="292608" indent="-292608">
              <a:spcAft>
                <a:spcPts val="400"/>
              </a:spcAft>
              <a:buClr>
                <a:srgbClr val="D7014D"/>
              </a:buClr>
              <a:buFont typeface="Arial"/>
              <a:buChar char="•"/>
            </a:pPr>
            <a:r>
              <a:rPr sz="2200" b="0" i="0">
                <a:solidFill>
                  <a:srgbClr val="1A1A1A"/>
                </a:solidFill>
                <a:latin typeface="Trebuchet MS"/>
              </a:rPr>
              <a:t>A dropped stream becomes a learned e</a:t>
            </a:r>
            <a:r>
              <a:rPr sz="2200" b="0" i="0" baseline="-25000">
                <a:solidFill>
                  <a:srgbClr val="1A1A1A"/>
                </a:solidFill>
                <a:latin typeface="Trebuchet MS"/>
              </a:rPr>
              <a:t>miss</a:t>
            </a:r>
            <a:r>
              <a:rPr sz="2200" b="0" i="0">
                <a:solidFill>
                  <a:srgbClr val="1A1A1A"/>
                </a:solidFill>
                <a:latin typeface="Trebuchet MS"/>
              </a:rPr>
              <a:t> vector; masking every key would give NaN</a:t>
            </a:r>
          </a:p>
        </p:txBody>
      </p:sp>
      <p:sp>
        <p:nvSpPr>
          <p:cNvPr id="13" name="Rounded Rectangle 12"/>
          <p:cNvSpPr/>
          <p:nvPr/>
        </p:nvSpPr>
        <p:spPr>
          <a:xfrm>
            <a:off x="6281928" y="3566160"/>
            <a:ext cx="5074920" cy="2377440"/>
          </a:xfrm>
          <a:prstGeom prst="roundRect">
            <a:avLst>
              <a:gd name="adj" fmla="val 3846"/>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4" name="TextBox 13"/>
          <p:cNvSpPr txBox="1"/>
          <p:nvPr/>
        </p:nvSpPr>
        <p:spPr>
          <a:xfrm>
            <a:off x="6464808" y="3639312"/>
            <a:ext cx="4709160" cy="2267712"/>
          </a:xfrm>
          <a:prstGeom prst="rect">
            <a:avLst/>
          </a:prstGeom>
          <a:noFill/>
        </p:spPr>
        <p:txBody>
          <a:bodyPr wrap="square" lIns="54864" rIns="54864" tIns="27432" bIns="27432" anchor="t">
            <a:noAutofit/>
          </a:bodyPr>
          <a:lstStyle/>
          <a:p>
            <a:pPr algn="l">
              <a:spcAft>
                <a:spcPts val="400"/>
              </a:spcAft>
            </a:pPr>
            <a:r>
              <a:rPr sz="2200" b="1" i="0">
                <a:solidFill>
                  <a:srgbClr val="1F497D"/>
                </a:solidFill>
                <a:latin typeface="Trebuchet MS"/>
              </a:rPr>
              <a:t>Settings</a:t>
            </a:r>
          </a:p>
          <a:p>
            <a:pPr algn="l" marL="292608" indent="-292608">
              <a:spcAft>
                <a:spcPts val="400"/>
              </a:spcAft>
              <a:buClr>
                <a:srgbClr val="D7014D"/>
              </a:buClr>
              <a:buFont typeface="Arial"/>
              <a:buChar char="•"/>
            </a:pPr>
            <a:r>
              <a:rPr sz="2200" b="0" i="0">
                <a:solidFill>
                  <a:srgbClr val="1A1A1A"/>
                </a:solidFill>
                <a:latin typeface="Trebuchet MS"/>
              </a:rPr>
              <a:t>Start p</a:t>
            </a:r>
            <a:r>
              <a:rPr sz="2200" b="0" i="0" baseline="-25000">
                <a:solidFill>
                  <a:srgbClr val="1A1A1A"/>
                </a:solidFill>
                <a:latin typeface="Trebuchet MS"/>
              </a:rPr>
              <a:t>a</a:t>
            </a:r>
            <a:r>
              <a:rPr sz="2200" b="0" i="0">
                <a:solidFill>
                  <a:srgbClr val="1A1A1A"/>
                </a:solidFill>
                <a:latin typeface="Trebuchet MS"/>
              </a:rPr>
              <a:t> = 0.25, p</a:t>
            </a:r>
            <a:r>
              <a:rPr sz="2200" b="0" i="0" baseline="-25000">
                <a:solidFill>
                  <a:srgbClr val="1A1A1A"/>
                </a:solidFill>
                <a:latin typeface="Trebuchet MS"/>
              </a:rPr>
              <a:t>v</a:t>
            </a:r>
            <a:r>
              <a:rPr sz="2200" b="0" i="0">
                <a:solidFill>
                  <a:srgbClr val="1A1A1A"/>
                </a:solidFill>
                <a:latin typeface="Trebuchet MS"/>
              </a:rPr>
              <a:t> = 0.15; tune on mean validation WER</a:t>
            </a:r>
          </a:p>
          <a:p>
            <a:pPr algn="l" marL="292608" indent="-292608">
              <a:spcAft>
                <a:spcPts val="400"/>
              </a:spcAft>
              <a:buClr>
                <a:srgbClr val="D7014D"/>
              </a:buClr>
              <a:buFont typeface="Arial"/>
              <a:buChar char="•"/>
            </a:pPr>
            <a:r>
              <a:rPr sz="2200" b="0" i="0">
                <a:solidFill>
                  <a:srgbClr val="1A1A1A"/>
                </a:solidFill>
                <a:latin typeface="Trebuchet MS"/>
              </a:rPr>
              <a:t>Off at inference. No face in over half a window: video set to e</a:t>
            </a:r>
            <a:r>
              <a:rPr sz="2200" b="0" i="0" baseline="-25000">
                <a:solidFill>
                  <a:srgbClr val="1A1A1A"/>
                </a:solidFill>
                <a:latin typeface="Trebuchet MS"/>
              </a:rPr>
              <a:t>miss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CTC: training without frame labels</a:t>
            </a:r>
          </a:p>
        </p:txBody>
      </p:sp>
      <p:sp>
        <p:nvSpPr>
          <p:cNvPr id="3" name="TextBox 2"/>
          <p:cNvSpPr txBox="1"/>
          <p:nvPr/>
        </p:nvSpPr>
        <p:spPr>
          <a:xfrm>
            <a:off x="841248" y="1783080"/>
            <a:ext cx="5120640" cy="3200400"/>
          </a:xfrm>
          <a:prstGeom prst="rect">
            <a:avLst/>
          </a:prstGeom>
          <a:noFill/>
        </p:spPr>
        <p:txBody>
          <a:bodyPr wrap="square" lIns="54864" rIns="54864" tIns="27432" bIns="27432" anchor="t">
            <a:noAutofit/>
          </a:bodyPr>
          <a:lstStyle/>
          <a:p>
            <a:pPr algn="l" marL="292608" indent="-292608">
              <a:spcAft>
                <a:spcPts val="800"/>
              </a:spcAft>
              <a:buClr>
                <a:srgbClr val="D7014D"/>
              </a:buClr>
              <a:buFont typeface="Arial"/>
              <a:buChar char="•"/>
            </a:pPr>
            <a:r>
              <a:rPr sz="2200" b="0" i="0">
                <a:solidFill>
                  <a:srgbClr val="1A1A1A"/>
                </a:solidFill>
                <a:latin typeface="Trebuchet MS"/>
              </a:rPr>
              <a:t>Transcripts give words, not character timings</a:t>
            </a:r>
          </a:p>
          <a:p>
            <a:pPr algn="l" marL="292608" indent="-292608">
              <a:spcAft>
                <a:spcPts val="800"/>
              </a:spcAft>
              <a:buClr>
                <a:srgbClr val="D7014D"/>
              </a:buClr>
              <a:buFont typeface="Arial"/>
              <a:buChar char="•"/>
            </a:pPr>
            <a:r>
              <a:rPr sz="2200" b="0" i="0">
                <a:solidFill>
                  <a:srgbClr val="1A1A1A"/>
                </a:solidFill>
                <a:latin typeface="Trebuchet MS"/>
              </a:rPr>
              <a:t>CTC sums over every alignment of T frames to the text [11]</a:t>
            </a:r>
          </a:p>
          <a:p>
            <a:pPr algn="l" marL="292608" indent="-292608">
              <a:spcAft>
                <a:spcPts val="800"/>
              </a:spcAft>
              <a:buClr>
                <a:srgbClr val="D7014D"/>
              </a:buClr>
              <a:buFont typeface="Arial"/>
              <a:buChar char="•"/>
            </a:pPr>
            <a:r>
              <a:rPr sz="2200" b="0" i="0">
                <a:solidFill>
                  <a:srgbClr val="1A1A1A"/>
                </a:solidFill>
                <a:latin typeface="Trebuchet MS"/>
              </a:rPr>
              <a:t>Blank means no new character</a:t>
            </a:r>
          </a:p>
          <a:p>
            <a:pPr algn="l" marL="292608" indent="-292608">
              <a:spcAft>
                <a:spcPts val="800"/>
              </a:spcAft>
              <a:buClr>
                <a:srgbClr val="D7014D"/>
              </a:buClr>
              <a:buFont typeface="Arial"/>
              <a:buChar char="•"/>
            </a:pPr>
            <a:r>
              <a:rPr sz="2200" b="0" i="0">
                <a:solidFill>
                  <a:srgbClr val="1A1A1A"/>
                </a:solidFill>
                <a:latin typeface="Trebuchet MS"/>
              </a:rPr>
              <a:t>Loss = −log p(z | x), nn.CTCLoss(blank=0)</a:t>
            </a:r>
          </a:p>
        </p:txBody>
      </p:sp>
      <p:sp>
        <p:nvSpPr>
          <p:cNvPr id="4" name="Rectangle 3"/>
          <p:cNvSpPr/>
          <p:nvPr/>
        </p:nvSpPr>
        <p:spPr>
          <a:xfrm>
            <a:off x="6355080" y="19202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b</a:t>
            </a:r>
          </a:p>
        </p:txBody>
      </p:sp>
      <p:sp>
        <p:nvSpPr>
          <p:cNvPr id="5" name="Rectangle 4"/>
          <p:cNvSpPr/>
          <p:nvPr/>
        </p:nvSpPr>
        <p:spPr>
          <a:xfrm>
            <a:off x="6812280" y="19202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b</a:t>
            </a:r>
          </a:p>
        </p:txBody>
      </p:sp>
      <p:sp>
        <p:nvSpPr>
          <p:cNvPr id="6" name="Rectangle 5"/>
          <p:cNvSpPr/>
          <p:nvPr/>
        </p:nvSpPr>
        <p:spPr>
          <a:xfrm>
            <a:off x="7269480" y="1920240"/>
            <a:ext cx="411480" cy="548640"/>
          </a:xfrm>
          <a:prstGeom prst="rect">
            <a:avLst/>
          </a:prstGeom>
          <a:solidFill>
            <a:srgbClr val="F2F2F2"/>
          </a:solidFill>
          <a:ln w="15875">
            <a:solidFill>
              <a:srgbClr val="7030A0"/>
            </a:solidFill>
          </a:ln>
        </p:spPr>
        <p:txBody>
          <a:bodyPr rtlCol="0" anchor="ctr" wrap="square" lIns="0" rIns="0" tIns="27432" bIns="27432">
            <a:noAutofit/>
          </a:bodyPr>
          <a:lstStyle/>
          <a:p>
            <a:pPr algn="ctr">
              <a:spcAft>
                <a:spcPts val="0"/>
              </a:spcAft>
            </a:pPr>
            <a:r>
              <a:rPr sz="2200" b="0" i="0">
                <a:solidFill>
                  <a:srgbClr val="1A1A1A"/>
                </a:solidFill>
                <a:latin typeface="Trebuchet MS"/>
              </a:rPr>
              <a:t>–</a:t>
            </a:r>
          </a:p>
        </p:txBody>
      </p:sp>
      <p:sp>
        <p:nvSpPr>
          <p:cNvPr id="7" name="Rectangle 6"/>
          <p:cNvSpPr/>
          <p:nvPr/>
        </p:nvSpPr>
        <p:spPr>
          <a:xfrm>
            <a:off x="7726679" y="19202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i</a:t>
            </a:r>
          </a:p>
        </p:txBody>
      </p:sp>
      <p:sp>
        <p:nvSpPr>
          <p:cNvPr id="8" name="Rectangle 7"/>
          <p:cNvSpPr/>
          <p:nvPr/>
        </p:nvSpPr>
        <p:spPr>
          <a:xfrm>
            <a:off x="8183879" y="19202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i</a:t>
            </a:r>
          </a:p>
        </p:txBody>
      </p:sp>
      <p:sp>
        <p:nvSpPr>
          <p:cNvPr id="9" name="Rectangle 8"/>
          <p:cNvSpPr/>
          <p:nvPr/>
        </p:nvSpPr>
        <p:spPr>
          <a:xfrm>
            <a:off x="8641080" y="1920240"/>
            <a:ext cx="411480" cy="548640"/>
          </a:xfrm>
          <a:prstGeom prst="rect">
            <a:avLst/>
          </a:prstGeom>
          <a:solidFill>
            <a:srgbClr val="F2F2F2"/>
          </a:solidFill>
          <a:ln w="15875">
            <a:solidFill>
              <a:srgbClr val="7030A0"/>
            </a:solidFill>
          </a:ln>
        </p:spPr>
        <p:txBody>
          <a:bodyPr rtlCol="0" anchor="ctr" wrap="square" lIns="0" rIns="0" tIns="27432" bIns="27432">
            <a:noAutofit/>
          </a:bodyPr>
          <a:lstStyle/>
          <a:p>
            <a:pPr algn="ctr">
              <a:spcAft>
                <a:spcPts val="0"/>
              </a:spcAft>
            </a:pPr>
            <a:r>
              <a:rPr sz="2200" b="0" i="0">
                <a:solidFill>
                  <a:srgbClr val="1A1A1A"/>
                </a:solidFill>
                <a:latin typeface="Trebuchet MS"/>
              </a:rPr>
              <a:t>–</a:t>
            </a:r>
          </a:p>
        </p:txBody>
      </p:sp>
      <p:sp>
        <p:nvSpPr>
          <p:cNvPr id="10" name="Rectangle 9"/>
          <p:cNvSpPr/>
          <p:nvPr/>
        </p:nvSpPr>
        <p:spPr>
          <a:xfrm>
            <a:off x="9098280" y="19202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n</a:t>
            </a:r>
          </a:p>
        </p:txBody>
      </p:sp>
      <p:sp>
        <p:nvSpPr>
          <p:cNvPr id="11" name="Rectangle 10"/>
          <p:cNvSpPr/>
          <p:nvPr/>
        </p:nvSpPr>
        <p:spPr>
          <a:xfrm>
            <a:off x="9555480" y="19202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n</a:t>
            </a:r>
          </a:p>
        </p:txBody>
      </p:sp>
      <p:sp>
        <p:nvSpPr>
          <p:cNvPr id="12" name="Rectangle 11"/>
          <p:cNvSpPr/>
          <p:nvPr/>
        </p:nvSpPr>
        <p:spPr>
          <a:xfrm>
            <a:off x="10012680" y="1920240"/>
            <a:ext cx="411480" cy="548640"/>
          </a:xfrm>
          <a:prstGeom prst="rect">
            <a:avLst/>
          </a:prstGeom>
          <a:solidFill>
            <a:srgbClr val="F2F2F2"/>
          </a:solidFill>
          <a:ln w="15875">
            <a:solidFill>
              <a:srgbClr val="7030A0"/>
            </a:solidFill>
          </a:ln>
        </p:spPr>
        <p:txBody>
          <a:bodyPr rtlCol="0" anchor="ctr" wrap="square" lIns="0" rIns="0" tIns="27432" bIns="27432">
            <a:noAutofit/>
          </a:bodyPr>
          <a:lstStyle/>
          <a:p>
            <a:pPr algn="ctr">
              <a:spcAft>
                <a:spcPts val="0"/>
              </a:spcAft>
            </a:pPr>
            <a:r>
              <a:rPr sz="2200" b="0" i="0">
                <a:solidFill>
                  <a:srgbClr val="1A1A1A"/>
                </a:solidFill>
                <a:latin typeface="Trebuchet MS"/>
              </a:rPr>
              <a:t>–</a:t>
            </a:r>
          </a:p>
        </p:txBody>
      </p:sp>
      <p:sp>
        <p:nvSpPr>
          <p:cNvPr id="13" name="Rectangle 12"/>
          <p:cNvSpPr/>
          <p:nvPr/>
        </p:nvSpPr>
        <p:spPr>
          <a:xfrm>
            <a:off x="10469880" y="1920240"/>
            <a:ext cx="411480" cy="548640"/>
          </a:xfrm>
          <a:prstGeom prst="rect">
            <a:avLst/>
          </a:prstGeom>
          <a:solidFill>
            <a:srgbClr val="F2F2F2"/>
          </a:solidFill>
          <a:ln w="15875">
            <a:solidFill>
              <a:srgbClr val="7030A0"/>
            </a:solidFill>
          </a:ln>
        </p:spPr>
        <p:txBody>
          <a:bodyPr rtlCol="0" anchor="ctr" wrap="square" lIns="0" rIns="0" tIns="27432" bIns="27432">
            <a:noAutofit/>
          </a:bodyPr>
          <a:lstStyle/>
          <a:p>
            <a:pPr algn="ctr">
              <a:spcAft>
                <a:spcPts val="0"/>
              </a:spcAft>
            </a:pPr>
            <a:r>
              <a:rPr sz="2200" b="0" i="0">
                <a:solidFill>
                  <a:srgbClr val="1A1A1A"/>
                </a:solidFill>
                <a:latin typeface="Trebuchet MS"/>
              </a:rPr>
              <a:t>–</a:t>
            </a:r>
          </a:p>
        </p:txBody>
      </p:sp>
      <p:cxnSp>
        <p:nvCxnSpPr>
          <p:cNvPr id="14" name="Connector 13"/>
          <p:cNvCxnSpPr/>
          <p:nvPr/>
        </p:nvCxnSpPr>
        <p:spPr>
          <a:xfrm>
            <a:off x="8686800" y="2542032"/>
            <a:ext cx="0" cy="338328"/>
          </a:xfrm>
          <a:prstGeom prst="line">
            <a:avLst/>
          </a:prstGeom>
          <a:ln w="25400">
            <a:solidFill>
              <a:srgbClr val="595959"/>
            </a:solidFill>
            <a:tailEnd type="triangle" w="med" len="med"/>
          </a:ln>
        </p:spPr>
      </p:cxnSp>
      <p:sp>
        <p:nvSpPr>
          <p:cNvPr id="15" name="TextBox 14"/>
          <p:cNvSpPr txBox="1"/>
          <p:nvPr/>
        </p:nvSpPr>
        <p:spPr>
          <a:xfrm>
            <a:off x="8869680" y="2514600"/>
            <a:ext cx="2468880" cy="41148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“bin”</a:t>
            </a:r>
          </a:p>
        </p:txBody>
      </p:sp>
      <p:sp>
        <p:nvSpPr>
          <p:cNvPr id="16" name="Rectangle 15"/>
          <p:cNvSpPr/>
          <p:nvPr/>
        </p:nvSpPr>
        <p:spPr>
          <a:xfrm>
            <a:off x="6355080" y="35204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g</a:t>
            </a:r>
          </a:p>
        </p:txBody>
      </p:sp>
      <p:sp>
        <p:nvSpPr>
          <p:cNvPr id="17" name="Rectangle 16"/>
          <p:cNvSpPr/>
          <p:nvPr/>
        </p:nvSpPr>
        <p:spPr>
          <a:xfrm>
            <a:off x="6812280" y="35204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r</a:t>
            </a:r>
          </a:p>
        </p:txBody>
      </p:sp>
      <p:sp>
        <p:nvSpPr>
          <p:cNvPr id="18" name="Rectangle 17"/>
          <p:cNvSpPr/>
          <p:nvPr/>
        </p:nvSpPr>
        <p:spPr>
          <a:xfrm>
            <a:off x="7269480" y="3520440"/>
            <a:ext cx="411480" cy="548640"/>
          </a:xfrm>
          <a:prstGeom prst="rect">
            <a:avLst/>
          </a:prstGeom>
          <a:solidFill>
            <a:srgbClr val="F2F2F2"/>
          </a:solidFill>
          <a:ln w="15875">
            <a:solidFill>
              <a:srgbClr val="7030A0"/>
            </a:solidFill>
          </a:ln>
        </p:spPr>
        <p:txBody>
          <a:bodyPr rtlCol="0" anchor="ctr" wrap="square" lIns="0" rIns="0" tIns="27432" bIns="27432">
            <a:noAutofit/>
          </a:bodyPr>
          <a:lstStyle/>
          <a:p>
            <a:pPr algn="ctr">
              <a:spcAft>
                <a:spcPts val="0"/>
              </a:spcAft>
            </a:pPr>
            <a:r>
              <a:rPr sz="2200" b="0" i="0">
                <a:solidFill>
                  <a:srgbClr val="1A1A1A"/>
                </a:solidFill>
                <a:latin typeface="Trebuchet MS"/>
              </a:rPr>
              <a:t>–</a:t>
            </a:r>
          </a:p>
        </p:txBody>
      </p:sp>
      <p:sp>
        <p:nvSpPr>
          <p:cNvPr id="19" name="Rectangle 18"/>
          <p:cNvSpPr/>
          <p:nvPr/>
        </p:nvSpPr>
        <p:spPr>
          <a:xfrm>
            <a:off x="7726679" y="35204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e</a:t>
            </a:r>
          </a:p>
        </p:txBody>
      </p:sp>
      <p:sp>
        <p:nvSpPr>
          <p:cNvPr id="20" name="Rectangle 19"/>
          <p:cNvSpPr/>
          <p:nvPr/>
        </p:nvSpPr>
        <p:spPr>
          <a:xfrm>
            <a:off x="8183879" y="3520440"/>
            <a:ext cx="411480" cy="548640"/>
          </a:xfrm>
          <a:prstGeom prst="rect">
            <a:avLst/>
          </a:prstGeom>
          <a:solidFill>
            <a:srgbClr val="F2F2F2"/>
          </a:solidFill>
          <a:ln w="15875">
            <a:solidFill>
              <a:srgbClr val="7030A0"/>
            </a:solidFill>
          </a:ln>
        </p:spPr>
        <p:txBody>
          <a:bodyPr rtlCol="0" anchor="ctr" wrap="square" lIns="0" rIns="0" tIns="27432" bIns="27432">
            <a:noAutofit/>
          </a:bodyPr>
          <a:lstStyle/>
          <a:p>
            <a:pPr algn="ctr">
              <a:spcAft>
                <a:spcPts val="0"/>
              </a:spcAft>
            </a:pPr>
            <a:r>
              <a:rPr sz="2200" b="0" i="0">
                <a:solidFill>
                  <a:srgbClr val="1A1A1A"/>
                </a:solidFill>
                <a:latin typeface="Trebuchet MS"/>
              </a:rPr>
              <a:t>–</a:t>
            </a:r>
          </a:p>
        </p:txBody>
      </p:sp>
      <p:sp>
        <p:nvSpPr>
          <p:cNvPr id="21" name="Rectangle 20"/>
          <p:cNvSpPr/>
          <p:nvPr/>
        </p:nvSpPr>
        <p:spPr>
          <a:xfrm>
            <a:off x="8641080" y="35204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e</a:t>
            </a:r>
          </a:p>
        </p:txBody>
      </p:sp>
      <p:sp>
        <p:nvSpPr>
          <p:cNvPr id="22" name="Rectangle 21"/>
          <p:cNvSpPr/>
          <p:nvPr/>
        </p:nvSpPr>
        <p:spPr>
          <a:xfrm>
            <a:off x="9098280" y="3520440"/>
            <a:ext cx="411480" cy="548640"/>
          </a:xfrm>
          <a:prstGeom prst="rect">
            <a:avLst/>
          </a:prstGeom>
          <a:solidFill>
            <a:srgbClr val="F2F2F2"/>
          </a:solidFill>
          <a:ln w="15875">
            <a:solidFill>
              <a:srgbClr val="7030A0"/>
            </a:solidFill>
          </a:ln>
        </p:spPr>
        <p:txBody>
          <a:bodyPr rtlCol="0" anchor="ctr" wrap="square" lIns="0" rIns="0" tIns="27432" bIns="27432">
            <a:noAutofit/>
          </a:bodyPr>
          <a:lstStyle/>
          <a:p>
            <a:pPr algn="ctr">
              <a:spcAft>
                <a:spcPts val="0"/>
              </a:spcAft>
            </a:pPr>
            <a:r>
              <a:rPr sz="2200" b="0" i="0">
                <a:solidFill>
                  <a:srgbClr val="1A1A1A"/>
                </a:solidFill>
                <a:latin typeface="Trebuchet MS"/>
              </a:rPr>
              <a:t>–</a:t>
            </a:r>
          </a:p>
        </p:txBody>
      </p:sp>
      <p:sp>
        <p:nvSpPr>
          <p:cNvPr id="23" name="Rectangle 22"/>
          <p:cNvSpPr/>
          <p:nvPr/>
        </p:nvSpPr>
        <p:spPr>
          <a:xfrm>
            <a:off x="9555480" y="3520440"/>
            <a:ext cx="411480" cy="548640"/>
          </a:xfrm>
          <a:prstGeom prst="rect">
            <a:avLst/>
          </a:prstGeom>
          <a:solidFill>
            <a:srgbClr val="EDE7F6"/>
          </a:solidFill>
          <a:ln w="15875">
            <a:solidFill>
              <a:srgbClr val="7030A0"/>
            </a:solidFill>
          </a:ln>
        </p:spPr>
        <p:txBody>
          <a:bodyPr rtlCol="0" anchor="ctr" wrap="square" lIns="0" rIns="0" tIns="27432" bIns="27432">
            <a:noAutofit/>
          </a:bodyPr>
          <a:lstStyle/>
          <a:p>
            <a:pPr algn="ctr">
              <a:spcAft>
                <a:spcPts val="0"/>
              </a:spcAft>
            </a:pPr>
            <a:r>
              <a:rPr sz="2200" b="1" i="0">
                <a:solidFill>
                  <a:srgbClr val="1A1A1A"/>
                </a:solidFill>
                <a:latin typeface="Trebuchet MS"/>
              </a:rPr>
              <a:t>n</a:t>
            </a:r>
          </a:p>
        </p:txBody>
      </p:sp>
      <p:cxnSp>
        <p:nvCxnSpPr>
          <p:cNvPr id="24" name="Connector 23"/>
          <p:cNvCxnSpPr/>
          <p:nvPr/>
        </p:nvCxnSpPr>
        <p:spPr>
          <a:xfrm>
            <a:off x="8686800" y="4142232"/>
            <a:ext cx="0" cy="338328"/>
          </a:xfrm>
          <a:prstGeom prst="line">
            <a:avLst/>
          </a:prstGeom>
          <a:ln w="25400">
            <a:solidFill>
              <a:srgbClr val="595959"/>
            </a:solidFill>
            <a:tailEnd type="triangle" w="med" len="med"/>
          </a:ln>
        </p:spPr>
      </p:cxnSp>
      <p:sp>
        <p:nvSpPr>
          <p:cNvPr id="25" name="TextBox 24"/>
          <p:cNvSpPr txBox="1"/>
          <p:nvPr/>
        </p:nvSpPr>
        <p:spPr>
          <a:xfrm>
            <a:off x="8869680" y="4114800"/>
            <a:ext cx="2468880" cy="41148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“green”</a:t>
            </a:r>
          </a:p>
        </p:txBody>
      </p:sp>
      <p:sp>
        <p:nvSpPr>
          <p:cNvPr id="26" name="TextBox 25"/>
          <p:cNvSpPr txBox="1"/>
          <p:nvPr/>
        </p:nvSpPr>
        <p:spPr>
          <a:xfrm>
            <a:off x="6355080" y="4709160"/>
            <a:ext cx="4983480" cy="457200"/>
          </a:xfrm>
          <a:prstGeom prst="rect">
            <a:avLst/>
          </a:prstGeom>
          <a:noFill/>
        </p:spPr>
        <p:txBody>
          <a:bodyPr wrap="square" lIns="54864" rIns="54864" tIns="27432" bIns="27432" anchor="t">
            <a:noAutofit/>
          </a:bodyPr>
          <a:lstStyle/>
          <a:p>
            <a:pPr algn="l">
              <a:spcAft>
                <a:spcPts val="0"/>
              </a:spcAft>
            </a:pPr>
            <a:r>
              <a:rPr sz="2200" b="0" i="0">
                <a:solidFill>
                  <a:srgbClr val="595959"/>
                </a:solidFill>
                <a:latin typeface="Trebuchet MS"/>
              </a:rPr>
              <a:t>Merge repeats, then drop blanks</a:t>
            </a:r>
          </a:p>
        </p:txBody>
      </p:sp>
      <p:sp>
        <p:nvSpPr>
          <p:cNvPr id="27" name="Rounded Rectangle 26"/>
          <p:cNvSpPr/>
          <p:nvPr/>
        </p:nvSpPr>
        <p:spPr>
          <a:xfrm>
            <a:off x="841248" y="5257800"/>
            <a:ext cx="10515600" cy="685800"/>
          </a:xfrm>
          <a:prstGeom prst="roundRect">
            <a:avLst>
              <a:gd name="adj" fmla="val 13333"/>
            </a:avLst>
          </a:prstGeom>
          <a:solidFill>
            <a:srgbClr val="FFF4CC"/>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Needs T ≥ L + R: 75 frames vs at most ≈35 characters, asserted per item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Decoding: greedy and beam search</a:t>
            </a:r>
          </a:p>
        </p:txBody>
      </p:sp>
      <p:sp>
        <p:nvSpPr>
          <p:cNvPr id="3" name="Rounded Rectangle 2"/>
          <p:cNvSpPr/>
          <p:nvPr/>
        </p:nvSpPr>
        <p:spPr>
          <a:xfrm>
            <a:off x="841248" y="1783080"/>
            <a:ext cx="5074920" cy="2606040"/>
          </a:xfrm>
          <a:prstGeom prst="roundRect">
            <a:avLst>
              <a:gd name="adj" fmla="val 3508"/>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1024128" y="1892807"/>
            <a:ext cx="4709160" cy="24231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Greedy</a:t>
            </a:r>
          </a:p>
          <a:p>
            <a:pPr algn="l" marL="292608" indent="-292608">
              <a:spcAft>
                <a:spcPts val="400"/>
              </a:spcAft>
              <a:buClr>
                <a:srgbClr val="D7014D"/>
              </a:buClr>
              <a:buFont typeface="Arial"/>
              <a:buChar char="•"/>
            </a:pPr>
            <a:r>
              <a:rPr sz="2200" b="0" i="0">
                <a:solidFill>
                  <a:srgbClr val="1A1A1A"/>
                </a:solidFill>
                <a:latin typeface="Trebuchet MS"/>
              </a:rPr>
              <a:t>Best symbol per frame, then collapse</a:t>
            </a:r>
          </a:p>
          <a:p>
            <a:pPr algn="l" marL="292608" indent="-292608">
              <a:spcAft>
                <a:spcPts val="400"/>
              </a:spcAft>
              <a:buClr>
                <a:srgbClr val="D7014D"/>
              </a:buClr>
              <a:buFont typeface="Arial"/>
              <a:buChar char="•"/>
            </a:pPr>
            <a:r>
              <a:rPr sz="2200" b="0" i="0">
                <a:solidFill>
                  <a:srgbClr val="1A1A1A"/>
                </a:solidFill>
                <a:latin typeface="Trebuchet MS"/>
              </a:rPr>
              <a:t>Fast: used for validation every epoch</a:t>
            </a:r>
          </a:p>
        </p:txBody>
      </p:sp>
      <p:sp>
        <p:nvSpPr>
          <p:cNvPr id="5" name="Rounded Rectangle 4"/>
          <p:cNvSpPr/>
          <p:nvPr/>
        </p:nvSpPr>
        <p:spPr>
          <a:xfrm>
            <a:off x="6281928" y="1783080"/>
            <a:ext cx="5074920" cy="2606040"/>
          </a:xfrm>
          <a:prstGeom prst="roundRect">
            <a:avLst>
              <a:gd name="adj" fmla="val 3508"/>
            </a:avLst>
          </a:prstGeom>
          <a:solidFill>
            <a:srgbClr val="EAF0F8"/>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6464808" y="1892807"/>
            <a:ext cx="4709160" cy="24231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Prefix beam search</a:t>
            </a:r>
          </a:p>
          <a:p>
            <a:pPr algn="l" marL="292608" indent="-292608">
              <a:spcAft>
                <a:spcPts val="400"/>
              </a:spcAft>
              <a:buClr>
                <a:srgbClr val="D7014D"/>
              </a:buClr>
              <a:buFont typeface="Arial"/>
              <a:buChar char="•"/>
            </a:pPr>
            <a:r>
              <a:rPr sz="2200" b="0" i="0">
                <a:solidFill>
                  <a:srgbClr val="1A1A1A"/>
                </a:solidFill>
                <a:latin typeface="Trebuchet MS"/>
              </a:rPr>
              <a:t>Keeps the W = 10 best text prefixes</a:t>
            </a:r>
          </a:p>
          <a:p>
            <a:pPr algn="l" marL="292608" indent="-292608">
              <a:spcAft>
                <a:spcPts val="400"/>
              </a:spcAft>
              <a:buClr>
                <a:srgbClr val="D7014D"/>
              </a:buClr>
              <a:buFont typeface="Arial"/>
              <a:buChar char="•"/>
            </a:pPr>
            <a:r>
              <a:rPr sz="2200" b="0" i="0">
                <a:solidFill>
                  <a:srgbClr val="1A1A1A"/>
                </a:solidFill>
                <a:latin typeface="Trebuchet MS"/>
              </a:rPr>
              <a:t>Tracks blank and non-blank endings to merge paths</a:t>
            </a:r>
          </a:p>
          <a:p>
            <a:pPr algn="l" marL="292608" indent="-292608">
              <a:spcAft>
                <a:spcPts val="400"/>
              </a:spcAft>
              <a:buClr>
                <a:srgbClr val="D7014D"/>
              </a:buClr>
              <a:buFont typeface="Arial"/>
              <a:buChar char="•"/>
            </a:pPr>
            <a:r>
              <a:rPr sz="2200" b="0" i="0">
                <a:solidFill>
                  <a:srgbClr val="1A1A1A"/>
                </a:solidFill>
                <a:latin typeface="Trebuchet MS"/>
              </a:rPr>
              <a:t>About 60 lines of Python; W = 1 must equal greedy</a:t>
            </a:r>
          </a:p>
        </p:txBody>
      </p:sp>
      <p:sp>
        <p:nvSpPr>
          <p:cNvPr id="7" name="Rounded Rectangle 6"/>
          <p:cNvSpPr/>
          <p:nvPr/>
        </p:nvSpPr>
        <p:spPr>
          <a:xfrm>
            <a:off x="841248" y="4617720"/>
            <a:ext cx="10515600" cy="1325880"/>
          </a:xfrm>
          <a:prstGeom prst="roundRect">
            <a:avLst>
              <a:gd name="adj" fmla="val 6896"/>
            </a:avLst>
          </a:prstGeom>
          <a:solidFill>
            <a:srgbClr val="FFF4CC"/>
          </a:solidFill>
          <a:ln>
            <a:noFill/>
          </a:ln>
        </p:spPr>
        <p:txBody>
          <a:bodyPr rtlCol="0" anchor="ctr" wrap="square" lIns="182880" rIns="182880" tIns="27432" bIns="27432">
            <a:noAutofit/>
          </a:bodyPr>
          <a:lstStyle/>
          <a:p>
            <a:pPr algn="l">
              <a:spcAft>
                <a:spcPts val="400"/>
              </a:spcAft>
            </a:pPr>
            <a:r>
              <a:rPr sz="2200" b="1" i="0">
                <a:solidFill>
                  <a:srgbClr val="1A1A1A"/>
                </a:solidFill>
                <a:latin typeface="Trebuchet MS"/>
              </a:rPr>
              <a:t>No language model in headline results</a:t>
            </a:r>
          </a:p>
          <a:p>
            <a:pPr algn="l">
              <a:spcAft>
                <a:spcPts val="0"/>
              </a:spcAft>
            </a:pPr>
            <a:r>
              <a:rPr sz="2200" b="0" i="0">
                <a:solidFill>
                  <a:srgbClr val="1A1A1A"/>
                </a:solidFill>
                <a:latin typeface="Trebuchet MS"/>
              </a:rPr>
              <a:t>GRID's fixed grammar would correct errors by construction. A grammar decoder may appear separately, labelled.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One forward pass, step by step</a:t>
            </a:r>
          </a:p>
        </p:txBody>
      </p:sp>
      <p:sp>
        <p:nvSpPr>
          <p:cNvPr id="3" name="Rounded Rectangle 2"/>
          <p:cNvSpPr/>
          <p:nvPr/>
        </p:nvSpPr>
        <p:spPr>
          <a:xfrm>
            <a:off x="841248" y="1783080"/>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Oval 3"/>
          <p:cNvSpPr/>
          <p:nvPr/>
        </p:nvSpPr>
        <p:spPr>
          <a:xfrm>
            <a:off x="978408" y="1984248"/>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5" name="TextBox 4"/>
          <p:cNvSpPr txBox="1"/>
          <p:nvPr/>
        </p:nvSpPr>
        <p:spPr>
          <a:xfrm>
            <a:off x="1618488" y="1810512"/>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Visual encoder → H</a:t>
            </a:r>
            <a:r>
              <a:rPr sz="2200" b="0" i="0" baseline="-25000">
                <a:solidFill>
                  <a:srgbClr val="1A1A1A"/>
                </a:solidFill>
                <a:latin typeface="Trebuchet MS"/>
              </a:rPr>
              <a:t>v</a:t>
            </a:r>
            <a:r>
              <a:rPr sz="2200" b="0" i="0">
                <a:solidFill>
                  <a:srgbClr val="1A1A1A"/>
                </a:solidFill>
                <a:latin typeface="Trebuchet MS"/>
              </a:rPr>
              <a:t>, B×T×512</a:t>
            </a:r>
          </a:p>
        </p:txBody>
      </p:sp>
      <p:sp>
        <p:nvSpPr>
          <p:cNvPr id="6" name="Rounded Rectangle 5"/>
          <p:cNvSpPr/>
          <p:nvPr/>
        </p:nvSpPr>
        <p:spPr>
          <a:xfrm>
            <a:off x="841248" y="2834639"/>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7" name="Oval 6"/>
          <p:cNvSpPr/>
          <p:nvPr/>
        </p:nvSpPr>
        <p:spPr>
          <a:xfrm>
            <a:off x="978408" y="3035808"/>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8" name="TextBox 7"/>
          <p:cNvSpPr txBox="1"/>
          <p:nvPr/>
        </p:nvSpPr>
        <p:spPr>
          <a:xfrm>
            <a:off x="1618488" y="2862071"/>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Audio encoder → H</a:t>
            </a:r>
            <a:r>
              <a:rPr sz="2200" b="0" i="0" baseline="-25000">
                <a:solidFill>
                  <a:srgbClr val="1A1A1A"/>
                </a:solidFill>
                <a:latin typeface="Trebuchet MS"/>
              </a:rPr>
              <a:t>a</a:t>
            </a:r>
            <a:r>
              <a:rPr sz="2200" b="0" i="0">
                <a:solidFill>
                  <a:srgbClr val="1A1A1A"/>
                </a:solidFill>
                <a:latin typeface="Trebuchet MS"/>
              </a:rPr>
              <a:t>, lengths ⌈T</a:t>
            </a:r>
            <a:r>
              <a:rPr sz="2200" b="0" i="0" baseline="-25000">
                <a:solidFill>
                  <a:srgbClr val="1A1A1A"/>
                </a:solidFill>
                <a:latin typeface="Trebuchet MS"/>
              </a:rPr>
              <a:t>a</a:t>
            </a:r>
            <a:r>
              <a:rPr sz="2200" b="0" i="0">
                <a:solidFill>
                  <a:srgbClr val="1A1A1A"/>
                </a:solidFill>
                <a:latin typeface="Trebuchet MS"/>
              </a:rPr>
              <a:t>/4⌉</a:t>
            </a:r>
          </a:p>
        </p:txBody>
      </p:sp>
      <p:sp>
        <p:nvSpPr>
          <p:cNvPr id="9" name="Rounded Rectangle 8"/>
          <p:cNvSpPr/>
          <p:nvPr/>
        </p:nvSpPr>
        <p:spPr>
          <a:xfrm>
            <a:off x="841248" y="3886200"/>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0" name="Oval 9"/>
          <p:cNvSpPr/>
          <p:nvPr/>
        </p:nvSpPr>
        <p:spPr>
          <a:xfrm>
            <a:off x="978408" y="4087368"/>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11" name="TextBox 10"/>
          <p:cNvSpPr txBox="1"/>
          <p:nvPr/>
        </p:nvSpPr>
        <p:spPr>
          <a:xfrm>
            <a:off x="1618488" y="3913632"/>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Project and LayerNorm → A, V</a:t>
            </a:r>
          </a:p>
        </p:txBody>
      </p:sp>
      <p:sp>
        <p:nvSpPr>
          <p:cNvPr id="12" name="Rounded Rectangle 11"/>
          <p:cNvSpPr/>
          <p:nvPr/>
        </p:nvSpPr>
        <p:spPr>
          <a:xfrm>
            <a:off x="841248" y="4937759"/>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3" name="Oval 12"/>
          <p:cNvSpPr/>
          <p:nvPr/>
        </p:nvSpPr>
        <p:spPr>
          <a:xfrm>
            <a:off x="978408" y="5138927"/>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4" name="TextBox 13"/>
          <p:cNvSpPr txBox="1"/>
          <p:nvPr/>
        </p:nvSpPr>
        <p:spPr>
          <a:xfrm>
            <a:off x="1618488" y="4965192"/>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Training: modality dropout. Inference: e</a:t>
            </a:r>
            <a:r>
              <a:rPr sz="2200" b="0" i="0" baseline="-25000">
                <a:solidFill>
                  <a:srgbClr val="1A1A1A"/>
                </a:solidFill>
                <a:latin typeface="Trebuchet MS"/>
              </a:rPr>
              <a:t>miss</a:t>
            </a:r>
            <a:r>
              <a:rPr sz="2200" b="0" i="0">
                <a:solidFill>
                  <a:srgbClr val="1A1A1A"/>
                </a:solidFill>
                <a:latin typeface="Trebuchet MS"/>
              </a:rPr>
              <a:t> if no face</a:t>
            </a:r>
          </a:p>
        </p:txBody>
      </p:sp>
      <p:sp>
        <p:nvSpPr>
          <p:cNvPr id="15" name="Rounded Rectangle 14"/>
          <p:cNvSpPr/>
          <p:nvPr/>
        </p:nvSpPr>
        <p:spPr>
          <a:xfrm>
            <a:off x="6281928" y="1783080"/>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6" name="Oval 15"/>
          <p:cNvSpPr/>
          <p:nvPr/>
        </p:nvSpPr>
        <p:spPr>
          <a:xfrm>
            <a:off x="6419088" y="1984248"/>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5</a:t>
            </a:r>
          </a:p>
        </p:txBody>
      </p:sp>
      <p:sp>
        <p:nvSpPr>
          <p:cNvPr id="17" name="TextBox 16"/>
          <p:cNvSpPr txBox="1"/>
          <p:nvPr/>
        </p:nvSpPr>
        <p:spPr>
          <a:xfrm>
            <a:off x="7059168" y="1810512"/>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Cross-attention → Ã, Ṽ</a:t>
            </a:r>
          </a:p>
        </p:txBody>
      </p:sp>
      <p:sp>
        <p:nvSpPr>
          <p:cNvPr id="18" name="Rounded Rectangle 17"/>
          <p:cNvSpPr/>
          <p:nvPr/>
        </p:nvSpPr>
        <p:spPr>
          <a:xfrm>
            <a:off x="6281928" y="2834639"/>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9" name="Oval 18"/>
          <p:cNvSpPr/>
          <p:nvPr/>
        </p:nvSpPr>
        <p:spPr>
          <a:xfrm>
            <a:off x="6419088" y="3035808"/>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6</a:t>
            </a:r>
          </a:p>
        </p:txBody>
      </p:sp>
      <p:sp>
        <p:nvSpPr>
          <p:cNvPr id="20" name="TextBox 19"/>
          <p:cNvSpPr txBox="1"/>
          <p:nvPr/>
        </p:nvSpPr>
        <p:spPr>
          <a:xfrm>
            <a:off x="7059168" y="2862071"/>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Gate: F = g·Ã + (1 − g)·Ṽ</a:t>
            </a:r>
          </a:p>
        </p:txBody>
      </p:sp>
      <p:sp>
        <p:nvSpPr>
          <p:cNvPr id="21" name="Rounded Rectangle 20"/>
          <p:cNvSpPr/>
          <p:nvPr/>
        </p:nvSpPr>
        <p:spPr>
          <a:xfrm>
            <a:off x="6281928" y="3886200"/>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22" name="Oval 21"/>
          <p:cNvSpPr/>
          <p:nvPr/>
        </p:nvSpPr>
        <p:spPr>
          <a:xfrm>
            <a:off x="6419088" y="4087368"/>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7</a:t>
            </a:r>
          </a:p>
        </p:txBody>
      </p:sp>
      <p:sp>
        <p:nvSpPr>
          <p:cNvPr id="23" name="TextBox 22"/>
          <p:cNvSpPr txBox="1"/>
          <p:nvPr/>
        </p:nvSpPr>
        <p:spPr>
          <a:xfrm>
            <a:off x="7059168" y="3913632"/>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BiLSTM → linear → log-softmax: T×B×28</a:t>
            </a:r>
          </a:p>
        </p:txBody>
      </p:sp>
      <p:sp>
        <p:nvSpPr>
          <p:cNvPr id="24" name="Rounded Rectangle 23"/>
          <p:cNvSpPr/>
          <p:nvPr/>
        </p:nvSpPr>
        <p:spPr>
          <a:xfrm>
            <a:off x="6281928" y="4937759"/>
            <a:ext cx="5074920" cy="914400"/>
          </a:xfrm>
          <a:prstGeom prst="roundRect">
            <a:avLst>
              <a:gd name="adj" fmla="val 10000"/>
            </a:avLst>
          </a:prstGeom>
          <a:solidFill>
            <a:srgbClr val="EAF0F8"/>
          </a:solidFill>
          <a:ln>
            <a:noFill/>
          </a:ln>
        </p:spPr>
        <p:txBody>
          <a:bodyPr rtlCol="0" anchor="t" wrap="square" lIns="54864" rIns="54864" tIns="27432" bIns="27432">
            <a:noAutofit/>
          </a:bodyPr>
          <a:lstStyle/>
          <a:p>
            <a:pPr algn="l">
              <a:spcAft>
                <a:spcPts val="600"/>
              </a:spcAft>
            </a:pPr>
          </a:p>
        </p:txBody>
      </p:sp>
      <p:sp>
        <p:nvSpPr>
          <p:cNvPr id="25" name="Oval 24"/>
          <p:cNvSpPr/>
          <p:nvPr/>
        </p:nvSpPr>
        <p:spPr>
          <a:xfrm>
            <a:off x="6419088" y="5138927"/>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8</a:t>
            </a:r>
          </a:p>
        </p:txBody>
      </p:sp>
      <p:sp>
        <p:nvSpPr>
          <p:cNvPr id="26" name="TextBox 25"/>
          <p:cNvSpPr txBox="1"/>
          <p:nvPr/>
        </p:nvSpPr>
        <p:spPr>
          <a:xfrm>
            <a:off x="7059168" y="4965192"/>
            <a:ext cx="4206240" cy="868680"/>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Return log-probs, lengths, gate values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Part 5: Training and evaluation</a:t>
            </a:r>
          </a:p>
        </p:txBody>
      </p:sp>
      <p:sp>
        <p:nvSpPr>
          <p:cNvPr id="3" name="Rounded Rectangle 2"/>
          <p:cNvSpPr/>
          <p:nvPr/>
        </p:nvSpPr>
        <p:spPr>
          <a:xfrm>
            <a:off x="841248" y="1874519"/>
            <a:ext cx="3017520" cy="3017520"/>
          </a:xfrm>
          <a:prstGeom prst="roundRect">
            <a:avLst>
              <a:gd name="adj" fmla="val 3030"/>
            </a:avLst>
          </a:prstGeom>
          <a:solidFill>
            <a:srgbClr val="1F497D"/>
          </a:solidFill>
          <a:ln>
            <a:noFill/>
          </a:ln>
        </p:spPr>
        <p:txBody>
          <a:bodyPr rtlCol="0" anchor="ctr" wrap="square" lIns="73152" rIns="73152" tIns="27432" bIns="27432">
            <a:noAutofit/>
          </a:bodyPr>
          <a:lstStyle/>
          <a:p>
            <a:pPr algn="ctr">
              <a:spcAft>
                <a:spcPts val="0"/>
              </a:spcAft>
            </a:pPr>
            <a:r>
              <a:rPr sz="9600" b="1" i="0">
                <a:solidFill>
                  <a:srgbClr val="FFFFFF"/>
                </a:solidFill>
                <a:latin typeface="Trebuchet MS"/>
              </a:rPr>
              <a:t>05</a:t>
            </a:r>
          </a:p>
        </p:txBody>
      </p:sp>
      <p:sp>
        <p:nvSpPr>
          <p:cNvPr id="4" name="TextBox 3"/>
          <p:cNvSpPr txBox="1"/>
          <p:nvPr/>
        </p:nvSpPr>
        <p:spPr>
          <a:xfrm>
            <a:off x="841248" y="5074920"/>
            <a:ext cx="3017520" cy="822960"/>
          </a:xfrm>
          <a:prstGeom prst="rect">
            <a:avLst/>
          </a:prstGeom>
          <a:noFill/>
        </p:spPr>
        <p:txBody>
          <a:bodyPr wrap="square" lIns="54864" rIns="54864" tIns="27432" bIns="27432" anchor="t">
            <a:noAutofit/>
          </a:bodyPr>
          <a:lstStyle/>
          <a:p>
            <a:pPr algn="ctr">
              <a:spcAft>
                <a:spcPts val="0"/>
              </a:spcAft>
            </a:pPr>
            <a:r>
              <a:rPr sz="2200" b="0" i="0">
                <a:solidFill>
                  <a:srgbClr val="595959"/>
                </a:solidFill>
                <a:latin typeface="Trebuchet MS"/>
              </a:rPr>
              <a:t>Presented by</a:t>
            </a:r>
          </a:p>
          <a:p>
            <a:pPr algn="ctr">
              <a:spcAft>
                <a:spcPts val="0"/>
              </a:spcAft>
            </a:pPr>
            <a:r>
              <a:rPr sz="2200" b="1" i="0">
                <a:solidFill>
                  <a:srgbClr val="1F497D"/>
                </a:solidFill>
                <a:latin typeface="Trebuchet MS"/>
              </a:rPr>
              <a:t>Ansasire Nehum Naamaye</a:t>
            </a:r>
          </a:p>
        </p:txBody>
      </p:sp>
      <p:sp>
        <p:nvSpPr>
          <p:cNvPr id="5" name="TextBox 4"/>
          <p:cNvSpPr txBox="1"/>
          <p:nvPr/>
        </p:nvSpPr>
        <p:spPr>
          <a:xfrm>
            <a:off x="4480560" y="1828800"/>
            <a:ext cx="6858000" cy="457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In this part</a:t>
            </a:r>
          </a:p>
        </p:txBody>
      </p:sp>
      <p:sp>
        <p:nvSpPr>
          <p:cNvPr id="6" name="TextBox 5"/>
          <p:cNvSpPr txBox="1"/>
          <p:nvPr/>
        </p:nvSpPr>
        <p:spPr>
          <a:xfrm>
            <a:off x="4480560" y="2331720"/>
            <a:ext cx="6858000" cy="3566160"/>
          </a:xfrm>
          <a:prstGeom prst="rect">
            <a:avLst/>
          </a:prstGeom>
          <a:noFill/>
        </p:spPr>
        <p:txBody>
          <a:bodyPr wrap="square" lIns="54864" rIns="54864" tIns="27432" bIns="27432" anchor="t">
            <a:noAutofit/>
          </a:bodyPr>
          <a:lstStyle/>
          <a:p>
            <a:pPr algn="l" marL="292608" indent="-292608">
              <a:spcAft>
                <a:spcPts val="500"/>
              </a:spcAft>
              <a:buClr>
                <a:srgbClr val="D7014D"/>
              </a:buClr>
              <a:buFont typeface="Arial"/>
              <a:buChar char="•"/>
            </a:pPr>
            <a:r>
              <a:rPr sz="2200" b="0" i="0">
                <a:solidFill>
                  <a:srgbClr val="1A1A1A"/>
                </a:solidFill>
                <a:latin typeface="Trebuchet MS"/>
              </a:rPr>
              <a:t>The training loop and hyperparameters</a:t>
            </a:r>
          </a:p>
          <a:p>
            <a:pPr algn="l" marL="292608" indent="-292608">
              <a:spcAft>
                <a:spcPts val="500"/>
              </a:spcAft>
              <a:buClr>
                <a:srgbClr val="D7014D"/>
              </a:buClr>
              <a:buFont typeface="Arial"/>
              <a:buChar char="•"/>
            </a:pPr>
            <a:r>
              <a:rPr sz="2200" b="0" i="0">
                <a:solidFill>
                  <a:srgbClr val="1A1A1A"/>
                </a:solidFill>
                <a:latin typeface="Trebuchet MS"/>
              </a:rPr>
              <a:t>Baselines and ablations</a:t>
            </a:r>
          </a:p>
          <a:p>
            <a:pPr algn="l" marL="292608" indent="-292608">
              <a:spcAft>
                <a:spcPts val="500"/>
              </a:spcAft>
              <a:buClr>
                <a:srgbClr val="D7014D"/>
              </a:buClr>
              <a:buFont typeface="Arial"/>
              <a:buChar char="•"/>
            </a:pPr>
            <a:r>
              <a:rPr sz="2200" b="0" i="0">
                <a:solidFill>
                  <a:srgbClr val="1A1A1A"/>
                </a:solidFill>
                <a:latin typeface="Trebuchet MS"/>
              </a:rPr>
              <a:t>Metrics and evaluation protocol</a:t>
            </a:r>
          </a:p>
          <a:p>
            <a:pPr algn="l" marL="292608" indent="-292608">
              <a:spcAft>
                <a:spcPts val="500"/>
              </a:spcAft>
              <a:buClr>
                <a:srgbClr val="D7014D"/>
              </a:buClr>
              <a:buFont typeface="Arial"/>
              <a:buChar char="•"/>
            </a:pPr>
            <a:r>
              <a:rPr sz="2200" b="0" i="0">
                <a:solidFill>
                  <a:srgbClr val="1A1A1A"/>
                </a:solidFill>
                <a:latin typeface="Trebuchet MS"/>
              </a:rPr>
              <a:t>Interpreting results</a:t>
            </a:r>
          </a:p>
          <a:p>
            <a:pPr algn="l" marL="292608" indent="-292608">
              <a:spcAft>
                <a:spcPts val="500"/>
              </a:spcAft>
              <a:buClr>
                <a:srgbClr val="D7014D"/>
              </a:buClr>
              <a:buFont typeface="Arial"/>
              <a:buChar char="•"/>
            </a:pPr>
            <a:r>
              <a:rPr sz="2200" b="0" i="0">
                <a:solidFill>
                  <a:srgbClr val="1A1A1A"/>
                </a:solidFill>
                <a:latin typeface="Trebuchet MS"/>
              </a:rPr>
              <a:t>Latency and automated tests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Training loop in train.py</a:t>
            </a:r>
          </a:p>
        </p:txBody>
      </p:sp>
      <p:sp>
        <p:nvSpPr>
          <p:cNvPr id="3" name="Rounded Rectangle 2"/>
          <p:cNvSpPr/>
          <p:nvPr/>
        </p:nvSpPr>
        <p:spPr>
          <a:xfrm>
            <a:off x="841248" y="178308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1. Set up</a:t>
            </a:r>
          </a:p>
          <a:p>
            <a:pPr algn="ctr">
              <a:spcAft>
                <a:spcPts val="0"/>
              </a:spcAft>
            </a:pPr>
            <a:r>
              <a:rPr sz="2200" b="0" i="0">
                <a:solidFill>
                  <a:srgbClr val="1A1A1A"/>
                </a:solidFill>
                <a:latin typeface="Trebuchet MS"/>
              </a:rPr>
              <a:t>seeds, run folder</a:t>
            </a:r>
          </a:p>
        </p:txBody>
      </p:sp>
      <p:cxnSp>
        <p:nvCxnSpPr>
          <p:cNvPr id="4" name="Connector 3"/>
          <p:cNvCxnSpPr/>
          <p:nvPr/>
        </p:nvCxnSpPr>
        <p:spPr>
          <a:xfrm>
            <a:off x="3977640" y="2354580"/>
            <a:ext cx="539496" cy="0"/>
          </a:xfrm>
          <a:prstGeom prst="line">
            <a:avLst/>
          </a:prstGeom>
          <a:ln w="25400">
            <a:solidFill>
              <a:srgbClr val="595959"/>
            </a:solidFill>
            <a:tailEnd type="triangle" w="med" len="med"/>
          </a:ln>
        </p:spPr>
      </p:cxnSp>
      <p:sp>
        <p:nvSpPr>
          <p:cNvPr id="5" name="Rounded Rectangle 4"/>
          <p:cNvSpPr/>
          <p:nvPr/>
        </p:nvSpPr>
        <p:spPr>
          <a:xfrm>
            <a:off x="4544568" y="178308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2. Datasets</a:t>
            </a:r>
          </a:p>
          <a:p>
            <a:pPr algn="ctr">
              <a:spcAft>
                <a:spcPts val="0"/>
              </a:spcAft>
            </a:pPr>
            <a:r>
              <a:rPr sz="2200" b="0" i="0">
                <a:solidFill>
                  <a:srgbClr val="1A1A1A"/>
                </a:solidFill>
                <a:latin typeface="Trebuchet MS"/>
              </a:rPr>
              <a:t>manifest + splits</a:t>
            </a:r>
          </a:p>
        </p:txBody>
      </p:sp>
      <p:cxnSp>
        <p:nvCxnSpPr>
          <p:cNvPr id="6" name="Connector 5"/>
          <p:cNvCxnSpPr/>
          <p:nvPr/>
        </p:nvCxnSpPr>
        <p:spPr>
          <a:xfrm>
            <a:off x="7680960" y="2354580"/>
            <a:ext cx="539495" cy="0"/>
          </a:xfrm>
          <a:prstGeom prst="line">
            <a:avLst/>
          </a:prstGeom>
          <a:ln w="25400">
            <a:solidFill>
              <a:srgbClr val="595959"/>
            </a:solidFill>
            <a:tailEnd type="triangle" w="med" len="med"/>
          </a:ln>
        </p:spPr>
      </p:cxnSp>
      <p:sp>
        <p:nvSpPr>
          <p:cNvPr id="7" name="Rounded Rectangle 6"/>
          <p:cNvSpPr/>
          <p:nvPr/>
        </p:nvSpPr>
        <p:spPr>
          <a:xfrm>
            <a:off x="8247888" y="178308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3. Batches</a:t>
            </a:r>
          </a:p>
          <a:p>
            <a:pPr algn="ctr">
              <a:spcAft>
                <a:spcPts val="0"/>
              </a:spcAft>
            </a:pPr>
            <a:r>
              <a:rPr sz="2200" b="0" i="0">
                <a:solidFill>
                  <a:srgbClr val="1A1A1A"/>
                </a:solidFill>
                <a:latin typeface="Trebuchet MS"/>
              </a:rPr>
              <a:t>pad, lengths, masks</a:t>
            </a:r>
          </a:p>
        </p:txBody>
      </p:sp>
      <p:sp>
        <p:nvSpPr>
          <p:cNvPr id="8" name="Rounded Rectangle 7"/>
          <p:cNvSpPr/>
          <p:nvPr/>
        </p:nvSpPr>
        <p:spPr>
          <a:xfrm>
            <a:off x="8247888" y="324612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4. Initialise</a:t>
            </a:r>
          </a:p>
          <a:p>
            <a:pPr algn="ctr">
              <a:spcAft>
                <a:spcPts val="0"/>
              </a:spcAft>
            </a:pPr>
            <a:r>
              <a:rPr sz="2200" b="0" i="0">
                <a:solidFill>
                  <a:srgbClr val="1A1A1A"/>
                </a:solidFill>
                <a:latin typeface="Trebuchet MS"/>
              </a:rPr>
              <a:t>LSTM forget bias 1</a:t>
            </a:r>
          </a:p>
        </p:txBody>
      </p:sp>
      <p:cxnSp>
        <p:nvCxnSpPr>
          <p:cNvPr id="9" name="Connector 8"/>
          <p:cNvCxnSpPr/>
          <p:nvPr/>
        </p:nvCxnSpPr>
        <p:spPr>
          <a:xfrm flipH="1">
            <a:off x="7680960" y="3817620"/>
            <a:ext cx="539496" cy="0"/>
          </a:xfrm>
          <a:prstGeom prst="line">
            <a:avLst/>
          </a:prstGeom>
          <a:ln w="25400">
            <a:solidFill>
              <a:srgbClr val="595959"/>
            </a:solidFill>
            <a:tailEnd type="triangle" w="med" len="med"/>
          </a:ln>
        </p:spPr>
      </p:cxnSp>
      <p:sp>
        <p:nvSpPr>
          <p:cNvPr id="10" name="Rounded Rectangle 9"/>
          <p:cNvSpPr/>
          <p:nvPr/>
        </p:nvSpPr>
        <p:spPr>
          <a:xfrm>
            <a:off x="4544568" y="324612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5. Train</a:t>
            </a:r>
          </a:p>
          <a:p>
            <a:pPr algn="ctr">
              <a:spcAft>
                <a:spcPts val="0"/>
              </a:spcAft>
            </a:pPr>
            <a:r>
              <a:rPr sz="2200" b="0" i="0">
                <a:solidFill>
                  <a:srgbClr val="1A1A1A"/>
                </a:solidFill>
                <a:latin typeface="Trebuchet MS"/>
              </a:rPr>
              <a:t>AMP, clip, step</a:t>
            </a:r>
          </a:p>
        </p:txBody>
      </p:sp>
      <p:cxnSp>
        <p:nvCxnSpPr>
          <p:cNvPr id="11" name="Connector 10"/>
          <p:cNvCxnSpPr/>
          <p:nvPr/>
        </p:nvCxnSpPr>
        <p:spPr>
          <a:xfrm flipH="1">
            <a:off x="3977639" y="3817620"/>
            <a:ext cx="539497" cy="0"/>
          </a:xfrm>
          <a:prstGeom prst="line">
            <a:avLst/>
          </a:prstGeom>
          <a:ln w="25400">
            <a:solidFill>
              <a:srgbClr val="595959"/>
            </a:solidFill>
            <a:tailEnd type="triangle" w="med" len="med"/>
          </a:ln>
        </p:spPr>
      </p:cxnSp>
      <p:sp>
        <p:nvSpPr>
          <p:cNvPr id="12" name="Rounded Rectangle 11"/>
          <p:cNvSpPr/>
          <p:nvPr/>
        </p:nvSpPr>
        <p:spPr>
          <a:xfrm>
            <a:off x="841248" y="324612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6. Validate</a:t>
            </a:r>
          </a:p>
          <a:p>
            <a:pPr algn="ctr">
              <a:spcAft>
                <a:spcPts val="0"/>
              </a:spcAft>
            </a:pPr>
            <a:r>
              <a:rPr sz="2200" b="0" i="0">
                <a:solidFill>
                  <a:srgbClr val="1A1A1A"/>
                </a:solidFill>
                <a:latin typeface="Trebuchet MS"/>
              </a:rPr>
              <a:t>WER, CER per SNR</a:t>
            </a:r>
          </a:p>
        </p:txBody>
      </p:sp>
      <p:sp>
        <p:nvSpPr>
          <p:cNvPr id="13" name="Rounded Rectangle 12"/>
          <p:cNvSpPr/>
          <p:nvPr/>
        </p:nvSpPr>
        <p:spPr>
          <a:xfrm>
            <a:off x="841248" y="470916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7. Checkpoint</a:t>
            </a:r>
          </a:p>
          <a:p>
            <a:pPr algn="ctr">
              <a:spcAft>
                <a:spcPts val="0"/>
              </a:spcAft>
            </a:pPr>
            <a:r>
              <a:rPr sz="2200" b="0" i="0">
                <a:solidFill>
                  <a:srgbClr val="1A1A1A"/>
                </a:solidFill>
                <a:latin typeface="Trebuchet MS"/>
              </a:rPr>
              <a:t>latest + best WER</a:t>
            </a:r>
          </a:p>
        </p:txBody>
      </p:sp>
      <p:cxnSp>
        <p:nvCxnSpPr>
          <p:cNvPr id="14" name="Connector 13"/>
          <p:cNvCxnSpPr/>
          <p:nvPr/>
        </p:nvCxnSpPr>
        <p:spPr>
          <a:xfrm>
            <a:off x="3977640" y="5280660"/>
            <a:ext cx="539496" cy="0"/>
          </a:xfrm>
          <a:prstGeom prst="line">
            <a:avLst/>
          </a:prstGeom>
          <a:ln w="25400">
            <a:solidFill>
              <a:srgbClr val="595959"/>
            </a:solidFill>
            <a:tailEnd type="triangle" w="med" len="med"/>
          </a:ln>
        </p:spPr>
      </p:cxnSp>
      <p:sp>
        <p:nvSpPr>
          <p:cNvPr id="15" name="Rounded Rectangle 14"/>
          <p:cNvSpPr/>
          <p:nvPr/>
        </p:nvSpPr>
        <p:spPr>
          <a:xfrm>
            <a:off x="4544568" y="470916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8. Stop</a:t>
            </a:r>
          </a:p>
          <a:p>
            <a:pPr algn="ctr">
              <a:spcAft>
                <a:spcPts val="0"/>
              </a:spcAft>
            </a:pPr>
            <a:r>
              <a:rPr sz="2200" b="0" i="0">
                <a:solidFill>
                  <a:srgbClr val="1A1A1A"/>
                </a:solidFill>
                <a:latin typeface="Trebuchet MS"/>
              </a:rPr>
              <a:t>patience 8 epochs</a:t>
            </a:r>
          </a:p>
        </p:txBody>
      </p:sp>
      <p:cxnSp>
        <p:nvCxnSpPr>
          <p:cNvPr id="16" name="Connector 15"/>
          <p:cNvCxnSpPr/>
          <p:nvPr/>
        </p:nvCxnSpPr>
        <p:spPr>
          <a:xfrm>
            <a:off x="7680960" y="5280660"/>
            <a:ext cx="539495" cy="0"/>
          </a:xfrm>
          <a:prstGeom prst="line">
            <a:avLst/>
          </a:prstGeom>
          <a:ln w="25400">
            <a:solidFill>
              <a:srgbClr val="595959"/>
            </a:solidFill>
            <a:tailEnd type="triangle" w="med" len="med"/>
          </a:ln>
        </p:spPr>
      </p:cxnSp>
      <p:sp>
        <p:nvSpPr>
          <p:cNvPr id="17" name="Rounded Rectangle 16"/>
          <p:cNvSpPr/>
          <p:nvPr/>
        </p:nvSpPr>
        <p:spPr>
          <a:xfrm>
            <a:off x="8247888" y="4709160"/>
            <a:ext cx="3108960" cy="1143000"/>
          </a:xfrm>
          <a:prstGeom prst="roundRect">
            <a:avLst>
              <a:gd name="adj" fmla="val 8000"/>
            </a:avLst>
          </a:prstGeom>
          <a:solidFill>
            <a:srgbClr val="EAF0F8"/>
          </a:solidFill>
          <a:ln>
            <a:noFill/>
          </a:ln>
        </p:spPr>
        <p:txBody>
          <a:bodyPr rtlCol="0" anchor="ctr" wrap="square" lIns="73152" rIns="73152" tIns="27432" bIns="27432">
            <a:noAutofit/>
          </a:bodyPr>
          <a:lstStyle/>
          <a:p>
            <a:pPr algn="ctr">
              <a:spcAft>
                <a:spcPts val="0"/>
              </a:spcAft>
            </a:pPr>
            <a:r>
              <a:rPr sz="2200" b="1" i="0">
                <a:solidFill>
                  <a:srgbClr val="1F497D"/>
                </a:solidFill>
                <a:latin typeface="Trebuchet MS"/>
              </a:rPr>
              <a:t>9. Restore best</a:t>
            </a:r>
          </a:p>
          <a:p>
            <a:pPr algn="ctr">
              <a:spcAft>
                <a:spcPts val="0"/>
              </a:spcAft>
            </a:pPr>
            <a:r>
              <a:rPr sz="2200" b="0" i="0">
                <a:solidFill>
                  <a:srgbClr val="1A1A1A"/>
                </a:solidFill>
                <a:latin typeface="Trebuchet MS"/>
              </a:rPr>
              <a:t>evaluate, export</a:t>
            </a:r>
          </a:p>
        </p:txBody>
      </p:sp>
      <p:cxnSp>
        <p:nvCxnSpPr>
          <p:cNvPr id="18" name="Connector 17"/>
          <p:cNvCxnSpPr/>
          <p:nvPr/>
        </p:nvCxnSpPr>
        <p:spPr>
          <a:xfrm>
            <a:off x="9802367" y="2953512"/>
            <a:ext cx="0" cy="265176"/>
          </a:xfrm>
          <a:prstGeom prst="line">
            <a:avLst/>
          </a:prstGeom>
          <a:ln w="25400">
            <a:solidFill>
              <a:srgbClr val="595959"/>
            </a:solidFill>
            <a:tailEnd type="triangle" w="med" len="med"/>
          </a:ln>
        </p:spPr>
      </p:cxnSp>
      <p:cxnSp>
        <p:nvCxnSpPr>
          <p:cNvPr id="19" name="Connector 18"/>
          <p:cNvCxnSpPr/>
          <p:nvPr/>
        </p:nvCxnSpPr>
        <p:spPr>
          <a:xfrm>
            <a:off x="2395728" y="4416552"/>
            <a:ext cx="0" cy="265176"/>
          </a:xfrm>
          <a:prstGeom prst="line">
            <a:avLst/>
          </a:prstGeom>
          <a:ln w="25400">
            <a:solidFill>
              <a:srgbClr val="595959"/>
            </a:solidFill>
            <a:tailEnd type="triangle" w="med" len="med"/>
          </a:ln>
        </p:spPr>
      </p:cxn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Starting hyperparameters</a:t>
            </a:r>
          </a:p>
        </p:txBody>
      </p:sp>
      <p:sp>
        <p:nvSpPr>
          <p:cNvPr id="3" name="Rounded Rectangle 2"/>
          <p:cNvSpPr/>
          <p:nvPr/>
        </p:nvSpPr>
        <p:spPr>
          <a:xfrm>
            <a:off x="841248" y="178308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Optimiser</a:t>
            </a:r>
          </a:p>
          <a:p>
            <a:pPr algn="ctr">
              <a:spcAft>
                <a:spcPts val="0"/>
              </a:spcAft>
            </a:pPr>
            <a:r>
              <a:rPr sz="2200" b="1" i="0">
                <a:solidFill>
                  <a:srgbClr val="1F497D"/>
                </a:solidFill>
                <a:latin typeface="Trebuchet MS"/>
              </a:rPr>
              <a:t>AdamW</a:t>
            </a:r>
          </a:p>
        </p:txBody>
      </p:sp>
      <p:sp>
        <p:nvSpPr>
          <p:cNvPr id="4" name="Rounded Rectangle 3"/>
          <p:cNvSpPr/>
          <p:nvPr/>
        </p:nvSpPr>
        <p:spPr>
          <a:xfrm>
            <a:off x="3554272" y="178308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Peak LR</a:t>
            </a:r>
          </a:p>
          <a:p>
            <a:pPr algn="ctr">
              <a:spcAft>
                <a:spcPts val="0"/>
              </a:spcAft>
            </a:pPr>
            <a:r>
              <a:rPr sz="2200" b="1" i="0">
                <a:solidFill>
                  <a:srgbClr val="1F497D"/>
                </a:solidFill>
                <a:latin typeface="Trebuchet MS"/>
              </a:rPr>
              <a:t>3 × 10</a:t>
            </a:r>
            <a:r>
              <a:rPr sz="2200" b="1" i="0" baseline="30000">
                <a:solidFill>
                  <a:srgbClr val="1F497D"/>
                </a:solidFill>
                <a:latin typeface="Trebuchet MS"/>
              </a:rPr>
              <a:t>−4</a:t>
            </a:r>
          </a:p>
        </p:txBody>
      </p:sp>
      <p:sp>
        <p:nvSpPr>
          <p:cNvPr id="5" name="Rounded Rectangle 4"/>
          <p:cNvSpPr/>
          <p:nvPr/>
        </p:nvSpPr>
        <p:spPr>
          <a:xfrm>
            <a:off x="6267297" y="178308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Weight decay</a:t>
            </a:r>
          </a:p>
          <a:p>
            <a:pPr algn="ctr">
              <a:spcAft>
                <a:spcPts val="0"/>
              </a:spcAft>
            </a:pPr>
            <a:r>
              <a:rPr sz="2200" b="1" i="0">
                <a:solidFill>
                  <a:srgbClr val="1F497D"/>
                </a:solidFill>
                <a:latin typeface="Trebuchet MS"/>
              </a:rPr>
              <a:t>10</a:t>
            </a:r>
            <a:r>
              <a:rPr sz="2200" b="1" i="0" baseline="30000">
                <a:solidFill>
                  <a:srgbClr val="1F497D"/>
                </a:solidFill>
                <a:latin typeface="Trebuchet MS"/>
              </a:rPr>
              <a:t>−2</a:t>
            </a:r>
          </a:p>
        </p:txBody>
      </p:sp>
      <p:sp>
        <p:nvSpPr>
          <p:cNvPr id="6" name="Rounded Rectangle 5"/>
          <p:cNvSpPr/>
          <p:nvPr/>
        </p:nvSpPr>
        <p:spPr>
          <a:xfrm>
            <a:off x="8980322" y="178308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Schedule</a:t>
            </a:r>
          </a:p>
          <a:p>
            <a:pPr algn="ctr">
              <a:spcAft>
                <a:spcPts val="0"/>
              </a:spcAft>
            </a:pPr>
            <a:r>
              <a:rPr sz="2200" b="1" i="0">
                <a:solidFill>
                  <a:srgbClr val="1F497D"/>
                </a:solidFill>
                <a:latin typeface="Trebuchet MS"/>
              </a:rPr>
              <a:t>warm-up, cosine</a:t>
            </a:r>
          </a:p>
        </p:txBody>
      </p:sp>
      <p:sp>
        <p:nvSpPr>
          <p:cNvPr id="7" name="Rounded Rectangle 6"/>
          <p:cNvSpPr/>
          <p:nvPr/>
        </p:nvSpPr>
        <p:spPr>
          <a:xfrm>
            <a:off x="841248" y="3063239"/>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Batch size</a:t>
            </a:r>
          </a:p>
          <a:p>
            <a:pPr algn="ctr">
              <a:spcAft>
                <a:spcPts val="0"/>
              </a:spcAft>
            </a:pPr>
            <a:r>
              <a:rPr sz="2200" b="1" i="0">
                <a:solidFill>
                  <a:srgbClr val="1F497D"/>
                </a:solidFill>
                <a:latin typeface="Trebuchet MS"/>
              </a:rPr>
              <a:t>16 clips</a:t>
            </a:r>
          </a:p>
        </p:txBody>
      </p:sp>
      <p:sp>
        <p:nvSpPr>
          <p:cNvPr id="8" name="Rounded Rectangle 7"/>
          <p:cNvSpPr/>
          <p:nvPr/>
        </p:nvSpPr>
        <p:spPr>
          <a:xfrm>
            <a:off x="3554272" y="3063239"/>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Grad clipping</a:t>
            </a:r>
          </a:p>
          <a:p>
            <a:pPr algn="ctr">
              <a:spcAft>
                <a:spcPts val="0"/>
              </a:spcAft>
            </a:pPr>
            <a:r>
              <a:rPr sz="2200" b="1" i="0">
                <a:solidFill>
                  <a:srgbClr val="1F497D"/>
                </a:solidFill>
                <a:latin typeface="Trebuchet MS"/>
              </a:rPr>
              <a:t>norm 5.0</a:t>
            </a:r>
          </a:p>
        </p:txBody>
      </p:sp>
      <p:sp>
        <p:nvSpPr>
          <p:cNvPr id="9" name="Rounded Rectangle 8"/>
          <p:cNvSpPr/>
          <p:nvPr/>
        </p:nvSpPr>
        <p:spPr>
          <a:xfrm>
            <a:off x="6267297" y="3063239"/>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Dropout</a:t>
            </a:r>
          </a:p>
          <a:p>
            <a:pPr algn="ctr">
              <a:spcAft>
                <a:spcPts val="0"/>
              </a:spcAft>
            </a:pPr>
            <a:r>
              <a:rPr sz="2200" b="1" i="0">
                <a:solidFill>
                  <a:srgbClr val="1F497D"/>
                </a:solidFill>
                <a:latin typeface="Trebuchet MS"/>
              </a:rPr>
              <a:t>0.3 / 0.1</a:t>
            </a:r>
          </a:p>
        </p:txBody>
      </p:sp>
      <p:sp>
        <p:nvSpPr>
          <p:cNvPr id="10" name="Rounded Rectangle 9"/>
          <p:cNvSpPr/>
          <p:nvPr/>
        </p:nvSpPr>
        <p:spPr>
          <a:xfrm>
            <a:off x="8980322" y="3063239"/>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Modality drop</a:t>
            </a:r>
          </a:p>
          <a:p>
            <a:pPr algn="ctr">
              <a:spcAft>
                <a:spcPts val="0"/>
              </a:spcAft>
            </a:pPr>
            <a:r>
              <a:rPr sz="2200" b="1" i="0">
                <a:solidFill>
                  <a:srgbClr val="1F497D"/>
                </a:solidFill>
                <a:latin typeface="Trebuchet MS"/>
              </a:rPr>
              <a:t>0.25 / 0.15</a:t>
            </a:r>
          </a:p>
        </p:txBody>
      </p:sp>
      <p:sp>
        <p:nvSpPr>
          <p:cNvPr id="11" name="Rounded Rectangle 10"/>
          <p:cNvSpPr/>
          <p:nvPr/>
        </p:nvSpPr>
        <p:spPr>
          <a:xfrm>
            <a:off x="841248" y="434340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Max epochs</a:t>
            </a:r>
          </a:p>
          <a:p>
            <a:pPr algn="ctr">
              <a:spcAft>
                <a:spcPts val="0"/>
              </a:spcAft>
            </a:pPr>
            <a:r>
              <a:rPr sz="2200" b="1" i="0">
                <a:solidFill>
                  <a:srgbClr val="1F497D"/>
                </a:solidFill>
                <a:latin typeface="Trebuchet MS"/>
              </a:rPr>
              <a:t>60</a:t>
            </a:r>
          </a:p>
        </p:txBody>
      </p:sp>
      <p:sp>
        <p:nvSpPr>
          <p:cNvPr id="12" name="Rounded Rectangle 11"/>
          <p:cNvSpPr/>
          <p:nvPr/>
        </p:nvSpPr>
        <p:spPr>
          <a:xfrm>
            <a:off x="3554272" y="434340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Early stop</a:t>
            </a:r>
          </a:p>
          <a:p>
            <a:pPr algn="ctr">
              <a:spcAft>
                <a:spcPts val="0"/>
              </a:spcAft>
            </a:pPr>
            <a:r>
              <a:rPr sz="2200" b="1" i="0">
                <a:solidFill>
                  <a:srgbClr val="1F497D"/>
                </a:solidFill>
                <a:latin typeface="Trebuchet MS"/>
              </a:rPr>
              <a:t>8 epochs</a:t>
            </a:r>
          </a:p>
        </p:txBody>
      </p:sp>
      <p:sp>
        <p:nvSpPr>
          <p:cNvPr id="13" name="Rounded Rectangle 12"/>
          <p:cNvSpPr/>
          <p:nvPr/>
        </p:nvSpPr>
        <p:spPr>
          <a:xfrm>
            <a:off x="6267297" y="434340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Beam width</a:t>
            </a:r>
          </a:p>
          <a:p>
            <a:pPr algn="ctr">
              <a:spcAft>
                <a:spcPts val="0"/>
              </a:spcAft>
            </a:pPr>
            <a:r>
              <a:rPr sz="2200" b="1" i="0">
                <a:solidFill>
                  <a:srgbClr val="1F497D"/>
                </a:solidFill>
                <a:latin typeface="Trebuchet MS"/>
              </a:rPr>
              <a:t>10</a:t>
            </a:r>
          </a:p>
        </p:txBody>
      </p:sp>
      <p:sp>
        <p:nvSpPr>
          <p:cNvPr id="14" name="Rounded Rectangle 13"/>
          <p:cNvSpPr/>
          <p:nvPr/>
        </p:nvSpPr>
        <p:spPr>
          <a:xfrm>
            <a:off x="8980322" y="4343400"/>
            <a:ext cx="2377440" cy="1097280"/>
          </a:xfrm>
          <a:prstGeom prst="roundRect">
            <a:avLst>
              <a:gd name="adj" fmla="val 8333"/>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595959"/>
                </a:solidFill>
                <a:latin typeface="Trebuchet MS"/>
              </a:rPr>
              <a:t>Seeds</a:t>
            </a:r>
          </a:p>
          <a:p>
            <a:pPr algn="ctr">
              <a:spcAft>
                <a:spcPts val="0"/>
              </a:spcAft>
            </a:pPr>
            <a:r>
              <a:rPr sz="2200" b="1" i="0">
                <a:solidFill>
                  <a:srgbClr val="1F497D"/>
                </a:solidFill>
                <a:latin typeface="Trebuchet MS"/>
              </a:rPr>
              <a:t>1, 2, 3</a:t>
            </a:r>
          </a:p>
        </p:txBody>
      </p:sp>
      <p:sp>
        <p:nvSpPr>
          <p:cNvPr id="15" name="TextBox 14"/>
          <p:cNvSpPr txBox="1"/>
          <p:nvPr/>
        </p:nvSpPr>
        <p:spPr>
          <a:xfrm>
            <a:off x="841248" y="5577840"/>
            <a:ext cx="10515600" cy="41148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Learning rate, dropout and modality dropout are tuned on validation data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Three baselines and the full model</a:t>
            </a:r>
          </a:p>
        </p:txBody>
      </p:sp>
      <p:sp>
        <p:nvSpPr>
          <p:cNvPr id="3" name="TextBox 2"/>
          <p:cNvSpPr txBox="1"/>
          <p:nvPr/>
        </p:nvSpPr>
        <p:spPr>
          <a:xfrm>
            <a:off x="841248" y="1783080"/>
            <a:ext cx="2651760" cy="68580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B1 Audio-only</a:t>
            </a:r>
          </a:p>
        </p:txBody>
      </p:sp>
      <p:sp>
        <p:nvSpPr>
          <p:cNvPr id="4" name="Rounded Rectangle 3"/>
          <p:cNvSpPr/>
          <p:nvPr/>
        </p:nvSpPr>
        <p:spPr>
          <a:xfrm>
            <a:off x="3611880" y="1828800"/>
            <a:ext cx="1280160" cy="594360"/>
          </a:xfrm>
          <a:prstGeom prst="roundRect">
            <a:avLst>
              <a:gd name="adj" fmla="val 15384"/>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Audio</a:t>
            </a:r>
          </a:p>
        </p:txBody>
      </p:sp>
      <p:cxnSp>
        <p:nvCxnSpPr>
          <p:cNvPr id="5" name="Connector 4"/>
          <p:cNvCxnSpPr/>
          <p:nvPr/>
        </p:nvCxnSpPr>
        <p:spPr>
          <a:xfrm>
            <a:off x="4919472" y="2125980"/>
            <a:ext cx="4215384" cy="0"/>
          </a:xfrm>
          <a:prstGeom prst="line">
            <a:avLst/>
          </a:prstGeom>
          <a:ln w="25400">
            <a:solidFill>
              <a:srgbClr val="595959"/>
            </a:solidFill>
            <a:tailEnd type="triangle" w="med" len="med"/>
          </a:ln>
        </p:spPr>
      </p:cxnSp>
      <p:sp>
        <p:nvSpPr>
          <p:cNvPr id="6" name="Rounded Rectangle 5"/>
          <p:cNvSpPr/>
          <p:nvPr/>
        </p:nvSpPr>
        <p:spPr>
          <a:xfrm>
            <a:off x="9162288" y="1828800"/>
            <a:ext cx="2194560" cy="594360"/>
          </a:xfrm>
          <a:prstGeom prst="roundRect">
            <a:avLst>
              <a:gd name="adj" fmla="val 15384"/>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BiLSTM → CTC</a:t>
            </a:r>
          </a:p>
        </p:txBody>
      </p:sp>
      <p:sp>
        <p:nvSpPr>
          <p:cNvPr id="7" name="TextBox 6"/>
          <p:cNvSpPr txBox="1"/>
          <p:nvPr/>
        </p:nvSpPr>
        <p:spPr>
          <a:xfrm>
            <a:off x="841248" y="2651760"/>
            <a:ext cx="2651760" cy="68580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B2 Visual-only</a:t>
            </a:r>
          </a:p>
        </p:txBody>
      </p:sp>
      <p:sp>
        <p:nvSpPr>
          <p:cNvPr id="8" name="Rounded Rectangle 7"/>
          <p:cNvSpPr/>
          <p:nvPr/>
        </p:nvSpPr>
        <p:spPr>
          <a:xfrm>
            <a:off x="3611880" y="2697479"/>
            <a:ext cx="1280160" cy="594360"/>
          </a:xfrm>
          <a:prstGeom prst="roundRect">
            <a:avLst>
              <a:gd name="adj" fmla="val 15384"/>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Video</a:t>
            </a:r>
          </a:p>
        </p:txBody>
      </p:sp>
      <p:cxnSp>
        <p:nvCxnSpPr>
          <p:cNvPr id="9" name="Connector 8"/>
          <p:cNvCxnSpPr/>
          <p:nvPr/>
        </p:nvCxnSpPr>
        <p:spPr>
          <a:xfrm>
            <a:off x="4919472" y="2994660"/>
            <a:ext cx="4215384" cy="0"/>
          </a:xfrm>
          <a:prstGeom prst="line">
            <a:avLst/>
          </a:prstGeom>
          <a:ln w="25400">
            <a:solidFill>
              <a:srgbClr val="595959"/>
            </a:solidFill>
            <a:tailEnd type="triangle" w="med" len="med"/>
          </a:ln>
        </p:spPr>
      </p:cxnSp>
      <p:sp>
        <p:nvSpPr>
          <p:cNvPr id="10" name="Rounded Rectangle 9"/>
          <p:cNvSpPr/>
          <p:nvPr/>
        </p:nvSpPr>
        <p:spPr>
          <a:xfrm>
            <a:off x="9162288" y="2697479"/>
            <a:ext cx="2194560" cy="594360"/>
          </a:xfrm>
          <a:prstGeom prst="roundRect">
            <a:avLst>
              <a:gd name="adj" fmla="val 15384"/>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BiLSTM → CTC</a:t>
            </a:r>
          </a:p>
        </p:txBody>
      </p:sp>
      <p:sp>
        <p:nvSpPr>
          <p:cNvPr id="11" name="TextBox 10"/>
          <p:cNvSpPr txBox="1"/>
          <p:nvPr/>
        </p:nvSpPr>
        <p:spPr>
          <a:xfrm>
            <a:off x="841248" y="3520439"/>
            <a:ext cx="2651760" cy="68580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B3 Concatenation</a:t>
            </a:r>
          </a:p>
        </p:txBody>
      </p:sp>
      <p:sp>
        <p:nvSpPr>
          <p:cNvPr id="12" name="Rounded Rectangle 11"/>
          <p:cNvSpPr/>
          <p:nvPr/>
        </p:nvSpPr>
        <p:spPr>
          <a:xfrm>
            <a:off x="3611880" y="3566159"/>
            <a:ext cx="2240280" cy="594360"/>
          </a:xfrm>
          <a:prstGeom prst="roundRect">
            <a:avLst>
              <a:gd name="adj" fmla="val 15384"/>
            </a:avLst>
          </a:prstGeom>
          <a:solidFill>
            <a:srgbClr val="F2F2F2"/>
          </a:solidFill>
          <a:ln w="15875">
            <a:solidFill>
              <a:srgbClr val="595959"/>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Audio + Video</a:t>
            </a:r>
          </a:p>
        </p:txBody>
      </p:sp>
      <p:cxnSp>
        <p:nvCxnSpPr>
          <p:cNvPr id="13" name="Connector 12"/>
          <p:cNvCxnSpPr/>
          <p:nvPr/>
        </p:nvCxnSpPr>
        <p:spPr>
          <a:xfrm>
            <a:off x="5879592" y="3863339"/>
            <a:ext cx="310896" cy="0"/>
          </a:xfrm>
          <a:prstGeom prst="line">
            <a:avLst/>
          </a:prstGeom>
          <a:ln w="25400">
            <a:solidFill>
              <a:srgbClr val="595959"/>
            </a:solidFill>
            <a:tailEnd type="triangle" w="med" len="med"/>
          </a:ln>
        </p:spPr>
      </p:cxnSp>
      <p:sp>
        <p:nvSpPr>
          <p:cNvPr id="14" name="Rounded Rectangle 13"/>
          <p:cNvSpPr/>
          <p:nvPr/>
        </p:nvSpPr>
        <p:spPr>
          <a:xfrm>
            <a:off x="6217920" y="3566159"/>
            <a:ext cx="2240280" cy="594360"/>
          </a:xfrm>
          <a:prstGeom prst="roundRect">
            <a:avLst>
              <a:gd name="adj" fmla="val 15384"/>
            </a:avLst>
          </a:prstGeom>
          <a:solidFill>
            <a:srgbClr val="F2F2F2"/>
          </a:solidFill>
          <a:ln w="15875">
            <a:solidFill>
              <a:srgbClr val="595959"/>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Concatenate</a:t>
            </a:r>
          </a:p>
        </p:txBody>
      </p:sp>
      <p:cxnSp>
        <p:nvCxnSpPr>
          <p:cNvPr id="15" name="Connector 14"/>
          <p:cNvCxnSpPr/>
          <p:nvPr/>
        </p:nvCxnSpPr>
        <p:spPr>
          <a:xfrm>
            <a:off x="8485632" y="3863339"/>
            <a:ext cx="649224" cy="0"/>
          </a:xfrm>
          <a:prstGeom prst="line">
            <a:avLst/>
          </a:prstGeom>
          <a:ln w="25400">
            <a:solidFill>
              <a:srgbClr val="595959"/>
            </a:solidFill>
            <a:tailEnd type="triangle" w="med" len="med"/>
          </a:ln>
        </p:spPr>
      </p:cxnSp>
      <p:sp>
        <p:nvSpPr>
          <p:cNvPr id="16" name="Rounded Rectangle 15"/>
          <p:cNvSpPr/>
          <p:nvPr/>
        </p:nvSpPr>
        <p:spPr>
          <a:xfrm>
            <a:off x="9162288" y="3566159"/>
            <a:ext cx="2194560" cy="594360"/>
          </a:xfrm>
          <a:prstGeom prst="roundRect">
            <a:avLst>
              <a:gd name="adj" fmla="val 15384"/>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BiLSTM → CTC</a:t>
            </a:r>
          </a:p>
        </p:txBody>
      </p:sp>
      <p:sp>
        <p:nvSpPr>
          <p:cNvPr id="17" name="TextBox 16"/>
          <p:cNvSpPr txBox="1"/>
          <p:nvPr/>
        </p:nvSpPr>
        <p:spPr>
          <a:xfrm>
            <a:off x="841248" y="4389120"/>
            <a:ext cx="2651760" cy="685800"/>
          </a:xfrm>
          <a:prstGeom prst="rect">
            <a:avLst/>
          </a:prstGeom>
          <a:noFill/>
        </p:spPr>
        <p:txBody>
          <a:bodyPr wrap="square" lIns="54864" rIns="54864" tIns="27432" bIns="27432" anchor="ctr">
            <a:noAutofit/>
          </a:bodyPr>
          <a:lstStyle/>
          <a:p>
            <a:pPr algn="l">
              <a:spcAft>
                <a:spcPts val="0"/>
              </a:spcAft>
            </a:pPr>
            <a:r>
              <a:rPr sz="2200" b="1" i="0">
                <a:solidFill>
                  <a:srgbClr val="1F497D"/>
                </a:solidFill>
                <a:latin typeface="Trebuchet MS"/>
              </a:rPr>
              <a:t>P Proposed</a:t>
            </a:r>
          </a:p>
        </p:txBody>
      </p:sp>
      <p:sp>
        <p:nvSpPr>
          <p:cNvPr id="18" name="Rounded Rectangle 17"/>
          <p:cNvSpPr/>
          <p:nvPr/>
        </p:nvSpPr>
        <p:spPr>
          <a:xfrm>
            <a:off x="3611880" y="4434840"/>
            <a:ext cx="2240280" cy="594360"/>
          </a:xfrm>
          <a:prstGeom prst="roundRect">
            <a:avLst>
              <a:gd name="adj" fmla="val 15384"/>
            </a:avLst>
          </a:prstGeom>
          <a:solidFill>
            <a:srgbClr val="F2F2F2"/>
          </a:solidFill>
          <a:ln w="15875">
            <a:solidFill>
              <a:srgbClr val="595959"/>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Audio + Video</a:t>
            </a:r>
          </a:p>
        </p:txBody>
      </p:sp>
      <p:cxnSp>
        <p:nvCxnSpPr>
          <p:cNvPr id="19" name="Connector 18"/>
          <p:cNvCxnSpPr/>
          <p:nvPr/>
        </p:nvCxnSpPr>
        <p:spPr>
          <a:xfrm>
            <a:off x="5879592" y="4732020"/>
            <a:ext cx="310896" cy="0"/>
          </a:xfrm>
          <a:prstGeom prst="line">
            <a:avLst/>
          </a:prstGeom>
          <a:ln w="25400">
            <a:solidFill>
              <a:srgbClr val="595959"/>
            </a:solidFill>
            <a:tailEnd type="triangle" w="med" len="med"/>
          </a:ln>
        </p:spPr>
      </p:cxnSp>
      <p:sp>
        <p:nvSpPr>
          <p:cNvPr id="20" name="Rounded Rectangle 19"/>
          <p:cNvSpPr/>
          <p:nvPr/>
        </p:nvSpPr>
        <p:spPr>
          <a:xfrm>
            <a:off x="6217920" y="4434840"/>
            <a:ext cx="2514600" cy="594360"/>
          </a:xfrm>
          <a:prstGeom prst="roundRect">
            <a:avLst>
              <a:gd name="adj" fmla="val 15384"/>
            </a:avLst>
          </a:prstGeom>
          <a:solidFill>
            <a:srgbClr val="E2EFDA"/>
          </a:solidFill>
          <a:ln w="15875">
            <a:solidFill>
              <a:srgbClr val="548235"/>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Attention + gate</a:t>
            </a:r>
          </a:p>
        </p:txBody>
      </p:sp>
      <p:cxnSp>
        <p:nvCxnSpPr>
          <p:cNvPr id="21" name="Connector 20"/>
          <p:cNvCxnSpPr/>
          <p:nvPr/>
        </p:nvCxnSpPr>
        <p:spPr>
          <a:xfrm>
            <a:off x="8759952" y="4732020"/>
            <a:ext cx="374904" cy="0"/>
          </a:xfrm>
          <a:prstGeom prst="line">
            <a:avLst/>
          </a:prstGeom>
          <a:ln w="25400">
            <a:solidFill>
              <a:srgbClr val="595959"/>
            </a:solidFill>
            <a:tailEnd type="triangle" w="med" len="med"/>
          </a:ln>
        </p:spPr>
      </p:cxnSp>
      <p:sp>
        <p:nvSpPr>
          <p:cNvPr id="22" name="Rounded Rectangle 21"/>
          <p:cNvSpPr/>
          <p:nvPr/>
        </p:nvSpPr>
        <p:spPr>
          <a:xfrm>
            <a:off x="9162288" y="4434840"/>
            <a:ext cx="2194560" cy="594360"/>
          </a:xfrm>
          <a:prstGeom prst="roundRect">
            <a:avLst>
              <a:gd name="adj" fmla="val 15384"/>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BiLSTM → CTC</a:t>
            </a:r>
          </a:p>
        </p:txBody>
      </p:sp>
      <p:sp>
        <p:nvSpPr>
          <p:cNvPr id="23" name="Rounded Rectangle 22"/>
          <p:cNvSpPr/>
          <p:nvPr/>
        </p:nvSpPr>
        <p:spPr>
          <a:xfrm>
            <a:off x="841248" y="5349240"/>
            <a:ext cx="10515600" cy="594360"/>
          </a:xfrm>
          <a:prstGeom prst="roundRect">
            <a:avLst>
              <a:gd name="adj" fmla="val 15384"/>
            </a:avLst>
          </a:prstGeom>
          <a:solidFill>
            <a:srgbClr val="FFF4CC"/>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Same encoders, splits, noise and stopping rule; B1 also trains on noisy audio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Ablations and optional experiments</a:t>
            </a:r>
          </a:p>
        </p:txBody>
      </p:sp>
      <p:graphicFrame>
        <p:nvGraphicFramePr>
          <p:cNvPr id="3" name="Table 2"/>
          <p:cNvGraphicFramePr>
            <a:graphicFrameLocks noGrp="1"/>
          </p:cNvGraphicFramePr>
          <p:nvPr/>
        </p:nvGraphicFramePr>
        <p:xfrm>
          <a:off x="841248" y="1783080"/>
          <a:ext cx="10515600" cy="3520440"/>
        </p:xfrm>
        <a:graphic>
          <a:graphicData uri="http://schemas.openxmlformats.org/drawingml/2006/table">
            <a:tbl>
              <a:tblPr firstRow="1">
                <a:tableStyleId>{5C22544A-7EE6-4342-B048-85BDC9FD1C3A}</a:tableStyleId>
              </a:tblPr>
              <a:tblGrid>
                <a:gridCol w="868680"/>
                <a:gridCol w="5166360"/>
                <a:gridCol w="4480560"/>
              </a:tblGrid>
              <a:tr h="502920">
                <a:tc>
                  <a:txBody>
                    <a:bodyPr wrap="square"/>
                    <a:lstStyle/>
                    <a:p>
                      <a:pPr algn="l"/>
                      <a:r>
                        <a:rPr sz="2200" b="1" i="0">
                          <a:solidFill>
                            <a:srgbClr val="FFFFFF"/>
                          </a:solidFill>
                          <a:latin typeface="Trebuchet MS"/>
                        </a:rPr>
                        <a:t>ID</a:t>
                      </a:r>
                    </a:p>
                  </a:txBody>
                  <a:tcPr marL="82296" marR="82296" marT="36576" marB="36576" anchor="ctr">
                    <a:solidFill>
                      <a:srgbClr val="1F497D"/>
                    </a:solidFill>
                  </a:tcPr>
                </a:tc>
                <a:tc>
                  <a:txBody>
                    <a:bodyPr wrap="square"/>
                    <a:lstStyle/>
                    <a:p>
                      <a:pPr algn="l"/>
                      <a:r>
                        <a:rPr sz="2200" b="1" i="0">
                          <a:solidFill>
                            <a:srgbClr val="FFFFFF"/>
                          </a:solidFill>
                          <a:latin typeface="Trebuchet MS"/>
                        </a:rPr>
                        <a:t>Change to the proposed model P</a:t>
                      </a:r>
                    </a:p>
                  </a:txBody>
                  <a:tcPr marL="82296" marR="82296" marT="36576" marB="36576" anchor="ctr">
                    <a:solidFill>
                      <a:srgbClr val="1F497D"/>
                    </a:solidFill>
                  </a:tcPr>
                </a:tc>
                <a:tc>
                  <a:txBody>
                    <a:bodyPr wrap="square"/>
                    <a:lstStyle/>
                    <a:p>
                      <a:pPr algn="l"/>
                      <a:r>
                        <a:rPr sz="2200" b="1" i="0">
                          <a:solidFill>
                            <a:srgbClr val="FFFFFF"/>
                          </a:solidFill>
                          <a:latin typeface="Trebuchet MS"/>
                        </a:rPr>
                        <a:t>What it reveals</a:t>
                      </a:r>
                    </a:p>
                  </a:txBody>
                  <a:tcPr marL="82296" marR="82296" marT="36576" marB="36576" anchor="ctr">
                    <a:solidFill>
                      <a:srgbClr val="1F497D"/>
                    </a:solidFill>
                  </a:tcPr>
                </a:tc>
              </a:tr>
              <a:tr h="502920">
                <a:tc>
                  <a:txBody>
                    <a:bodyPr wrap="square"/>
                    <a:lstStyle/>
                    <a:p>
                      <a:pPr algn="l"/>
                      <a:r>
                        <a:rPr sz="2200" b="1" i="0">
                          <a:solidFill>
                            <a:srgbClr val="1A1A1A"/>
                          </a:solidFill>
                          <a:latin typeface="Trebuchet MS"/>
                        </a:rPr>
                        <a:t>X1</a:t>
                      </a:r>
                    </a:p>
                  </a:txBody>
                  <a:tcPr marL="82296" marR="82296" marT="36576" marB="36576" anchor="ctr">
                    <a:solidFill>
                      <a:srgbClr val="E2EFDA"/>
                    </a:solidFill>
                  </a:tcPr>
                </a:tc>
                <a:tc>
                  <a:txBody>
                    <a:bodyPr wrap="square"/>
                    <a:lstStyle/>
                    <a:p>
                      <a:pPr algn="l"/>
                      <a:r>
                        <a:rPr sz="2200" b="0" i="0">
                          <a:solidFill>
                            <a:srgbClr val="1A1A1A"/>
                          </a:solidFill>
                          <a:latin typeface="Trebuchet MS"/>
                        </a:rPr>
                        <a:t>Remove modality dropout</a:t>
                      </a:r>
                    </a:p>
                  </a:txBody>
                  <a:tcPr marL="82296" marR="82296" marT="36576" marB="36576" anchor="ctr">
                    <a:solidFill>
                      <a:srgbClr val="E2EFDA"/>
                    </a:solidFill>
                  </a:tcPr>
                </a:tc>
                <a:tc>
                  <a:txBody>
                    <a:bodyPr wrap="square"/>
                    <a:lstStyle/>
                    <a:p>
                      <a:pPr algn="l"/>
                      <a:r>
                        <a:rPr sz="2200" b="0" i="0">
                          <a:solidFill>
                            <a:srgbClr val="1A1A1A"/>
                          </a:solidFill>
                          <a:latin typeface="Trebuchet MS"/>
                        </a:rPr>
                        <a:t>Is video otherwise ignored?</a:t>
                      </a:r>
                    </a:p>
                  </a:txBody>
                  <a:tcPr marL="82296" marR="82296" marT="36576" marB="36576" anchor="ctr">
                    <a:solidFill>
                      <a:srgbClr val="E2EFDA"/>
                    </a:solidFill>
                  </a:tcPr>
                </a:tc>
              </a:tr>
              <a:tr h="502920">
                <a:tc>
                  <a:txBody>
                    <a:bodyPr wrap="square"/>
                    <a:lstStyle/>
                    <a:p>
                      <a:pPr algn="l"/>
                      <a:r>
                        <a:rPr sz="2200" b="1" i="0">
                          <a:solidFill>
                            <a:srgbClr val="1A1A1A"/>
                          </a:solidFill>
                          <a:latin typeface="Trebuchet MS"/>
                        </a:rPr>
                        <a:t>X2</a:t>
                      </a:r>
                    </a:p>
                  </a:txBody>
                  <a:tcPr marL="82296" marR="82296" marT="36576" marB="36576" anchor="ctr">
                    <a:solidFill>
                      <a:srgbClr val="E2EFDA"/>
                    </a:solidFill>
                  </a:tcPr>
                </a:tc>
                <a:tc>
                  <a:txBody>
                    <a:bodyPr wrap="square"/>
                    <a:lstStyle/>
                    <a:p>
                      <a:pPr algn="l"/>
                      <a:r>
                        <a:rPr sz="2200" b="0" i="0">
                          <a:solidFill>
                            <a:srgbClr val="1A1A1A"/>
                          </a:solidFill>
                          <a:latin typeface="Trebuchet MS"/>
                        </a:rPr>
                        <a:t>Concatenate instead of attention</a:t>
                      </a:r>
                    </a:p>
                  </a:txBody>
                  <a:tcPr marL="82296" marR="82296" marT="36576" marB="36576" anchor="ctr">
                    <a:solidFill>
                      <a:srgbClr val="E2EFDA"/>
                    </a:solidFill>
                  </a:tcPr>
                </a:tc>
                <a:tc>
                  <a:txBody>
                    <a:bodyPr wrap="square"/>
                    <a:lstStyle/>
                    <a:p>
                      <a:pPr algn="l"/>
                      <a:r>
                        <a:rPr sz="2200" b="0" i="0">
                          <a:solidFill>
                            <a:srgbClr val="1A1A1A"/>
                          </a:solidFill>
                          <a:latin typeface="Trebuchet MS"/>
                        </a:rPr>
                        <a:t>Value of attention itself</a:t>
                      </a:r>
                    </a:p>
                  </a:txBody>
                  <a:tcPr marL="82296" marR="82296" marT="36576" marB="36576" anchor="ctr">
                    <a:solidFill>
                      <a:srgbClr val="E2EFDA"/>
                    </a:solidFill>
                  </a:tcPr>
                </a:tc>
              </a:tr>
              <a:tr h="502920">
                <a:tc>
                  <a:txBody>
                    <a:bodyPr wrap="square"/>
                    <a:lstStyle/>
                    <a:p>
                      <a:pPr algn="l"/>
                      <a:r>
                        <a:rPr sz="2200" b="1" i="0">
                          <a:solidFill>
                            <a:srgbClr val="1A1A1A"/>
                          </a:solidFill>
                          <a:latin typeface="Trebuchet MS"/>
                        </a:rPr>
                        <a:t>X3</a:t>
                      </a:r>
                    </a:p>
                  </a:txBody>
                  <a:tcPr marL="82296" marR="82296" marT="36576" marB="36576" anchor="ctr">
                    <a:solidFill>
                      <a:srgbClr val="E2EFDA"/>
                    </a:solidFill>
                  </a:tcPr>
                </a:tc>
                <a:tc>
                  <a:txBody>
                    <a:bodyPr wrap="square"/>
                    <a:lstStyle/>
                    <a:p>
                      <a:pPr algn="l"/>
                      <a:r>
                        <a:rPr sz="2200" b="0" i="0">
                          <a:solidFill>
                            <a:srgbClr val="1A1A1A"/>
                          </a:solidFill>
                          <a:latin typeface="Trebuchet MS"/>
                        </a:rPr>
                        <a:t>2D per-frame CNN, not 3D</a:t>
                      </a:r>
                    </a:p>
                  </a:txBody>
                  <a:tcPr marL="82296" marR="82296" marT="36576" marB="36576" anchor="ctr">
                    <a:solidFill>
                      <a:srgbClr val="E2EFDA"/>
                    </a:solidFill>
                  </a:tcPr>
                </a:tc>
                <a:tc>
                  <a:txBody>
                    <a:bodyPr wrap="square"/>
                    <a:lstStyle/>
                    <a:p>
                      <a:pPr algn="l"/>
                      <a:r>
                        <a:rPr sz="2200" b="0" i="0">
                          <a:solidFill>
                            <a:srgbClr val="1A1A1A"/>
                          </a:solidFill>
                          <a:latin typeface="Trebuchet MS"/>
                        </a:rPr>
                        <a:t>Value of 3D convolution</a:t>
                      </a:r>
                    </a:p>
                  </a:txBody>
                  <a:tcPr marL="82296" marR="82296" marT="36576" marB="36576" anchor="ctr">
                    <a:solidFill>
                      <a:srgbClr val="E2EFDA"/>
                    </a:solidFill>
                  </a:tcPr>
                </a:tc>
              </a:tr>
              <a:tr h="502920">
                <a:tc>
                  <a:txBody>
                    <a:bodyPr wrap="square"/>
                    <a:lstStyle/>
                    <a:p>
                      <a:pPr algn="l"/>
                      <a:r>
                        <a:rPr sz="2200" b="1" i="0">
                          <a:solidFill>
                            <a:srgbClr val="595959"/>
                          </a:solidFill>
                          <a:latin typeface="Trebuchet MS"/>
                        </a:rPr>
                        <a:t>X4</a:t>
                      </a:r>
                    </a:p>
                  </a:txBody>
                  <a:tcPr marL="82296" marR="82296" marT="36576" marB="36576" anchor="ctr">
                    <a:solidFill>
                      <a:srgbClr val="F2F2F2"/>
                    </a:solidFill>
                  </a:tcPr>
                </a:tc>
                <a:tc>
                  <a:txBody>
                    <a:bodyPr wrap="square"/>
                    <a:lstStyle/>
                    <a:p>
                      <a:pPr algn="l"/>
                      <a:r>
                        <a:rPr sz="2200" b="0" i="0">
                          <a:solidFill>
                            <a:srgbClr val="595959"/>
                          </a:solidFill>
                          <a:latin typeface="Trebuchet MS"/>
                        </a:rPr>
                        <a:t>EfficientNet-B0 trunk (V2)</a:t>
                      </a:r>
                    </a:p>
                  </a:txBody>
                  <a:tcPr marL="82296" marR="82296" marT="36576" marB="36576" anchor="ctr">
                    <a:solidFill>
                      <a:srgbClr val="F2F2F2"/>
                    </a:solidFill>
                  </a:tcPr>
                </a:tc>
                <a:tc>
                  <a:txBody>
                    <a:bodyPr wrap="square"/>
                    <a:lstStyle/>
                    <a:p>
                      <a:pPr algn="l"/>
                      <a:r>
                        <a:rPr sz="2200" b="0" i="0">
                          <a:solidFill>
                            <a:srgbClr val="595959"/>
                          </a:solidFill>
                          <a:latin typeface="Trebuchet MS"/>
                        </a:rPr>
                        <a:t>Pretrained 2D backbone</a:t>
                      </a:r>
                    </a:p>
                  </a:txBody>
                  <a:tcPr marL="82296" marR="82296" marT="36576" marB="36576" anchor="ctr">
                    <a:solidFill>
                      <a:srgbClr val="F2F2F2"/>
                    </a:solidFill>
                  </a:tcPr>
                </a:tc>
              </a:tr>
              <a:tr h="502920">
                <a:tc>
                  <a:txBody>
                    <a:bodyPr wrap="square"/>
                    <a:lstStyle/>
                    <a:p>
                      <a:pPr algn="l"/>
                      <a:r>
                        <a:rPr sz="2200" b="1" i="0">
                          <a:solidFill>
                            <a:srgbClr val="595959"/>
                          </a:solidFill>
                          <a:latin typeface="Trebuchet MS"/>
                        </a:rPr>
                        <a:t>X5</a:t>
                      </a:r>
                    </a:p>
                  </a:txBody>
                  <a:tcPr marL="82296" marR="82296" marT="36576" marB="36576" anchor="ctr">
                    <a:solidFill>
                      <a:srgbClr val="F2F2F2"/>
                    </a:solidFill>
                  </a:tcPr>
                </a:tc>
                <a:tc>
                  <a:txBody>
                    <a:bodyPr wrap="square"/>
                    <a:lstStyle/>
                    <a:p>
                      <a:pPr algn="l"/>
                      <a:r>
                        <a:rPr sz="2200" b="0" i="0">
                          <a:solidFill>
                            <a:srgbClr val="595959"/>
                          </a:solidFill>
                          <a:latin typeface="Trebuchet MS"/>
                        </a:rPr>
                        <a:t>B1 with MFCC features</a:t>
                      </a:r>
                    </a:p>
                  </a:txBody>
                  <a:tcPr marL="82296" marR="82296" marT="36576" marB="36576" anchor="ctr">
                    <a:solidFill>
                      <a:srgbClr val="F2F2F2"/>
                    </a:solidFill>
                  </a:tcPr>
                </a:tc>
                <a:tc>
                  <a:txBody>
                    <a:bodyPr wrap="square"/>
                    <a:lstStyle/>
                    <a:p>
                      <a:pPr algn="l"/>
                      <a:r>
                        <a:rPr sz="2200" b="0" i="0">
                          <a:solidFill>
                            <a:srgbClr val="595959"/>
                          </a:solidFill>
                          <a:latin typeface="Trebuchet MS"/>
                        </a:rPr>
                        <a:t>Do MFCCs add anything?</a:t>
                      </a:r>
                    </a:p>
                  </a:txBody>
                  <a:tcPr marL="82296" marR="82296" marT="36576" marB="36576" anchor="ctr">
                    <a:solidFill>
                      <a:srgbClr val="F2F2F2"/>
                    </a:solidFill>
                  </a:tcPr>
                </a:tc>
              </a:tr>
              <a:tr h="502920">
                <a:tc>
                  <a:txBody>
                    <a:bodyPr wrap="square"/>
                    <a:lstStyle/>
                    <a:p>
                      <a:pPr algn="l"/>
                      <a:r>
                        <a:rPr sz="2200" b="1" i="0">
                          <a:solidFill>
                            <a:srgbClr val="595959"/>
                          </a:solidFill>
                          <a:latin typeface="Trebuchet MS"/>
                        </a:rPr>
                        <a:t>X6</a:t>
                      </a:r>
                    </a:p>
                  </a:txBody>
                  <a:tcPr marL="82296" marR="82296" marT="36576" marB="36576" anchor="ctr">
                    <a:solidFill>
                      <a:srgbClr val="F2F2F2"/>
                    </a:solidFill>
                  </a:tcPr>
                </a:tc>
                <a:tc>
                  <a:txBody>
                    <a:bodyPr wrap="square"/>
                    <a:lstStyle/>
                    <a:p>
                      <a:pPr algn="l"/>
                      <a:r>
                        <a:rPr sz="2200" b="0" i="0">
                          <a:solidFill>
                            <a:srgbClr val="595959"/>
                          </a:solidFill>
                          <a:latin typeface="Trebuchet MS"/>
                        </a:rPr>
                        <a:t>SNR auxiliary head</a:t>
                      </a:r>
                    </a:p>
                  </a:txBody>
                  <a:tcPr marL="82296" marR="82296" marT="36576" marB="36576" anchor="ctr">
                    <a:solidFill>
                      <a:srgbClr val="F2F2F2"/>
                    </a:solidFill>
                  </a:tcPr>
                </a:tc>
                <a:tc>
                  <a:txBody>
                    <a:bodyPr wrap="square"/>
                    <a:lstStyle/>
                    <a:p>
                      <a:pPr algn="l"/>
                      <a:r>
                        <a:rPr sz="2200" b="0" i="0">
                          <a:solidFill>
                            <a:srgbClr val="595959"/>
                          </a:solidFill>
                          <a:latin typeface="Trebuchet MS"/>
                        </a:rPr>
                        <a:t>Explicit noise estimate</a:t>
                      </a:r>
                    </a:p>
                  </a:txBody>
                  <a:tcPr marL="82296" marR="82296" marT="36576" marB="36576" anchor="ctr">
                    <a:solidFill>
                      <a:srgbClr val="F2F2F2"/>
                    </a:solidFill>
                  </a:tcPr>
                </a:tc>
              </a:tr>
            </a:tbl>
          </a:graphicData>
        </a:graphic>
      </p:graphicFrame>
      <p:sp>
        <p:nvSpPr>
          <p:cNvPr id="4" name="TextBox 3"/>
          <p:cNvSpPr txBox="1"/>
          <p:nvPr/>
        </p:nvSpPr>
        <p:spPr>
          <a:xfrm>
            <a:off x="841248" y="5486400"/>
            <a:ext cx="10515600" cy="45720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Green: core ablations X1–X3.  Grey: optional, if time and compute allow</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Metrics: WER and CER</a:t>
            </a:r>
          </a:p>
        </p:txBody>
      </p:sp>
      <p:sp>
        <p:nvSpPr>
          <p:cNvPr id="3" name="Rounded Rectangle 2"/>
          <p:cNvSpPr/>
          <p:nvPr/>
        </p:nvSpPr>
        <p:spPr>
          <a:xfrm>
            <a:off x="841248" y="1783080"/>
            <a:ext cx="5120640" cy="2103120"/>
          </a:xfrm>
          <a:prstGeom prst="roundRect">
            <a:avLst>
              <a:gd name="adj" fmla="val 4347"/>
            </a:avLst>
          </a:prstGeom>
          <a:solidFill>
            <a:srgbClr val="FFF4CC"/>
          </a:solidFill>
          <a:ln>
            <a:noFill/>
          </a:ln>
        </p:spPr>
        <p:txBody>
          <a:bodyPr rtlCol="0" anchor="ctr" wrap="square" lIns="182880" rIns="182880" tIns="27432" bIns="27432">
            <a:noAutofit/>
          </a:bodyPr>
          <a:lstStyle/>
          <a:p>
            <a:pPr algn="ctr">
              <a:spcAft>
                <a:spcPts val="800"/>
              </a:spcAft>
            </a:pPr>
            <a:r>
              <a:rPr sz="3000" b="1" i="0">
                <a:solidFill>
                  <a:srgbClr val="1F497D"/>
                </a:solidFill>
                <a:latin typeface="Trebuchet MS"/>
              </a:rPr>
              <a:t>WER = (S + D + I) / N</a:t>
            </a:r>
          </a:p>
          <a:p>
            <a:pPr algn="ctr">
              <a:spcAft>
                <a:spcPts val="0"/>
              </a:spcAft>
            </a:pPr>
            <a:r>
              <a:rPr sz="2200" b="0" i="0">
                <a:solidFill>
                  <a:srgbClr val="1A1A1A"/>
                </a:solidFill>
                <a:latin typeface="Trebuchet MS"/>
              </a:rPr>
              <a:t>S, D, I: substituted, deleted, inserted words. N: reference words. CER: same on characters</a:t>
            </a:r>
          </a:p>
        </p:txBody>
      </p:sp>
      <p:sp>
        <p:nvSpPr>
          <p:cNvPr id="4" name="TextBox 3"/>
          <p:cNvSpPr txBox="1"/>
          <p:nvPr/>
        </p:nvSpPr>
        <p:spPr>
          <a:xfrm>
            <a:off x="841248" y="4114800"/>
            <a:ext cx="5120640" cy="1828800"/>
          </a:xfrm>
          <a:prstGeom prst="rect">
            <a:avLst/>
          </a:prstGeom>
          <a:noFill/>
        </p:spPr>
        <p:txBody>
          <a:bodyPr wrap="square" lIns="54864" rIns="54864" tIns="27432" bIns="27432" anchor="t">
            <a:noAutofit/>
          </a:bodyPr>
          <a:lstStyle/>
          <a:p>
            <a:pPr algn="l">
              <a:spcAft>
                <a:spcPts val="400"/>
              </a:spcAft>
            </a:pPr>
            <a:r>
              <a:rPr sz="2200" b="0" i="0">
                <a:solidFill>
                  <a:srgbClr val="1A1A1A"/>
                </a:solidFill>
                <a:latin typeface="Trebuchet MS"/>
              </a:rPr>
              <a:t>Reference: bin blue at f two now</a:t>
            </a:r>
          </a:p>
          <a:p>
            <a:pPr algn="l">
              <a:spcAft>
                <a:spcPts val="400"/>
              </a:spcAft>
            </a:pPr>
            <a:r>
              <a:rPr sz="2200" b="0" i="0">
                <a:solidFill>
                  <a:srgbClr val="1A1A1A"/>
                </a:solidFill>
                <a:latin typeface="Trebuchet MS"/>
              </a:rPr>
              <a:t>Hypothesis: bin blue at </a:t>
            </a:r>
            <a:r>
              <a:rPr sz="2200" b="1" i="0">
                <a:solidFill>
                  <a:srgbClr val="D7014D"/>
                </a:solidFill>
                <a:latin typeface="Trebuchet MS"/>
              </a:rPr>
              <a:t>s</a:t>
            </a:r>
            <a:r>
              <a:rPr sz="2200" b="0" i="0">
                <a:solidFill>
                  <a:srgbClr val="1A1A1A"/>
                </a:solidFill>
                <a:latin typeface="Trebuchet MS"/>
              </a:rPr>
              <a:t> two now</a:t>
            </a:r>
          </a:p>
          <a:p>
            <a:pPr algn="l">
              <a:spcAft>
                <a:spcPts val="400"/>
              </a:spcAft>
            </a:pPr>
            <a:r>
              <a:rPr sz="2200" b="1" i="0">
                <a:solidFill>
                  <a:srgbClr val="1F497D"/>
                </a:solidFill>
                <a:latin typeface="Trebuchet MS"/>
              </a:rPr>
              <a:t>WER = 1/6 ≈ 16.7%</a:t>
            </a:r>
          </a:p>
        </p:txBody>
      </p:sp>
      <p:sp>
        <p:nvSpPr>
          <p:cNvPr id="5" name="TextBox 4"/>
          <p:cNvSpPr txBox="1"/>
          <p:nvPr/>
        </p:nvSpPr>
        <p:spPr>
          <a:xfrm>
            <a:off x="6355080" y="1783080"/>
            <a:ext cx="5001768" cy="4160520"/>
          </a:xfrm>
          <a:prstGeom prst="rect">
            <a:avLst/>
          </a:prstGeom>
          <a:noFill/>
        </p:spPr>
        <p:txBody>
          <a:bodyPr wrap="square" lIns="54864" rIns="54864" tIns="27432" bIns="27432" anchor="t">
            <a:noAutofit/>
          </a:bodyPr>
          <a:lstStyle/>
          <a:p>
            <a:pPr algn="l" marL="292608" indent="-292608">
              <a:spcAft>
                <a:spcPts val="1000"/>
              </a:spcAft>
              <a:buClr>
                <a:srgbClr val="D7014D"/>
              </a:buClr>
              <a:buFont typeface="Arial"/>
              <a:buChar char="•"/>
            </a:pPr>
            <a:r>
              <a:rPr sz="2200" b="0" i="0">
                <a:solidFill>
                  <a:srgbClr val="1A1A1A"/>
                </a:solidFill>
                <a:latin typeface="Trebuchet MS"/>
              </a:rPr>
              <a:t>Corpus level: sum errors, then divide (jiwer)</a:t>
            </a:r>
          </a:p>
          <a:p>
            <a:pPr algn="l" marL="292608" indent="-292608">
              <a:spcAft>
                <a:spcPts val="1000"/>
              </a:spcAft>
              <a:buClr>
                <a:srgbClr val="D7014D"/>
              </a:buClr>
              <a:buFont typeface="Arial"/>
              <a:buChar char="•"/>
            </a:pPr>
            <a:r>
              <a:rPr sz="2200" b="0" i="0">
                <a:solidFill>
                  <a:srgbClr val="1A1A1A"/>
                </a:solidFill>
                <a:latin typeface="Trebuchet MS"/>
              </a:rPr>
              <a:t>CER is more sensitive on the letter slot</a:t>
            </a:r>
          </a:p>
          <a:p>
            <a:pPr algn="l" marL="292608" indent="-292608">
              <a:spcAft>
                <a:spcPts val="1000"/>
              </a:spcAft>
              <a:buClr>
                <a:srgbClr val="D7014D"/>
              </a:buClr>
              <a:buFont typeface="Arial"/>
              <a:buChar char="•"/>
            </a:pPr>
            <a:r>
              <a:rPr sz="2200" b="0" i="0">
                <a:solidFill>
                  <a:srgbClr val="1A1A1A"/>
                </a:solidFill>
                <a:latin typeface="Trebuchet MS"/>
              </a:rPr>
              <a:t>WER can exceed 100% with many insertions</a:t>
            </a:r>
          </a:p>
          <a:p>
            <a:pPr algn="l" marL="292608" indent="-292608">
              <a:spcAft>
                <a:spcPts val="1000"/>
              </a:spcAft>
              <a:buClr>
                <a:srgbClr val="D7014D"/>
              </a:buClr>
              <a:buFont typeface="Arial"/>
              <a:buChar char="•"/>
            </a:pPr>
            <a:r>
              <a:rPr sz="2200" b="0" i="0">
                <a:solidFill>
                  <a:srgbClr val="1A1A1A"/>
                </a:solidFill>
                <a:latin typeface="Trebuchet MS"/>
              </a:rPr>
              <a:t>Target: WER below 10% on clean audio. A target, not a result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Evaluation protocol and results table</a:t>
            </a:r>
          </a:p>
        </p:txBody>
      </p:sp>
      <p:sp>
        <p:nvSpPr>
          <p:cNvPr id="3" name="Oval 2"/>
          <p:cNvSpPr/>
          <p:nvPr/>
        </p:nvSpPr>
        <p:spPr>
          <a:xfrm>
            <a:off x="841248" y="1874519"/>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4" name="TextBox 3"/>
          <p:cNvSpPr txBox="1"/>
          <p:nvPr/>
        </p:nvSpPr>
        <p:spPr>
          <a:xfrm>
            <a:off x="1435608" y="1783080"/>
            <a:ext cx="379476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Load best checkpoint, chosen on validation</a:t>
            </a:r>
          </a:p>
        </p:txBody>
      </p:sp>
      <p:sp>
        <p:nvSpPr>
          <p:cNvPr id="5" name="Oval 4"/>
          <p:cNvSpPr/>
          <p:nvPr/>
        </p:nvSpPr>
        <p:spPr>
          <a:xfrm>
            <a:off x="841248" y="2697480"/>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6" name="TextBox 5"/>
          <p:cNvSpPr txBox="1"/>
          <p:nvPr/>
        </p:nvSpPr>
        <p:spPr>
          <a:xfrm>
            <a:off x="1435608" y="2606040"/>
            <a:ext cx="379476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Beam-search every test clip at each SNR</a:t>
            </a:r>
          </a:p>
        </p:txBody>
      </p:sp>
      <p:sp>
        <p:nvSpPr>
          <p:cNvPr id="7" name="Oval 6"/>
          <p:cNvSpPr/>
          <p:nvPr/>
        </p:nvSpPr>
        <p:spPr>
          <a:xfrm>
            <a:off x="841248" y="3520440"/>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8" name="TextBox 7"/>
          <p:cNvSpPr txBox="1"/>
          <p:nvPr/>
        </p:nvSpPr>
        <p:spPr>
          <a:xfrm>
            <a:off x="1435608" y="3429000"/>
            <a:ext cx="379476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WER and CER per SNR, per speaker, total</a:t>
            </a:r>
          </a:p>
        </p:txBody>
      </p:sp>
      <p:sp>
        <p:nvSpPr>
          <p:cNvPr id="9" name="Oval 8"/>
          <p:cNvSpPr/>
          <p:nvPr/>
        </p:nvSpPr>
        <p:spPr>
          <a:xfrm>
            <a:off x="841248" y="4343400"/>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0" name="TextBox 9"/>
          <p:cNvSpPr txBox="1"/>
          <p:nvPr/>
        </p:nvSpPr>
        <p:spPr>
          <a:xfrm>
            <a:off x="1435608" y="4251960"/>
            <a:ext cx="379476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Identical inputs for every model</a:t>
            </a:r>
          </a:p>
        </p:txBody>
      </p:sp>
      <p:sp>
        <p:nvSpPr>
          <p:cNvPr id="11" name="Oval 10"/>
          <p:cNvSpPr/>
          <p:nvPr/>
        </p:nvSpPr>
        <p:spPr>
          <a:xfrm>
            <a:off x="841248" y="5166359"/>
            <a:ext cx="457200" cy="45720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5</a:t>
            </a:r>
          </a:p>
        </p:txBody>
      </p:sp>
      <p:sp>
        <p:nvSpPr>
          <p:cNvPr id="12" name="TextBox 11"/>
          <p:cNvSpPr txBox="1"/>
          <p:nvPr/>
        </p:nvSpPr>
        <p:spPr>
          <a:xfrm>
            <a:off x="1435608" y="5074920"/>
            <a:ext cx="3794760" cy="804672"/>
          </a:xfrm>
          <a:prstGeom prst="rect">
            <a:avLst/>
          </a:prstGeom>
          <a:noFill/>
        </p:spPr>
        <p:txBody>
          <a:bodyPr wrap="square" lIns="54864" rIns="54864" tIns="27432" bIns="27432" anchor="ctr">
            <a:noAutofit/>
          </a:bodyPr>
          <a:lstStyle/>
          <a:p>
            <a:pPr algn="l">
              <a:spcAft>
                <a:spcPts val="0"/>
              </a:spcAft>
            </a:pPr>
            <a:r>
              <a:rPr sz="2200" b="0" i="0">
                <a:solidFill>
                  <a:srgbClr val="1A1A1A"/>
                </a:solidFill>
                <a:latin typeface="Trebuchet MS"/>
              </a:rPr>
              <a:t>Mean ± sd if three seeds were trained</a:t>
            </a:r>
          </a:p>
        </p:txBody>
      </p:sp>
      <p:graphicFrame>
        <p:nvGraphicFramePr>
          <p:cNvPr id="13" name="Table 12"/>
          <p:cNvGraphicFramePr>
            <a:graphicFrameLocks noGrp="1"/>
          </p:cNvGraphicFramePr>
          <p:nvPr/>
        </p:nvGraphicFramePr>
        <p:xfrm>
          <a:off x="5440680" y="1783080"/>
          <a:ext cx="5916168" cy="2743200"/>
        </p:xfrm>
        <a:graphic>
          <a:graphicData uri="http://schemas.openxmlformats.org/drawingml/2006/table">
            <a:tbl>
              <a:tblPr firstRow="1">
                <a:tableStyleId>{5C22544A-7EE6-4342-B048-85BDC9FD1C3A}</a:tableStyleId>
              </a:tblPr>
              <a:tblGrid>
                <a:gridCol w="1691640"/>
                <a:gridCol w="1051560"/>
                <a:gridCol w="777240"/>
                <a:gridCol w="777240"/>
                <a:gridCol w="777240"/>
                <a:gridCol w="841248"/>
              </a:tblGrid>
              <a:tr h="548640">
                <a:tc>
                  <a:txBody>
                    <a:bodyPr wrap="square"/>
                    <a:lstStyle/>
                    <a:p>
                      <a:pPr algn="l"/>
                      <a:r>
                        <a:rPr sz="2200" b="1" i="0">
                          <a:solidFill>
                            <a:srgbClr val="FFFFFF"/>
                          </a:solidFill>
                          <a:latin typeface="Trebuchet MS"/>
                        </a:rPr>
                        <a:t>WER %</a:t>
                      </a:r>
                    </a:p>
                  </a:txBody>
                  <a:tcPr marL="82296" marR="82296" marT="36576" marB="36576" anchor="ctr">
                    <a:solidFill>
                      <a:srgbClr val="1F497D"/>
                    </a:solidFill>
                  </a:tcPr>
                </a:tc>
                <a:tc>
                  <a:txBody>
                    <a:bodyPr wrap="square"/>
                    <a:lstStyle/>
                    <a:p>
                      <a:pPr algn="ctr"/>
                      <a:r>
                        <a:rPr sz="2200" b="1" i="0">
                          <a:solidFill>
                            <a:srgbClr val="FFFFFF"/>
                          </a:solidFill>
                          <a:latin typeface="Trebuchet MS"/>
                        </a:rPr>
                        <a:t>Clean</a:t>
                      </a:r>
                    </a:p>
                  </a:txBody>
                  <a:tcPr marL="82296" marR="82296" marT="36576" marB="36576" anchor="ctr">
                    <a:solidFill>
                      <a:srgbClr val="1F497D"/>
                    </a:solidFill>
                  </a:tcPr>
                </a:tc>
                <a:tc>
                  <a:txBody>
                    <a:bodyPr wrap="square"/>
                    <a:lstStyle/>
                    <a:p>
                      <a:pPr algn="ctr"/>
                      <a:r>
                        <a:rPr sz="2200" b="1" i="0">
                          <a:solidFill>
                            <a:srgbClr val="FFFFFF"/>
                          </a:solidFill>
                          <a:latin typeface="Trebuchet MS"/>
                        </a:rPr>
                        <a:t>10</a:t>
                      </a:r>
                    </a:p>
                  </a:txBody>
                  <a:tcPr marL="82296" marR="82296" marT="36576" marB="36576" anchor="ctr">
                    <a:solidFill>
                      <a:srgbClr val="1F497D"/>
                    </a:solidFill>
                  </a:tcPr>
                </a:tc>
                <a:tc>
                  <a:txBody>
                    <a:bodyPr wrap="square"/>
                    <a:lstStyle/>
                    <a:p>
                      <a:pPr algn="ctr"/>
                      <a:r>
                        <a:rPr sz="2200" b="1" i="0">
                          <a:solidFill>
                            <a:srgbClr val="FFFFFF"/>
                          </a:solidFill>
                          <a:latin typeface="Trebuchet MS"/>
                        </a:rPr>
                        <a:t>5</a:t>
                      </a:r>
                    </a:p>
                  </a:txBody>
                  <a:tcPr marL="82296" marR="82296" marT="36576" marB="36576" anchor="ctr">
                    <a:solidFill>
                      <a:srgbClr val="1F497D"/>
                    </a:solidFill>
                  </a:tcPr>
                </a:tc>
                <a:tc>
                  <a:txBody>
                    <a:bodyPr wrap="square"/>
                    <a:lstStyle/>
                    <a:p>
                      <a:pPr algn="ctr"/>
                      <a:r>
                        <a:rPr sz="2200" b="1" i="0">
                          <a:solidFill>
                            <a:srgbClr val="FFFFFF"/>
                          </a:solidFill>
                          <a:latin typeface="Trebuchet MS"/>
                        </a:rPr>
                        <a:t>0</a:t>
                      </a:r>
                    </a:p>
                  </a:txBody>
                  <a:tcPr marL="82296" marR="82296" marT="36576" marB="36576" anchor="ctr">
                    <a:solidFill>
                      <a:srgbClr val="1F497D"/>
                    </a:solidFill>
                  </a:tcPr>
                </a:tc>
                <a:tc>
                  <a:txBody>
                    <a:bodyPr wrap="square"/>
                    <a:lstStyle/>
                    <a:p>
                      <a:pPr algn="ctr"/>
                      <a:r>
                        <a:rPr sz="2200" b="1" i="0">
                          <a:solidFill>
                            <a:srgbClr val="FFFFFF"/>
                          </a:solidFill>
                          <a:latin typeface="Trebuchet MS"/>
                        </a:rPr>
                        <a:t>−5</a:t>
                      </a:r>
                    </a:p>
                  </a:txBody>
                  <a:tcPr marL="82296" marR="82296" marT="36576" marB="36576" anchor="ctr">
                    <a:solidFill>
                      <a:srgbClr val="1F497D"/>
                    </a:solidFill>
                  </a:tcPr>
                </a:tc>
              </a:tr>
              <a:tr h="548640">
                <a:tc>
                  <a:txBody>
                    <a:bodyPr wrap="square"/>
                    <a:lstStyle/>
                    <a:p>
                      <a:pPr algn="l"/>
                      <a:r>
                        <a:rPr sz="2200" b="1" i="0">
                          <a:solidFill>
                            <a:srgbClr val="1A1A1A"/>
                          </a:solidFill>
                          <a:latin typeface="Trebuchet MS"/>
                        </a:rPr>
                        <a:t>B1 Audio</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r>
              <a:tr h="548640">
                <a:tc>
                  <a:txBody>
                    <a:bodyPr wrap="square"/>
                    <a:lstStyle/>
                    <a:p>
                      <a:pPr algn="l"/>
                      <a:r>
                        <a:rPr sz="2200" b="1" i="0">
                          <a:solidFill>
                            <a:srgbClr val="1A1A1A"/>
                          </a:solidFill>
                          <a:latin typeface="Trebuchet MS"/>
                        </a:rPr>
                        <a:t>B2 Visual</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r>
              <a:tr h="548640">
                <a:tc>
                  <a:txBody>
                    <a:bodyPr wrap="square"/>
                    <a:lstStyle/>
                    <a:p>
                      <a:pPr algn="l"/>
                      <a:r>
                        <a:rPr sz="2200" b="1" i="0">
                          <a:solidFill>
                            <a:srgbClr val="1A1A1A"/>
                          </a:solidFill>
                          <a:latin typeface="Trebuchet MS"/>
                        </a:rPr>
                        <a:t>B3 Concat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c>
                  <a:txBody>
                    <a:bodyPr wrap="square"/>
                    <a:lstStyle/>
                    <a:p>
                      <a:pPr algn="ctr"/>
                      <a:r>
                        <a:rPr sz="2200" b="0" i="0">
                          <a:solidFill>
                            <a:srgbClr val="1A1A1A"/>
                          </a:solidFill>
                          <a:latin typeface="Trebuchet MS"/>
                        </a:rPr>
                        <a:t>–</a:t>
                      </a:r>
                    </a:p>
                  </a:txBody>
                  <a:tcPr marL="82296" marR="82296" marT="36576" marB="36576" anchor="ctr">
                    <a:solidFill>
                      <a:srgbClr val="FFFFFF"/>
                    </a:solidFill>
                  </a:tcPr>
                </a:tc>
              </a:tr>
              <a:tr h="548640">
                <a:tc>
                  <a:txBody>
                    <a:bodyPr wrap="square"/>
                    <a:lstStyle/>
                    <a:p>
                      <a:pPr algn="l"/>
                      <a:r>
                        <a:rPr sz="2200" b="1" i="0">
                          <a:solidFill>
                            <a:srgbClr val="1A1A1A"/>
                          </a:solidFill>
                          <a:latin typeface="Trebuchet MS"/>
                        </a:rPr>
                        <a:t>P Proposed</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c>
                  <a:txBody>
                    <a:bodyPr wrap="square"/>
                    <a:lstStyle/>
                    <a:p>
                      <a:pPr algn="ctr"/>
                      <a:r>
                        <a:rPr sz="2200" b="0" i="0">
                          <a:solidFill>
                            <a:srgbClr val="1A1A1A"/>
                          </a:solidFill>
                          <a:latin typeface="Trebuchet MS"/>
                        </a:rPr>
                        <a:t>–</a:t>
                      </a:r>
                    </a:p>
                  </a:txBody>
                  <a:tcPr marL="82296" marR="82296" marT="36576" marB="36576" anchor="ctr">
                    <a:solidFill>
                      <a:srgbClr val="EAF0F8"/>
                    </a:solidFill>
                  </a:tcPr>
                </a:tc>
              </a:tr>
            </a:tbl>
          </a:graphicData>
        </a:graphic>
      </p:graphicFrame>
      <p:sp>
        <p:nvSpPr>
          <p:cNvPr id="14" name="TextBox 13"/>
          <p:cNvSpPr txBox="1"/>
          <p:nvPr/>
        </p:nvSpPr>
        <p:spPr>
          <a:xfrm>
            <a:off x="5440680" y="4709160"/>
            <a:ext cx="5916168" cy="123444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Empty until experiments run. Main figure: WER against SNR, one line per model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Reading results if fusion falls short</a:t>
            </a:r>
          </a:p>
        </p:txBody>
      </p:sp>
      <p:sp>
        <p:nvSpPr>
          <p:cNvPr id="3" name="Rounded Rectangle 2"/>
          <p:cNvSpPr/>
          <p:nvPr/>
        </p:nvSpPr>
        <p:spPr>
          <a:xfrm>
            <a:off x="841248" y="1783080"/>
            <a:ext cx="5074920" cy="4160520"/>
          </a:xfrm>
          <a:prstGeom prst="roundRect">
            <a:avLst>
              <a:gd name="adj" fmla="val 2197"/>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1024128" y="1874519"/>
            <a:ext cx="4709160" cy="4023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Key comparisons</a:t>
            </a:r>
          </a:p>
          <a:p>
            <a:pPr algn="l" marL="292608" indent="-292608">
              <a:spcAft>
                <a:spcPts val="600"/>
              </a:spcAft>
              <a:buClr>
                <a:srgbClr val="D7014D"/>
              </a:buClr>
              <a:buFont typeface="Arial"/>
              <a:buChar char="•"/>
            </a:pPr>
            <a:r>
              <a:rPr sz="2200" b="0" i="0">
                <a:solidFill>
                  <a:srgbClr val="1A1A1A"/>
                </a:solidFill>
                <a:latin typeface="Trebuchet MS"/>
              </a:rPr>
              <a:t>P vs B1: the main hypothesis test</a:t>
            </a:r>
          </a:p>
          <a:p>
            <a:pPr algn="l" marL="292608" indent="-292608">
              <a:spcAft>
                <a:spcPts val="600"/>
              </a:spcAft>
              <a:buClr>
                <a:srgbClr val="D7014D"/>
              </a:buClr>
              <a:buFont typeface="Arial"/>
              <a:buChar char="•"/>
            </a:pPr>
            <a:r>
              <a:rPr sz="2200" b="0" i="0">
                <a:solidFill>
                  <a:srgbClr val="1A1A1A"/>
                </a:solidFill>
                <a:latin typeface="Trebuchet MS"/>
              </a:rPr>
              <a:t>P vs B2 at −5 dB: no worse than lips alone</a:t>
            </a:r>
          </a:p>
          <a:p>
            <a:pPr algn="l" marL="292608" indent="-292608">
              <a:spcAft>
                <a:spcPts val="600"/>
              </a:spcAft>
              <a:buClr>
                <a:srgbClr val="D7014D"/>
              </a:buClr>
              <a:buFont typeface="Arial"/>
              <a:buChar char="•"/>
            </a:pPr>
            <a:r>
              <a:rPr sz="2200" b="0" i="0">
                <a:solidFill>
                  <a:srgbClr val="1A1A1A"/>
                </a:solidFill>
                <a:latin typeface="Trebuchet MS"/>
              </a:rPr>
              <a:t>P vs B3: value of attention and dropout</a:t>
            </a:r>
          </a:p>
          <a:p>
            <a:pPr algn="l" marL="292608" indent="-292608">
              <a:spcAft>
                <a:spcPts val="600"/>
              </a:spcAft>
              <a:buClr>
                <a:srgbClr val="D7014D"/>
              </a:buClr>
              <a:buFont typeface="Arial"/>
              <a:buChar char="•"/>
            </a:pPr>
            <a:r>
              <a:rPr sz="2200" b="0" i="0">
                <a:solidFill>
                  <a:srgbClr val="1A1A1A"/>
                </a:solidFill>
                <a:latin typeface="Trebuchet MS"/>
              </a:rPr>
              <a:t>Per-speaker WER; bootstrap CI for P vs B1</a:t>
            </a:r>
          </a:p>
        </p:txBody>
      </p:sp>
      <p:sp>
        <p:nvSpPr>
          <p:cNvPr id="5" name="Rounded Rectangle 4"/>
          <p:cNvSpPr/>
          <p:nvPr/>
        </p:nvSpPr>
        <p:spPr>
          <a:xfrm>
            <a:off x="6281928" y="1783080"/>
            <a:ext cx="5074920" cy="4160520"/>
          </a:xfrm>
          <a:prstGeom prst="roundRect">
            <a:avLst>
              <a:gd name="adj" fmla="val 2197"/>
            </a:avLst>
          </a:prstGeom>
          <a:solidFill>
            <a:srgbClr val="FFF4CC"/>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6464808" y="1874519"/>
            <a:ext cx="4709160" cy="402336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If P is worse than B1, check</a:t>
            </a:r>
          </a:p>
          <a:p>
            <a:pPr algn="l">
              <a:spcAft>
                <a:spcPts val="600"/>
              </a:spcAft>
            </a:pPr>
            <a:r>
              <a:rPr sz="2200" b="0" i="0">
                <a:solidFill>
                  <a:srgbClr val="1A1A1A"/>
                </a:solidFill>
                <a:latin typeface="Trebuchet MS"/>
              </a:rPr>
              <a:t>1. Did B2 learn anything?</a:t>
            </a:r>
          </a:p>
          <a:p>
            <a:pPr algn="l">
              <a:spcAft>
                <a:spcPts val="600"/>
              </a:spcAft>
            </a:pPr>
            <a:r>
              <a:rPr sz="2200" b="0" i="0">
                <a:solidFill>
                  <a:srgbClr val="1A1A1A"/>
                </a:solidFill>
                <a:latin typeface="Trebuchet MS"/>
              </a:rPr>
              <a:t>2. Do gate values change with SNR?</a:t>
            </a:r>
          </a:p>
          <a:p>
            <a:pPr algn="l">
              <a:spcAft>
                <a:spcPts val="600"/>
              </a:spcAft>
            </a:pPr>
            <a:r>
              <a:rPr sz="2200" b="0" i="0">
                <a:solidFill>
                  <a:srgbClr val="1A1A1A"/>
                </a:solidFill>
                <a:latin typeface="Trebuchet MS"/>
              </a:rPr>
              <a:t>3. Overfitting to training faces?</a:t>
            </a:r>
          </a:p>
          <a:p>
            <a:pPr algn="l">
              <a:spcAft>
                <a:spcPts val="600"/>
              </a:spcAft>
            </a:pPr>
            <a:r>
              <a:rPr sz="2200" b="0" i="0">
                <a:solidFill>
                  <a:srgbClr val="1A1A1A"/>
                </a:solidFill>
                <a:latin typeface="Trebuchet MS"/>
              </a:rPr>
              <a:t>4. Modality dropout too high?</a:t>
            </a:r>
          </a:p>
          <a:p>
            <a:pPr algn="l">
              <a:spcAft>
                <a:spcPts val="600"/>
              </a:spcAft>
            </a:pPr>
            <a:r>
              <a:rPr sz="2200" b="0" i="0">
                <a:solidFill>
                  <a:srgbClr val="1A1A1A"/>
                </a:solidFill>
                <a:latin typeface="Trebuchet MS"/>
              </a:rPr>
              <a:t>5. Is video misaligned in time?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Latency targets and automated tests</a:t>
            </a:r>
          </a:p>
        </p:txBody>
      </p:sp>
      <p:sp>
        <p:nvSpPr>
          <p:cNvPr id="3" name="Rounded Rectangle 2"/>
          <p:cNvSpPr/>
          <p:nvPr/>
        </p:nvSpPr>
        <p:spPr>
          <a:xfrm>
            <a:off x="841248" y="1783080"/>
            <a:ext cx="384048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800" b="1" i="0">
                <a:solidFill>
                  <a:srgbClr val="1F497D"/>
                </a:solidFill>
                <a:latin typeface="Trebuchet MS"/>
              </a:rPr>
              <a:t>RTF ≤ 0.5</a:t>
            </a:r>
          </a:p>
          <a:p>
            <a:pPr algn="ctr">
              <a:spcAft>
                <a:spcPts val="0"/>
              </a:spcAft>
            </a:pPr>
            <a:r>
              <a:rPr sz="2200" b="0" i="0">
                <a:solidFill>
                  <a:srgbClr val="1A1A1A"/>
                </a:solidFill>
                <a:latin typeface="Trebuchet MS"/>
              </a:rPr>
              <a:t>processing time ÷ audio time</a:t>
            </a:r>
          </a:p>
        </p:txBody>
      </p:sp>
      <p:sp>
        <p:nvSpPr>
          <p:cNvPr id="4" name="Rounded Rectangle 3"/>
          <p:cNvSpPr/>
          <p:nvPr/>
        </p:nvSpPr>
        <p:spPr>
          <a:xfrm>
            <a:off x="841248" y="3200400"/>
            <a:ext cx="384048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800" b="1" i="0">
                <a:solidFill>
                  <a:srgbClr val="1F497D"/>
                </a:solidFill>
                <a:latin typeface="Trebuchet MS"/>
              </a:rPr>
              <a:t>3–4 s</a:t>
            </a:r>
          </a:p>
          <a:p>
            <a:pPr algn="ctr">
              <a:spcAft>
                <a:spcPts val="0"/>
              </a:spcAft>
            </a:pPr>
            <a:r>
              <a:rPr sz="2200" b="0" i="0">
                <a:solidFill>
                  <a:srgbClr val="1A1A1A"/>
                </a:solidFill>
                <a:latin typeface="Trebuchet MS"/>
              </a:rPr>
              <a:t>target caption latency</a:t>
            </a:r>
          </a:p>
        </p:txBody>
      </p:sp>
      <p:sp>
        <p:nvSpPr>
          <p:cNvPr id="5" name="Rounded Rectangle 4"/>
          <p:cNvSpPr/>
          <p:nvPr/>
        </p:nvSpPr>
        <p:spPr>
          <a:xfrm>
            <a:off x="841248" y="4617720"/>
            <a:ext cx="384048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800" b="1" i="0">
                <a:solidFill>
                  <a:srgbClr val="1F497D"/>
                </a:solidFill>
                <a:latin typeface="Trebuchet MS"/>
              </a:rPr>
              <a:t>100+ windows</a:t>
            </a:r>
          </a:p>
          <a:p>
            <a:pPr algn="ctr">
              <a:spcAft>
                <a:spcPts val="0"/>
              </a:spcAft>
            </a:pPr>
            <a:r>
              <a:rPr sz="2200" b="0" i="0">
                <a:solidFill>
                  <a:srgbClr val="1A1A1A"/>
                </a:solidFill>
                <a:latin typeface="Trebuchet MS"/>
              </a:rPr>
              <a:t>median and 95th percentile</a:t>
            </a:r>
          </a:p>
        </p:txBody>
      </p:sp>
      <p:sp>
        <p:nvSpPr>
          <p:cNvPr id="6" name="Rounded Rectangle 5"/>
          <p:cNvSpPr/>
          <p:nvPr/>
        </p:nvSpPr>
        <p:spPr>
          <a:xfrm>
            <a:off x="5029200" y="1783080"/>
            <a:ext cx="6327648" cy="1536192"/>
          </a:xfrm>
          <a:prstGeom prst="roundRect">
            <a:avLst>
              <a:gd name="adj" fmla="val 5952"/>
            </a:avLst>
          </a:prstGeom>
          <a:solidFill>
            <a:srgbClr val="F2F2F2"/>
          </a:solidFill>
          <a:ln>
            <a:noFill/>
          </a:ln>
        </p:spPr>
        <p:txBody>
          <a:bodyPr rtlCol="0" anchor="t" wrap="square" lIns="54864" rIns="54864" tIns="27432" bIns="27432">
            <a:noAutofit/>
          </a:bodyPr>
          <a:lstStyle/>
          <a:p>
            <a:pPr algn="l">
              <a:spcAft>
                <a:spcPts val="600"/>
              </a:spcAft>
            </a:pPr>
          </a:p>
        </p:txBody>
      </p:sp>
      <p:sp>
        <p:nvSpPr>
          <p:cNvPr id="7" name="TextBox 6"/>
          <p:cNvSpPr txBox="1"/>
          <p:nvPr/>
        </p:nvSpPr>
        <p:spPr>
          <a:xfrm>
            <a:off x="5166360" y="1819656"/>
            <a:ext cx="6080760" cy="1463040"/>
          </a:xfrm>
          <a:prstGeom prst="rect">
            <a:avLst/>
          </a:prstGeom>
          <a:noFill/>
        </p:spPr>
        <p:txBody>
          <a:bodyPr wrap="square" lIns="54864" rIns="54864" tIns="27432" bIns="27432" anchor="t">
            <a:noAutofit/>
          </a:bodyPr>
          <a:lstStyle/>
          <a:p>
            <a:pPr algn="l">
              <a:spcAft>
                <a:spcPts val="200"/>
              </a:spcAft>
            </a:pPr>
            <a:r>
              <a:rPr sz="2200" b="1" i="0">
                <a:solidFill>
                  <a:srgbClr val="1F497D"/>
                </a:solidFill>
                <a:latin typeface="Trebuchet MS"/>
              </a:rPr>
              <a:t>Unit</a:t>
            </a:r>
          </a:p>
          <a:p>
            <a:pPr algn="l">
              <a:spcAft>
                <a:spcPts val="0"/>
              </a:spcAft>
            </a:pPr>
            <a:r>
              <a:rPr sz="2200" b="0" i="0">
                <a:solidFill>
                  <a:srgbClr val="1A1A1A"/>
                </a:solidFill>
                <a:latin typeface="Trebuchet MS"/>
              </a:rPr>
              <a:t>tokeniser, CTC collapse, noise mixing, crop, features, shapes, WER, beam = greedy at W = 1, disjoint splits</a:t>
            </a:r>
          </a:p>
        </p:txBody>
      </p:sp>
      <p:sp>
        <p:nvSpPr>
          <p:cNvPr id="8" name="Rounded Rectangle 7"/>
          <p:cNvSpPr/>
          <p:nvPr/>
        </p:nvSpPr>
        <p:spPr>
          <a:xfrm>
            <a:off x="5029200" y="3474720"/>
            <a:ext cx="6327648" cy="1216152"/>
          </a:xfrm>
          <a:prstGeom prst="roundRect">
            <a:avLst>
              <a:gd name="adj" fmla="val 7518"/>
            </a:avLst>
          </a:prstGeom>
          <a:solidFill>
            <a:srgbClr val="F2F2F2"/>
          </a:solidFill>
          <a:ln>
            <a:noFill/>
          </a:ln>
        </p:spPr>
        <p:txBody>
          <a:bodyPr rtlCol="0" anchor="t" wrap="square" lIns="54864" rIns="54864" tIns="27432" bIns="27432">
            <a:noAutofit/>
          </a:bodyPr>
          <a:lstStyle/>
          <a:p>
            <a:pPr algn="l">
              <a:spcAft>
                <a:spcPts val="600"/>
              </a:spcAft>
            </a:pPr>
          </a:p>
        </p:txBody>
      </p:sp>
      <p:sp>
        <p:nvSpPr>
          <p:cNvPr id="9" name="TextBox 8"/>
          <p:cNvSpPr txBox="1"/>
          <p:nvPr/>
        </p:nvSpPr>
        <p:spPr>
          <a:xfrm>
            <a:off x="5166360" y="3511296"/>
            <a:ext cx="6080760" cy="1143000"/>
          </a:xfrm>
          <a:prstGeom prst="rect">
            <a:avLst/>
          </a:prstGeom>
          <a:noFill/>
        </p:spPr>
        <p:txBody>
          <a:bodyPr wrap="square" lIns="54864" rIns="54864" tIns="27432" bIns="27432" anchor="t">
            <a:noAutofit/>
          </a:bodyPr>
          <a:lstStyle/>
          <a:p>
            <a:pPr algn="l">
              <a:spcAft>
                <a:spcPts val="200"/>
              </a:spcAft>
            </a:pPr>
            <a:r>
              <a:rPr sz="2200" b="1" i="0">
                <a:solidFill>
                  <a:srgbClr val="1F497D"/>
                </a:solidFill>
                <a:latin typeface="Trebuchet MS"/>
              </a:rPr>
              <a:t>Integration</a:t>
            </a:r>
          </a:p>
          <a:p>
            <a:pPr algn="l">
              <a:spcAft>
                <a:spcPts val="0"/>
              </a:spcAft>
            </a:pPr>
            <a:r>
              <a:rPr sz="2200" b="0" i="0">
                <a:solidFill>
                  <a:srgbClr val="1A1A1A"/>
                </a:solidFill>
                <a:latin typeface="Trebuchet MS"/>
              </a:rPr>
              <a:t>batch lengths, overfit 8 clips, train/infer parity, 5-frame shift test</a:t>
            </a:r>
          </a:p>
        </p:txBody>
      </p:sp>
      <p:sp>
        <p:nvSpPr>
          <p:cNvPr id="10" name="Rounded Rectangle 9"/>
          <p:cNvSpPr/>
          <p:nvPr/>
        </p:nvSpPr>
        <p:spPr>
          <a:xfrm>
            <a:off x="5029200" y="4846320"/>
            <a:ext cx="6327648" cy="987552"/>
          </a:xfrm>
          <a:prstGeom prst="roundRect">
            <a:avLst>
              <a:gd name="adj" fmla="val 9259"/>
            </a:avLst>
          </a:prstGeom>
          <a:solidFill>
            <a:srgbClr val="F2F2F2"/>
          </a:solidFill>
          <a:ln>
            <a:noFill/>
          </a:ln>
        </p:spPr>
        <p:txBody>
          <a:bodyPr rtlCol="0" anchor="t" wrap="square" lIns="54864" rIns="54864" tIns="27432" bIns="27432">
            <a:noAutofit/>
          </a:bodyPr>
          <a:lstStyle/>
          <a:p>
            <a:pPr algn="l">
              <a:spcAft>
                <a:spcPts val="600"/>
              </a:spcAft>
            </a:pPr>
          </a:p>
        </p:txBody>
      </p:sp>
      <p:sp>
        <p:nvSpPr>
          <p:cNvPr id="11" name="TextBox 10"/>
          <p:cNvSpPr txBox="1"/>
          <p:nvPr/>
        </p:nvSpPr>
        <p:spPr>
          <a:xfrm>
            <a:off x="5166360" y="4882896"/>
            <a:ext cx="6080760" cy="914400"/>
          </a:xfrm>
          <a:prstGeom prst="rect">
            <a:avLst/>
          </a:prstGeom>
          <a:noFill/>
        </p:spPr>
        <p:txBody>
          <a:bodyPr wrap="square" lIns="54864" rIns="54864" tIns="27432" bIns="27432" anchor="t">
            <a:noAutofit/>
          </a:bodyPr>
          <a:lstStyle/>
          <a:p>
            <a:pPr algn="l">
              <a:spcAft>
                <a:spcPts val="200"/>
              </a:spcAft>
            </a:pPr>
            <a:r>
              <a:rPr sz="2200" b="1" i="0">
                <a:solidFill>
                  <a:srgbClr val="1F497D"/>
                </a:solidFill>
                <a:latin typeface="Trebuchet MS"/>
              </a:rPr>
              <a:t>End-to-end</a:t>
            </a:r>
          </a:p>
          <a:p>
            <a:pPr algn="l">
              <a:spcAft>
                <a:spcPts val="0"/>
              </a:spcAft>
            </a:pPr>
            <a:r>
              <a:rPr sz="2200" b="0" i="0">
                <a:solidFill>
                  <a:srgbClr val="1A1A1A"/>
                </a:solidFill>
                <a:latin typeface="Trebuchet MS"/>
              </a:rPr>
              <a:t>transcribe.py output, demo smoke test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Part 6: Application, plan and risks</a:t>
            </a:r>
          </a:p>
        </p:txBody>
      </p:sp>
      <p:sp>
        <p:nvSpPr>
          <p:cNvPr id="3" name="Rounded Rectangle 2"/>
          <p:cNvSpPr/>
          <p:nvPr/>
        </p:nvSpPr>
        <p:spPr>
          <a:xfrm>
            <a:off x="841248" y="1874519"/>
            <a:ext cx="3017520" cy="3017520"/>
          </a:xfrm>
          <a:prstGeom prst="roundRect">
            <a:avLst>
              <a:gd name="adj" fmla="val 3030"/>
            </a:avLst>
          </a:prstGeom>
          <a:solidFill>
            <a:srgbClr val="1F497D"/>
          </a:solidFill>
          <a:ln>
            <a:noFill/>
          </a:ln>
        </p:spPr>
        <p:txBody>
          <a:bodyPr rtlCol="0" anchor="ctr" wrap="square" lIns="73152" rIns="73152" tIns="27432" bIns="27432">
            <a:noAutofit/>
          </a:bodyPr>
          <a:lstStyle/>
          <a:p>
            <a:pPr algn="ctr">
              <a:spcAft>
                <a:spcPts val="0"/>
              </a:spcAft>
            </a:pPr>
            <a:r>
              <a:rPr sz="9600" b="1" i="0">
                <a:solidFill>
                  <a:srgbClr val="FFFFFF"/>
                </a:solidFill>
                <a:latin typeface="Trebuchet MS"/>
              </a:rPr>
              <a:t>06</a:t>
            </a:r>
          </a:p>
        </p:txBody>
      </p:sp>
      <p:sp>
        <p:nvSpPr>
          <p:cNvPr id="4" name="TextBox 3"/>
          <p:cNvSpPr txBox="1"/>
          <p:nvPr/>
        </p:nvSpPr>
        <p:spPr>
          <a:xfrm>
            <a:off x="841248" y="5074920"/>
            <a:ext cx="3017520" cy="822960"/>
          </a:xfrm>
          <a:prstGeom prst="rect">
            <a:avLst/>
          </a:prstGeom>
          <a:noFill/>
        </p:spPr>
        <p:txBody>
          <a:bodyPr wrap="square" lIns="54864" rIns="54864" tIns="27432" bIns="27432" anchor="t">
            <a:noAutofit/>
          </a:bodyPr>
          <a:lstStyle/>
          <a:p>
            <a:pPr algn="ctr">
              <a:spcAft>
                <a:spcPts val="0"/>
              </a:spcAft>
            </a:pPr>
            <a:r>
              <a:rPr sz="2200" b="0" i="0">
                <a:solidFill>
                  <a:srgbClr val="595959"/>
                </a:solidFill>
                <a:latin typeface="Trebuchet MS"/>
              </a:rPr>
              <a:t>Presented by</a:t>
            </a:r>
          </a:p>
          <a:p>
            <a:pPr algn="ctr">
              <a:spcAft>
                <a:spcPts val="0"/>
              </a:spcAft>
            </a:pPr>
            <a:r>
              <a:rPr sz="2200" b="1" i="0">
                <a:solidFill>
                  <a:srgbClr val="1F497D"/>
                </a:solidFill>
                <a:latin typeface="Trebuchet MS"/>
              </a:rPr>
              <a:t>Wakisa Isabelle</a:t>
            </a:r>
          </a:p>
        </p:txBody>
      </p:sp>
      <p:sp>
        <p:nvSpPr>
          <p:cNvPr id="5" name="TextBox 4"/>
          <p:cNvSpPr txBox="1"/>
          <p:nvPr/>
        </p:nvSpPr>
        <p:spPr>
          <a:xfrm>
            <a:off x="4480560" y="1828800"/>
            <a:ext cx="6858000" cy="45720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In this part</a:t>
            </a:r>
          </a:p>
        </p:txBody>
      </p:sp>
      <p:sp>
        <p:nvSpPr>
          <p:cNvPr id="6" name="TextBox 5"/>
          <p:cNvSpPr txBox="1"/>
          <p:nvPr/>
        </p:nvSpPr>
        <p:spPr>
          <a:xfrm>
            <a:off x="4480560" y="2331720"/>
            <a:ext cx="6858000" cy="3566160"/>
          </a:xfrm>
          <a:prstGeom prst="rect">
            <a:avLst/>
          </a:prstGeom>
          <a:noFill/>
        </p:spPr>
        <p:txBody>
          <a:bodyPr wrap="square" lIns="54864" rIns="54864" tIns="27432" bIns="27432" anchor="t">
            <a:noAutofit/>
          </a:bodyPr>
          <a:lstStyle/>
          <a:p>
            <a:pPr algn="l" marL="292608" indent="-292608">
              <a:spcAft>
                <a:spcPts val="500"/>
              </a:spcAft>
              <a:buClr>
                <a:srgbClr val="D7014D"/>
              </a:buClr>
              <a:buFont typeface="Arial"/>
              <a:buChar char="•"/>
            </a:pPr>
            <a:r>
              <a:rPr sz="2200" b="0" i="0">
                <a:solidFill>
                  <a:srgbClr val="1A1A1A"/>
                </a:solidFill>
                <a:latin typeface="Trebuchet MS"/>
              </a:rPr>
              <a:t>Demo modes and the live pipeline</a:t>
            </a:r>
          </a:p>
          <a:p>
            <a:pPr algn="l" marL="292608" indent="-292608">
              <a:spcAft>
                <a:spcPts val="500"/>
              </a:spcAft>
              <a:buClr>
                <a:srgbClr val="D7014D"/>
              </a:buClr>
              <a:buFont typeface="Arial"/>
              <a:buChar char="•"/>
            </a:pPr>
            <a:r>
              <a:rPr sz="2200" b="0" i="0">
                <a:solidFill>
                  <a:srgbClr val="1A1A1A"/>
                </a:solidFill>
                <a:latin typeface="Trebuchet MS"/>
              </a:rPr>
              <a:t>Optional extensions</a:t>
            </a:r>
          </a:p>
          <a:p>
            <a:pPr algn="l" marL="292608" indent="-292608">
              <a:spcAft>
                <a:spcPts val="500"/>
              </a:spcAft>
              <a:buClr>
                <a:srgbClr val="D7014D"/>
              </a:buClr>
              <a:buFont typeface="Arial"/>
              <a:buChar char="•"/>
            </a:pPr>
            <a:r>
              <a:rPr sz="2200" b="0" i="0">
                <a:solidFill>
                  <a:srgbClr val="1A1A1A"/>
                </a:solidFill>
                <a:latin typeface="Trebuchet MS"/>
              </a:rPr>
              <a:t>Six-week timeline and priorities</a:t>
            </a:r>
          </a:p>
          <a:p>
            <a:pPr algn="l" marL="292608" indent="-292608">
              <a:spcAft>
                <a:spcPts val="500"/>
              </a:spcAft>
              <a:buClr>
                <a:srgbClr val="D7014D"/>
              </a:buClr>
              <a:buFont typeface="Arial"/>
              <a:buChar char="•"/>
            </a:pPr>
            <a:r>
              <a:rPr sz="2200" b="0" i="0">
                <a:solidFill>
                  <a:srgbClr val="1A1A1A"/>
                </a:solidFill>
                <a:latin typeface="Trebuchet MS"/>
              </a:rPr>
              <a:t>Risks and mitigations</a:t>
            </a:r>
          </a:p>
          <a:p>
            <a:pPr algn="l" marL="292608" indent="-292608">
              <a:spcAft>
                <a:spcPts val="500"/>
              </a:spcAft>
              <a:buClr>
                <a:srgbClr val="D7014D"/>
              </a:buClr>
              <a:buFont typeface="Arial"/>
              <a:buChar char="•"/>
            </a:pPr>
            <a:r>
              <a:rPr sz="2200" b="0" i="0">
                <a:solidFill>
                  <a:srgbClr val="1A1A1A"/>
                </a:solidFill>
                <a:latin typeface="Trebuchet MS"/>
              </a:rPr>
              <a:t>Deliverables and conclusion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Two demo modes: batch, then live</a:t>
            </a:r>
          </a:p>
        </p:txBody>
      </p:sp>
      <p:sp>
        <p:nvSpPr>
          <p:cNvPr id="3" name="Rounded Rectangle 2"/>
          <p:cNvSpPr/>
          <p:nvPr/>
        </p:nvSpPr>
        <p:spPr>
          <a:xfrm>
            <a:off x="841248" y="1783080"/>
            <a:ext cx="5074920" cy="4160520"/>
          </a:xfrm>
          <a:prstGeom prst="roundRect">
            <a:avLst>
              <a:gd name="adj" fmla="val 2197"/>
            </a:avLst>
          </a:prstGeom>
          <a:solidFill>
            <a:srgbClr val="E2EFDA"/>
          </a:solidFill>
          <a:ln>
            <a:noFill/>
          </a:ln>
        </p:spPr>
        <p:txBody>
          <a:bodyPr rtlCol="0" anchor="t" wrap="square" lIns="54864" rIns="54864" tIns="27432" bIns="27432">
            <a:noAutofit/>
          </a:bodyPr>
          <a:lstStyle/>
          <a:p>
            <a:pPr algn="l">
              <a:spcAft>
                <a:spcPts val="600"/>
              </a:spcAft>
            </a:pPr>
          </a:p>
        </p:txBody>
      </p:sp>
      <p:sp>
        <p:nvSpPr>
          <p:cNvPr id="4" name="Rounded Rectangle 3"/>
          <p:cNvSpPr/>
          <p:nvPr/>
        </p:nvSpPr>
        <p:spPr>
          <a:xfrm>
            <a:off x="4087368" y="1965960"/>
            <a:ext cx="1645920" cy="457200"/>
          </a:xfrm>
          <a:prstGeom prst="roundRect">
            <a:avLst>
              <a:gd name="adj" fmla="val 20000"/>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Guaranteed</a:t>
            </a:r>
          </a:p>
        </p:txBody>
      </p:sp>
      <p:sp>
        <p:nvSpPr>
          <p:cNvPr id="5" name="TextBox 4"/>
          <p:cNvSpPr txBox="1"/>
          <p:nvPr/>
        </p:nvSpPr>
        <p:spPr>
          <a:xfrm>
            <a:off x="1024128" y="1920240"/>
            <a:ext cx="2926080" cy="91440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Mode A: batch, Gradio</a:t>
            </a:r>
          </a:p>
        </p:txBody>
      </p:sp>
      <p:sp>
        <p:nvSpPr>
          <p:cNvPr id="6" name="TextBox 5"/>
          <p:cNvSpPr txBox="1"/>
          <p:nvPr/>
        </p:nvSpPr>
        <p:spPr>
          <a:xfrm>
            <a:off x="1024128" y="2880360"/>
            <a:ext cx="4709160" cy="3017520"/>
          </a:xfrm>
          <a:prstGeom prst="rect">
            <a:avLst/>
          </a:prstGeom>
          <a:noFill/>
        </p:spPr>
        <p:txBody>
          <a:bodyPr wrap="square" lIns="54864" rIns="54864" tIns="27432" bIns="27432" anchor="t">
            <a:noAutofit/>
          </a:bodyPr>
          <a:lstStyle/>
          <a:p>
            <a:pPr algn="l" marL="292608" indent="-292608">
              <a:spcAft>
                <a:spcPts val="800"/>
              </a:spcAft>
              <a:buClr>
                <a:srgbClr val="D7014D"/>
              </a:buClr>
              <a:buFont typeface="Arial"/>
              <a:buChar char="•"/>
            </a:pPr>
            <a:r>
              <a:rPr sz="2200" b="0" i="0">
                <a:solidFill>
                  <a:srgbClr val="1A1A1A"/>
                </a:solidFill>
                <a:latin typeface="Trebuchet MS"/>
              </a:rPr>
              <a:t>Upload or record a clip</a:t>
            </a:r>
          </a:p>
          <a:p>
            <a:pPr algn="l" marL="292608" indent="-292608">
              <a:spcAft>
                <a:spcPts val="800"/>
              </a:spcAft>
              <a:buClr>
                <a:srgbClr val="D7014D"/>
              </a:buClr>
              <a:buFont typeface="Arial"/>
              <a:buChar char="•"/>
            </a:pPr>
            <a:r>
              <a:rPr sz="2200" b="0" i="0">
                <a:solidFill>
                  <a:srgbClr val="1A1A1A"/>
                </a:solidFill>
                <a:latin typeface="Trebuchet MS"/>
              </a:rPr>
              <a:t>ffmpeg + OpenCV: 25 fps, 16 kHz</a:t>
            </a:r>
          </a:p>
          <a:p>
            <a:pPr algn="l" marL="292608" indent="-292608">
              <a:spcAft>
                <a:spcPts val="800"/>
              </a:spcAft>
              <a:buClr>
                <a:srgbClr val="D7014D"/>
              </a:buClr>
              <a:buFont typeface="Arial"/>
              <a:buChar char="•"/>
            </a:pPr>
            <a:r>
              <a:rPr sz="2200" b="0" i="0">
                <a:solidFill>
                  <a:srgbClr val="1A1A1A"/>
                </a:solidFill>
                <a:latin typeface="Trebuchet MS"/>
              </a:rPr>
              <a:t>Shows caption, mouth crops, gate plot</a:t>
            </a:r>
          </a:p>
          <a:p>
            <a:pPr algn="l" marL="292608" indent="-292608">
              <a:spcAft>
                <a:spcPts val="800"/>
              </a:spcAft>
              <a:buClr>
                <a:srgbClr val="D7014D"/>
              </a:buClr>
              <a:buFont typeface="Arial"/>
              <a:buChar char="•"/>
            </a:pPr>
            <a:r>
              <a:rPr sz="2200" b="0" i="0">
                <a:solidFill>
                  <a:srgbClr val="1A1A1A"/>
                </a:solidFill>
                <a:latin typeface="Trebuchet MS"/>
              </a:rPr>
              <a:t>Optional: add MUSAN noise live</a:t>
            </a:r>
          </a:p>
        </p:txBody>
      </p:sp>
      <p:sp>
        <p:nvSpPr>
          <p:cNvPr id="7" name="Rounded Rectangle 6"/>
          <p:cNvSpPr/>
          <p:nvPr/>
        </p:nvSpPr>
        <p:spPr>
          <a:xfrm>
            <a:off x="6281928" y="1783080"/>
            <a:ext cx="5074920" cy="4160520"/>
          </a:xfrm>
          <a:prstGeom prst="roundRect">
            <a:avLst>
              <a:gd name="adj" fmla="val 2197"/>
            </a:avLst>
          </a:prstGeom>
          <a:solidFill>
            <a:srgbClr val="EAF0F8"/>
          </a:solidFill>
          <a:ln>
            <a:noFill/>
          </a:ln>
        </p:spPr>
        <p:txBody>
          <a:bodyPr rtlCol="0" anchor="t" wrap="square" lIns="54864" rIns="54864" tIns="27432" bIns="27432">
            <a:noAutofit/>
          </a:bodyPr>
          <a:lstStyle/>
          <a:p>
            <a:pPr algn="l">
              <a:spcAft>
                <a:spcPts val="600"/>
              </a:spcAft>
            </a:pPr>
          </a:p>
        </p:txBody>
      </p:sp>
      <p:sp>
        <p:nvSpPr>
          <p:cNvPr id="8" name="Rounded Rectangle 7"/>
          <p:cNvSpPr/>
          <p:nvPr/>
        </p:nvSpPr>
        <p:spPr>
          <a:xfrm>
            <a:off x="9528048" y="1965960"/>
            <a:ext cx="1645920" cy="457200"/>
          </a:xfrm>
          <a:prstGeom prst="roundRect">
            <a:avLst>
              <a:gd name="adj" fmla="val 20000"/>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Stretch</a:t>
            </a:r>
          </a:p>
        </p:txBody>
      </p:sp>
      <p:sp>
        <p:nvSpPr>
          <p:cNvPr id="9" name="TextBox 8"/>
          <p:cNvSpPr txBox="1"/>
          <p:nvPr/>
        </p:nvSpPr>
        <p:spPr>
          <a:xfrm>
            <a:off x="6464808" y="1920240"/>
            <a:ext cx="2926080" cy="91440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Mode B: windowed live</a:t>
            </a:r>
          </a:p>
        </p:txBody>
      </p:sp>
      <p:sp>
        <p:nvSpPr>
          <p:cNvPr id="10" name="TextBox 9"/>
          <p:cNvSpPr txBox="1"/>
          <p:nvPr/>
        </p:nvSpPr>
        <p:spPr>
          <a:xfrm>
            <a:off x="6464808" y="2880360"/>
            <a:ext cx="4709160" cy="3017520"/>
          </a:xfrm>
          <a:prstGeom prst="rect">
            <a:avLst/>
          </a:prstGeom>
          <a:noFill/>
        </p:spPr>
        <p:txBody>
          <a:bodyPr wrap="square" lIns="54864" rIns="54864" tIns="27432" bIns="27432" anchor="t">
            <a:noAutofit/>
          </a:bodyPr>
          <a:lstStyle/>
          <a:p>
            <a:pPr algn="l" marL="292608" indent="-292608">
              <a:spcAft>
                <a:spcPts val="800"/>
              </a:spcAft>
              <a:buClr>
                <a:srgbClr val="D7014D"/>
              </a:buClr>
              <a:buFont typeface="Arial"/>
              <a:buChar char="•"/>
            </a:pPr>
            <a:r>
              <a:rPr sz="2200" b="0" i="0">
                <a:solidFill>
                  <a:srgbClr val="1A1A1A"/>
                </a:solidFill>
                <a:latin typeface="Trebuchet MS"/>
              </a:rPr>
              <a:t>Re-decodes the last 3 s every 1 s</a:t>
            </a:r>
          </a:p>
          <a:p>
            <a:pPr algn="l" marL="292608" indent="-292608">
              <a:spcAft>
                <a:spcPts val="800"/>
              </a:spcAft>
              <a:buClr>
                <a:srgbClr val="D7014D"/>
              </a:buClr>
              <a:buFont typeface="Arial"/>
              <a:buChar char="•"/>
            </a:pPr>
            <a:r>
              <a:rPr sz="2200" b="0" i="0">
                <a:solidFill>
                  <a:srgbClr val="1A1A1A"/>
                </a:solidFill>
                <a:latin typeface="Trebuchet MS"/>
              </a:rPr>
              <a:t>BiLSTMs need future context: about one window of delay</a:t>
            </a:r>
          </a:p>
          <a:p>
            <a:pPr algn="l" marL="292608" indent="-292608">
              <a:spcAft>
                <a:spcPts val="800"/>
              </a:spcAft>
              <a:buClr>
                <a:srgbClr val="D7014D"/>
              </a:buClr>
              <a:buFont typeface="Arial"/>
              <a:buChar char="•"/>
            </a:pPr>
            <a:r>
              <a:rPr sz="2200" b="0" i="0">
                <a:solidFill>
                  <a:srgbClr val="1A1A1A"/>
                </a:solidFill>
                <a:latin typeface="Trebuchet MS"/>
              </a:rPr>
              <a:t>Fully streaming model is out of scope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Live mode: threads and buffers</a:t>
            </a:r>
          </a:p>
        </p:txBody>
      </p:sp>
      <p:sp>
        <p:nvSpPr>
          <p:cNvPr id="3" name="Rounded Rectangle 2"/>
          <p:cNvSpPr/>
          <p:nvPr/>
        </p:nvSpPr>
        <p:spPr>
          <a:xfrm>
            <a:off x="841248" y="1965960"/>
            <a:ext cx="2286000" cy="1280160"/>
          </a:xfrm>
          <a:prstGeom prst="roundRect">
            <a:avLst>
              <a:gd name="adj" fmla="val 7142"/>
            </a:avLst>
          </a:prstGeom>
          <a:solidFill>
            <a:srgbClr val="FCE4D6"/>
          </a:solidFill>
          <a:ln w="15875">
            <a:solidFill>
              <a:srgbClr val="C55A11"/>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Camera thread</a:t>
            </a:r>
          </a:p>
          <a:p>
            <a:pPr algn="ctr">
              <a:spcAft>
                <a:spcPts val="0"/>
              </a:spcAft>
            </a:pPr>
            <a:r>
              <a:rPr sz="2200" b="0" i="0">
                <a:solidFill>
                  <a:srgbClr val="1A1A1A"/>
                </a:solidFill>
                <a:latin typeface="Trebuchet MS"/>
              </a:rPr>
              <a:t>OpenCV frames</a:t>
            </a:r>
          </a:p>
        </p:txBody>
      </p:sp>
      <p:sp>
        <p:nvSpPr>
          <p:cNvPr id="4" name="Rounded Rectangle 3"/>
          <p:cNvSpPr/>
          <p:nvPr/>
        </p:nvSpPr>
        <p:spPr>
          <a:xfrm>
            <a:off x="841248" y="3977639"/>
            <a:ext cx="2286000" cy="1280160"/>
          </a:xfrm>
          <a:prstGeom prst="roundRect">
            <a:avLst>
              <a:gd name="adj" fmla="val 7142"/>
            </a:avLst>
          </a:prstGeom>
          <a:solidFill>
            <a:srgbClr val="DDEBF7"/>
          </a:solidFill>
          <a:ln w="15875">
            <a:solidFill>
              <a:srgbClr val="2E75B6"/>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Audio callback</a:t>
            </a:r>
          </a:p>
          <a:p>
            <a:pPr algn="ctr">
              <a:spcAft>
                <a:spcPts val="0"/>
              </a:spcAft>
            </a:pPr>
            <a:r>
              <a:rPr sz="2200" b="0" i="0">
                <a:solidFill>
                  <a:srgbClr val="1A1A1A"/>
                </a:solidFill>
                <a:latin typeface="Trebuchet MS"/>
              </a:rPr>
              <a:t>16 kHz blocks</a:t>
            </a:r>
          </a:p>
        </p:txBody>
      </p:sp>
      <p:sp>
        <p:nvSpPr>
          <p:cNvPr id="5" name="Rounded Rectangle 4"/>
          <p:cNvSpPr/>
          <p:nvPr/>
        </p:nvSpPr>
        <p:spPr>
          <a:xfrm>
            <a:off x="3431743" y="1965960"/>
            <a:ext cx="2286000" cy="1280160"/>
          </a:xfrm>
          <a:prstGeom prst="roundRect">
            <a:avLst>
              <a:gd name="adj" fmla="val 7142"/>
            </a:avLst>
          </a:prstGeom>
          <a:solidFill>
            <a:srgbClr val="F2F2F2"/>
          </a:solidFill>
          <a:ln w="15875">
            <a:solidFill>
              <a:srgbClr val="595959"/>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Frame ring</a:t>
            </a:r>
          </a:p>
          <a:p>
            <a:pPr algn="ctr">
              <a:spcAft>
                <a:spcPts val="0"/>
              </a:spcAft>
            </a:pPr>
            <a:r>
              <a:rPr sz="2200" b="0" i="0">
                <a:solidFill>
                  <a:srgbClr val="1A1A1A"/>
                </a:solidFill>
                <a:latin typeface="Trebuchet MS"/>
              </a:rPr>
              <a:t>buffer, 4 s</a:t>
            </a:r>
          </a:p>
        </p:txBody>
      </p:sp>
      <p:sp>
        <p:nvSpPr>
          <p:cNvPr id="6" name="Rounded Rectangle 5"/>
          <p:cNvSpPr/>
          <p:nvPr/>
        </p:nvSpPr>
        <p:spPr>
          <a:xfrm>
            <a:off x="3431743" y="3977639"/>
            <a:ext cx="2286000" cy="1280160"/>
          </a:xfrm>
          <a:prstGeom prst="roundRect">
            <a:avLst>
              <a:gd name="adj" fmla="val 7142"/>
            </a:avLst>
          </a:prstGeom>
          <a:solidFill>
            <a:srgbClr val="F2F2F2"/>
          </a:solidFill>
          <a:ln w="15875">
            <a:solidFill>
              <a:srgbClr val="595959"/>
            </a:solidFill>
          </a:ln>
        </p:spPr>
        <p:txBody>
          <a:bodyPr rtlCol="0" anchor="ctr" wrap="square" lIns="73152" rIns="73152" tIns="27432" bIns="27432">
            <a:noAutofit/>
          </a:bodyPr>
          <a:lstStyle/>
          <a:p>
            <a:pPr algn="ctr">
              <a:spcAft>
                <a:spcPts val="0"/>
              </a:spcAft>
            </a:pPr>
            <a:r>
              <a:rPr sz="2200" b="0" i="0">
                <a:solidFill>
                  <a:srgbClr val="1A1A1A"/>
                </a:solidFill>
                <a:latin typeface="Trebuchet MS"/>
              </a:rPr>
              <a:t>Audio ring</a:t>
            </a:r>
          </a:p>
          <a:p>
            <a:pPr algn="ctr">
              <a:spcAft>
                <a:spcPts val="0"/>
              </a:spcAft>
            </a:pPr>
            <a:r>
              <a:rPr sz="2200" b="0" i="0">
                <a:solidFill>
                  <a:srgbClr val="1A1A1A"/>
                </a:solidFill>
                <a:latin typeface="Trebuchet MS"/>
              </a:rPr>
              <a:t>buffer, 4 s</a:t>
            </a:r>
          </a:p>
        </p:txBody>
      </p:sp>
      <p:sp>
        <p:nvSpPr>
          <p:cNvPr id="7" name="Rounded Rectangle 6"/>
          <p:cNvSpPr/>
          <p:nvPr/>
        </p:nvSpPr>
        <p:spPr>
          <a:xfrm>
            <a:off x="6023152" y="2331720"/>
            <a:ext cx="2743200" cy="2560320"/>
          </a:xfrm>
          <a:prstGeom prst="roundRect">
            <a:avLst>
              <a:gd name="adj" fmla="val 3571"/>
            </a:avLst>
          </a:prstGeom>
          <a:solidFill>
            <a:srgbClr val="E2EFDA"/>
          </a:solidFill>
          <a:ln w="15875">
            <a:solidFill>
              <a:srgbClr val="548235"/>
            </a:solidFill>
          </a:ln>
        </p:spPr>
        <p:txBody>
          <a:bodyPr rtlCol="0" anchor="ctr" wrap="square" lIns="73152" rIns="73152" tIns="27432" bIns="27432">
            <a:noAutofit/>
          </a:bodyPr>
          <a:lstStyle/>
          <a:p>
            <a:pPr algn="ctr">
              <a:spcAft>
                <a:spcPts val="0"/>
              </a:spcAft>
            </a:pPr>
            <a:r>
              <a:rPr sz="2200" b="1" i="0">
                <a:solidFill>
                  <a:srgbClr val="1A1A1A"/>
                </a:solidFill>
                <a:latin typeface="Trebuchet MS"/>
              </a:rPr>
              <a:t>Inference worker</a:t>
            </a:r>
          </a:p>
          <a:p>
            <a:pPr algn="ctr">
              <a:spcAft>
                <a:spcPts val="0"/>
              </a:spcAft>
            </a:pPr>
            <a:r>
              <a:rPr sz="2200" b="0" i="0">
                <a:solidFill>
                  <a:srgbClr val="1A1A1A"/>
                </a:solidFill>
                <a:latin typeface="Trebuchet MS"/>
              </a:rPr>
              <a:t>every 1 s:</a:t>
            </a:r>
          </a:p>
          <a:p>
            <a:pPr algn="ctr">
              <a:spcAft>
                <a:spcPts val="0"/>
              </a:spcAft>
            </a:pPr>
            <a:r>
              <a:rPr sz="2200" b="0" i="0">
                <a:solidFill>
                  <a:srgbClr val="1A1A1A"/>
                </a:solidFill>
                <a:latin typeface="Trebuchet MS"/>
              </a:rPr>
              <a:t>3 s window,</a:t>
            </a:r>
          </a:p>
          <a:p>
            <a:pPr algn="ctr">
              <a:spcAft>
                <a:spcPts val="0"/>
              </a:spcAft>
            </a:pPr>
            <a:r>
              <a:rPr sz="2200" b="0" i="0">
                <a:solidFill>
                  <a:srgbClr val="1A1A1A"/>
                </a:solidFill>
                <a:latin typeface="Trebuchet MS"/>
              </a:rPr>
              <a:t>model + beam</a:t>
            </a:r>
          </a:p>
        </p:txBody>
      </p:sp>
      <p:sp>
        <p:nvSpPr>
          <p:cNvPr id="8" name="Rounded Rectangle 7"/>
          <p:cNvSpPr/>
          <p:nvPr/>
        </p:nvSpPr>
        <p:spPr>
          <a:xfrm>
            <a:off x="9070848" y="2788920"/>
            <a:ext cx="2286000" cy="1645920"/>
          </a:xfrm>
          <a:prstGeom prst="roundRect">
            <a:avLst>
              <a:gd name="adj" fmla="val 5555"/>
            </a:avLst>
          </a:prstGeom>
          <a:solidFill>
            <a:srgbClr val="EDE7F6"/>
          </a:solidFill>
          <a:ln w="15875">
            <a:solidFill>
              <a:srgbClr val="7030A0"/>
            </a:solidFill>
          </a:ln>
        </p:spPr>
        <p:txBody>
          <a:bodyPr rtlCol="0" anchor="ctr" wrap="square" lIns="73152" rIns="73152" tIns="27432" bIns="27432">
            <a:noAutofit/>
          </a:bodyPr>
          <a:lstStyle/>
          <a:p>
            <a:pPr algn="ctr">
              <a:spcAft>
                <a:spcPts val="0"/>
              </a:spcAft>
            </a:pPr>
            <a:r>
              <a:rPr sz="2200" b="1" i="0">
                <a:solidFill>
                  <a:srgbClr val="1A1A1A"/>
                </a:solidFill>
                <a:latin typeface="Trebuchet MS"/>
              </a:rPr>
              <a:t>Display</a:t>
            </a:r>
          </a:p>
          <a:p>
            <a:pPr algn="ctr">
              <a:spcAft>
                <a:spcPts val="0"/>
              </a:spcAft>
            </a:pPr>
            <a:r>
              <a:rPr sz="2200" b="0" i="0">
                <a:solidFill>
                  <a:srgbClr val="1A1A1A"/>
                </a:solidFill>
                <a:latin typeface="Trebuchet MS"/>
              </a:rPr>
              <a:t>partial, then final caption</a:t>
            </a:r>
          </a:p>
        </p:txBody>
      </p:sp>
      <p:cxnSp>
        <p:nvCxnSpPr>
          <p:cNvPr id="9" name="Connector 8"/>
          <p:cNvCxnSpPr/>
          <p:nvPr/>
        </p:nvCxnSpPr>
        <p:spPr>
          <a:xfrm>
            <a:off x="3154679" y="2606040"/>
            <a:ext cx="249632" cy="0"/>
          </a:xfrm>
          <a:prstGeom prst="line">
            <a:avLst/>
          </a:prstGeom>
          <a:ln w="25400">
            <a:solidFill>
              <a:srgbClr val="595959"/>
            </a:solidFill>
            <a:tailEnd type="triangle" w="med" len="med"/>
          </a:ln>
        </p:spPr>
      </p:cxnSp>
      <p:cxnSp>
        <p:nvCxnSpPr>
          <p:cNvPr id="10" name="Connector 9"/>
          <p:cNvCxnSpPr/>
          <p:nvPr/>
        </p:nvCxnSpPr>
        <p:spPr>
          <a:xfrm>
            <a:off x="3154679" y="4617720"/>
            <a:ext cx="249632" cy="0"/>
          </a:xfrm>
          <a:prstGeom prst="line">
            <a:avLst/>
          </a:prstGeom>
          <a:ln w="25400">
            <a:solidFill>
              <a:srgbClr val="595959"/>
            </a:solidFill>
            <a:tailEnd type="triangle" w="med" len="med"/>
          </a:ln>
        </p:spPr>
      </p:cxnSp>
      <p:cxnSp>
        <p:nvCxnSpPr>
          <p:cNvPr id="11" name="Connector 10"/>
          <p:cNvCxnSpPr/>
          <p:nvPr/>
        </p:nvCxnSpPr>
        <p:spPr>
          <a:xfrm>
            <a:off x="5745175" y="2606040"/>
            <a:ext cx="250545" cy="365760"/>
          </a:xfrm>
          <a:prstGeom prst="line">
            <a:avLst/>
          </a:prstGeom>
          <a:ln w="25400">
            <a:solidFill>
              <a:srgbClr val="595959"/>
            </a:solidFill>
            <a:tailEnd type="triangle" w="med" len="med"/>
          </a:ln>
        </p:spPr>
      </p:cxnSp>
      <p:cxnSp>
        <p:nvCxnSpPr>
          <p:cNvPr id="12" name="Connector 11"/>
          <p:cNvCxnSpPr/>
          <p:nvPr/>
        </p:nvCxnSpPr>
        <p:spPr>
          <a:xfrm flipV="1">
            <a:off x="5745175" y="4251960"/>
            <a:ext cx="250545" cy="365760"/>
          </a:xfrm>
          <a:prstGeom prst="line">
            <a:avLst/>
          </a:prstGeom>
          <a:ln w="25400">
            <a:solidFill>
              <a:srgbClr val="595959"/>
            </a:solidFill>
            <a:tailEnd type="triangle" w="med" len="med"/>
          </a:ln>
        </p:spPr>
      </p:cxnSp>
      <p:cxnSp>
        <p:nvCxnSpPr>
          <p:cNvPr id="13" name="Connector 12"/>
          <p:cNvCxnSpPr/>
          <p:nvPr/>
        </p:nvCxnSpPr>
        <p:spPr>
          <a:xfrm>
            <a:off x="8793784" y="3611880"/>
            <a:ext cx="249632" cy="0"/>
          </a:xfrm>
          <a:prstGeom prst="line">
            <a:avLst/>
          </a:prstGeom>
          <a:ln w="25400">
            <a:solidFill>
              <a:srgbClr val="595959"/>
            </a:solidFill>
            <a:tailEnd type="triangle" w="med" len="med"/>
          </a:ln>
        </p:spPr>
      </p:cxnSp>
      <p:sp>
        <p:nvSpPr>
          <p:cNvPr id="14" name="Rounded Rectangle 13"/>
          <p:cNvSpPr/>
          <p:nvPr/>
        </p:nvSpPr>
        <p:spPr>
          <a:xfrm>
            <a:off x="841248" y="5440680"/>
            <a:ext cx="10515600" cy="502920"/>
          </a:xfrm>
          <a:prstGeom prst="roundRect">
            <a:avLst>
              <a:gd name="adj" fmla="val 18181"/>
            </a:avLst>
          </a:prstGeom>
          <a:solidFill>
            <a:srgbClr val="FFF4CC"/>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Too slow? 1.5 s hop, then smaller beam, GPU, quantised weights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Keeping live captions in sync</a:t>
            </a:r>
          </a:p>
        </p:txBody>
      </p:sp>
      <p:sp>
        <p:nvSpPr>
          <p:cNvPr id="3" name="Rounded Rectangle 2"/>
          <p:cNvSpPr/>
          <p:nvPr/>
        </p:nvSpPr>
        <p:spPr>
          <a:xfrm>
            <a:off x="841248" y="1783080"/>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1024128" y="1874519"/>
            <a:ext cx="4709160" cy="1828800"/>
          </a:xfrm>
          <a:prstGeom prst="rect">
            <a:avLst/>
          </a:prstGeom>
          <a:noFill/>
        </p:spPr>
        <p:txBody>
          <a:bodyPr wrap="square" lIns="54864" rIns="54864" tIns="27432" bIns="27432" anchor="t">
            <a:noAutofit/>
          </a:bodyPr>
          <a:lstStyle/>
          <a:p>
            <a:pPr algn="l">
              <a:spcAft>
                <a:spcPts val="400"/>
              </a:spcAft>
            </a:pPr>
            <a:r>
              <a:rPr sz="2200" b="1" i="0">
                <a:solidFill>
                  <a:srgbClr val="1F497D"/>
                </a:solidFill>
                <a:latin typeface="Trebuchet MS"/>
              </a:rPr>
              <a:t>Synchronise</a:t>
            </a:r>
          </a:p>
          <a:p>
            <a:pPr algn="l">
              <a:spcAft>
                <a:spcPts val="0"/>
              </a:spcAft>
            </a:pPr>
            <a:r>
              <a:rPr sz="2200" b="0" i="0">
                <a:solidFill>
                  <a:srgbClr val="1A1A1A"/>
                </a:solidFill>
                <a:latin typeface="Trebuchet MS"/>
              </a:rPr>
              <a:t>Nearest frame for each of 75 instants; a clap test removes fixed offset</a:t>
            </a:r>
          </a:p>
        </p:txBody>
      </p:sp>
      <p:sp>
        <p:nvSpPr>
          <p:cNvPr id="5" name="Rounded Rectangle 4"/>
          <p:cNvSpPr/>
          <p:nvPr/>
        </p:nvSpPr>
        <p:spPr>
          <a:xfrm>
            <a:off x="6281928" y="1783080"/>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6" name="TextBox 5"/>
          <p:cNvSpPr txBox="1"/>
          <p:nvPr/>
        </p:nvSpPr>
        <p:spPr>
          <a:xfrm>
            <a:off x="6464808" y="1874519"/>
            <a:ext cx="4709160" cy="1828800"/>
          </a:xfrm>
          <a:prstGeom prst="rect">
            <a:avLst/>
          </a:prstGeom>
          <a:noFill/>
        </p:spPr>
        <p:txBody>
          <a:bodyPr wrap="square" lIns="54864" rIns="54864" tIns="27432" bIns="27432" anchor="t">
            <a:noAutofit/>
          </a:bodyPr>
          <a:lstStyle/>
          <a:p>
            <a:pPr algn="l">
              <a:spcAft>
                <a:spcPts val="400"/>
              </a:spcAft>
            </a:pPr>
            <a:r>
              <a:rPr sz="2200" b="1" i="0">
                <a:solidFill>
                  <a:srgbClr val="1F497D"/>
                </a:solidFill>
                <a:latin typeface="Trebuchet MS"/>
              </a:rPr>
              <a:t>Preprocess</a:t>
            </a:r>
          </a:p>
          <a:p>
            <a:pPr algn="l">
              <a:spcAft>
                <a:spcPts val="0"/>
              </a:spcAft>
            </a:pPr>
            <a:r>
              <a:rPr sz="2200" b="0" i="0">
                <a:solidFill>
                  <a:srgbClr val="1A1A1A"/>
                </a:solidFill>
                <a:latin typeface="Trebuchet MS"/>
              </a:rPr>
              <a:t>Face Mesh once per new frame; moving-average smoothing; stored training stats</a:t>
            </a:r>
          </a:p>
        </p:txBody>
      </p:sp>
      <p:sp>
        <p:nvSpPr>
          <p:cNvPr id="7" name="Rounded Rectangle 6"/>
          <p:cNvSpPr/>
          <p:nvPr/>
        </p:nvSpPr>
        <p:spPr>
          <a:xfrm>
            <a:off x="841248" y="3913632"/>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8" name="TextBox 7"/>
          <p:cNvSpPr txBox="1"/>
          <p:nvPr/>
        </p:nvSpPr>
        <p:spPr>
          <a:xfrm>
            <a:off x="1024128" y="4005072"/>
            <a:ext cx="4709160" cy="1828800"/>
          </a:xfrm>
          <a:prstGeom prst="rect">
            <a:avLst/>
          </a:prstGeom>
          <a:noFill/>
        </p:spPr>
        <p:txBody>
          <a:bodyPr wrap="square" lIns="54864" rIns="54864" tIns="27432" bIns="27432" anchor="t">
            <a:noAutofit/>
          </a:bodyPr>
          <a:lstStyle/>
          <a:p>
            <a:pPr algn="l">
              <a:spcAft>
                <a:spcPts val="400"/>
              </a:spcAft>
            </a:pPr>
            <a:r>
              <a:rPr sz="2200" b="1" i="0">
                <a:solidFill>
                  <a:srgbClr val="1F497D"/>
                </a:solidFill>
                <a:latin typeface="Trebuchet MS"/>
              </a:rPr>
              <a:t>Partial vs final</a:t>
            </a:r>
          </a:p>
          <a:p>
            <a:pPr algn="l">
              <a:spcAft>
                <a:spcPts val="0"/>
              </a:spcAft>
            </a:pPr>
            <a:r>
              <a:rPr sz="2200" b="0" i="0">
                <a:solidFill>
                  <a:srgbClr val="1A1A1A"/>
                </a:solidFill>
                <a:latin typeface="Trebuchet MS"/>
              </a:rPr>
              <a:t>Grey partial caption each second; after 500 ms of silence, final caption in black</a:t>
            </a:r>
          </a:p>
        </p:txBody>
      </p:sp>
      <p:sp>
        <p:nvSpPr>
          <p:cNvPr id="9" name="Rounded Rectangle 8"/>
          <p:cNvSpPr/>
          <p:nvPr/>
        </p:nvSpPr>
        <p:spPr>
          <a:xfrm>
            <a:off x="6281928" y="3913632"/>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0" name="TextBox 9"/>
          <p:cNvSpPr txBox="1"/>
          <p:nvPr/>
        </p:nvSpPr>
        <p:spPr>
          <a:xfrm>
            <a:off x="6464808" y="4005072"/>
            <a:ext cx="4709160" cy="1828800"/>
          </a:xfrm>
          <a:prstGeom prst="rect">
            <a:avLst/>
          </a:prstGeom>
          <a:noFill/>
        </p:spPr>
        <p:txBody>
          <a:bodyPr wrap="square" lIns="54864" rIns="54864" tIns="27432" bIns="27432" anchor="t">
            <a:noAutofit/>
          </a:bodyPr>
          <a:lstStyle/>
          <a:p>
            <a:pPr algn="l">
              <a:spcAft>
                <a:spcPts val="400"/>
              </a:spcAft>
            </a:pPr>
            <a:r>
              <a:rPr sz="2200" b="1" i="0">
                <a:solidFill>
                  <a:srgbClr val="1F497D"/>
                </a:solidFill>
                <a:latin typeface="Trebuchet MS"/>
              </a:rPr>
              <a:t>Failures</a:t>
            </a:r>
          </a:p>
          <a:p>
            <a:pPr algn="l">
              <a:spcAft>
                <a:spcPts val="0"/>
              </a:spcAft>
            </a:pPr>
            <a:r>
              <a:rPr sz="2200" b="0" i="0">
                <a:solidFill>
                  <a:srgbClr val="1A1A1A"/>
                </a:solidFill>
                <a:latin typeface="Trebuchet MS"/>
              </a:rPr>
              <a:t>No face in over half the window: audio-only caption. Worker errors skip a window</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Extensions: emotion and language</a:t>
            </a:r>
          </a:p>
        </p:txBody>
      </p:sp>
      <p:sp>
        <p:nvSpPr>
          <p:cNvPr id="3" name="Rounded Rectangle 2"/>
          <p:cNvSpPr/>
          <p:nvPr/>
        </p:nvSpPr>
        <p:spPr>
          <a:xfrm>
            <a:off x="841248" y="1783080"/>
            <a:ext cx="5074920" cy="3246120"/>
          </a:xfrm>
          <a:prstGeom prst="roundRect">
            <a:avLst>
              <a:gd name="adj" fmla="val 2816"/>
            </a:avLst>
          </a:prstGeom>
          <a:solidFill>
            <a:srgbClr val="F2F2F2"/>
          </a:solidFill>
          <a:ln w="15875">
            <a:solidFill>
              <a:srgbClr val="595959"/>
            </a:solidFill>
          </a:ln>
        </p:spPr>
        <p:txBody>
          <a:bodyPr rtlCol="0" anchor="t" wrap="square" lIns="54864" rIns="54864" tIns="27432" bIns="27432">
            <a:noAutofit/>
          </a:bodyPr>
          <a:lstStyle/>
          <a:p>
            <a:pPr algn="l">
              <a:spcAft>
                <a:spcPts val="600"/>
              </a:spcAft>
            </a:pPr>
          </a:p>
        </p:txBody>
      </p:sp>
      <p:sp>
        <p:nvSpPr>
          <p:cNvPr id="4" name="TextBox 3"/>
          <p:cNvSpPr txBox="1"/>
          <p:nvPr/>
        </p:nvSpPr>
        <p:spPr>
          <a:xfrm>
            <a:off x="1024128" y="1892807"/>
            <a:ext cx="4709160" cy="306324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Emotion detection</a:t>
            </a:r>
          </a:p>
          <a:p>
            <a:pPr algn="l" marL="292608" indent="-292608">
              <a:spcAft>
                <a:spcPts val="800"/>
              </a:spcAft>
              <a:buClr>
                <a:srgbClr val="D7014D"/>
              </a:buClr>
              <a:buFont typeface="Arial"/>
              <a:buChar char="•"/>
            </a:pPr>
            <a:r>
              <a:rPr sz="2200" b="0" i="0">
                <a:solidFill>
                  <a:srgbClr val="1A1A1A"/>
                </a:solidFill>
                <a:latin typeface="Trebuchet MS"/>
              </a:rPr>
              <a:t>Face Mesh geometry → small classifier [7]</a:t>
            </a:r>
          </a:p>
          <a:p>
            <a:pPr algn="l" marL="292608" indent="-292608">
              <a:spcAft>
                <a:spcPts val="800"/>
              </a:spcAft>
              <a:buClr>
                <a:srgbClr val="D7014D"/>
              </a:buClr>
              <a:buFont typeface="Arial"/>
              <a:buChar char="•"/>
            </a:pPr>
            <a:r>
              <a:rPr sz="2200" b="0" i="0">
                <a:solidFill>
                  <a:srgbClr val="1A1A1A"/>
                </a:solidFill>
                <a:latin typeface="Trebuchet MS"/>
              </a:rPr>
              <a:t>Data: CREMA-D [16], RAVDESS [17]</a:t>
            </a:r>
          </a:p>
          <a:p>
            <a:pPr algn="l" marL="292608" indent="-292608">
              <a:spcAft>
                <a:spcPts val="800"/>
              </a:spcAft>
              <a:buClr>
                <a:srgbClr val="D7014D"/>
              </a:buClr>
              <a:buFont typeface="Arial"/>
              <a:buChar char="•"/>
            </a:pPr>
            <a:r>
              <a:rPr sz="2200" b="0" i="0">
                <a:solidFill>
                  <a:srgbClr val="1A1A1A"/>
                </a:solidFill>
                <a:latin typeface="Trebuchet MS"/>
              </a:rPr>
              <a:t>Limit: speech moves the mouth; acted emotions</a:t>
            </a:r>
          </a:p>
        </p:txBody>
      </p:sp>
      <p:sp>
        <p:nvSpPr>
          <p:cNvPr id="5" name="Rounded Rectangle 4"/>
          <p:cNvSpPr/>
          <p:nvPr/>
        </p:nvSpPr>
        <p:spPr>
          <a:xfrm>
            <a:off x="6281928" y="1783080"/>
            <a:ext cx="5074920" cy="3246120"/>
          </a:xfrm>
          <a:prstGeom prst="roundRect">
            <a:avLst>
              <a:gd name="adj" fmla="val 2816"/>
            </a:avLst>
          </a:prstGeom>
          <a:solidFill>
            <a:srgbClr val="F2F2F2"/>
          </a:solidFill>
          <a:ln w="15875">
            <a:solidFill>
              <a:srgbClr val="595959"/>
            </a:solidFill>
          </a:ln>
        </p:spPr>
        <p:txBody>
          <a:bodyPr rtlCol="0" anchor="t" wrap="square" lIns="54864" rIns="54864" tIns="27432" bIns="27432">
            <a:noAutofit/>
          </a:bodyPr>
          <a:lstStyle/>
          <a:p>
            <a:pPr algn="l">
              <a:spcAft>
                <a:spcPts val="600"/>
              </a:spcAft>
            </a:pPr>
          </a:p>
        </p:txBody>
      </p:sp>
      <p:sp>
        <p:nvSpPr>
          <p:cNvPr id="6" name="TextBox 5"/>
          <p:cNvSpPr txBox="1"/>
          <p:nvPr/>
        </p:nvSpPr>
        <p:spPr>
          <a:xfrm>
            <a:off x="6464808" y="1892807"/>
            <a:ext cx="4709160" cy="306324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Language identification</a:t>
            </a:r>
          </a:p>
          <a:p>
            <a:pPr algn="l" marL="292608" indent="-292608">
              <a:spcAft>
                <a:spcPts val="800"/>
              </a:spcAft>
              <a:buClr>
                <a:srgbClr val="D7014D"/>
              </a:buClr>
              <a:buFont typeface="Arial"/>
              <a:buChar char="•"/>
            </a:pPr>
            <a:r>
              <a:rPr sz="2200" b="0" i="0">
                <a:solidFill>
                  <a:srgbClr val="1A1A1A"/>
                </a:solidFill>
                <a:latin typeface="Trebuchet MS"/>
              </a:rPr>
              <a:t>Pool fused sequence → linear classifier</a:t>
            </a:r>
          </a:p>
          <a:p>
            <a:pPr algn="l" marL="292608" indent="-292608">
              <a:spcAft>
                <a:spcPts val="800"/>
              </a:spcAft>
              <a:buClr>
                <a:srgbClr val="D7014D"/>
              </a:buClr>
              <a:buFont typeface="Arial"/>
              <a:buChar char="•"/>
            </a:pPr>
            <a:r>
              <a:rPr sz="2200" b="0" i="0">
                <a:solidFill>
                  <a:srgbClr val="1A1A1A"/>
                </a:solidFill>
                <a:latin typeface="Trebuchet MS"/>
              </a:rPr>
              <a:t>Data: MuAViC [18] or consented local clips</a:t>
            </a:r>
          </a:p>
          <a:p>
            <a:pPr algn="l" marL="292608" indent="-292608">
              <a:spcAft>
                <a:spcPts val="800"/>
              </a:spcAft>
              <a:buClr>
                <a:srgbClr val="D7014D"/>
              </a:buClr>
              <a:buFont typeface="Arial"/>
              <a:buChar char="•"/>
            </a:pPr>
            <a:r>
              <a:rPr sz="2200" b="0" i="0">
                <a:solidFill>
                  <a:srgbClr val="1A1A1A"/>
                </a:solidFill>
                <a:latin typeface="Trebuchet MS"/>
              </a:rPr>
              <a:t>Limit: GRID is English only, 51 words</a:t>
            </a:r>
          </a:p>
        </p:txBody>
      </p:sp>
      <p:sp>
        <p:nvSpPr>
          <p:cNvPr id="7" name="Rounded Rectangle 6"/>
          <p:cNvSpPr/>
          <p:nvPr/>
        </p:nvSpPr>
        <p:spPr>
          <a:xfrm>
            <a:off x="841248" y="5257800"/>
            <a:ext cx="10515600" cy="685800"/>
          </a:xfrm>
          <a:prstGeom prst="roundRect">
            <a:avLst>
              <a:gd name="adj" fmla="val 13333"/>
            </a:avLst>
          </a:prstGeom>
          <a:solidFill>
            <a:srgbClr val="FFF4CC"/>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Separate modules: they never change the speech model or its results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Six-week timeline</a:t>
            </a:r>
          </a:p>
        </p:txBody>
      </p:sp>
      <p:sp>
        <p:nvSpPr>
          <p:cNvPr id="3" name="TextBox 2"/>
          <p:cNvSpPr txBox="1"/>
          <p:nvPr/>
        </p:nvSpPr>
        <p:spPr>
          <a:xfrm>
            <a:off x="4773168" y="1737360"/>
            <a:ext cx="1097280" cy="384048"/>
          </a:xfrm>
          <a:prstGeom prst="rect">
            <a:avLst/>
          </a:prstGeom>
          <a:noFill/>
        </p:spPr>
        <p:txBody>
          <a:bodyPr wrap="square" lIns="0" rIns="0" tIns="27432" bIns="27432" anchor="t">
            <a:noAutofit/>
          </a:bodyPr>
          <a:lstStyle/>
          <a:p>
            <a:pPr algn="ctr">
              <a:spcAft>
                <a:spcPts val="0"/>
              </a:spcAft>
            </a:pPr>
            <a:r>
              <a:rPr sz="2200" b="1" i="0">
                <a:solidFill>
                  <a:srgbClr val="1F497D"/>
                </a:solidFill>
                <a:latin typeface="Trebuchet MS"/>
              </a:rPr>
              <a:t>Week 1</a:t>
            </a:r>
          </a:p>
        </p:txBody>
      </p:sp>
      <p:sp>
        <p:nvSpPr>
          <p:cNvPr id="4" name="TextBox 3"/>
          <p:cNvSpPr txBox="1"/>
          <p:nvPr/>
        </p:nvSpPr>
        <p:spPr>
          <a:xfrm>
            <a:off x="5870448" y="1737360"/>
            <a:ext cx="1097280" cy="384048"/>
          </a:xfrm>
          <a:prstGeom prst="rect">
            <a:avLst/>
          </a:prstGeom>
          <a:noFill/>
        </p:spPr>
        <p:txBody>
          <a:bodyPr wrap="square" lIns="0" rIns="0" tIns="27432" bIns="27432" anchor="t">
            <a:noAutofit/>
          </a:bodyPr>
          <a:lstStyle/>
          <a:p>
            <a:pPr algn="ctr">
              <a:spcAft>
                <a:spcPts val="0"/>
              </a:spcAft>
            </a:pPr>
            <a:r>
              <a:rPr sz="2200" b="1" i="0">
                <a:solidFill>
                  <a:srgbClr val="1F497D"/>
                </a:solidFill>
                <a:latin typeface="Trebuchet MS"/>
              </a:rPr>
              <a:t>Week 2</a:t>
            </a:r>
          </a:p>
        </p:txBody>
      </p:sp>
      <p:sp>
        <p:nvSpPr>
          <p:cNvPr id="5" name="TextBox 4"/>
          <p:cNvSpPr txBox="1"/>
          <p:nvPr/>
        </p:nvSpPr>
        <p:spPr>
          <a:xfrm>
            <a:off x="6967727" y="1737360"/>
            <a:ext cx="1097280" cy="384048"/>
          </a:xfrm>
          <a:prstGeom prst="rect">
            <a:avLst/>
          </a:prstGeom>
          <a:noFill/>
        </p:spPr>
        <p:txBody>
          <a:bodyPr wrap="square" lIns="0" rIns="0" tIns="27432" bIns="27432" anchor="t">
            <a:noAutofit/>
          </a:bodyPr>
          <a:lstStyle/>
          <a:p>
            <a:pPr algn="ctr">
              <a:spcAft>
                <a:spcPts val="0"/>
              </a:spcAft>
            </a:pPr>
            <a:r>
              <a:rPr sz="2200" b="1" i="0">
                <a:solidFill>
                  <a:srgbClr val="1F497D"/>
                </a:solidFill>
                <a:latin typeface="Trebuchet MS"/>
              </a:rPr>
              <a:t>Week 3</a:t>
            </a:r>
          </a:p>
        </p:txBody>
      </p:sp>
      <p:sp>
        <p:nvSpPr>
          <p:cNvPr id="6" name="TextBox 5"/>
          <p:cNvSpPr txBox="1"/>
          <p:nvPr/>
        </p:nvSpPr>
        <p:spPr>
          <a:xfrm>
            <a:off x="8065008" y="1737360"/>
            <a:ext cx="1097280" cy="384048"/>
          </a:xfrm>
          <a:prstGeom prst="rect">
            <a:avLst/>
          </a:prstGeom>
          <a:noFill/>
        </p:spPr>
        <p:txBody>
          <a:bodyPr wrap="square" lIns="0" rIns="0" tIns="27432" bIns="27432" anchor="t">
            <a:noAutofit/>
          </a:bodyPr>
          <a:lstStyle/>
          <a:p>
            <a:pPr algn="ctr">
              <a:spcAft>
                <a:spcPts val="0"/>
              </a:spcAft>
            </a:pPr>
            <a:r>
              <a:rPr sz="2200" b="1" i="0">
                <a:solidFill>
                  <a:srgbClr val="1F497D"/>
                </a:solidFill>
                <a:latin typeface="Trebuchet MS"/>
              </a:rPr>
              <a:t>Week 4</a:t>
            </a:r>
          </a:p>
        </p:txBody>
      </p:sp>
      <p:sp>
        <p:nvSpPr>
          <p:cNvPr id="7" name="TextBox 6"/>
          <p:cNvSpPr txBox="1"/>
          <p:nvPr/>
        </p:nvSpPr>
        <p:spPr>
          <a:xfrm>
            <a:off x="9162288" y="1737360"/>
            <a:ext cx="1097280" cy="384048"/>
          </a:xfrm>
          <a:prstGeom prst="rect">
            <a:avLst/>
          </a:prstGeom>
          <a:noFill/>
        </p:spPr>
        <p:txBody>
          <a:bodyPr wrap="square" lIns="0" rIns="0" tIns="27432" bIns="27432" anchor="t">
            <a:noAutofit/>
          </a:bodyPr>
          <a:lstStyle/>
          <a:p>
            <a:pPr algn="ctr">
              <a:spcAft>
                <a:spcPts val="0"/>
              </a:spcAft>
            </a:pPr>
            <a:r>
              <a:rPr sz="2200" b="1" i="0">
                <a:solidFill>
                  <a:srgbClr val="1F497D"/>
                </a:solidFill>
                <a:latin typeface="Trebuchet MS"/>
              </a:rPr>
              <a:t>Week 5</a:t>
            </a:r>
          </a:p>
        </p:txBody>
      </p:sp>
      <p:sp>
        <p:nvSpPr>
          <p:cNvPr id="8" name="TextBox 7"/>
          <p:cNvSpPr txBox="1"/>
          <p:nvPr/>
        </p:nvSpPr>
        <p:spPr>
          <a:xfrm>
            <a:off x="10259567" y="1737360"/>
            <a:ext cx="1097280" cy="384048"/>
          </a:xfrm>
          <a:prstGeom prst="rect">
            <a:avLst/>
          </a:prstGeom>
          <a:noFill/>
        </p:spPr>
        <p:txBody>
          <a:bodyPr wrap="square" lIns="0" rIns="0" tIns="27432" bIns="27432" anchor="t">
            <a:noAutofit/>
          </a:bodyPr>
          <a:lstStyle/>
          <a:p>
            <a:pPr algn="ctr">
              <a:spcAft>
                <a:spcPts val="0"/>
              </a:spcAft>
            </a:pPr>
            <a:r>
              <a:rPr sz="2200" b="1" i="0">
                <a:solidFill>
                  <a:srgbClr val="1F497D"/>
                </a:solidFill>
                <a:latin typeface="Trebuchet MS"/>
              </a:rPr>
              <a:t>Week 6</a:t>
            </a:r>
          </a:p>
        </p:txBody>
      </p:sp>
      <p:cxnSp>
        <p:nvCxnSpPr>
          <p:cNvPr id="9" name="Connector 8"/>
          <p:cNvCxnSpPr/>
          <p:nvPr/>
        </p:nvCxnSpPr>
        <p:spPr>
          <a:xfrm>
            <a:off x="4773168" y="2148840"/>
            <a:ext cx="0" cy="3703320"/>
          </a:xfrm>
          <a:prstGeom prst="line">
            <a:avLst/>
          </a:prstGeom>
          <a:ln w="9525">
            <a:solidFill>
              <a:srgbClr val="D9D9D9"/>
            </a:solidFill>
          </a:ln>
        </p:spPr>
      </p:cxnSp>
      <p:cxnSp>
        <p:nvCxnSpPr>
          <p:cNvPr id="10" name="Connector 9"/>
          <p:cNvCxnSpPr/>
          <p:nvPr/>
        </p:nvCxnSpPr>
        <p:spPr>
          <a:xfrm>
            <a:off x="5870448" y="2148840"/>
            <a:ext cx="0" cy="3703320"/>
          </a:xfrm>
          <a:prstGeom prst="line">
            <a:avLst/>
          </a:prstGeom>
          <a:ln w="9525">
            <a:solidFill>
              <a:srgbClr val="D9D9D9"/>
            </a:solidFill>
          </a:ln>
        </p:spPr>
      </p:cxnSp>
      <p:cxnSp>
        <p:nvCxnSpPr>
          <p:cNvPr id="11" name="Connector 10"/>
          <p:cNvCxnSpPr/>
          <p:nvPr/>
        </p:nvCxnSpPr>
        <p:spPr>
          <a:xfrm>
            <a:off x="6967727" y="2148840"/>
            <a:ext cx="0" cy="3703320"/>
          </a:xfrm>
          <a:prstGeom prst="line">
            <a:avLst/>
          </a:prstGeom>
          <a:ln w="9525">
            <a:solidFill>
              <a:srgbClr val="D9D9D9"/>
            </a:solidFill>
          </a:ln>
        </p:spPr>
      </p:cxnSp>
      <p:cxnSp>
        <p:nvCxnSpPr>
          <p:cNvPr id="12" name="Connector 11"/>
          <p:cNvCxnSpPr/>
          <p:nvPr/>
        </p:nvCxnSpPr>
        <p:spPr>
          <a:xfrm>
            <a:off x="8065008" y="2148840"/>
            <a:ext cx="0" cy="3703320"/>
          </a:xfrm>
          <a:prstGeom prst="line">
            <a:avLst/>
          </a:prstGeom>
          <a:ln w="9525">
            <a:solidFill>
              <a:srgbClr val="D9D9D9"/>
            </a:solidFill>
          </a:ln>
        </p:spPr>
      </p:cxnSp>
      <p:cxnSp>
        <p:nvCxnSpPr>
          <p:cNvPr id="13" name="Connector 12"/>
          <p:cNvCxnSpPr/>
          <p:nvPr/>
        </p:nvCxnSpPr>
        <p:spPr>
          <a:xfrm>
            <a:off x="9162288" y="2148840"/>
            <a:ext cx="0" cy="3703320"/>
          </a:xfrm>
          <a:prstGeom prst="line">
            <a:avLst/>
          </a:prstGeom>
          <a:ln w="9525">
            <a:solidFill>
              <a:srgbClr val="D9D9D9"/>
            </a:solidFill>
          </a:ln>
        </p:spPr>
      </p:cxnSp>
      <p:cxnSp>
        <p:nvCxnSpPr>
          <p:cNvPr id="14" name="Connector 13"/>
          <p:cNvCxnSpPr/>
          <p:nvPr/>
        </p:nvCxnSpPr>
        <p:spPr>
          <a:xfrm>
            <a:off x="10259567" y="2148840"/>
            <a:ext cx="0" cy="3703320"/>
          </a:xfrm>
          <a:prstGeom prst="line">
            <a:avLst/>
          </a:prstGeom>
          <a:ln w="9525">
            <a:solidFill>
              <a:srgbClr val="D9D9D9"/>
            </a:solidFill>
          </a:ln>
        </p:spPr>
      </p:cxnSp>
      <p:cxnSp>
        <p:nvCxnSpPr>
          <p:cNvPr id="15" name="Connector 14"/>
          <p:cNvCxnSpPr/>
          <p:nvPr/>
        </p:nvCxnSpPr>
        <p:spPr>
          <a:xfrm>
            <a:off x="11356847" y="2148840"/>
            <a:ext cx="0" cy="3703320"/>
          </a:xfrm>
          <a:prstGeom prst="line">
            <a:avLst/>
          </a:prstGeom>
          <a:ln w="9525">
            <a:solidFill>
              <a:srgbClr val="D9D9D9"/>
            </a:solidFill>
          </a:ln>
        </p:spPr>
      </p:cxnSp>
      <p:sp>
        <p:nvSpPr>
          <p:cNvPr id="16" name="TextBox 15"/>
          <p:cNvSpPr txBox="1"/>
          <p:nvPr/>
        </p:nvSpPr>
        <p:spPr>
          <a:xfrm>
            <a:off x="841248" y="2130552"/>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M1 Setup + data checks</a:t>
            </a:r>
          </a:p>
        </p:txBody>
      </p:sp>
      <p:sp>
        <p:nvSpPr>
          <p:cNvPr id="17" name="Rounded Rectangle 16"/>
          <p:cNvSpPr/>
          <p:nvPr/>
        </p:nvSpPr>
        <p:spPr>
          <a:xfrm>
            <a:off x="4791455" y="2203704"/>
            <a:ext cx="1060704"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18" name="TextBox 17"/>
          <p:cNvSpPr txBox="1"/>
          <p:nvPr/>
        </p:nvSpPr>
        <p:spPr>
          <a:xfrm>
            <a:off x="841248" y="2500884"/>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M2 Preprocessing</a:t>
            </a:r>
          </a:p>
        </p:txBody>
      </p:sp>
      <p:sp>
        <p:nvSpPr>
          <p:cNvPr id="19" name="Rounded Rectangle 18"/>
          <p:cNvSpPr/>
          <p:nvPr/>
        </p:nvSpPr>
        <p:spPr>
          <a:xfrm>
            <a:off x="5340095" y="2574036"/>
            <a:ext cx="1609343"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20" name="TextBox 19"/>
          <p:cNvSpPr txBox="1"/>
          <p:nvPr/>
        </p:nvSpPr>
        <p:spPr>
          <a:xfrm>
            <a:off x="841248" y="2871216"/>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M3 Audio baseline B1</a:t>
            </a:r>
          </a:p>
        </p:txBody>
      </p:sp>
      <p:sp>
        <p:nvSpPr>
          <p:cNvPr id="21" name="Rounded Rectangle 20"/>
          <p:cNvSpPr/>
          <p:nvPr/>
        </p:nvSpPr>
        <p:spPr>
          <a:xfrm>
            <a:off x="6437375" y="2944368"/>
            <a:ext cx="1060704"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22" name="TextBox 21"/>
          <p:cNvSpPr txBox="1"/>
          <p:nvPr/>
        </p:nvSpPr>
        <p:spPr>
          <a:xfrm>
            <a:off x="841248" y="3241548"/>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M4 Encoders, B2, B3</a:t>
            </a:r>
          </a:p>
        </p:txBody>
      </p:sp>
      <p:sp>
        <p:nvSpPr>
          <p:cNvPr id="23" name="Rounded Rectangle 22"/>
          <p:cNvSpPr/>
          <p:nvPr/>
        </p:nvSpPr>
        <p:spPr>
          <a:xfrm>
            <a:off x="6986015" y="3314700"/>
            <a:ext cx="1609343"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24" name="TextBox 23"/>
          <p:cNvSpPr txBox="1"/>
          <p:nvPr/>
        </p:nvSpPr>
        <p:spPr>
          <a:xfrm>
            <a:off x="841248" y="3611880"/>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M5 Fusion model P</a:t>
            </a:r>
          </a:p>
        </p:txBody>
      </p:sp>
      <p:sp>
        <p:nvSpPr>
          <p:cNvPr id="25" name="Rounded Rectangle 24"/>
          <p:cNvSpPr/>
          <p:nvPr/>
        </p:nvSpPr>
        <p:spPr>
          <a:xfrm>
            <a:off x="8083296" y="3685032"/>
            <a:ext cx="1060704"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26" name="TextBox 25"/>
          <p:cNvSpPr txBox="1"/>
          <p:nvPr/>
        </p:nvSpPr>
        <p:spPr>
          <a:xfrm>
            <a:off x="841248" y="3982212"/>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M6 Training + tuning</a:t>
            </a:r>
          </a:p>
        </p:txBody>
      </p:sp>
      <p:sp>
        <p:nvSpPr>
          <p:cNvPr id="27" name="Rounded Rectangle 26"/>
          <p:cNvSpPr/>
          <p:nvPr/>
        </p:nvSpPr>
        <p:spPr>
          <a:xfrm>
            <a:off x="8631936" y="4055363"/>
            <a:ext cx="1609343"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28" name="TextBox 27"/>
          <p:cNvSpPr txBox="1"/>
          <p:nvPr/>
        </p:nvSpPr>
        <p:spPr>
          <a:xfrm>
            <a:off x="841248" y="4352544"/>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M7 Evaluation</a:t>
            </a:r>
          </a:p>
        </p:txBody>
      </p:sp>
      <p:sp>
        <p:nvSpPr>
          <p:cNvPr id="29" name="Rounded Rectangle 28"/>
          <p:cNvSpPr/>
          <p:nvPr/>
        </p:nvSpPr>
        <p:spPr>
          <a:xfrm>
            <a:off x="9729215" y="4425696"/>
            <a:ext cx="1060704"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30" name="TextBox 29"/>
          <p:cNvSpPr txBox="1"/>
          <p:nvPr/>
        </p:nvSpPr>
        <p:spPr>
          <a:xfrm>
            <a:off x="841248" y="4722876"/>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M8 Application</a:t>
            </a:r>
          </a:p>
        </p:txBody>
      </p:sp>
      <p:sp>
        <p:nvSpPr>
          <p:cNvPr id="31" name="Rounded Rectangle 30"/>
          <p:cNvSpPr/>
          <p:nvPr/>
        </p:nvSpPr>
        <p:spPr>
          <a:xfrm>
            <a:off x="9729215" y="4796028"/>
            <a:ext cx="1609343"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32" name="TextBox 31"/>
          <p:cNvSpPr txBox="1"/>
          <p:nvPr/>
        </p:nvSpPr>
        <p:spPr>
          <a:xfrm>
            <a:off x="841248" y="5093208"/>
            <a:ext cx="3886200" cy="388620"/>
          </a:xfrm>
          <a:prstGeom prst="rect">
            <a:avLst/>
          </a:prstGeom>
          <a:noFill/>
        </p:spPr>
        <p:txBody>
          <a:bodyPr wrap="square" lIns="0" rIns="0" tIns="27432" bIns="27432" anchor="ctr">
            <a:noAutofit/>
          </a:bodyPr>
          <a:lstStyle/>
          <a:p>
            <a:pPr algn="l">
              <a:spcAft>
                <a:spcPts val="0"/>
              </a:spcAft>
            </a:pPr>
            <a:r>
              <a:rPr sz="2200" b="0" i="0">
                <a:solidFill>
                  <a:srgbClr val="1A1A1A"/>
                </a:solidFill>
                <a:latin typeface="Trebuchet MS"/>
              </a:rPr>
              <a:t>M9 Tests, docs, demo</a:t>
            </a:r>
          </a:p>
        </p:txBody>
      </p:sp>
      <p:sp>
        <p:nvSpPr>
          <p:cNvPr id="33" name="Rounded Rectangle 32"/>
          <p:cNvSpPr/>
          <p:nvPr/>
        </p:nvSpPr>
        <p:spPr>
          <a:xfrm>
            <a:off x="10826496" y="5166359"/>
            <a:ext cx="512063" cy="260604"/>
          </a:xfrm>
          <a:prstGeom prst="roundRect">
            <a:avLst>
              <a:gd name="adj" fmla="val 14035"/>
            </a:avLst>
          </a:prstGeom>
          <a:solidFill>
            <a:srgbClr val="1F497D"/>
          </a:solidFill>
          <a:ln>
            <a:noFill/>
          </a:ln>
        </p:spPr>
        <p:txBody>
          <a:bodyPr rtlCol="0" anchor="t" wrap="square" lIns="54864" rIns="54864" tIns="27432" bIns="27432">
            <a:noAutofit/>
          </a:bodyPr>
          <a:lstStyle/>
          <a:p>
            <a:pPr algn="l">
              <a:spcAft>
                <a:spcPts val="600"/>
              </a:spcAft>
            </a:pPr>
          </a:p>
        </p:txBody>
      </p:sp>
      <p:sp>
        <p:nvSpPr>
          <p:cNvPr id="34" name="TextBox 33"/>
          <p:cNvSpPr txBox="1"/>
          <p:nvPr/>
        </p:nvSpPr>
        <p:spPr>
          <a:xfrm>
            <a:off x="841248" y="5463540"/>
            <a:ext cx="3886200" cy="388620"/>
          </a:xfrm>
          <a:prstGeom prst="rect">
            <a:avLst/>
          </a:prstGeom>
          <a:noFill/>
        </p:spPr>
        <p:txBody>
          <a:bodyPr wrap="square" lIns="0" rIns="0" tIns="27432" bIns="27432" anchor="ctr">
            <a:noAutofit/>
          </a:bodyPr>
          <a:lstStyle/>
          <a:p>
            <a:pPr algn="l">
              <a:spcAft>
                <a:spcPts val="0"/>
              </a:spcAft>
            </a:pPr>
            <a:r>
              <a:rPr sz="2200" b="0" i="0">
                <a:solidFill>
                  <a:srgbClr val="595959"/>
                </a:solidFill>
                <a:latin typeface="Trebuchet MS"/>
              </a:rPr>
              <a:t>Optional extensions</a:t>
            </a:r>
          </a:p>
        </p:txBody>
      </p:sp>
      <p:sp>
        <p:nvSpPr>
          <p:cNvPr id="35" name="Rounded Rectangle 34"/>
          <p:cNvSpPr/>
          <p:nvPr/>
        </p:nvSpPr>
        <p:spPr>
          <a:xfrm>
            <a:off x="10277855" y="5536692"/>
            <a:ext cx="1060704" cy="260604"/>
          </a:xfrm>
          <a:prstGeom prst="roundRect">
            <a:avLst>
              <a:gd name="adj" fmla="val 14035"/>
            </a:avLst>
          </a:prstGeom>
          <a:solidFill>
            <a:srgbClr val="D9D9D9"/>
          </a:solidFill>
          <a:ln w="15875">
            <a:solidFill>
              <a:srgbClr val="595959"/>
            </a:solidFill>
            <a:prstDash val="dash"/>
          </a:ln>
        </p:spPr>
        <p:txBody>
          <a:bodyPr rtlCol="0" anchor="t" wrap="square" lIns="54864" rIns="54864" tIns="27432" bIns="27432">
            <a:noAutofit/>
          </a:bodyPr>
          <a:lstStyle/>
          <a:p>
            <a:pPr algn="l">
              <a:spcAft>
                <a:spcPts val="600"/>
              </a:spcAft>
            </a:pPr>
          </a:p>
        </p:txBody>
      </p:sp>
      <p:cxnSp>
        <p:nvCxnSpPr>
          <p:cNvPr id="36" name="Connector 35"/>
          <p:cNvCxnSpPr/>
          <p:nvPr/>
        </p:nvCxnSpPr>
        <p:spPr>
          <a:xfrm>
            <a:off x="10259567" y="2103120"/>
            <a:ext cx="0" cy="3794760"/>
          </a:xfrm>
          <a:prstGeom prst="line">
            <a:avLst/>
          </a:prstGeom>
          <a:ln w="31750">
            <a:solidFill>
              <a:srgbClr val="D7014D"/>
            </a:solidFill>
          </a:ln>
        </p:spPr>
      </p:cxnSp>
      <p:sp>
        <p:nvSpPr>
          <p:cNvPr id="37" name="TextBox 36"/>
          <p:cNvSpPr txBox="1"/>
          <p:nvPr/>
        </p:nvSpPr>
        <p:spPr>
          <a:xfrm>
            <a:off x="10351007" y="2194560"/>
            <a:ext cx="1005839" cy="777240"/>
          </a:xfrm>
          <a:prstGeom prst="rect">
            <a:avLst/>
          </a:prstGeom>
          <a:noFill/>
        </p:spPr>
        <p:txBody>
          <a:bodyPr wrap="square" lIns="0" rIns="0" tIns="27432" bIns="27432" anchor="t">
            <a:noAutofit/>
          </a:bodyPr>
          <a:lstStyle/>
          <a:p>
            <a:pPr algn="l">
              <a:spcAft>
                <a:spcPts val="0"/>
              </a:spcAft>
            </a:pPr>
            <a:r>
              <a:rPr sz="2200" b="1" i="0">
                <a:solidFill>
                  <a:srgbClr val="D7014D"/>
                </a:solidFill>
                <a:latin typeface="Trebuchet MS"/>
              </a:rPr>
              <a:t>core</a:t>
            </a:r>
          </a:p>
          <a:p>
            <a:pPr algn="l">
              <a:spcAft>
                <a:spcPts val="0"/>
              </a:spcAft>
            </a:pPr>
            <a:r>
              <a:rPr sz="2200" b="1" i="0">
                <a:solidFill>
                  <a:srgbClr val="D7014D"/>
                </a:solidFill>
                <a:latin typeface="Trebuchet MS"/>
              </a:rPr>
              <a:t>freeze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Priorities if the schedule slips</a:t>
            </a:r>
          </a:p>
        </p:txBody>
      </p:sp>
      <p:sp>
        <p:nvSpPr>
          <p:cNvPr id="3" name="Rounded Rectangle 2"/>
          <p:cNvSpPr/>
          <p:nvPr/>
        </p:nvSpPr>
        <p:spPr>
          <a:xfrm>
            <a:off x="841248" y="1783080"/>
            <a:ext cx="5074920" cy="2834640"/>
          </a:xfrm>
          <a:prstGeom prst="roundRect">
            <a:avLst>
              <a:gd name="adj" fmla="val 3225"/>
            </a:avLst>
          </a:prstGeom>
          <a:solidFill>
            <a:srgbClr val="F2F2F2"/>
          </a:solidFill>
          <a:ln>
            <a:noFill/>
          </a:ln>
        </p:spPr>
        <p:txBody>
          <a:bodyPr rtlCol="0" anchor="t" wrap="square" lIns="54864" rIns="54864" tIns="27432" bIns="27432">
            <a:noAutofit/>
          </a:bodyPr>
          <a:lstStyle/>
          <a:p>
            <a:pPr algn="l">
              <a:spcAft>
                <a:spcPts val="600"/>
              </a:spcAft>
            </a:pPr>
          </a:p>
        </p:txBody>
      </p:sp>
      <p:sp>
        <p:nvSpPr>
          <p:cNvPr id="4" name="TextBox 3"/>
          <p:cNvSpPr txBox="1"/>
          <p:nvPr/>
        </p:nvSpPr>
        <p:spPr>
          <a:xfrm>
            <a:off x="1024128" y="1874519"/>
            <a:ext cx="4709160" cy="269748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Drop first, in this order</a:t>
            </a:r>
          </a:p>
          <a:p>
            <a:pPr algn="l">
              <a:spcAft>
                <a:spcPts val="400"/>
              </a:spcAft>
            </a:pPr>
            <a:r>
              <a:rPr sz="2200" b="0" i="0">
                <a:solidFill>
                  <a:srgbClr val="1A1A1A"/>
                </a:solidFill>
                <a:latin typeface="Trebuchet MS"/>
              </a:rPr>
              <a:t>1. Optional extensions</a:t>
            </a:r>
          </a:p>
          <a:p>
            <a:pPr algn="l">
              <a:spcAft>
                <a:spcPts val="400"/>
              </a:spcAft>
            </a:pPr>
            <a:r>
              <a:rPr sz="2200" b="0" i="0">
                <a:solidFill>
                  <a:srgbClr val="1A1A1A"/>
                </a:solidFill>
                <a:latin typeface="Trebuchet MS"/>
              </a:rPr>
              <a:t>2. Experiments X4–X6</a:t>
            </a:r>
          </a:p>
          <a:p>
            <a:pPr algn="l">
              <a:spcAft>
                <a:spcPts val="400"/>
              </a:spcAft>
            </a:pPr>
            <a:r>
              <a:rPr sz="2200" b="0" i="0">
                <a:solidFill>
                  <a:srgbClr val="1A1A1A"/>
                </a:solidFill>
                <a:latin typeface="Trebuchet MS"/>
              </a:rPr>
              <a:t>3. Mode B live captioning</a:t>
            </a:r>
          </a:p>
          <a:p>
            <a:pPr algn="l">
              <a:spcAft>
                <a:spcPts val="400"/>
              </a:spcAft>
            </a:pPr>
            <a:r>
              <a:rPr sz="2200" b="0" i="0">
                <a:solidFill>
                  <a:srgbClr val="1A1A1A"/>
                </a:solidFill>
                <a:latin typeface="Trebuchet MS"/>
              </a:rPr>
              <a:t>4. Multiple seeds</a:t>
            </a:r>
          </a:p>
        </p:txBody>
      </p:sp>
      <p:sp>
        <p:nvSpPr>
          <p:cNvPr id="5" name="Rounded Rectangle 4"/>
          <p:cNvSpPr/>
          <p:nvPr/>
        </p:nvSpPr>
        <p:spPr>
          <a:xfrm>
            <a:off x="6281928" y="1783080"/>
            <a:ext cx="5074920" cy="2834640"/>
          </a:xfrm>
          <a:prstGeom prst="roundRect">
            <a:avLst>
              <a:gd name="adj" fmla="val 3225"/>
            </a:avLst>
          </a:prstGeom>
          <a:solidFill>
            <a:srgbClr val="E2EFDA"/>
          </a:solidFill>
          <a:ln w="15875">
            <a:solidFill>
              <a:srgbClr val="548235"/>
            </a:solidFill>
          </a:ln>
        </p:spPr>
        <p:txBody>
          <a:bodyPr rtlCol="0" anchor="t" wrap="square" lIns="54864" rIns="54864" tIns="27432" bIns="27432">
            <a:noAutofit/>
          </a:bodyPr>
          <a:lstStyle/>
          <a:p>
            <a:pPr algn="l">
              <a:spcAft>
                <a:spcPts val="600"/>
              </a:spcAft>
            </a:pPr>
          </a:p>
        </p:txBody>
      </p:sp>
      <p:sp>
        <p:nvSpPr>
          <p:cNvPr id="6" name="TextBox 5"/>
          <p:cNvSpPr txBox="1"/>
          <p:nvPr/>
        </p:nvSpPr>
        <p:spPr>
          <a:xfrm>
            <a:off x="6464808" y="1874519"/>
            <a:ext cx="4709160" cy="2697480"/>
          </a:xfrm>
          <a:prstGeom prst="rect">
            <a:avLst/>
          </a:prstGeom>
          <a:noFill/>
        </p:spPr>
        <p:txBody>
          <a:bodyPr wrap="square" lIns="54864" rIns="54864" tIns="27432" bIns="27432" anchor="t">
            <a:noAutofit/>
          </a:bodyPr>
          <a:lstStyle/>
          <a:p>
            <a:pPr algn="l">
              <a:spcAft>
                <a:spcPts val="600"/>
              </a:spcAft>
            </a:pPr>
            <a:r>
              <a:rPr sz="2200" b="1" i="0">
                <a:solidFill>
                  <a:srgbClr val="1F497D"/>
                </a:solidFill>
                <a:latin typeface="Trebuchet MS"/>
              </a:rPr>
              <a:t>Never dropped</a:t>
            </a:r>
          </a:p>
          <a:p>
            <a:pPr algn="l" marL="292608" indent="-292608">
              <a:spcAft>
                <a:spcPts val="400"/>
              </a:spcAft>
              <a:buClr>
                <a:srgbClr val="D7014D"/>
              </a:buClr>
              <a:buFont typeface="Arial"/>
              <a:buChar char="•"/>
            </a:pPr>
            <a:r>
              <a:rPr sz="2200" b="0" i="0">
                <a:solidFill>
                  <a:srgbClr val="1A1A1A"/>
                </a:solidFill>
                <a:latin typeface="Trebuchet MS"/>
              </a:rPr>
              <a:t>Baselines B1–B3 and model P</a:t>
            </a:r>
          </a:p>
          <a:p>
            <a:pPr algn="l" marL="292608" indent="-292608">
              <a:spcAft>
                <a:spcPts val="400"/>
              </a:spcAft>
              <a:buClr>
                <a:srgbClr val="D7014D"/>
              </a:buClr>
              <a:buFont typeface="Arial"/>
              <a:buChar char="•"/>
            </a:pPr>
            <a:r>
              <a:rPr sz="2200" b="0" i="0">
                <a:solidFill>
                  <a:srgbClr val="1A1A1A"/>
                </a:solidFill>
                <a:latin typeface="Trebuchet MS"/>
              </a:rPr>
              <a:t>Per-SNR evaluation</a:t>
            </a:r>
          </a:p>
          <a:p>
            <a:pPr algn="l" marL="292608" indent="-292608">
              <a:spcAft>
                <a:spcPts val="400"/>
              </a:spcAft>
              <a:buClr>
                <a:srgbClr val="D7014D"/>
              </a:buClr>
              <a:buFont typeface="Arial"/>
              <a:buChar char="•"/>
            </a:pPr>
            <a:r>
              <a:rPr sz="2200" b="0" i="0">
                <a:solidFill>
                  <a:srgbClr val="1A1A1A"/>
                </a:solidFill>
                <a:latin typeface="Trebuchet MS"/>
              </a:rPr>
              <a:t>Ablations X1–X3</a:t>
            </a:r>
          </a:p>
        </p:txBody>
      </p:sp>
      <p:sp>
        <p:nvSpPr>
          <p:cNvPr id="7" name="TextBox 6"/>
          <p:cNvSpPr txBox="1"/>
          <p:nvPr/>
        </p:nvSpPr>
        <p:spPr>
          <a:xfrm>
            <a:off x="841248" y="4800600"/>
            <a:ext cx="10515600" cy="41148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Team organisation: three pairs, weekly review</a:t>
            </a:r>
          </a:p>
        </p:txBody>
      </p:sp>
      <p:sp>
        <p:nvSpPr>
          <p:cNvPr id="8" name="Rounded Rectangle 7"/>
          <p:cNvSpPr/>
          <p:nvPr/>
        </p:nvSpPr>
        <p:spPr>
          <a:xfrm>
            <a:off x="841248" y="5303520"/>
            <a:ext cx="3291840" cy="640080"/>
          </a:xfrm>
          <a:prstGeom prst="roundRect">
            <a:avLst>
              <a:gd name="adj" fmla="val 14285"/>
            </a:avLst>
          </a:prstGeom>
          <a:solidFill>
            <a:srgbClr val="1F497D"/>
          </a:solidFill>
          <a:ln>
            <a:noFill/>
          </a:ln>
        </p:spPr>
        <p:txBody>
          <a:bodyPr rtlCol="0" anchor="ctr" wrap="square" lIns="73152" rIns="73152" tIns="27432" bIns="27432">
            <a:noAutofit/>
          </a:bodyPr>
          <a:lstStyle/>
          <a:p>
            <a:pPr algn="ctr">
              <a:spcAft>
                <a:spcPts val="0"/>
              </a:spcAft>
            </a:pPr>
            <a:r>
              <a:rPr sz="2200" b="0" i="0">
                <a:solidFill>
                  <a:srgbClr val="FFFFFF"/>
                </a:solidFill>
                <a:latin typeface="Trebuchet MS"/>
              </a:rPr>
              <a:t>Data pair: M1–M2</a:t>
            </a:r>
          </a:p>
        </p:txBody>
      </p:sp>
      <p:sp>
        <p:nvSpPr>
          <p:cNvPr id="9" name="Rounded Rectangle 8"/>
          <p:cNvSpPr/>
          <p:nvPr/>
        </p:nvSpPr>
        <p:spPr>
          <a:xfrm>
            <a:off x="4453128" y="5303520"/>
            <a:ext cx="3291840" cy="640080"/>
          </a:xfrm>
          <a:prstGeom prst="roundRect">
            <a:avLst>
              <a:gd name="adj" fmla="val 14285"/>
            </a:avLst>
          </a:prstGeom>
          <a:solidFill>
            <a:srgbClr val="1F497D"/>
          </a:solidFill>
          <a:ln>
            <a:noFill/>
          </a:ln>
        </p:spPr>
        <p:txBody>
          <a:bodyPr rtlCol="0" anchor="ctr" wrap="square" lIns="73152" rIns="73152" tIns="27432" bIns="27432">
            <a:noAutofit/>
          </a:bodyPr>
          <a:lstStyle/>
          <a:p>
            <a:pPr algn="ctr">
              <a:spcAft>
                <a:spcPts val="0"/>
              </a:spcAft>
            </a:pPr>
            <a:r>
              <a:rPr sz="2200" b="0" i="0">
                <a:solidFill>
                  <a:srgbClr val="FFFFFF"/>
                </a:solidFill>
                <a:latin typeface="Trebuchet MS"/>
              </a:rPr>
              <a:t>Model pair: M3–M6</a:t>
            </a:r>
          </a:p>
        </p:txBody>
      </p:sp>
      <p:sp>
        <p:nvSpPr>
          <p:cNvPr id="10" name="Rounded Rectangle 9"/>
          <p:cNvSpPr/>
          <p:nvPr/>
        </p:nvSpPr>
        <p:spPr>
          <a:xfrm>
            <a:off x="8065008" y="5303520"/>
            <a:ext cx="3291840" cy="640080"/>
          </a:xfrm>
          <a:prstGeom prst="roundRect">
            <a:avLst>
              <a:gd name="adj" fmla="val 14285"/>
            </a:avLst>
          </a:prstGeom>
          <a:solidFill>
            <a:srgbClr val="1F497D"/>
          </a:solidFill>
          <a:ln>
            <a:noFill/>
          </a:ln>
        </p:spPr>
        <p:txBody>
          <a:bodyPr rtlCol="0" anchor="ctr" wrap="square" lIns="73152" rIns="73152" tIns="27432" bIns="27432">
            <a:noAutofit/>
          </a:bodyPr>
          <a:lstStyle/>
          <a:p>
            <a:pPr algn="ctr">
              <a:spcAft>
                <a:spcPts val="0"/>
              </a:spcAft>
            </a:pPr>
            <a:r>
              <a:rPr sz="2200" b="0" i="0">
                <a:solidFill>
                  <a:srgbClr val="FFFFFF"/>
                </a:solidFill>
                <a:latin typeface="Trebuchet MS"/>
              </a:rPr>
              <a:t>App pair: demo, tests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Risks and mitigations (1 of 2)</a:t>
            </a:r>
          </a:p>
        </p:txBody>
      </p:sp>
      <p:graphicFrame>
        <p:nvGraphicFramePr>
          <p:cNvPr id="3" name="Table 2"/>
          <p:cNvGraphicFramePr>
            <a:graphicFrameLocks noGrp="1"/>
          </p:cNvGraphicFramePr>
          <p:nvPr/>
        </p:nvGraphicFramePr>
        <p:xfrm>
          <a:off x="841248" y="1783080"/>
          <a:ext cx="10515600" cy="3657600"/>
        </p:xfrm>
        <a:graphic>
          <a:graphicData uri="http://schemas.openxmlformats.org/drawingml/2006/table">
            <a:tbl>
              <a:tblPr firstRow="1">
                <a:tableStyleId>{5C22544A-7EE6-4342-B048-85BDC9FD1C3A}</a:tableStyleId>
              </a:tblPr>
              <a:tblGrid>
                <a:gridCol w="3291840"/>
                <a:gridCol w="1188720"/>
                <a:gridCol w="6035040"/>
              </a:tblGrid>
              <a:tr h="457200">
                <a:tc>
                  <a:txBody>
                    <a:bodyPr wrap="square"/>
                    <a:lstStyle/>
                    <a:p>
                      <a:pPr algn="l"/>
                      <a:r>
                        <a:rPr sz="2200" b="1" i="0">
                          <a:solidFill>
                            <a:srgbClr val="FFFFFF"/>
                          </a:solidFill>
                          <a:latin typeface="Trebuchet MS"/>
                        </a:rPr>
                        <a:t>Risk</a:t>
                      </a:r>
                    </a:p>
                  </a:txBody>
                  <a:tcPr marL="82296" marR="82296" marT="36576" marB="36576" anchor="ctr">
                    <a:solidFill>
                      <a:srgbClr val="1F497D"/>
                    </a:solidFill>
                  </a:tcPr>
                </a:tc>
                <a:tc>
                  <a:txBody>
                    <a:bodyPr wrap="square"/>
                    <a:lstStyle/>
                    <a:p>
                      <a:pPr algn="ctr"/>
                      <a:r>
                        <a:rPr sz="2200" b="1" i="0">
                          <a:solidFill>
                            <a:srgbClr val="FFFFFF"/>
                          </a:solidFill>
                          <a:latin typeface="Trebuchet MS"/>
                        </a:rPr>
                        <a:t>L / I</a:t>
                      </a:r>
                    </a:p>
                  </a:txBody>
                  <a:tcPr marL="82296" marR="82296" marT="36576" marB="36576" anchor="ctr">
                    <a:solidFill>
                      <a:srgbClr val="1F497D"/>
                    </a:solidFill>
                  </a:tcPr>
                </a:tc>
                <a:tc>
                  <a:txBody>
                    <a:bodyPr wrap="square"/>
                    <a:lstStyle/>
                    <a:p>
                      <a:pPr algn="l"/>
                      <a:r>
                        <a:rPr sz="2200" b="1" i="0">
                          <a:solidFill>
                            <a:srgbClr val="FFFFFF"/>
                          </a:solidFill>
                          <a:latin typeface="Trebuchet MS"/>
                        </a:rPr>
                        <a:t>Mitigation</a:t>
                      </a:r>
                    </a:p>
                  </a:txBody>
                  <a:tcPr marL="82296" marR="82296" marT="36576" marB="36576" anchor="ctr">
                    <a:solidFill>
                      <a:srgbClr val="1F497D"/>
                    </a:solidFill>
                  </a:tcPr>
                </a:tc>
              </a:tr>
              <a:tr h="457200">
                <a:tc>
                  <a:txBody>
                    <a:bodyPr wrap="square"/>
                    <a:lstStyle/>
                    <a:p>
                      <a:pPr algn="l"/>
                      <a:r>
                        <a:rPr sz="2200" b="1" i="0">
                          <a:solidFill>
                            <a:srgbClr val="1A1A1A"/>
                          </a:solidFill>
                          <a:latin typeface="Trebuchet MS"/>
                        </a:rPr>
                        <a:t>Limited compute</a:t>
                      </a:r>
                    </a:p>
                  </a:txBody>
                  <a:tcPr marL="82296" marR="82296" marT="36576" marB="36576" anchor="ctr">
                    <a:solidFill>
                      <a:srgbClr val="FFFFFF"/>
                    </a:solidFill>
                  </a:tcPr>
                </a:tc>
                <a:tc>
                  <a:txBody>
                    <a:bodyPr wrap="square"/>
                    <a:lstStyle/>
                    <a:p>
                      <a:pPr algn="ctr"/>
                      <a:r>
                        <a:rPr sz="2200" b="0" i="0">
                          <a:solidFill>
                            <a:srgbClr val="1A1A1A"/>
                          </a:solidFill>
                          <a:latin typeface="Trebuchet MS"/>
                        </a:rPr>
                        <a:t>H / H</a:t>
                      </a:r>
                    </a:p>
                  </a:txBody>
                  <a:tcPr marL="82296" marR="82296" marT="36576" marB="36576" anchor="ctr">
                    <a:solidFill>
                      <a:srgbClr val="FFFFFF"/>
                    </a:solidFill>
                  </a:tcPr>
                </a:tc>
                <a:tc>
                  <a:txBody>
                    <a:bodyPr wrap="square"/>
                    <a:lstStyle/>
                    <a:p>
                      <a:pPr algn="l"/>
                      <a:r>
                        <a:rPr sz="2200" b="0" i="0">
                          <a:solidFill>
                            <a:srgbClr val="1A1A1A"/>
                          </a:solidFill>
                          <a:latin typeface="Trebuchet MS"/>
                        </a:rPr>
                        <a:t>GPU check week 1; AMP; cached crops</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Long training</a:t>
                      </a:r>
                    </a:p>
                  </a:txBody>
                  <a:tcPr marL="82296" marR="82296" marT="36576" marB="36576" anchor="ctr">
                    <a:solidFill>
                      <a:srgbClr val="EAF0F8"/>
                    </a:solidFill>
                  </a:tcPr>
                </a:tc>
                <a:tc>
                  <a:txBody>
                    <a:bodyPr wrap="square"/>
                    <a:lstStyle/>
                    <a:p>
                      <a:pPr algn="ctr"/>
                      <a:r>
                        <a:rPr sz="2200" b="0" i="0">
                          <a:solidFill>
                            <a:srgbClr val="1A1A1A"/>
                          </a:solidFill>
                          <a:latin typeface="Trebuchet MS"/>
                        </a:rPr>
                        <a:t>H / M</a:t>
                      </a:r>
                    </a:p>
                  </a:txBody>
                  <a:tcPr marL="82296" marR="82296" marT="36576" marB="36576" anchor="ctr">
                    <a:solidFill>
                      <a:srgbClr val="EAF0F8"/>
                    </a:solidFill>
                  </a:tcPr>
                </a:tc>
                <a:tc>
                  <a:txBody>
                    <a:bodyPr wrap="square"/>
                    <a:lstStyle/>
                    <a:p>
                      <a:pPr algn="l"/>
                      <a:r>
                        <a:rPr sz="2200" b="0" i="0">
                          <a:solidFill>
                            <a:srgbClr val="1A1A1A"/>
                          </a:solidFill>
                          <a:latin typeface="Trebuchet MS"/>
                        </a:rPr>
                        <a:t>Start B1 week 2; early stop; resume</a:t>
                      </a:r>
                    </a:p>
                  </a:txBody>
                  <a:tcPr marL="82296" marR="82296" marT="36576" marB="36576" anchor="ctr">
                    <a:solidFill>
                      <a:srgbClr val="EAF0F8"/>
                    </a:solidFill>
                  </a:tcPr>
                </a:tc>
              </a:tr>
              <a:tr h="457200">
                <a:tc>
                  <a:txBody>
                    <a:bodyPr wrap="square"/>
                    <a:lstStyle/>
                    <a:p>
                      <a:pPr algn="l"/>
                      <a:r>
                        <a:rPr sz="2200" b="1" i="0">
                          <a:solidFill>
                            <a:srgbClr val="1A1A1A"/>
                          </a:solidFill>
                          <a:latin typeface="Trebuchet MS"/>
                        </a:rPr>
                        <a:t>A/V misalignment</a:t>
                      </a:r>
                    </a:p>
                  </a:txBody>
                  <a:tcPr marL="82296" marR="82296" marT="36576" marB="36576" anchor="ctr">
                    <a:solidFill>
                      <a:srgbClr val="FFFFFF"/>
                    </a:solidFill>
                  </a:tcPr>
                </a:tc>
                <a:tc>
                  <a:txBody>
                    <a:bodyPr wrap="square"/>
                    <a:lstStyle/>
                    <a:p>
                      <a:pPr algn="ctr"/>
                      <a:r>
                        <a:rPr sz="2200" b="0" i="0">
                          <a:solidFill>
                            <a:srgbClr val="1A1A1A"/>
                          </a:solidFill>
                          <a:latin typeface="Trebuchet MS"/>
                        </a:rPr>
                        <a:t>M / H</a:t>
                      </a:r>
                    </a:p>
                  </a:txBody>
                  <a:tcPr marL="82296" marR="82296" marT="36576" marB="36576" anchor="ctr">
                    <a:solidFill>
                      <a:srgbClr val="FFFFFF"/>
                    </a:solidFill>
                  </a:tcPr>
                </a:tc>
                <a:tc>
                  <a:txBody>
                    <a:bodyPr wrap="square"/>
                    <a:lstStyle/>
                    <a:p>
                      <a:pPr algn="l"/>
                      <a:r>
                        <a:rPr sz="2200" b="0" i="0">
                          <a:solidFill>
                            <a:srgbClr val="1A1A1A"/>
                          </a:solidFill>
                          <a:latin typeface="Trebuchet MS"/>
                        </a:rPr>
                        <a:t>Keep all frames; parity + shift tests</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CTC instability</a:t>
                      </a:r>
                    </a:p>
                  </a:txBody>
                  <a:tcPr marL="82296" marR="82296" marT="36576" marB="36576" anchor="ctr">
                    <a:solidFill>
                      <a:srgbClr val="EAF0F8"/>
                    </a:solidFill>
                  </a:tcPr>
                </a:tc>
                <a:tc>
                  <a:txBody>
                    <a:bodyPr wrap="square"/>
                    <a:lstStyle/>
                    <a:p>
                      <a:pPr algn="ctr"/>
                      <a:r>
                        <a:rPr sz="2200" b="0" i="0">
                          <a:solidFill>
                            <a:srgbClr val="1A1A1A"/>
                          </a:solidFill>
                          <a:latin typeface="Trebuchet MS"/>
                        </a:rPr>
                        <a:t>M / H</a:t>
                      </a:r>
                    </a:p>
                  </a:txBody>
                  <a:tcPr marL="82296" marR="82296" marT="36576" marB="36576" anchor="ctr">
                    <a:solidFill>
                      <a:srgbClr val="EAF0F8"/>
                    </a:solidFill>
                  </a:tcPr>
                </a:tc>
                <a:tc>
                  <a:txBody>
                    <a:bodyPr wrap="square"/>
                    <a:lstStyle/>
                    <a:p>
                      <a:pPr algn="l"/>
                      <a:r>
                        <a:rPr sz="2200" b="0" i="0">
                          <a:solidFill>
                            <a:srgbClr val="1A1A1A"/>
                          </a:solidFill>
                          <a:latin typeface="Trebuchet MS"/>
                        </a:rPr>
                        <a:t>Warm-up, clipping, overfit tiny batch</a:t>
                      </a:r>
                    </a:p>
                  </a:txBody>
                  <a:tcPr marL="82296" marR="82296" marT="36576" marB="36576" anchor="ctr">
                    <a:solidFill>
                      <a:srgbClr val="EAF0F8"/>
                    </a:solidFill>
                  </a:tcPr>
                </a:tc>
              </a:tr>
              <a:tr h="457200">
                <a:tc>
                  <a:txBody>
                    <a:bodyPr wrap="square"/>
                    <a:lstStyle/>
                    <a:p>
                      <a:pPr algn="l"/>
                      <a:r>
                        <a:rPr sz="2200" b="1" i="0">
                          <a:solidFill>
                            <a:srgbClr val="1A1A1A"/>
                          </a:solidFill>
                          <a:latin typeface="Trebuchet MS"/>
                        </a:rPr>
                        <a:t>Token imbalance</a:t>
                      </a:r>
                    </a:p>
                  </a:txBody>
                  <a:tcPr marL="82296" marR="82296" marT="36576" marB="36576" anchor="ctr">
                    <a:solidFill>
                      <a:srgbClr val="FFFFFF"/>
                    </a:solidFill>
                  </a:tcPr>
                </a:tc>
                <a:tc>
                  <a:txBody>
                    <a:bodyPr wrap="square"/>
                    <a:lstStyle/>
                    <a:p>
                      <a:pPr algn="ctr"/>
                      <a:r>
                        <a:rPr sz="2200" b="0" i="0">
                          <a:solidFill>
                            <a:srgbClr val="1A1A1A"/>
                          </a:solidFill>
                          <a:latin typeface="Trebuchet MS"/>
                        </a:rPr>
                        <a:t>M / L</a:t>
                      </a:r>
                    </a:p>
                  </a:txBody>
                  <a:tcPr marL="82296" marR="82296" marT="36576" marB="36576" anchor="ctr">
                    <a:solidFill>
                      <a:srgbClr val="FFFFFF"/>
                    </a:solidFill>
                  </a:tcPr>
                </a:tc>
                <a:tc>
                  <a:txBody>
                    <a:bodyPr wrap="square"/>
                    <a:lstStyle/>
                    <a:p>
                      <a:pPr algn="l"/>
                      <a:r>
                        <a:rPr sz="2200" b="0" i="0">
                          <a:solidFill>
                            <a:srgbClr val="1A1A1A"/>
                          </a:solidFill>
                          <a:latin typeface="Trebuchet MS"/>
                        </a:rPr>
                        <a:t>Track blank share, CER per slot</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Speaker leakage</a:t>
                      </a:r>
                    </a:p>
                  </a:txBody>
                  <a:tcPr marL="82296" marR="82296" marT="36576" marB="36576" anchor="ctr">
                    <a:solidFill>
                      <a:srgbClr val="EAF0F8"/>
                    </a:solidFill>
                  </a:tcPr>
                </a:tc>
                <a:tc>
                  <a:txBody>
                    <a:bodyPr wrap="square"/>
                    <a:lstStyle/>
                    <a:p>
                      <a:pPr algn="ctr"/>
                      <a:r>
                        <a:rPr sz="2200" b="0" i="0">
                          <a:solidFill>
                            <a:srgbClr val="1A1A1A"/>
                          </a:solidFill>
                          <a:latin typeface="Trebuchet MS"/>
                        </a:rPr>
                        <a:t>L / H</a:t>
                      </a:r>
                    </a:p>
                  </a:txBody>
                  <a:tcPr marL="82296" marR="82296" marT="36576" marB="36576" anchor="ctr">
                    <a:solidFill>
                      <a:srgbClr val="EAF0F8"/>
                    </a:solidFill>
                  </a:tcPr>
                </a:tc>
                <a:tc>
                  <a:txBody>
                    <a:bodyPr wrap="square"/>
                    <a:lstStyle/>
                    <a:p>
                      <a:pPr algn="l"/>
                      <a:r>
                        <a:rPr sz="2200" b="0" i="0">
                          <a:solidFill>
                            <a:srgbClr val="1A1A1A"/>
                          </a:solidFill>
                          <a:latin typeface="Trebuchet MS"/>
                        </a:rPr>
                        <a:t>One split file + disjointness test</a:t>
                      </a:r>
                    </a:p>
                  </a:txBody>
                  <a:tcPr marL="82296" marR="82296" marT="36576" marB="36576" anchor="ctr">
                    <a:solidFill>
                      <a:srgbClr val="EAF0F8"/>
                    </a:solidFill>
                  </a:tcPr>
                </a:tc>
              </a:tr>
              <a:tr h="457200">
                <a:tc>
                  <a:txBody>
                    <a:bodyPr wrap="square"/>
                    <a:lstStyle/>
                    <a:p>
                      <a:pPr algn="l"/>
                      <a:r>
                        <a:rPr sz="2200" b="1" i="0">
                          <a:solidFill>
                            <a:srgbClr val="1A1A1A"/>
                          </a:solidFill>
                          <a:latin typeface="Trebuchet MS"/>
                        </a:rPr>
                        <a:t>Unseen speakers</a:t>
                      </a:r>
                    </a:p>
                  </a:txBody>
                  <a:tcPr marL="82296" marR="82296" marT="36576" marB="36576" anchor="ctr">
                    <a:solidFill>
                      <a:srgbClr val="FFFFFF"/>
                    </a:solidFill>
                  </a:tcPr>
                </a:tc>
                <a:tc>
                  <a:txBody>
                    <a:bodyPr wrap="square"/>
                    <a:lstStyle/>
                    <a:p>
                      <a:pPr algn="ctr"/>
                      <a:r>
                        <a:rPr sz="2200" b="0" i="0">
                          <a:solidFill>
                            <a:srgbClr val="1A1A1A"/>
                          </a:solidFill>
                          <a:latin typeface="Trebuchet MS"/>
                        </a:rPr>
                        <a:t>M / H</a:t>
                      </a:r>
                    </a:p>
                  </a:txBody>
                  <a:tcPr marL="82296" marR="82296" marT="36576" marB="36576" anchor="ctr">
                    <a:solidFill>
                      <a:srgbClr val="FFFFFF"/>
                    </a:solidFill>
                  </a:tcPr>
                </a:tc>
                <a:tc>
                  <a:txBody>
                    <a:bodyPr wrap="square"/>
                    <a:lstStyle/>
                    <a:p>
                      <a:pPr algn="l"/>
                      <a:r>
                        <a:rPr sz="2200" b="0" i="0">
                          <a:solidFill>
                            <a:srgbClr val="1A1A1A"/>
                          </a:solidFill>
                          <a:latin typeface="Trebuchet MS"/>
                        </a:rPr>
                        <a:t>Augment; report per-speaker WER</a:t>
                      </a:r>
                    </a:p>
                  </a:txBody>
                  <a:tcPr marL="82296" marR="82296" marT="36576" marB="36576" anchor="ctr">
                    <a:solidFill>
                      <a:srgbClr val="FFFFFF"/>
                    </a:solidFill>
                  </a:tcPr>
                </a:tc>
              </a:tr>
            </a:tbl>
          </a:graphicData>
        </a:graphic>
      </p:graphicFrame>
      <p:sp>
        <p:nvSpPr>
          <p:cNvPr id="4" name="TextBox 3"/>
          <p:cNvSpPr txBox="1"/>
          <p:nvPr/>
        </p:nvSpPr>
        <p:spPr>
          <a:xfrm>
            <a:off x="841248" y="5577840"/>
            <a:ext cx="10515600" cy="41148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L / I = likelihood / impact: H high, M medium, L low</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Risks and mitigations (2 of 2)</a:t>
            </a:r>
          </a:p>
        </p:txBody>
      </p:sp>
      <p:graphicFrame>
        <p:nvGraphicFramePr>
          <p:cNvPr id="3" name="Table 2"/>
          <p:cNvGraphicFramePr>
            <a:graphicFrameLocks noGrp="1"/>
          </p:cNvGraphicFramePr>
          <p:nvPr/>
        </p:nvGraphicFramePr>
        <p:xfrm>
          <a:off x="841248" y="1783080"/>
          <a:ext cx="10515600" cy="3200400"/>
        </p:xfrm>
        <a:graphic>
          <a:graphicData uri="http://schemas.openxmlformats.org/drawingml/2006/table">
            <a:tbl>
              <a:tblPr firstRow="1">
                <a:tableStyleId>{5C22544A-7EE6-4342-B048-85BDC9FD1C3A}</a:tableStyleId>
              </a:tblPr>
              <a:tblGrid>
                <a:gridCol w="3291840"/>
                <a:gridCol w="1188720"/>
                <a:gridCol w="6035040"/>
              </a:tblGrid>
              <a:tr h="457200">
                <a:tc>
                  <a:txBody>
                    <a:bodyPr wrap="square"/>
                    <a:lstStyle/>
                    <a:p>
                      <a:pPr algn="l"/>
                      <a:r>
                        <a:rPr sz="2200" b="1" i="0">
                          <a:solidFill>
                            <a:srgbClr val="FFFFFF"/>
                          </a:solidFill>
                          <a:latin typeface="Trebuchet MS"/>
                        </a:rPr>
                        <a:t>Risk</a:t>
                      </a:r>
                    </a:p>
                  </a:txBody>
                  <a:tcPr marL="82296" marR="82296" marT="36576" marB="36576" anchor="ctr">
                    <a:solidFill>
                      <a:srgbClr val="1F497D"/>
                    </a:solidFill>
                  </a:tcPr>
                </a:tc>
                <a:tc>
                  <a:txBody>
                    <a:bodyPr wrap="square"/>
                    <a:lstStyle/>
                    <a:p>
                      <a:pPr algn="ctr"/>
                      <a:r>
                        <a:rPr sz="2200" b="1" i="0">
                          <a:solidFill>
                            <a:srgbClr val="FFFFFF"/>
                          </a:solidFill>
                          <a:latin typeface="Trebuchet MS"/>
                        </a:rPr>
                        <a:t>L / I</a:t>
                      </a:r>
                    </a:p>
                  </a:txBody>
                  <a:tcPr marL="82296" marR="82296" marT="36576" marB="36576" anchor="ctr">
                    <a:solidFill>
                      <a:srgbClr val="1F497D"/>
                    </a:solidFill>
                  </a:tcPr>
                </a:tc>
                <a:tc>
                  <a:txBody>
                    <a:bodyPr wrap="square"/>
                    <a:lstStyle/>
                    <a:p>
                      <a:pPr algn="l"/>
                      <a:r>
                        <a:rPr sz="2200" b="1" i="0">
                          <a:solidFill>
                            <a:srgbClr val="FFFFFF"/>
                          </a:solidFill>
                          <a:latin typeface="Trebuchet MS"/>
                        </a:rPr>
                        <a:t>Mitigation</a:t>
                      </a:r>
                    </a:p>
                  </a:txBody>
                  <a:tcPr marL="82296" marR="82296" marT="36576" marB="36576" anchor="ctr">
                    <a:solidFill>
                      <a:srgbClr val="1F497D"/>
                    </a:solidFill>
                  </a:tcPr>
                </a:tc>
              </a:tr>
              <a:tr h="457200">
                <a:tc>
                  <a:txBody>
                    <a:bodyPr wrap="square"/>
                    <a:lstStyle/>
                    <a:p>
                      <a:pPr algn="l"/>
                      <a:r>
                        <a:rPr sz="2200" b="1" i="0">
                          <a:solidFill>
                            <a:srgbClr val="1A1A1A"/>
                          </a:solidFill>
                          <a:latin typeface="Trebuchet MS"/>
                        </a:rPr>
                        <a:t>Mouth not found</a:t>
                      </a:r>
                    </a:p>
                  </a:txBody>
                  <a:tcPr marL="82296" marR="82296" marT="36576" marB="36576" anchor="ctr">
                    <a:solidFill>
                      <a:srgbClr val="FFFFFF"/>
                    </a:solidFill>
                  </a:tcPr>
                </a:tc>
                <a:tc>
                  <a:txBody>
                    <a:bodyPr wrap="square"/>
                    <a:lstStyle/>
                    <a:p>
                      <a:pPr algn="ctr"/>
                      <a:r>
                        <a:rPr sz="2200" b="0" i="0">
                          <a:solidFill>
                            <a:srgbClr val="1A1A1A"/>
                          </a:solidFill>
                          <a:latin typeface="Trebuchet MS"/>
                        </a:rPr>
                        <a:t>M / M</a:t>
                      </a:r>
                    </a:p>
                  </a:txBody>
                  <a:tcPr marL="82296" marR="82296" marT="36576" marB="36576" anchor="ctr">
                    <a:solidFill>
                      <a:srgbClr val="FFFFFF"/>
                    </a:solidFill>
                  </a:tcPr>
                </a:tc>
                <a:tc>
                  <a:txBody>
                    <a:bodyPr wrap="square"/>
                    <a:lstStyle/>
                    <a:p>
                      <a:pPr algn="l"/>
                      <a:r>
                        <a:rPr sz="2200" b="0" i="0">
                          <a:solidFill>
                            <a:srgbClr val="1A1A1A"/>
                          </a:solidFill>
                          <a:latin typeface="Trebuchet MS"/>
                        </a:rPr>
                        <a:t>Interpolate; audio-only fallback</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Fusion no better</a:t>
                      </a:r>
                    </a:p>
                  </a:txBody>
                  <a:tcPr marL="82296" marR="82296" marT="36576" marB="36576" anchor="ctr">
                    <a:solidFill>
                      <a:srgbClr val="EAF0F8"/>
                    </a:solidFill>
                  </a:tcPr>
                </a:tc>
                <a:tc>
                  <a:txBody>
                    <a:bodyPr wrap="square"/>
                    <a:lstStyle/>
                    <a:p>
                      <a:pPr algn="ctr"/>
                      <a:r>
                        <a:rPr sz="2200" b="0" i="0">
                          <a:solidFill>
                            <a:srgbClr val="1A1A1A"/>
                          </a:solidFill>
                          <a:latin typeface="Trebuchet MS"/>
                        </a:rPr>
                        <a:t>M / H</a:t>
                      </a:r>
                    </a:p>
                  </a:txBody>
                  <a:tcPr marL="82296" marR="82296" marT="36576" marB="36576" anchor="ctr">
                    <a:solidFill>
                      <a:srgbClr val="EAF0F8"/>
                    </a:solidFill>
                  </a:tcPr>
                </a:tc>
                <a:tc>
                  <a:txBody>
                    <a:bodyPr wrap="square"/>
                    <a:lstStyle/>
                    <a:p>
                      <a:pPr algn="l"/>
                      <a:r>
                        <a:rPr sz="2200" b="0" i="0">
                          <a:solidFill>
                            <a:srgbClr val="1A1A1A"/>
                          </a:solidFill>
                          <a:latin typeface="Trebuchet MS"/>
                        </a:rPr>
                        <a:t>Report it; gate analysis; B3 works</a:t>
                      </a:r>
                    </a:p>
                  </a:txBody>
                  <a:tcPr marL="82296" marR="82296" marT="36576" marB="36576" anchor="ctr">
                    <a:solidFill>
                      <a:srgbClr val="EAF0F8"/>
                    </a:solidFill>
                  </a:tcPr>
                </a:tc>
              </a:tr>
              <a:tr h="457200">
                <a:tc>
                  <a:txBody>
                    <a:bodyPr wrap="square"/>
                    <a:lstStyle/>
                    <a:p>
                      <a:pPr algn="l"/>
                      <a:r>
                        <a:rPr sz="2200" b="1" i="0">
                          <a:solidFill>
                            <a:srgbClr val="1A1A1A"/>
                          </a:solidFill>
                          <a:latin typeface="Trebuchet MS"/>
                        </a:rPr>
                        <a:t>Slow inference</a:t>
                      </a:r>
                    </a:p>
                  </a:txBody>
                  <a:tcPr marL="82296" marR="82296" marT="36576" marB="36576" anchor="ctr">
                    <a:solidFill>
                      <a:srgbClr val="FFFFFF"/>
                    </a:solidFill>
                  </a:tcPr>
                </a:tc>
                <a:tc>
                  <a:txBody>
                    <a:bodyPr wrap="square"/>
                    <a:lstStyle/>
                    <a:p>
                      <a:pPr algn="ctr"/>
                      <a:r>
                        <a:rPr sz="2200" b="0" i="0">
                          <a:solidFill>
                            <a:srgbClr val="1A1A1A"/>
                          </a:solidFill>
                          <a:latin typeface="Trebuchet MS"/>
                        </a:rPr>
                        <a:t>M / M</a:t>
                      </a:r>
                    </a:p>
                  </a:txBody>
                  <a:tcPr marL="82296" marR="82296" marT="36576" marB="36576" anchor="ctr">
                    <a:solidFill>
                      <a:srgbClr val="FFFFFF"/>
                    </a:solidFill>
                  </a:tcPr>
                </a:tc>
                <a:tc>
                  <a:txBody>
                    <a:bodyPr wrap="square"/>
                    <a:lstStyle/>
                    <a:p>
                      <a:pPr algn="l"/>
                      <a:r>
                        <a:rPr sz="2200" b="0" i="0">
                          <a:solidFill>
                            <a:srgbClr val="1A1A1A"/>
                          </a:solidFill>
                          <a:latin typeface="Trebuchet MS"/>
                        </a:rPr>
                        <a:t>Bigger hop, smaller beam; Mode A</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One language only</a:t>
                      </a:r>
                    </a:p>
                  </a:txBody>
                  <a:tcPr marL="82296" marR="82296" marT="36576" marB="36576" anchor="ctr">
                    <a:solidFill>
                      <a:srgbClr val="EAF0F8"/>
                    </a:solidFill>
                  </a:tcPr>
                </a:tc>
                <a:tc>
                  <a:txBody>
                    <a:bodyPr wrap="square"/>
                    <a:lstStyle/>
                    <a:p>
                      <a:pPr algn="ctr"/>
                      <a:r>
                        <a:rPr sz="2200" b="0" i="0">
                          <a:solidFill>
                            <a:srgbClr val="1A1A1A"/>
                          </a:solidFill>
                          <a:latin typeface="Trebuchet MS"/>
                        </a:rPr>
                        <a:t>H / L</a:t>
                      </a:r>
                    </a:p>
                  </a:txBody>
                  <a:tcPr marL="82296" marR="82296" marT="36576" marB="36576" anchor="ctr">
                    <a:solidFill>
                      <a:srgbClr val="EAF0F8"/>
                    </a:solidFill>
                  </a:tcPr>
                </a:tc>
                <a:tc>
                  <a:txBody>
                    <a:bodyPr wrap="square"/>
                    <a:lstStyle/>
                    <a:p>
                      <a:pPr algn="l"/>
                      <a:r>
                        <a:rPr sz="2200" b="0" i="0">
                          <a:solidFill>
                            <a:srgbClr val="1A1A1A"/>
                          </a:solidFill>
                          <a:latin typeface="Trebuchet MS"/>
                        </a:rPr>
                        <a:t>Language ID stays optional</a:t>
                      </a:r>
                    </a:p>
                  </a:txBody>
                  <a:tcPr marL="82296" marR="82296" marT="36576" marB="36576" anchor="ctr">
                    <a:solidFill>
                      <a:srgbClr val="EAF0F8"/>
                    </a:solidFill>
                  </a:tcPr>
                </a:tc>
              </a:tr>
              <a:tr h="457200">
                <a:tc>
                  <a:txBody>
                    <a:bodyPr wrap="square"/>
                    <a:lstStyle/>
                    <a:p>
                      <a:pPr algn="l"/>
                      <a:r>
                        <a:rPr sz="2200" b="1" i="0">
                          <a:solidFill>
                            <a:srgbClr val="1A1A1A"/>
                          </a:solidFill>
                          <a:latin typeface="Trebuchet MS"/>
                        </a:rPr>
                        <a:t>GRID vs live speech</a:t>
                      </a:r>
                    </a:p>
                  </a:txBody>
                  <a:tcPr marL="82296" marR="82296" marT="36576" marB="36576" anchor="ctr">
                    <a:solidFill>
                      <a:srgbClr val="FFFFFF"/>
                    </a:solidFill>
                  </a:tcPr>
                </a:tc>
                <a:tc>
                  <a:txBody>
                    <a:bodyPr wrap="square"/>
                    <a:lstStyle/>
                    <a:p>
                      <a:pPr algn="ctr"/>
                      <a:r>
                        <a:rPr sz="2200" b="0" i="0">
                          <a:solidFill>
                            <a:srgbClr val="1A1A1A"/>
                          </a:solidFill>
                          <a:latin typeface="Trebuchet MS"/>
                        </a:rPr>
                        <a:t>H / M</a:t>
                      </a:r>
                    </a:p>
                  </a:txBody>
                  <a:tcPr marL="82296" marR="82296" marT="36576" marB="36576" anchor="ctr">
                    <a:solidFill>
                      <a:srgbClr val="FFFFFF"/>
                    </a:solidFill>
                  </a:tcPr>
                </a:tc>
                <a:tc>
                  <a:txBody>
                    <a:bodyPr wrap="square"/>
                    <a:lstStyle/>
                    <a:p>
                      <a:pPr algn="l"/>
                      <a:r>
                        <a:rPr sz="2200" b="0" i="0">
                          <a:solidFill>
                            <a:srgbClr val="1A1A1A"/>
                          </a:solidFill>
                          <a:latin typeface="Trebuchet MS"/>
                        </a:rPr>
                        <a:t>Demo on GRID-grammar sentences</a:t>
                      </a:r>
                    </a:p>
                  </a:txBody>
                  <a:tcPr marL="82296" marR="82296" marT="36576" marB="36576" anchor="ctr">
                    <a:solidFill>
                      <a:srgbClr val="FFFFFF"/>
                    </a:solidFill>
                  </a:tcPr>
                </a:tc>
              </a:tr>
              <a:tr h="457200">
                <a:tc>
                  <a:txBody>
                    <a:bodyPr wrap="square"/>
                    <a:lstStyle/>
                    <a:p>
                      <a:pPr algn="l"/>
                      <a:r>
                        <a:rPr sz="2200" b="1" i="0">
                          <a:solidFill>
                            <a:srgbClr val="1A1A1A"/>
                          </a:solidFill>
                          <a:latin typeface="Trebuchet MS"/>
                        </a:rPr>
                        <a:t>Privacy</a:t>
                      </a:r>
                    </a:p>
                  </a:txBody>
                  <a:tcPr marL="82296" marR="82296" marT="36576" marB="36576" anchor="ctr">
                    <a:solidFill>
                      <a:srgbClr val="EAF0F8"/>
                    </a:solidFill>
                  </a:tcPr>
                </a:tc>
                <a:tc>
                  <a:txBody>
                    <a:bodyPr wrap="square"/>
                    <a:lstStyle/>
                    <a:p>
                      <a:pPr algn="ctr"/>
                      <a:r>
                        <a:rPr sz="2200" b="0" i="0">
                          <a:solidFill>
                            <a:srgbClr val="1A1A1A"/>
                          </a:solidFill>
                          <a:latin typeface="Trebuchet MS"/>
                        </a:rPr>
                        <a:t>M / H</a:t>
                      </a:r>
                    </a:p>
                  </a:txBody>
                  <a:tcPr marL="82296" marR="82296" marT="36576" marB="36576" anchor="ctr">
                    <a:solidFill>
                      <a:srgbClr val="EAF0F8"/>
                    </a:solidFill>
                  </a:tcPr>
                </a:tc>
                <a:tc>
                  <a:txBody>
                    <a:bodyPr wrap="square"/>
                    <a:lstStyle/>
                    <a:p>
                      <a:pPr algn="l"/>
                      <a:r>
                        <a:rPr sz="2200" b="0" i="0">
                          <a:solidFill>
                            <a:srgbClr val="1A1A1A"/>
                          </a:solidFill>
                          <a:latin typeface="Trebuchet MS"/>
                        </a:rPr>
                        <a:t>Local only; nothing stored; consent</a:t>
                      </a:r>
                    </a:p>
                  </a:txBody>
                  <a:tcPr marL="82296" marR="82296" marT="36576" marB="36576" anchor="ctr">
                    <a:solidFill>
                      <a:srgbClr val="EAF0F8"/>
                    </a:solidFill>
                  </a:tcPr>
                </a:tc>
              </a:tr>
            </a:tbl>
          </a:graphicData>
        </a:graphic>
      </p:graphicFrame>
      <p:sp>
        <p:nvSpPr>
          <p:cNvPr id="4" name="TextBox 3"/>
          <p:cNvSpPr txBox="1"/>
          <p:nvPr/>
        </p:nvSpPr>
        <p:spPr>
          <a:xfrm>
            <a:off x="841248" y="5577840"/>
            <a:ext cx="10515600" cy="411480"/>
          </a:xfrm>
          <a:prstGeom prst="rect">
            <a:avLst/>
          </a:prstGeom>
          <a:noFill/>
        </p:spPr>
        <p:txBody>
          <a:bodyPr wrap="square" lIns="54864" rIns="54864" tIns="27432" bIns="27432" anchor="t">
            <a:noAutofit/>
          </a:bodyPr>
          <a:lstStyle/>
          <a:p>
            <a:pPr algn="l">
              <a:spcAft>
                <a:spcPts val="600"/>
              </a:spcAft>
            </a:pPr>
            <a:r>
              <a:rPr sz="2200" b="0" i="0">
                <a:solidFill>
                  <a:srgbClr val="595959"/>
                </a:solidFill>
                <a:latin typeface="Trebuchet MS"/>
              </a:rPr>
              <a:t>L / I = likelihood / impact: H high, M medium, L low</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What we will deliver</a:t>
            </a:r>
          </a:p>
        </p:txBody>
      </p:sp>
      <p:sp>
        <p:nvSpPr>
          <p:cNvPr id="3" name="Rounded Rectangle 2"/>
          <p:cNvSpPr/>
          <p:nvPr/>
        </p:nvSpPr>
        <p:spPr>
          <a:xfrm>
            <a:off x="841248" y="1783080"/>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lipscribe/ Python package</a:t>
            </a:r>
          </a:p>
        </p:txBody>
      </p:sp>
      <p:sp>
        <p:nvSpPr>
          <p:cNvPr id="4" name="Rounded Rectangle 3"/>
          <p:cNvSpPr/>
          <p:nvPr/>
        </p:nvSpPr>
        <p:spPr>
          <a:xfrm>
            <a:off x="3554272" y="1783080"/>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Data-prep scripts</a:t>
            </a:r>
          </a:p>
        </p:txBody>
      </p:sp>
      <p:sp>
        <p:nvSpPr>
          <p:cNvPr id="5" name="Rounded Rectangle 4"/>
          <p:cNvSpPr/>
          <p:nvPr/>
        </p:nvSpPr>
        <p:spPr>
          <a:xfrm>
            <a:off x="6267297" y="1783080"/>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YAML config per run</a:t>
            </a:r>
          </a:p>
        </p:txBody>
      </p:sp>
      <p:sp>
        <p:nvSpPr>
          <p:cNvPr id="6" name="Rounded Rectangle 5"/>
          <p:cNvSpPr/>
          <p:nvPr/>
        </p:nvSpPr>
        <p:spPr>
          <a:xfrm>
            <a:off x="8980322" y="1783080"/>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train, evaluate, transcribe.py</a:t>
            </a:r>
          </a:p>
        </p:txBody>
      </p:sp>
      <p:sp>
        <p:nvSpPr>
          <p:cNvPr id="7" name="Rounded Rectangle 6"/>
          <p:cNvSpPr/>
          <p:nvPr/>
        </p:nvSpPr>
        <p:spPr>
          <a:xfrm>
            <a:off x="841248" y="3182112"/>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Checkpoints B1–B3, P</a:t>
            </a:r>
          </a:p>
        </p:txBody>
      </p:sp>
      <p:sp>
        <p:nvSpPr>
          <p:cNvPr id="8" name="Rounded Rectangle 7"/>
          <p:cNvSpPr/>
          <p:nvPr/>
        </p:nvSpPr>
        <p:spPr>
          <a:xfrm>
            <a:off x="3554272" y="3182112"/>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Baselines at all 5 SNRs</a:t>
            </a:r>
          </a:p>
        </p:txBody>
      </p:sp>
      <p:sp>
        <p:nvSpPr>
          <p:cNvPr id="9" name="Rounded Rectangle 8"/>
          <p:cNvSpPr/>
          <p:nvPr/>
        </p:nvSpPr>
        <p:spPr>
          <a:xfrm>
            <a:off x="6267297" y="3182112"/>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Logs, results.csv, plots</a:t>
            </a:r>
          </a:p>
        </p:txBody>
      </p:sp>
      <p:sp>
        <p:nvSpPr>
          <p:cNvPr id="10" name="Rounded Rectangle 9"/>
          <p:cNvSpPr/>
          <p:nvPr/>
        </p:nvSpPr>
        <p:spPr>
          <a:xfrm>
            <a:off x="8980322" y="3182112"/>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pytest test suite</a:t>
            </a:r>
          </a:p>
        </p:txBody>
      </p:sp>
      <p:sp>
        <p:nvSpPr>
          <p:cNvPr id="11" name="Rounded Rectangle 10"/>
          <p:cNvSpPr/>
          <p:nvPr/>
        </p:nvSpPr>
        <p:spPr>
          <a:xfrm>
            <a:off x="841248" y="4581144"/>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Gradio + live demo</a:t>
            </a:r>
          </a:p>
        </p:txBody>
      </p:sp>
      <p:sp>
        <p:nvSpPr>
          <p:cNvPr id="12" name="Rounded Rectangle 11"/>
          <p:cNvSpPr/>
          <p:nvPr/>
        </p:nvSpPr>
        <p:spPr>
          <a:xfrm>
            <a:off x="3554272" y="4581144"/>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README and setup guide</a:t>
            </a:r>
          </a:p>
        </p:txBody>
      </p:sp>
      <p:sp>
        <p:nvSpPr>
          <p:cNvPr id="13" name="Rounded Rectangle 12"/>
          <p:cNvSpPr/>
          <p:nvPr/>
        </p:nvSpPr>
        <p:spPr>
          <a:xfrm>
            <a:off x="6267297" y="4581144"/>
            <a:ext cx="2377440" cy="1234440"/>
          </a:xfrm>
          <a:prstGeom prst="roundRect">
            <a:avLst>
              <a:gd name="adj" fmla="val 7407"/>
            </a:avLst>
          </a:prstGeom>
          <a:solidFill>
            <a:srgbClr val="EAF0F8"/>
          </a:solidFill>
          <a:ln>
            <a:noFill/>
          </a:ln>
        </p:spPr>
        <p:txBody>
          <a:bodyPr rtlCol="0" anchor="ctr" wrap="square" lIns="73152" rIns="73152" tIns="27432" bIns="27432">
            <a:noAutofit/>
          </a:bodyPr>
          <a:lstStyle/>
          <a:p>
            <a:pPr algn="ctr">
              <a:spcAft>
                <a:spcPts val="0"/>
              </a:spcAft>
            </a:pPr>
            <a:r>
              <a:rPr sz="2200" b="0" i="0">
                <a:solidFill>
                  <a:srgbClr val="1A1A1A"/>
                </a:solidFill>
                <a:latin typeface="Trebuchet MS"/>
              </a:rPr>
              <a:t>Final technical report</a:t>
            </a:r>
          </a:p>
        </p:txBody>
      </p:sp>
      <p:sp>
        <p:nvSpPr>
          <p:cNvPr id="14" name="Rounded Rectangle 13"/>
          <p:cNvSpPr/>
          <p:nvPr/>
        </p:nvSpPr>
        <p:spPr>
          <a:xfrm>
            <a:off x="8980322" y="4581144"/>
            <a:ext cx="2377440" cy="1234440"/>
          </a:xfrm>
          <a:prstGeom prst="roundRect">
            <a:avLst>
              <a:gd name="adj" fmla="val 7407"/>
            </a:avLst>
          </a:prstGeom>
          <a:solidFill>
            <a:srgbClr val="1F497D"/>
          </a:solidFill>
          <a:ln>
            <a:noFill/>
          </a:ln>
        </p:spPr>
        <p:txBody>
          <a:bodyPr rtlCol="0" anchor="ctr" wrap="square" lIns="73152" rIns="73152" tIns="27432" bIns="27432">
            <a:noAutofit/>
          </a:bodyPr>
          <a:lstStyle/>
          <a:p>
            <a:pPr algn="ctr">
              <a:spcAft>
                <a:spcPts val="0"/>
              </a:spcAft>
            </a:pPr>
            <a:r>
              <a:rPr sz="2200" b="1" i="0">
                <a:solidFill>
                  <a:srgbClr val="FFFFFF"/>
                </a:solidFill>
                <a:latin typeface="Trebuchet MS"/>
              </a:rPr>
              <a:t>Fresh clone reproduces one result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Conclusion</a:t>
            </a:r>
          </a:p>
        </p:txBody>
      </p:sp>
      <p:sp>
        <p:nvSpPr>
          <p:cNvPr id="3" name="Rounded Rectangle 2"/>
          <p:cNvSpPr/>
          <p:nvPr/>
        </p:nvSpPr>
        <p:spPr>
          <a:xfrm>
            <a:off x="841248" y="1783080"/>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4" name="Oval 3"/>
          <p:cNvSpPr/>
          <p:nvPr/>
        </p:nvSpPr>
        <p:spPr>
          <a:xfrm>
            <a:off x="1024128" y="196596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1</a:t>
            </a:r>
          </a:p>
        </p:txBody>
      </p:sp>
      <p:sp>
        <p:nvSpPr>
          <p:cNvPr id="5" name="TextBox 4"/>
          <p:cNvSpPr txBox="1"/>
          <p:nvPr/>
        </p:nvSpPr>
        <p:spPr>
          <a:xfrm>
            <a:off x="1709928" y="1920240"/>
            <a:ext cx="4069080" cy="54864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Separable modules</a:t>
            </a:r>
          </a:p>
        </p:txBody>
      </p:sp>
      <p:sp>
        <p:nvSpPr>
          <p:cNvPr id="6" name="TextBox 5"/>
          <p:cNvSpPr txBox="1"/>
          <p:nvPr/>
        </p:nvSpPr>
        <p:spPr>
          <a:xfrm>
            <a:off x="1024128" y="2560320"/>
            <a:ext cx="4709160" cy="114300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Mouth crops + 3D-CNN, log-Mel + BiLSTM, attention + gate, CTC + beam</a:t>
            </a:r>
          </a:p>
        </p:txBody>
      </p:sp>
      <p:sp>
        <p:nvSpPr>
          <p:cNvPr id="7" name="Rounded Rectangle 6"/>
          <p:cNvSpPr/>
          <p:nvPr/>
        </p:nvSpPr>
        <p:spPr>
          <a:xfrm>
            <a:off x="6281928" y="1783080"/>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8" name="Oval 7"/>
          <p:cNvSpPr/>
          <p:nvPr/>
        </p:nvSpPr>
        <p:spPr>
          <a:xfrm>
            <a:off x="6464808" y="1965960"/>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2</a:t>
            </a:r>
          </a:p>
        </p:txBody>
      </p:sp>
      <p:sp>
        <p:nvSpPr>
          <p:cNvPr id="9" name="TextBox 8"/>
          <p:cNvSpPr txBox="1"/>
          <p:nvPr/>
        </p:nvSpPr>
        <p:spPr>
          <a:xfrm>
            <a:off x="7150608" y="1920240"/>
            <a:ext cx="4069080" cy="54864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Tested at every step</a:t>
            </a:r>
          </a:p>
        </p:txBody>
      </p:sp>
      <p:sp>
        <p:nvSpPr>
          <p:cNvPr id="10" name="TextBox 9"/>
          <p:cNvSpPr txBox="1"/>
          <p:nvPr/>
        </p:nvSpPr>
        <p:spPr>
          <a:xfrm>
            <a:off x="6464808" y="2560320"/>
            <a:ext cx="4709160" cy="114300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Each milestone has tests; each baseline changes one thing</a:t>
            </a:r>
          </a:p>
        </p:txBody>
      </p:sp>
      <p:sp>
        <p:nvSpPr>
          <p:cNvPr id="11" name="Rounded Rectangle 10"/>
          <p:cNvSpPr/>
          <p:nvPr/>
        </p:nvSpPr>
        <p:spPr>
          <a:xfrm>
            <a:off x="841248" y="3913632"/>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2" name="Oval 11"/>
          <p:cNvSpPr/>
          <p:nvPr/>
        </p:nvSpPr>
        <p:spPr>
          <a:xfrm>
            <a:off x="1024128" y="4096512"/>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3</a:t>
            </a:r>
          </a:p>
        </p:txBody>
      </p:sp>
      <p:sp>
        <p:nvSpPr>
          <p:cNvPr id="13" name="TextBox 12"/>
          <p:cNvSpPr txBox="1"/>
          <p:nvPr/>
        </p:nvSpPr>
        <p:spPr>
          <a:xfrm>
            <a:off x="1709928" y="4050792"/>
            <a:ext cx="4069080" cy="54864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Demo matches evaluation</a:t>
            </a:r>
          </a:p>
        </p:txBody>
      </p:sp>
      <p:sp>
        <p:nvSpPr>
          <p:cNvPr id="14" name="TextBox 13"/>
          <p:cNvSpPr txBox="1"/>
          <p:nvPr/>
        </p:nvSpPr>
        <p:spPr>
          <a:xfrm>
            <a:off x="1024128" y="4690872"/>
            <a:ext cx="4709160" cy="114300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Same preprocessing code for training and the demo</a:t>
            </a:r>
          </a:p>
        </p:txBody>
      </p:sp>
      <p:sp>
        <p:nvSpPr>
          <p:cNvPr id="15" name="Rounded Rectangle 14"/>
          <p:cNvSpPr/>
          <p:nvPr/>
        </p:nvSpPr>
        <p:spPr>
          <a:xfrm>
            <a:off x="6281928" y="3913632"/>
            <a:ext cx="5074920" cy="1965960"/>
          </a:xfrm>
          <a:prstGeom prst="roundRect">
            <a:avLst>
              <a:gd name="adj" fmla="val 4651"/>
            </a:avLst>
          </a:prstGeom>
          <a:solidFill>
            <a:srgbClr val="EAF0F8"/>
          </a:solidFill>
          <a:ln>
            <a:noFill/>
          </a:ln>
        </p:spPr>
        <p:txBody>
          <a:bodyPr rtlCol="0" anchor="t" wrap="square" lIns="54864" rIns="54864" tIns="27432" bIns="27432">
            <a:noAutofit/>
          </a:bodyPr>
          <a:lstStyle/>
          <a:p>
            <a:pPr algn="l">
              <a:spcAft>
                <a:spcPts val="600"/>
              </a:spcAft>
            </a:pPr>
          </a:p>
        </p:txBody>
      </p:sp>
      <p:sp>
        <p:nvSpPr>
          <p:cNvPr id="16" name="Oval 15"/>
          <p:cNvSpPr/>
          <p:nvPr/>
        </p:nvSpPr>
        <p:spPr>
          <a:xfrm>
            <a:off x="6464808" y="4096512"/>
            <a:ext cx="502920" cy="502920"/>
          </a:xfrm>
          <a:prstGeom prst="ellipse">
            <a:avLst/>
          </a:prstGeom>
          <a:solidFill>
            <a:srgbClr val="1F497D"/>
          </a:solidFill>
          <a:ln>
            <a:noFill/>
          </a:ln>
        </p:spPr>
        <p:txBody>
          <a:bodyPr rtlCol="0" anchor="ctr" wrap="square" lIns="0" rIns="0" tIns="27432" bIns="27432">
            <a:noAutofit/>
          </a:bodyPr>
          <a:lstStyle/>
          <a:p>
            <a:pPr algn="ctr">
              <a:spcAft>
                <a:spcPts val="0"/>
              </a:spcAft>
            </a:pPr>
            <a:r>
              <a:rPr sz="2200" b="1" i="0">
                <a:solidFill>
                  <a:srgbClr val="FFFFFF"/>
                </a:solidFill>
                <a:latin typeface="Trebuchet MS"/>
              </a:rPr>
              <a:t>4</a:t>
            </a:r>
          </a:p>
        </p:txBody>
      </p:sp>
      <p:sp>
        <p:nvSpPr>
          <p:cNvPr id="17" name="TextBox 16"/>
          <p:cNvSpPr txBox="1"/>
          <p:nvPr/>
        </p:nvSpPr>
        <p:spPr>
          <a:xfrm>
            <a:off x="7150608" y="4050792"/>
            <a:ext cx="4069080" cy="548640"/>
          </a:xfrm>
          <a:prstGeom prst="rect">
            <a:avLst/>
          </a:prstGeom>
          <a:noFill/>
        </p:spPr>
        <p:txBody>
          <a:bodyPr wrap="square" lIns="54864" rIns="54864" tIns="27432" bIns="27432" anchor="t">
            <a:noAutofit/>
          </a:bodyPr>
          <a:lstStyle/>
          <a:p>
            <a:pPr algn="l">
              <a:spcAft>
                <a:spcPts val="0"/>
              </a:spcAft>
            </a:pPr>
            <a:r>
              <a:rPr sz="2200" b="1" i="0">
                <a:solidFill>
                  <a:srgbClr val="1F497D"/>
                </a:solidFill>
                <a:latin typeface="Trebuchet MS"/>
              </a:rPr>
              <a:t>Honest hypotheses</a:t>
            </a:r>
          </a:p>
        </p:txBody>
      </p:sp>
      <p:sp>
        <p:nvSpPr>
          <p:cNvPr id="18" name="TextBox 17"/>
          <p:cNvSpPr txBox="1"/>
          <p:nvPr/>
        </p:nvSpPr>
        <p:spPr>
          <a:xfrm>
            <a:off x="6464808" y="4690872"/>
            <a:ext cx="4709160" cy="1143000"/>
          </a:xfrm>
          <a:prstGeom prst="rect">
            <a:avLst/>
          </a:prstGeom>
          <a:noFill/>
        </p:spPr>
        <p:txBody>
          <a:bodyPr wrap="square" lIns="54864" rIns="54864" tIns="27432" bIns="27432" anchor="t">
            <a:noAutofit/>
          </a:bodyPr>
          <a:lstStyle/>
          <a:p>
            <a:pPr algn="l">
              <a:spcAft>
                <a:spcPts val="0"/>
              </a:spcAft>
            </a:pPr>
            <a:r>
              <a:rPr sz="2200" b="0" i="0">
                <a:solidFill>
                  <a:srgbClr val="1A1A1A"/>
                </a:solidFill>
                <a:latin typeface="Trebuchet MS"/>
              </a:rPr>
              <a:t>WER &lt; 10% clean and gains at 0 and −5 dB are targets to test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References (1 of 2)</a:t>
            </a:r>
          </a:p>
        </p:txBody>
      </p:sp>
      <p:sp>
        <p:nvSpPr>
          <p:cNvPr id="3" name="TextBox 2"/>
          <p:cNvSpPr txBox="1"/>
          <p:nvPr/>
        </p:nvSpPr>
        <p:spPr>
          <a:xfrm>
            <a:off x="841248" y="1737360"/>
            <a:ext cx="10515600" cy="4206240"/>
          </a:xfrm>
          <a:prstGeom prst="rect">
            <a:avLst/>
          </a:prstGeom>
          <a:noFill/>
        </p:spPr>
        <p:txBody>
          <a:bodyPr wrap="square" lIns="54864" rIns="54864" tIns="27432" bIns="27432" anchor="t">
            <a:noAutofit/>
          </a:bodyPr>
          <a:lstStyle/>
          <a:p>
            <a:pPr algn="l">
              <a:spcAft>
                <a:spcPts val="400"/>
              </a:spcAft>
            </a:pPr>
            <a:r>
              <a:rPr sz="2200" b="0" i="0">
                <a:solidFill>
                  <a:srgbClr val="1A1A1A"/>
                </a:solidFill>
                <a:latin typeface="Trebuchet MS"/>
              </a:rPr>
              <a:t>[1] Jeevakumari and Dey, LipSyncNet, IEEE Access, 2024</a:t>
            </a:r>
          </a:p>
          <a:p>
            <a:pPr algn="l">
              <a:spcAft>
                <a:spcPts val="400"/>
              </a:spcAft>
            </a:pPr>
            <a:r>
              <a:rPr sz="2200" b="0" i="0">
                <a:solidFill>
                  <a:srgbClr val="1A1A1A"/>
                </a:solidFill>
                <a:latin typeface="Trebuchet MS"/>
              </a:rPr>
              <a:t>[2] Li et al., Speech recognition in noise via lips, Sensors, 2023</a:t>
            </a:r>
          </a:p>
          <a:p>
            <a:pPr algn="l">
              <a:spcAft>
                <a:spcPts val="400"/>
              </a:spcAft>
            </a:pPr>
            <a:r>
              <a:rPr sz="2200" b="0" i="0">
                <a:solidFill>
                  <a:srgbClr val="1A1A1A"/>
                </a:solidFill>
                <a:latin typeface="Trebuchet MS"/>
              </a:rPr>
              <a:t>[3] Aripin and Setiawan, Indonesian lip-reading, ACISC, 2024</a:t>
            </a:r>
          </a:p>
          <a:p>
            <a:pPr algn="l">
              <a:spcAft>
                <a:spcPts val="400"/>
              </a:spcAft>
            </a:pPr>
            <a:r>
              <a:rPr sz="2200" b="0" i="0">
                <a:solidFill>
                  <a:srgbClr val="1A1A1A"/>
                </a:solidFill>
                <a:latin typeface="Trebuchet MS"/>
              </a:rPr>
              <a:t>[4] Divya and Suresha, KanAVNet, IJIGSP, 2026</a:t>
            </a:r>
          </a:p>
          <a:p>
            <a:pPr algn="l">
              <a:spcAft>
                <a:spcPts val="400"/>
              </a:spcAft>
            </a:pPr>
            <a:r>
              <a:rPr sz="2200" b="0" i="0">
                <a:solidFill>
                  <a:srgbClr val="1A1A1A"/>
                </a:solidFill>
                <a:latin typeface="Trebuchet MS"/>
              </a:rPr>
              <a:t>[5] Ameer et al., Lip reading with NASNetMobile, IEEE Access, 2025</a:t>
            </a:r>
          </a:p>
          <a:p>
            <a:pPr algn="l">
              <a:spcAft>
                <a:spcPts val="400"/>
              </a:spcAft>
            </a:pPr>
            <a:r>
              <a:rPr sz="2200" b="0" i="0">
                <a:solidFill>
                  <a:srgbClr val="1A1A1A"/>
                </a:solidFill>
                <a:latin typeface="Trebuchet MS"/>
              </a:rPr>
              <a:t>[6] Afouras et al., Deep audio-visual speech recognition, TPAMI, 2022</a:t>
            </a:r>
          </a:p>
          <a:p>
            <a:pPr algn="l">
              <a:spcAft>
                <a:spcPts val="400"/>
              </a:spcAft>
            </a:pPr>
            <a:r>
              <a:rPr sz="2200" b="0" i="0">
                <a:solidFill>
                  <a:srgbClr val="1A1A1A"/>
                </a:solidFill>
                <a:latin typeface="Trebuchet MS"/>
              </a:rPr>
              <a:t>[7] Siam et al., ML for human emotion detection, CIN, 2022</a:t>
            </a:r>
          </a:p>
          <a:p>
            <a:pPr algn="l">
              <a:spcAft>
                <a:spcPts val="400"/>
              </a:spcAft>
            </a:pPr>
            <a:r>
              <a:rPr sz="2200" b="0" i="0">
                <a:solidFill>
                  <a:srgbClr val="1A1A1A"/>
                </a:solidFill>
                <a:latin typeface="Trebuchet MS"/>
              </a:rPr>
              <a:t>[8] Ryumin et al., AV speech and gesture recognition, Sensors, 2023</a:t>
            </a:r>
          </a:p>
          <a:p>
            <a:pPr algn="l">
              <a:spcAft>
                <a:spcPts val="400"/>
              </a:spcAft>
            </a:pPr>
            <a:r>
              <a:rPr sz="2200" b="0" i="0">
                <a:solidFill>
                  <a:srgbClr val="1A1A1A"/>
                </a:solidFill>
                <a:latin typeface="Trebuchet MS"/>
              </a:rPr>
              <a:t>[9] Cooke et al., GRID audio-visual corpus, JASA, 2006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Trebuchet MS"/>
              </a:rPr>
              <a:t>References (2 of 2)</a:t>
            </a:r>
          </a:p>
        </p:txBody>
      </p:sp>
      <p:sp>
        <p:nvSpPr>
          <p:cNvPr id="3" name="TextBox 2"/>
          <p:cNvSpPr txBox="1"/>
          <p:nvPr/>
        </p:nvSpPr>
        <p:spPr>
          <a:xfrm>
            <a:off x="841248" y="1737360"/>
            <a:ext cx="10515600" cy="4206240"/>
          </a:xfrm>
          <a:prstGeom prst="rect">
            <a:avLst/>
          </a:prstGeom>
          <a:noFill/>
        </p:spPr>
        <p:txBody>
          <a:bodyPr wrap="square" lIns="54864" rIns="54864" tIns="27432" bIns="27432" anchor="t">
            <a:noAutofit/>
          </a:bodyPr>
          <a:lstStyle/>
          <a:p>
            <a:pPr algn="l">
              <a:spcAft>
                <a:spcPts val="400"/>
              </a:spcAft>
            </a:pPr>
            <a:r>
              <a:rPr sz="2200" b="0" i="0">
                <a:solidFill>
                  <a:srgbClr val="1A1A1A"/>
                </a:solidFill>
                <a:latin typeface="Trebuchet MS"/>
              </a:rPr>
              <a:t>[10] Snyder et al., MUSAN corpus, arXiv:1510.08484, 2015</a:t>
            </a:r>
          </a:p>
          <a:p>
            <a:pPr algn="l">
              <a:spcAft>
                <a:spcPts val="400"/>
              </a:spcAft>
            </a:pPr>
            <a:r>
              <a:rPr sz="2200" b="0" i="0">
                <a:solidFill>
                  <a:srgbClr val="1A1A1A"/>
                </a:solidFill>
                <a:latin typeface="Trebuchet MS"/>
              </a:rPr>
              <a:t>[11] Graves et al., Connectionist temporal classification, ICML, 2006</a:t>
            </a:r>
          </a:p>
          <a:p>
            <a:pPr algn="l">
              <a:spcAft>
                <a:spcPts val="400"/>
              </a:spcAft>
            </a:pPr>
            <a:r>
              <a:rPr sz="2200" b="0" i="0">
                <a:solidFill>
                  <a:srgbClr val="1A1A1A"/>
                </a:solidFill>
                <a:latin typeface="Trebuchet MS"/>
              </a:rPr>
              <a:t>[12] Assael et al., LipNet, arXiv:1611.01599, 2016</a:t>
            </a:r>
          </a:p>
          <a:p>
            <a:pPr algn="l">
              <a:spcAft>
                <a:spcPts val="400"/>
              </a:spcAft>
            </a:pPr>
            <a:r>
              <a:rPr sz="2200" b="0" i="0">
                <a:solidFill>
                  <a:srgbClr val="1A1A1A"/>
                </a:solidFill>
                <a:latin typeface="Trebuchet MS"/>
              </a:rPr>
              <a:t>[13] Tan and Le, EfficientNet, ICML, 2019</a:t>
            </a:r>
          </a:p>
          <a:p>
            <a:pPr algn="l">
              <a:spcAft>
                <a:spcPts val="400"/>
              </a:spcAft>
            </a:pPr>
            <a:r>
              <a:rPr sz="2200" b="0" i="0">
                <a:solidFill>
                  <a:srgbClr val="1A1A1A"/>
                </a:solidFill>
                <a:latin typeface="Trebuchet MS"/>
              </a:rPr>
              <a:t>[14] Lugaresi et al., MediaPipe, arXiv:1906.08172, 2019</a:t>
            </a:r>
          </a:p>
          <a:p>
            <a:pPr algn="l">
              <a:spcAft>
                <a:spcPts val="400"/>
              </a:spcAft>
            </a:pPr>
            <a:r>
              <a:rPr sz="2200" b="0" i="0">
                <a:solidFill>
                  <a:srgbClr val="1A1A1A"/>
                </a:solidFill>
                <a:latin typeface="Trebuchet MS"/>
              </a:rPr>
              <a:t>[15] Kartynnik et al., Real-time facial surface geometry, arXiv, 2019</a:t>
            </a:r>
          </a:p>
          <a:p>
            <a:pPr algn="l">
              <a:spcAft>
                <a:spcPts val="400"/>
              </a:spcAft>
            </a:pPr>
            <a:r>
              <a:rPr sz="2200" b="0" i="0">
                <a:solidFill>
                  <a:srgbClr val="1A1A1A"/>
                </a:solidFill>
                <a:latin typeface="Trebuchet MS"/>
              </a:rPr>
              <a:t>[16] Cao et al., CREMA-D, IEEE Trans. Affective Computing, 2014</a:t>
            </a:r>
          </a:p>
          <a:p>
            <a:pPr algn="l">
              <a:spcAft>
                <a:spcPts val="400"/>
              </a:spcAft>
            </a:pPr>
            <a:r>
              <a:rPr sz="2200" b="0" i="0">
                <a:solidFill>
                  <a:srgbClr val="1A1A1A"/>
                </a:solidFill>
                <a:latin typeface="Trebuchet MS"/>
              </a:rPr>
              <a:t>[17] Livingstone and Russo, RAVDESS, PLoS ONE, 2018</a:t>
            </a:r>
          </a:p>
          <a:p>
            <a:pPr algn="l">
              <a:spcAft>
                <a:spcPts val="400"/>
              </a:spcAft>
            </a:pPr>
            <a:r>
              <a:rPr sz="2200" b="0" i="0">
                <a:solidFill>
                  <a:srgbClr val="1A1A1A"/>
                </a:solidFill>
                <a:latin typeface="Trebuchet MS"/>
              </a:rPr>
              <a:t>[18] Anwar et al., MuAViC, Interspeech, 2023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1_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1765</TotalTime>
  <Words>79</Words>
  <Application>Microsoft Office PowerPoint</Application>
  <PresentationFormat>Widescreen</PresentationFormat>
  <Paragraphs>17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Noto Sans</vt:lpstr>
      <vt:lpstr>Trebuchet MS</vt:lpstr>
      <vt:lpstr>Wingdings</vt:lpstr>
      <vt:lpstr>1_Office Theme</vt:lpstr>
      <vt:lpstr>Title of the paper</vt:lpstr>
      <vt:lpstr>Content presentation </vt:lpstr>
      <vt:lpstr>Introduction / Problem</vt:lpstr>
      <vt:lpstr>Methodology</vt:lpstr>
      <vt:lpstr>Results</vt:lpstr>
      <vt:lpstr>Conclusion</vt:lpstr>
      <vt:lpstr>Any 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paper</dc:title>
  <dc:creator>stephen kalyesubula</dc:creator>
  <cp:lastModifiedBy>Charis Opol</cp:lastModifiedBy>
  <cp:revision>4</cp:revision>
  <dcterms:created xsi:type="dcterms:W3CDTF">2026-08-29T19:30:28Z</dcterms:created>
  <dcterms:modified xsi:type="dcterms:W3CDTF">2026-09-01T13:39:55Z</dcterms:modified>
</cp:coreProperties>
</file>