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6"/>
    <p:sldId id="257" r:id="rId7"/>
    <p:sldId id="258" r:id="rId8"/>
    <p:sldId id="259" r:id="rId5"/>
    <p:sldId id="260" r:id="rId4"/>
    <p:sldId id="261" r:id="rId3"/>
    <p:sldId id="262" r:id="rId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[0:15]  Good afternoon. We are Group 4. This is LipScribe, and today we present how we will build it. Each of us presents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 Captioning tools that only listen fail in noise. Lips are not affected by noise, so LipScribe fuses mouth video with audio, for deaf and hard-of-hearing users.</a:t>
            </a:r>
          </a:p>
          <a:p/>
          <a:p>
            <a:r>
              <a:t>Our core objectives are separating homophenes and modelling word sequences. Emotion and language identification are optional, separate modules. We test on GRID with noise at five levels, on unseen speakers.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 Two streams. Visual: a 96 by 96 mouth crop into a 3D-CNN and BiLSTM. Audio: 80-band log-Mel features into a 1D convolution and BiLSTM.</a:t>
            </a:r>
          </a:p>
          <a:p/>
          <a:p>
            <a:r>
              <a:t>Attention and a gate fuse them, and CTC with beam search produces the caption. Both streams share one 40 millisecond grid. Charis will explain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 We use the GRID corpus: 34 speakers, about 33,000 three-second clips, 51 words in one six-slot grammar, like 'place green at b four now'.</a:t>
            </a:r>
          </a:p>
          <a:p/>
          <a:p>
            <a:r>
              <a:t>Text becomes 28 symbols, audio is 16 kHz, video 25 frames per second, and a script checks files, frame counts, sync and face detection before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 We split by speaker: about 27 to train, 3 to validate, 4 to test, so the model cannot memorise test faces.</a:t>
            </a:r>
          </a:p>
          <a:p/>
          <a:p>
            <a:r>
              <a:t>MUSAN noise is scaled by alpha to hit an exact SNR. In training the level is random; for testing it is fixed, with unseen noise files. Faith takes the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 MediaPipe Face Mesh finds 468 landmarks. We box the lips with a 25% margin, smooth it, and crop 96 by 96 grey images.</a:t>
            </a:r>
          </a:p>
          <a:p/>
          <a:p>
            <a:r>
              <a:t>Missing faces are interpolated, never dropped, to keep sync. A 3D-CNN with BiLSTM turns each clip into 75 vectors of 512. EfficientNet-B0 is an optional transfer-learning variant.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 Audio is normalised, cut into 25 millisecond frames every 10 milliseconds, and turned into 80 log-Mel bands.</a:t>
            </a:r>
          </a:p>
          <a:p/>
          <a:p>
            <a:r>
              <a:t>One video frame equals four audio frames, so the encoder reduces 300 frames to 75 and both streams line up. MFCC variants are experiments. Lisa will explain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 Cross-modal attention lets each audio frame look at the video frames, and the reverse, so each stream resolves the other's ambiguities, like homophenes.</a:t>
            </a:r>
          </a:p>
          <a:p/>
          <a:p>
            <a:r>
              <a:t>A learned gate then mixes them per frame: near one trusts audio, near zero trusts the lips. Trained on all noise levels, it should lean on lips as noise 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 In training we sometimes remove one stream, so the model cannot ignore video. A missing stream becomes a learned vector, also used live when no face is found.</a:t>
            </a:r>
          </a:p>
          <a:p/>
          <a:p>
            <a:r>
              <a:t>CTC needs no frame labels: repeats merge and blanks drop. We decode with beam search and no language model. Nehum will explain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 We compare our model P with three baselines: audio only, video only, and simple concatenation. Ablations remove modality dropout, attention, or the 3D convolution.</a:t>
            </a:r>
          </a:p>
          <a:p/>
          <a:p>
            <a:r>
              <a:t>Every model uses the same data, noise and training rules, so each comparison isolates one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 We report word and character error rate at every noise level on four unseen speakers. Our target is under 10% clean, with the biggest gains at 0 and minus 5 dB.</a:t>
            </a:r>
          </a:p>
          <a:p/>
          <a:p>
            <a:r>
              <a:t>The table is empty because we have no results yet. Isabelle will present the demo and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 Mode A, our guaranteed demo, is a Gradio page: upload a clip, see the caption. Mode B captions live: camera and microphone fill buffers, and every second a worker decodes the last three seconds.</a:t>
            </a:r>
          </a:p>
          <a:p/>
          <a:p>
            <a:r>
              <a:t>A clap test syncs the devices, and if no face is found the caption falls back to audio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[0:22]  Six weeks, in dependency order, with the core frozen after week five.</a:t>
            </a:r>
          </a:p>
          <a:p/>
          <a:p>
            <a:r>
              <a:t>Main risks: limited compute, misalignment, fusion not helping, latency and privacy. Each has a mitigation, and if fusion does not help, we will report that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[0:10]  Thank you. We are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[backup]  Not presented. Shown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[backup]  Not presented. Shown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2.wdp"/><Relationship Id="rId7" Type="http://schemas.openxmlformats.org/officeDocument/2006/relationships/hyperlink" Target="https://ucu.ac.ug/" TargetMode="External"/><Relationship Id="rId8" Type="http://schemas.openxmlformats.org/officeDocument/2006/relationships/hyperlink" Target="mailto:info@ucu.ac.ug" TargetMode="External"/><Relationship Id="rId9" Type="http://schemas.openxmlformats.org/officeDocument/2006/relationships/image" Target="../media/image1.png"/><Relationship Id="rId10" Type="http://schemas.openxmlformats.org/officeDocument/2006/relationships/image" Target="../media/image5.png"/><Relationship Id="rId11" Type="http://schemas.microsoft.com/office/2007/relationships/hdphoto" Target="../media/hdphoto3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1078-AA0E-F840-AC0F-D54B3CBDC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5036E-8807-6046-9CB7-EF6AF274E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E2757-9B41-EB41-8A8C-6480BC75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2485F-D14F-A34F-829B-18FEF522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D89A4-A6FD-2F41-BC1B-990BD11D0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731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B776C-CF19-2E46-BB78-0AF7AF1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F3F6D-B2D0-A04A-9CAC-F688DEAE4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FEDF4-24C6-7D41-9B25-9320CCEC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ED841-6832-E942-AA5E-A238D3916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61C0D-619D-E741-BBF0-25270D9C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1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ACDA-EEA7-E94E-BBF7-B17C2633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3D8A1-5B2F-7143-98F4-58335FF27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EBA56-5030-D144-BF76-5FD43098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D8E8B-6288-EF46-820D-86183E58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42B2E-027D-BF44-B66B-B991F021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4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B1F6-8518-C943-991B-B1F201D8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13681-A652-D44F-81CD-C502DFA1C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166B2-225A-D34C-B913-192EC0F64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23FAB-1B70-EC4F-B39C-F6CD17E6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BC87A-1BAB-8545-BF77-5BD95297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6C3B2-C2C4-BB41-BF5B-31A6780F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29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D7CE-FDDF-A540-BF41-BE156F4B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2DC54-754C-D347-A493-B6434DEE1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solidFill>
            <a:srgbClr val="D7014D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1B5BE-5B59-1041-B601-8C4E8B9D9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E4A3B-95D8-264A-AC69-DCD725280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solidFill>
            <a:srgbClr val="FFD932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569E4-68F9-124C-BAFA-15C75ED6A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4113C7-3C31-C646-99EB-9D1295DA8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F0B22-30FC-D34E-8021-66690730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31702-9F8A-0B45-893F-4D931E3C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21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5477-340D-A742-96B9-4134A012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307EC-5C33-BF49-9FC9-70B65B5D2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7CA99-FEAA-A041-B799-CA174260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A3A13-8413-104A-B192-3C710C3D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54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D409A-65C8-B049-8D4D-AC560033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34244D-50A5-9647-8590-0CED8A23C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E9667-1147-B84E-8294-D07B6B55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14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60C9-49F1-B143-98BF-F65F0E86C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7968B-396A-7746-B032-F5FF2D1A1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A9890-41E9-B247-BD85-CB0556F34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D34F8-43C5-D24A-B2B8-3C39C5D8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A2E86-D2D2-6C40-A7B2-00ECC21F6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92A3B-17A2-CC47-B3CE-70F6DE5BA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3007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15CF-2B84-154B-A05B-4ED15C88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297B1-8700-5A41-B4ED-617200FAA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54946-1836-5B4E-A53B-0D65AF548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B1631-07AA-AF4B-9C84-79660072A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FD121-C434-574B-A5A6-1D7F4E8EF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6B891-6D6F-454D-B57D-6799F137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951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49A33-F947-254C-B2F1-FC1EEBA70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7B2E9-B32D-7849-8EA6-191CD2CB9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6D214-C945-D74F-A6BC-88A7A994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5F130-A527-DA46-8CFF-AB905CDC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69C9-BB26-C147-9EB3-6A1CF0CF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78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C8499E-4FC6-9541-BDE2-B57DE72F8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B72DD-1B01-4645-8504-9D2CF3F76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A9CF8-4FE6-6846-8F14-E50ED82B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96104-C547-9E44-93D3-74A7CE7F8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61153-2906-5C43-AC83-1A71AF6A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016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81D354-4C58-8E45-A997-CCFC28517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1BB49-7DD1-3D44-BE19-729C46AB2CC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CC3E4-12C8-2A4F-88E1-B8DC3854AB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9F62491-F3DB-384B-9F65-EA637FB8DC9F}"/>
              </a:ext>
            </a:extLst>
          </p:cNvPr>
          <p:cNvGrpSpPr/>
          <p:nvPr userDrawn="1"/>
        </p:nvGrpSpPr>
        <p:grpSpPr>
          <a:xfrm>
            <a:off x="2836065" y="3885190"/>
            <a:ext cx="6359384" cy="2140032"/>
            <a:chOff x="3054867" y="3815867"/>
            <a:chExt cx="6359384" cy="214003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B488D83-1A18-A742-8FDC-04F2597CDBB4}"/>
                </a:ext>
              </a:extLst>
            </p:cNvPr>
            <p:cNvGrpSpPr/>
            <p:nvPr userDrawn="1"/>
          </p:nvGrpSpPr>
          <p:grpSpPr>
            <a:xfrm>
              <a:off x="4699683" y="3815867"/>
              <a:ext cx="4714568" cy="2140032"/>
              <a:chOff x="4173580" y="3135225"/>
              <a:chExt cx="5623246" cy="2568070"/>
            </a:xfrm>
          </p:grpSpPr>
          <p:pic>
            <p:nvPicPr>
              <p:cNvPr id="7" name="Picture 4" descr="facebook instagram whatsapp PNG image with transparent background | TOPpng">
                <a:extLst>
                  <a:ext uri="{FF2B5EF4-FFF2-40B4-BE49-F238E27FC236}">
                    <a16:creationId xmlns:a16="http://schemas.microsoft.com/office/drawing/2014/main" id="{21573789-53BB-7148-AEF8-DD9D395D25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69732" l="0" r="98929">
                            <a14:foregroundMark x1="9524" y1="3376" x2="23929" y2="25378"/>
                            <a14:foregroundMark x1="15833" y1="5122" x2="19643" y2="5122"/>
                            <a14:foregroundMark x1="22381" y1="8149" x2="24762" y2="21187"/>
                            <a14:foregroundMark x1="10119" y1="11409" x2="14643" y2="23632"/>
                            <a14:foregroundMark x1="7738" y1="14435" x2="11071" y2="24796"/>
                            <a14:foregroundMark x1="75000" y1="9662" x2="75833" y2="23865"/>
                            <a14:foregroundMark x1="76548" y1="7800" x2="89643" y2="8964"/>
                            <a14:foregroundMark x1="82976" y1="2328" x2="91786" y2="20722"/>
                            <a14:foregroundMark x1="78452" y1="21769" x2="87024" y2="20605"/>
                            <a14:foregroundMark x1="83333" y1="14668" x2="83333" y2="14668"/>
                            <a14:foregroundMark x1="90357" y1="9895" x2="91190" y2="17695"/>
                            <a14:foregroundMark x1="17500" y1="9546" x2="17738" y2="17346"/>
                            <a14:foregroundMark x1="23929" y1="3609" x2="23333" y2="1012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6494" b="67238"/>
              <a:stretch/>
            </p:blipFill>
            <p:spPr bwMode="auto">
              <a:xfrm>
                <a:off x="4238019" y="4511394"/>
                <a:ext cx="413410" cy="4299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6" descr="facebook instagram whatsapp PNG image with transparent background | TOPpng">
                <a:extLst>
                  <a:ext uri="{FF2B5EF4-FFF2-40B4-BE49-F238E27FC236}">
                    <a16:creationId xmlns:a16="http://schemas.microsoft.com/office/drawing/2014/main" id="{CF5CCAE3-1FEE-8B4F-916E-AC6C6A6E4D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89872" l="1548" r="97619">
                            <a14:foregroundMark x1="76310" y1="9197" x2="75595" y2="18859"/>
                            <a14:foregroundMark x1="80833" y1="7101" x2="90595" y2="8731"/>
                            <a14:foregroundMark x1="90595" y1="12806" x2="89048" y2="22468"/>
                            <a14:foregroundMark x1="77738" y1="22119" x2="86667" y2="21769"/>
                            <a14:foregroundMark x1="12262" y1="42491" x2="11071" y2="58091"/>
                            <a14:foregroundMark x1="82976" y1="11991" x2="80119" y2="17346"/>
                            <a14:foregroundMark x1="73690" y1="5471" x2="70952" y2="1862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402" b="69905"/>
              <a:stretch/>
            </p:blipFill>
            <p:spPr bwMode="auto">
              <a:xfrm>
                <a:off x="4296096" y="4883265"/>
                <a:ext cx="413865" cy="406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8" descr="Round black telephone logo, Telephone Icon, Phone File, electronics, logo,  black And White png | PNGWing">
                <a:extLst>
                  <a:ext uri="{FF2B5EF4-FFF2-40B4-BE49-F238E27FC236}">
                    <a16:creationId xmlns:a16="http://schemas.microsoft.com/office/drawing/2014/main" id="{2DE5DDE9-1F30-6F4B-BA82-27F5D325AE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97935" l="1522" r="100000">
                            <a14:foregroundMark x1="32717" y1="37283" x2="32717" y2="37283"/>
                            <a14:foregroundMark x1="36957" y1="24565" x2="36957" y2="24565"/>
                            <a14:foregroundMark x1="46304" y1="30435" x2="46304" y2="30435"/>
                            <a14:foregroundMark x1="55435" y1="30326" x2="55435" y2="30326"/>
                            <a14:foregroundMark x1="65870" y1="27826" x2="65870" y2="27826"/>
                            <a14:foregroundMark x1="73152" y1="43478" x2="73152" y2="43478"/>
                            <a14:foregroundMark x1="57500" y1="44783" x2="57500" y2="44783"/>
                            <a14:foregroundMark x1="42826" y1="45000" x2="42826" y2="45000"/>
                            <a14:foregroundMark x1="29348" y1="56413" x2="29348" y2="56413"/>
                            <a14:foregroundMark x1="37283" y1="73913" x2="37283" y2="73913"/>
                            <a14:foregroundMark x1="46630" y1="70870" x2="46630" y2="70870"/>
                            <a14:foregroundMark x1="46087" y1="56413" x2="46087" y2="56413"/>
                            <a14:foregroundMark x1="54022" y1="57500" x2="54022" y2="57500"/>
                            <a14:foregroundMark x1="53696" y1="74457" x2="53696" y2="74457"/>
                            <a14:foregroundMark x1="71630" y1="60761" x2="71630" y2="60761"/>
                            <a14:foregroundMark x1="62283" y1="73696" x2="62283" y2="7369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75797" y="5317157"/>
                <a:ext cx="371315" cy="3861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0AE2E6-FFA5-B74D-ABFF-5094651B1BA9}"/>
                  </a:ext>
                </a:extLst>
              </p:cNvPr>
              <p:cNvSpPr txBox="1"/>
              <p:nvPr/>
            </p:nvSpPr>
            <p:spPr>
              <a:xfrm>
                <a:off x="4629313" y="4929543"/>
                <a:ext cx="2964236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prstClr val="black"/>
                    </a:solidFill>
                    <a:latin typeface="+mn-lt"/>
                  </a:rPr>
                  <a:t>@</a:t>
                </a:r>
                <a:r>
                  <a:rPr lang="en-US" sz="1350" dirty="0" err="1">
                    <a:solidFill>
                      <a:prstClr val="black"/>
                    </a:solidFill>
                    <a:latin typeface="+mn-lt"/>
                  </a:rPr>
                  <a:t>ugandachristianuniversity</a:t>
                </a:r>
                <a:endParaRPr lang="en-UG" sz="1350" dirty="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61D6FE-81D1-DE4A-B1A1-CD63DB9652BA}"/>
                  </a:ext>
                </a:extLst>
              </p:cNvPr>
              <p:cNvSpPr txBox="1"/>
              <p:nvPr/>
            </p:nvSpPr>
            <p:spPr>
              <a:xfrm>
                <a:off x="4570065" y="5343192"/>
                <a:ext cx="2851459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1350" dirty="0">
                    <a:solidFill>
                      <a:srgbClr val="0000FF"/>
                    </a:solidFill>
                    <a:latin typeface="+mn-lt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https://ucu.ac.ug/</a:t>
                </a:r>
                <a:r>
                  <a:rPr lang="en-GB" sz="1350" dirty="0">
                    <a:solidFill>
                      <a:srgbClr val="0000FF"/>
                    </a:solidFill>
                    <a:latin typeface="+mn-lt"/>
                  </a:rPr>
                  <a:t> </a:t>
                </a:r>
                <a:endParaRPr lang="en-UG" sz="1350" dirty="0">
                  <a:solidFill>
                    <a:srgbClr val="0000FF"/>
                  </a:solidFill>
                  <a:latin typeface="+mn-lt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3C9E7D-4A01-5E47-9DC7-A4D726A3C66F}"/>
                  </a:ext>
                </a:extLst>
              </p:cNvPr>
              <p:cNvSpPr txBox="1"/>
              <p:nvPr/>
            </p:nvSpPr>
            <p:spPr>
              <a:xfrm>
                <a:off x="8015811" y="4532448"/>
                <a:ext cx="1781015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135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@</a:t>
                </a:r>
                <a:r>
                  <a:rPr lang="en-GB" sz="1350" dirty="0" err="1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UCUniversity</a:t>
                </a:r>
                <a:endParaRPr lang="en-UG" sz="135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+mn-lt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8CBAB0-1BA2-7F46-A60A-0E9A062FC2F4}"/>
                  </a:ext>
                </a:extLst>
              </p:cNvPr>
              <p:cNvSpPr txBox="1"/>
              <p:nvPr/>
            </p:nvSpPr>
            <p:spPr>
              <a:xfrm>
                <a:off x="4535920" y="4545114"/>
                <a:ext cx="3240067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135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@</a:t>
                </a:r>
                <a:r>
                  <a:rPr lang="en-GB" sz="1350" dirty="0" err="1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UgandaChristianUniversity</a:t>
                </a:r>
                <a:endParaRPr lang="en-UG" sz="135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+mn-lt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76C215-3CAA-044D-A872-4F32F671EBCA}"/>
                  </a:ext>
                </a:extLst>
              </p:cNvPr>
              <p:cNvSpPr txBox="1"/>
              <p:nvPr/>
            </p:nvSpPr>
            <p:spPr>
              <a:xfrm>
                <a:off x="4201882" y="3514011"/>
                <a:ext cx="3513911" cy="8864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sv-SE" sz="1400" dirty="0">
                    <a:solidFill>
                      <a:srgbClr val="5B9BD5">
                        <a:lumMod val="50000"/>
                      </a:srgbClr>
                    </a:solidFill>
                    <a:latin typeface="+mn-lt"/>
                  </a:rPr>
                  <a:t>P.O. Box 4 Mukono, Uganda</a:t>
                </a:r>
              </a:p>
              <a:p>
                <a:pPr defTabSz="685800"/>
                <a:r>
                  <a:rPr lang="en-GB" sz="1400" dirty="0">
                    <a:solidFill>
                      <a:srgbClr val="5B9BD5">
                        <a:lumMod val="50000"/>
                      </a:srgbClr>
                    </a:solidFill>
                    <a:latin typeface="+mn-lt"/>
                  </a:rPr>
                  <a:t>Tel: 256-312-350800</a:t>
                </a:r>
              </a:p>
              <a:p>
                <a:pPr defTabSz="685800"/>
                <a:r>
                  <a:rPr lang="fr-FR" sz="1400" dirty="0">
                    <a:solidFill>
                      <a:srgbClr val="5B9BD5">
                        <a:lumMod val="50000"/>
                      </a:srgbClr>
                    </a:solidFill>
                    <a:latin typeface="+mn-lt"/>
                  </a:rPr>
                  <a:t>Email: </a:t>
                </a:r>
                <a:r>
                  <a:rPr lang="fr-FR" sz="1400" dirty="0">
                    <a:solidFill>
                      <a:srgbClr val="0000FF"/>
                    </a:solidFill>
                    <a:latin typeface="+mn-lt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info@ucu.ac.ug</a:t>
                </a:r>
                <a:endParaRPr lang="fr-FR" sz="1400" dirty="0">
                  <a:solidFill>
                    <a:srgbClr val="0000FF"/>
                  </a:solidFill>
                  <a:latin typeface="+mn-lt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52FF44-A1AC-754F-ACAA-B4A0B8FFDC4F}"/>
                  </a:ext>
                </a:extLst>
              </p:cNvPr>
              <p:cNvSpPr txBox="1"/>
              <p:nvPr/>
            </p:nvSpPr>
            <p:spPr>
              <a:xfrm>
                <a:off x="4173580" y="3135225"/>
                <a:ext cx="4174871" cy="480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2000" b="1" dirty="0">
                    <a:solidFill>
                      <a:srgbClr val="5B9BD5">
                        <a:lumMod val="50000"/>
                      </a:srgbClr>
                    </a:solidFill>
                    <a:latin typeface="+mj-lt"/>
                  </a:rPr>
                  <a:t>Uganda Christian University</a:t>
                </a:r>
                <a:endParaRPr lang="en-UG" sz="2000" dirty="0">
                  <a:solidFill>
                    <a:srgbClr val="5B9BD5">
                      <a:lumMod val="50000"/>
                    </a:srgbClr>
                  </a:solidFill>
                  <a:latin typeface="+mj-lt"/>
                </a:endParaRPr>
              </a:p>
            </p:txBody>
          </p:sp>
          <p:pic>
            <p:nvPicPr>
              <p:cNvPr id="16" name="Picture 6" descr="facebook instagram whatsapp PNG image with transparent background | TOPpng">
                <a:extLst>
                  <a:ext uri="{FF2B5EF4-FFF2-40B4-BE49-F238E27FC236}">
                    <a16:creationId xmlns:a16="http://schemas.microsoft.com/office/drawing/2014/main" id="{9FA1BB22-7CA4-A84B-AB4E-D369D5820D57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89872" l="1548" r="97619">
                            <a14:foregroundMark x1="76310" y1="9197" x2="75595" y2="18859"/>
                            <a14:foregroundMark x1="80833" y1="7101" x2="90595" y2="8731"/>
                            <a14:foregroundMark x1="90595" y1="12806" x2="89048" y2="22468"/>
                            <a14:foregroundMark x1="77738" y1="22119" x2="86667" y2="21769"/>
                            <a14:foregroundMark x1="12262" y1="42491" x2="11071" y2="58091"/>
                            <a14:foregroundMark x1="82976" y1="11991" x2="80119" y2="17346"/>
                            <a14:foregroundMark x1="73690" y1="5471" x2="70952" y2="1862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4921" r="64675" b="31937"/>
              <a:stretch/>
            </p:blipFill>
            <p:spPr bwMode="auto">
              <a:xfrm>
                <a:off x="7686943" y="4513314"/>
                <a:ext cx="448492" cy="4475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0C7577D-7C00-3A42-BCDC-2DAC137B88F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9"/>
            <a:srcRect l="4177" t="16271" r="77310" b="16737"/>
            <a:stretch/>
          </p:blipFill>
          <p:spPr>
            <a:xfrm>
              <a:off x="3054867" y="3883165"/>
              <a:ext cx="1730515" cy="1908000"/>
            </a:xfrm>
            <a:prstGeom prst="rect">
              <a:avLst/>
            </a:prstGeom>
          </p:spPr>
        </p:pic>
      </p:grpSp>
      <p:pic>
        <p:nvPicPr>
          <p:cNvPr id="21" name="Picture 2" descr="Red button thank you icon Royalty Free Vector Image">
            <a:extLst>
              <a:ext uri="{FF2B5EF4-FFF2-40B4-BE49-F238E27FC236}">
                <a16:creationId xmlns:a16="http://schemas.microsoft.com/office/drawing/2014/main" id="{7627C261-6001-7C4D-94EE-64BE3F8A7C1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611" b="86019" l="10000" r="90000">
                        <a14:foregroundMark x1="41000" y1="28981" x2="39100" y2="58519"/>
                        <a14:foregroundMark x1="27700" y1="36296" x2="34800" y2="63981"/>
                        <a14:foregroundMark x1="26600" y1="32500" x2="78400" y2="47685"/>
                        <a14:foregroundMark x1="52100" y1="23981" x2="53500" y2="41389"/>
                        <a14:foregroundMark x1="38900" y1="20463" x2="49000" y2="35556"/>
                        <a14:foregroundMark x1="44200" y1="21481" x2="69600" y2="35370"/>
                        <a14:foregroundMark x1="65200" y1="24722" x2="65200" y2="44444"/>
                        <a14:foregroundMark x1="71900" y1="31852" x2="70200" y2="51389"/>
                        <a14:foregroundMark x1="69200" y1="60463" x2="59800" y2="47500"/>
                        <a14:foregroundMark x1="75300" y1="54259" x2="61100" y2="48333"/>
                        <a14:foregroundMark x1="59800" y1="30370" x2="56700" y2="41389"/>
                        <a14:foregroundMark x1="57500" y1="68426" x2="54000" y2="46759"/>
                        <a14:foregroundMark x1="38300" y1="61667" x2="67900" y2="65926"/>
                        <a14:foregroundMark x1="47100" y1="46019" x2="58300" y2="52593"/>
                        <a14:foregroundMark x1="46500" y1="58148" x2="52700" y2="57963"/>
                        <a14:foregroundMark x1="45400" y1="46204" x2="50600" y2="57407"/>
                        <a14:foregroundMark x1="36200" y1="40370" x2="46700" y2="51389"/>
                        <a14:foregroundMark x1="43100" y1="64167" x2="50600" y2="687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3043"/>
          <a:stretch/>
        </p:blipFill>
        <p:spPr bwMode="auto">
          <a:xfrm>
            <a:off x="4606336" y="1691476"/>
            <a:ext cx="1825644" cy="170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392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hyperlink" Target="mailto:info@ucu.ac.ug" TargetMode="External"/><Relationship Id="rId16" Type="http://schemas.openxmlformats.org/officeDocument/2006/relationships/hyperlink" Target="http://www.ucu.ac.ug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B9D1C1C-C874-3B4C-BFA8-814DB2F2DE8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791" y="0"/>
            <a:ext cx="2415209" cy="73588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434D8-BE21-3C4F-B966-C264E42D1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B1CAF-D81D-0A48-8CB7-312CE0A6A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366C6-09A4-FC49-AA7E-13E205387E20}"/>
              </a:ext>
            </a:extLst>
          </p:cNvPr>
          <p:cNvSpPr/>
          <p:nvPr userDrawn="1"/>
        </p:nvSpPr>
        <p:spPr>
          <a:xfrm>
            <a:off x="838200" y="1508126"/>
            <a:ext cx="11353800" cy="179387"/>
          </a:xfrm>
          <a:prstGeom prst="rect">
            <a:avLst/>
          </a:prstGeom>
          <a:solidFill>
            <a:srgbClr val="0B3D9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A8F2F6-9030-F947-8EE4-619A9675FB06}"/>
              </a:ext>
            </a:extLst>
          </p:cNvPr>
          <p:cNvSpPr/>
          <p:nvPr userDrawn="1"/>
        </p:nvSpPr>
        <p:spPr>
          <a:xfrm>
            <a:off x="0" y="1508126"/>
            <a:ext cx="838200" cy="179387"/>
          </a:xfrm>
          <a:prstGeom prst="rect">
            <a:avLst/>
          </a:prstGeom>
          <a:solidFill>
            <a:srgbClr val="D7014D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36DCC5-4FD1-2248-B65C-9FF0F5F3BFA1}"/>
              </a:ext>
            </a:extLst>
          </p:cNvPr>
          <p:cNvSpPr/>
          <p:nvPr userDrawn="1"/>
        </p:nvSpPr>
        <p:spPr>
          <a:xfrm>
            <a:off x="838200" y="1508125"/>
            <a:ext cx="838200" cy="179387"/>
          </a:xfrm>
          <a:prstGeom prst="rect">
            <a:avLst/>
          </a:prstGeom>
          <a:solidFill>
            <a:srgbClr val="FFD93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70F0D-47D2-7442-8BCD-A0A76A1F0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EAA9A-AD91-1245-A5C3-6A0CBEF58DBD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5CA02-C0BE-C748-BB6D-191D4A1F6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D528E-B0C4-574C-AE6E-B35A83CFEB13}" type="datetimeFigureOut">
              <a:rPr lang="en-GB" smtClean="0"/>
              <a:t>31/08/2026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50729-1D81-7842-BB34-E0DBD93FE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D30695-89F9-9D40-8B73-8CF0F208D14C}"/>
              </a:ext>
            </a:extLst>
          </p:cNvPr>
          <p:cNvSpPr txBox="1"/>
          <p:nvPr userDrawn="1"/>
        </p:nvSpPr>
        <p:spPr>
          <a:xfrm>
            <a:off x="3975652" y="6176964"/>
            <a:ext cx="3627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50" b="1" dirty="0">
                <a:solidFill>
                  <a:srgbClr val="0B3D91"/>
                </a:solidFill>
              </a:rPr>
              <a:t>A Complete Education for A Complete Person</a:t>
            </a:r>
          </a:p>
          <a:p>
            <a:pPr algn="ctr"/>
            <a:br>
              <a:rPr lang="en-GB" sz="700" dirty="0"/>
            </a:br>
            <a:r>
              <a:rPr lang="en-GB" sz="700" dirty="0"/>
              <a:t>P.O. Box 4, </a:t>
            </a:r>
            <a:r>
              <a:rPr lang="en-GB" sz="700" dirty="0" err="1"/>
              <a:t>Mukono</a:t>
            </a:r>
            <a:r>
              <a:rPr lang="en-GB" sz="700" dirty="0"/>
              <a:t>, Uganda, Plot 67-173, Bishop Tucker Road, </a:t>
            </a:r>
            <a:r>
              <a:rPr lang="en-GB" sz="700" dirty="0" err="1"/>
              <a:t>Mukono</a:t>
            </a:r>
            <a:r>
              <a:rPr lang="en-GB" sz="700" dirty="0"/>
              <a:t> Hill</a:t>
            </a:r>
            <a:endParaRPr lang="en-US" sz="700" dirty="0"/>
          </a:p>
          <a:p>
            <a:pPr algn="ctr"/>
            <a:r>
              <a:rPr lang="en-GB" sz="700" dirty="0"/>
              <a:t>Tel: +256 (0) 312 350 800 Email: </a:t>
            </a:r>
            <a:r>
              <a:rPr lang="en-GB" sz="700" u="sng" dirty="0">
                <a:solidFill>
                  <a:srgbClr val="0000FF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info@ucu.ac.ug</a:t>
            </a:r>
            <a:r>
              <a:rPr lang="en-GB" sz="700" dirty="0">
                <a:solidFill>
                  <a:srgbClr val="0000FF"/>
                </a:solidFill>
              </a:rPr>
              <a:t> </a:t>
            </a:r>
            <a:r>
              <a:rPr lang="en-GB" sz="700" dirty="0"/>
              <a:t>Web: </a:t>
            </a:r>
            <a:r>
              <a:rPr lang="en-GB" sz="700" u="sng" dirty="0">
                <a:solidFill>
                  <a:srgbClr val="0000FF"/>
                </a:solidFill>
              </a:rPr>
              <a:t>https://</a:t>
            </a:r>
            <a:r>
              <a:rPr lang="en-GB" sz="700" u="sng" dirty="0">
                <a:solidFill>
                  <a:srgbClr val="0000FF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ucu.ac.ug</a:t>
            </a:r>
            <a:endParaRPr lang="en-US" sz="700" u="sng" dirty="0">
              <a:solidFill>
                <a:srgbClr val="0000FF"/>
              </a:solidFill>
            </a:endParaRPr>
          </a:p>
          <a:p>
            <a:pPr algn="ctr"/>
            <a:r>
              <a:rPr lang="en-GB" sz="650" dirty="0"/>
              <a:t>Founded by the Province of the Church of Uganda. Chartered by the Government of Uganda</a:t>
            </a:r>
            <a:endParaRPr lang="en-US" sz="65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344BD7-844D-7745-BB54-5181F5646184}"/>
              </a:ext>
            </a:extLst>
          </p:cNvPr>
          <p:cNvCxnSpPr>
            <a:cxnSpLocks/>
          </p:cNvCxnSpPr>
          <p:nvPr userDrawn="1"/>
        </p:nvCxnSpPr>
        <p:spPr>
          <a:xfrm>
            <a:off x="0" y="6395027"/>
            <a:ext cx="12192000" cy="0"/>
          </a:xfrm>
          <a:prstGeom prst="line">
            <a:avLst/>
          </a:prstGeom>
          <a:ln w="12700">
            <a:solidFill>
              <a:srgbClr val="D701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840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497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D7014D"/>
        </a:buClr>
        <a:buFont typeface="Wingdings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B3D91"/>
        </a:buClr>
        <a:buSzPct val="95000"/>
        <a:buFont typeface="Wingdings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70167"/>
        </a:buClr>
        <a:buSzPct val="90000"/>
        <a:buFont typeface="Wingdings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70167"/>
        </a:buClr>
        <a:buSzPct val="88000"/>
        <a:buFont typeface="Wingdings" pitchFamily="2" charset="2"/>
        <a:buChar char="q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931"/>
        </a:buClr>
        <a:buSzPct val="86000"/>
        <a:buFont typeface="Wingdings" pitchFamily="2" charset="2"/>
        <a:buChar char="q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737360"/>
            <a:ext cx="10058400" cy="1280160"/>
          </a:xfrm>
        </p:spPr>
        <p:txBody>
          <a:bodyPr/>
          <a:lstStyle/>
          <a:p>
            <a:pPr algn="ctr"/>
            <a:r>
              <a:rPr sz="3600">
                <a:latin typeface="Trebuchet MS"/>
              </a:rPr>
              <a:t>LipScribe: Technical Implementation and System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3063240"/>
            <a:ext cx="10058400" cy="777240"/>
          </a:xfrm>
        </p:spPr>
        <p:txBody>
          <a:bodyPr wrap="square" lIns="54864" rIns="54864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Lip-Assisted Speech Recognition for Robust Live Captioning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Computer Vision and Deep Learning  |  Group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069080"/>
            <a:ext cx="49377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Cole Rodney Migisha</a:t>
            </a:r>
            <a:r>
              <a:rPr sz="2200" b="0" i="0">
                <a:solidFill>
                  <a:srgbClr val="1F497D"/>
                </a:solidFill>
                <a:latin typeface="Trebuchet MS"/>
              </a:rPr>
              <a:t>  </a:t>
            </a:r>
            <a:r>
              <a:rPr sz="2200" b="1" i="0">
                <a:solidFill>
                  <a:srgbClr val="595959"/>
                </a:solidFill>
                <a:latin typeface="Trebuchet MS"/>
              </a:rPr>
              <a:t>B29657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0488" y="4069080"/>
            <a:ext cx="49377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Charis Opol</a:t>
            </a:r>
            <a:r>
              <a:rPr sz="2200" b="0" i="0">
                <a:solidFill>
                  <a:srgbClr val="1F497D"/>
                </a:solidFill>
                <a:latin typeface="Trebuchet MS"/>
              </a:rPr>
              <a:t>  </a:t>
            </a:r>
            <a:r>
              <a:rPr sz="2200" b="1" i="0">
                <a:solidFill>
                  <a:srgbClr val="595959"/>
                </a:solidFill>
                <a:latin typeface="Trebuchet MS"/>
              </a:rPr>
              <a:t>B29654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4617720"/>
            <a:ext cx="49377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Ainomugisha Faith</a:t>
            </a:r>
            <a:r>
              <a:rPr sz="2200" b="0" i="0">
                <a:solidFill>
                  <a:srgbClr val="1F497D"/>
                </a:solidFill>
                <a:latin typeface="Trebuchet MS"/>
              </a:rPr>
              <a:t>  </a:t>
            </a:r>
            <a:r>
              <a:rPr sz="2200" b="1" i="0">
                <a:solidFill>
                  <a:srgbClr val="595959"/>
                </a:solidFill>
                <a:latin typeface="Trebuchet MS"/>
              </a:rPr>
              <a:t>B27518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0488" y="4617720"/>
            <a:ext cx="49377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Lisa Lusinga Namugenyi</a:t>
            </a:r>
            <a:r>
              <a:rPr sz="2200" b="0" i="0">
                <a:solidFill>
                  <a:srgbClr val="1F497D"/>
                </a:solidFill>
                <a:latin typeface="Trebuchet MS"/>
              </a:rPr>
              <a:t>  </a:t>
            </a:r>
            <a:r>
              <a:rPr sz="2200" b="1" i="0">
                <a:solidFill>
                  <a:srgbClr val="595959"/>
                </a:solidFill>
                <a:latin typeface="Trebuchet MS"/>
              </a:rPr>
              <a:t>B30300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5166360"/>
            <a:ext cx="49377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Ansasire Nehum Naamaye</a:t>
            </a:r>
            <a:r>
              <a:rPr sz="2200" b="0" i="0">
                <a:solidFill>
                  <a:srgbClr val="1F497D"/>
                </a:solidFill>
                <a:latin typeface="Trebuchet MS"/>
              </a:rPr>
              <a:t>  </a:t>
            </a:r>
            <a:r>
              <a:rPr sz="2200" b="1" i="0">
                <a:solidFill>
                  <a:srgbClr val="595959"/>
                </a:solidFill>
                <a:latin typeface="Trebuchet MS"/>
              </a:rPr>
              <a:t>B29785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0488" y="5166360"/>
            <a:ext cx="49377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Wakisa Isabelle</a:t>
            </a:r>
            <a:r>
              <a:rPr sz="2200" b="0" i="0">
                <a:solidFill>
                  <a:srgbClr val="1F497D"/>
                </a:solidFill>
                <a:latin typeface="Trebuchet MS"/>
              </a:rPr>
              <a:t>  </a:t>
            </a:r>
            <a:r>
              <a:rPr sz="2200" b="1" i="0">
                <a:solidFill>
                  <a:srgbClr val="595959"/>
                </a:solidFill>
                <a:latin typeface="Trebuchet MS"/>
              </a:rPr>
              <a:t>B30311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Why LipScribe, and what it must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37360"/>
            <a:ext cx="1051560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Captions that only listen fail in noise. Lips are unaffected, so we fuse mouth video with audio for deaf and hard-of-hearing users.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1248" y="2697480"/>
          <a:ext cx="1051560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31920"/>
                <a:gridCol w="4846320"/>
                <a:gridCol w="17373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FFFFFF"/>
                          </a:solidFill>
                          <a:latin typeface="Trebuchet MS"/>
                        </a:rPr>
                        <a:t>Objective</a:t>
                      </a:r>
                    </a:p>
                  </a:txBody>
                  <a:tcPr marL="82296" marR="82296" marT="36576" marB="36576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FFFFFF"/>
                          </a:solidFill>
                          <a:latin typeface="Trebuchet MS"/>
                        </a:rPr>
                        <a:t>How we build it</a:t>
                      </a:r>
                    </a:p>
                  </a:txBody>
                  <a:tcPr marL="82296" marR="82296" marT="36576" marB="36576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FFFFFF"/>
                          </a:solidFill>
                          <a:latin typeface="Trebuchet MS"/>
                        </a:rPr>
                        <a:t>Scope</a:t>
                      </a:r>
                    </a:p>
                  </a:txBody>
                  <a:tcPr marL="82296" marR="82296" marT="36576" marB="36576" anchor="ctr"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RQ1 Separate homophenes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Cross-modal attention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Core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RQ2 Model word sequences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3D-CNN, BiLSTM, CTC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Core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595959"/>
                          </a:solidFill>
                          <a:latin typeface="Trebuchet MS"/>
                        </a:rPr>
                        <a:t>RQ3 Detect emotion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595959"/>
                          </a:solidFill>
                          <a:latin typeface="Trebuchet MS"/>
                        </a:rPr>
                        <a:t>Separate landmark classifier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595959"/>
                          </a:solidFill>
                          <a:latin typeface="Trebuchet MS"/>
                        </a:rPr>
                        <a:t>Optional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595959"/>
                          </a:solidFill>
                          <a:latin typeface="Trebuchet MS"/>
                        </a:rPr>
                        <a:t>RQ4 Identify language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595959"/>
                          </a:solidFill>
                          <a:latin typeface="Trebuchet MS"/>
                        </a:rPr>
                        <a:t>Separate language-ID head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595959"/>
                          </a:solidFill>
                          <a:latin typeface="Trebuchet MS"/>
                        </a:rPr>
                        <a:t>Optional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1248" y="5349240"/>
            <a:ext cx="10515600" cy="594360"/>
          </a:xfrm>
          <a:prstGeom prst="roundRect">
            <a:avLst>
              <a:gd name="adj" fmla="val 15384"/>
            </a:avLst>
          </a:prstGeom>
          <a:solidFill>
            <a:srgbClr val="FFF4CC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Core test: GRID + noise at 5 SNRs, WER and CER on unseen speakers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Architecture: two streams, one caption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37360"/>
            <a:ext cx="27432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55A11"/>
                </a:solidFill>
                <a:latin typeface="Trebuchet MS"/>
              </a:rPr>
              <a:t>Visual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19456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Video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25 fps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06039" y="2628900"/>
            <a:ext cx="219457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6" name="Rounded Rectangle 5"/>
          <p:cNvSpPr/>
          <p:nvPr/>
        </p:nvSpPr>
        <p:spPr>
          <a:xfrm>
            <a:off x="2852928" y="21945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Mouth crop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96×96 grey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37760" y="2628900"/>
            <a:ext cx="219456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5184648" y="2194560"/>
            <a:ext cx="2240280" cy="868680"/>
          </a:xfrm>
          <a:prstGeom prst="roundRect">
            <a:avLst>
              <a:gd name="adj" fmla="val 10526"/>
            </a:avLst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3D-CNN +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BiLSTM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52044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Audio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16 kHz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39" y="3954780"/>
            <a:ext cx="219457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2852928" y="352044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80-band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log-Mel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37760" y="3954780"/>
            <a:ext cx="219456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5184648" y="3520440"/>
            <a:ext cx="2240280" cy="868680"/>
          </a:xfrm>
          <a:prstGeom prst="roundRect">
            <a:avLst>
              <a:gd name="adj" fmla="val 10526"/>
            </a:avLst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Conv1d +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BiLSTM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127248"/>
            <a:ext cx="27432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E75B6"/>
                </a:solidFill>
                <a:latin typeface="Trebuchet MS"/>
              </a:rPr>
              <a:t>Audio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0688" y="2194560"/>
            <a:ext cx="1828800" cy="2194560"/>
          </a:xfrm>
          <a:prstGeom prst="roundRect">
            <a:avLst>
              <a:gd name="adj" fmla="val 5000"/>
            </a:avLst>
          </a:prstGeom>
          <a:solidFill>
            <a:srgbClr val="E2EFDA"/>
          </a:solidFill>
          <a:ln w="15875">
            <a:solidFill>
              <a:srgbClr val="548235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Attention</a:t>
            </a:r>
          </a:p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+ gate</a:t>
            </a:r>
          </a:p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fusion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52360" y="2628900"/>
            <a:ext cx="310896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cxnSp>
        <p:nvCxnSpPr>
          <p:cNvPr id="17" name="Connector 16"/>
          <p:cNvCxnSpPr/>
          <p:nvPr/>
        </p:nvCxnSpPr>
        <p:spPr>
          <a:xfrm>
            <a:off x="7452360" y="3954780"/>
            <a:ext cx="310896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9985248" y="2194560"/>
            <a:ext cx="1371599" cy="2194560"/>
          </a:xfrm>
          <a:prstGeom prst="roundRect">
            <a:avLst>
              <a:gd name="adj" fmla="val 6666"/>
            </a:avLst>
          </a:prstGeom>
          <a:solidFill>
            <a:srgbClr val="EDE7F6"/>
          </a:solidFill>
          <a:ln w="15875">
            <a:solidFill>
              <a:srgbClr val="7030A0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CTC +</a:t>
            </a:r>
          </a:p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beam</a:t>
            </a:r>
          </a:p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search →</a:t>
            </a:r>
          </a:p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caption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46920" y="3291840"/>
            <a:ext cx="310896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20" name="TextBox 19"/>
          <p:cNvSpPr txBox="1"/>
          <p:nvPr/>
        </p:nvSpPr>
        <p:spPr>
          <a:xfrm>
            <a:off x="841248" y="4617720"/>
            <a:ext cx="10515600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92608" indent="-292608">
              <a:spcAft>
                <a:spcPts val="3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Both streams give B × 75 × 512 on one 40 ms grid</a:t>
            </a:r>
          </a:p>
          <a:p>
            <a:pPr algn="l" marL="292608" indent="-292608">
              <a:spcAft>
                <a:spcPts val="3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Training and demo share one preprocessing package</a:t>
            </a:r>
          </a:p>
          <a:p>
            <a:pPr algn="l" marL="292608" indent="-292608">
              <a:spcAft>
                <a:spcPts val="3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PyTorch, MediaPipe, OpenCV, torchaudio, Gradio, pytest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GRID corpus, cleaned and checked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1F497D"/>
                </a:solidFill>
                <a:latin typeface="Trebuchet MS"/>
              </a:rPr>
              <a:t>34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speakers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3128" y="178308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1F497D"/>
                </a:solidFill>
                <a:latin typeface="Trebuchet MS"/>
              </a:rPr>
              <a:t>≈33,000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3 s clips, 25 fps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5008" y="178308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1F497D"/>
                </a:solidFill>
                <a:latin typeface="Trebuchet MS"/>
              </a:rPr>
              <a:t>51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words, one grammar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108960"/>
            <a:ext cx="1645920" cy="548640"/>
          </a:xfrm>
          <a:prstGeom prst="roundRect">
            <a:avLst>
              <a:gd name="adj" fmla="val 16666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85032"/>
            <a:ext cx="1828800" cy="411480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Trebuchet MS"/>
              </a:rPr>
              <a:t>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5184" y="3108960"/>
            <a:ext cx="1645920" cy="548640"/>
          </a:xfrm>
          <a:prstGeom prst="roundRect">
            <a:avLst>
              <a:gd name="adj" fmla="val 16666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green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744" y="3685032"/>
            <a:ext cx="1828800" cy="411480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Trebuchet MS"/>
              </a:rPr>
              <a:t>colour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108960"/>
            <a:ext cx="1645920" cy="548640"/>
          </a:xfrm>
          <a:prstGeom prst="roundRect">
            <a:avLst>
              <a:gd name="adj" fmla="val 16666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685032"/>
            <a:ext cx="1828800" cy="411480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Trebuchet MS"/>
              </a:rPr>
              <a:t>preposition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3108960"/>
            <a:ext cx="1645920" cy="548640"/>
          </a:xfrm>
          <a:prstGeom prst="roundRect">
            <a:avLst>
              <a:gd name="adj" fmla="val 16666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1616" y="3685032"/>
            <a:ext cx="1828800" cy="411480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Trebuchet MS"/>
              </a:rPr>
              <a:t>letter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3108960"/>
            <a:ext cx="1645920" cy="548640"/>
          </a:xfrm>
          <a:prstGeom prst="roundRect">
            <a:avLst>
              <a:gd name="adj" fmla="val 16666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four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3685032"/>
            <a:ext cx="1828800" cy="411480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Trebuchet MS"/>
              </a:rPr>
              <a:t>digit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10928" y="3108960"/>
            <a:ext cx="1645920" cy="548640"/>
          </a:xfrm>
          <a:prstGeom prst="roundRect">
            <a:avLst>
              <a:gd name="adj" fmla="val 16666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3685032"/>
            <a:ext cx="1828800" cy="411480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Trebuchet MS"/>
              </a:rPr>
              <a:t>adverb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297680"/>
            <a:ext cx="10515600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92608" indent="-292608">
              <a:spcAft>
                <a:spcPts val="3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Text: a–z and space, so 28 symbols with the CTC blank</a:t>
            </a:r>
          </a:p>
          <a:p>
            <a:pPr algn="l" marL="292608" indent="-292608">
              <a:spcAft>
                <a:spcPts val="3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Audio 16 kHz mono; video 25 fps, about 75 frames</a:t>
            </a:r>
          </a:p>
          <a:p>
            <a:pPr algn="l" marL="292608" indent="-292608">
              <a:spcAft>
                <a:spcPts val="3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Checks: files, frame counts, sync, Face Mesh ≥ 90%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Speaker split and noise mixing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783080"/>
            <a:ext cx="8314047" cy="5669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rtlCol="0" anchor="ctr" wrap="square" lIns="18288" rIns="18288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Train: ≈27 speakers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91871" y="1783080"/>
            <a:ext cx="891271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wrap="square" lIns="18288" rIns="18288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Val: 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19718" y="1783080"/>
            <a:ext cx="1200553" cy="566928"/>
          </a:xfrm>
          <a:prstGeom prst="rect">
            <a:avLst/>
          </a:prstGeom>
          <a:solidFill>
            <a:srgbClr val="D7014D"/>
          </a:solidFill>
          <a:ln>
            <a:noFill/>
          </a:ln>
        </p:spPr>
        <p:txBody>
          <a:bodyPr rtlCol="0" anchor="ctr" wrap="square" lIns="18288" rIns="18288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Test: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231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Trebuchet MS"/>
              </a:rPr>
              <a:t>Split by speaker; one splits.csv, loader check and unit test stop leakage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017520"/>
            <a:ext cx="1920240" cy="502920"/>
          </a:xfrm>
          <a:prstGeom prst="roundRect">
            <a:avLst>
              <a:gd name="adj" fmla="val 18181"/>
            </a:avLst>
          </a:prstGeom>
          <a:solidFill>
            <a:srgbClr val="DDEBF7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Clean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0088" y="3017520"/>
            <a:ext cx="1920240" cy="502920"/>
          </a:xfrm>
          <a:prstGeom prst="roundRect">
            <a:avLst>
              <a:gd name="adj" fmla="val 18181"/>
            </a:avLst>
          </a:prstGeom>
          <a:solidFill>
            <a:srgbClr val="BDD7EE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10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3017520"/>
            <a:ext cx="1920240" cy="502920"/>
          </a:xfrm>
          <a:prstGeom prst="roundRect">
            <a:avLst>
              <a:gd name="adj" fmla="val 18181"/>
            </a:avLst>
          </a:prstGeom>
          <a:solidFill>
            <a:srgbClr val="9DC3E6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5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7768" y="3017520"/>
            <a:ext cx="1920240" cy="502920"/>
          </a:xfrm>
          <a:prstGeom prst="roundRect">
            <a:avLst>
              <a:gd name="adj" fmla="val 18181"/>
            </a:avLst>
          </a:prstGeom>
          <a:solidFill>
            <a:srgbClr val="5B9BD5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0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3017520"/>
            <a:ext cx="1920240" cy="502920"/>
          </a:xfrm>
          <a:prstGeom prst="roundRect">
            <a:avLst>
              <a:gd name="adj" fmla="val 18181"/>
            </a:avLst>
          </a:prstGeom>
          <a:solidFill>
            <a:srgbClr val="2E75B6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−5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749039"/>
            <a:ext cx="5120640" cy="2194560"/>
          </a:xfrm>
          <a:prstGeom prst="roundRect">
            <a:avLst>
              <a:gd name="adj" fmla="val 4166"/>
            </a:avLst>
          </a:prstGeom>
          <a:solidFill>
            <a:srgbClr val="FFF4CC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MUSAN noise scaled by</a:t>
            </a:r>
          </a:p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1A1A1A"/>
                </a:solidFill>
                <a:latin typeface="Trebuchet MS"/>
              </a:rPr>
              <a:t>α = √( P</a:t>
            </a:r>
            <a:r>
              <a:rPr sz="2400" b="1" i="0" baseline="-25000">
                <a:solidFill>
                  <a:srgbClr val="1A1A1A"/>
                </a:solidFill>
                <a:latin typeface="Trebuchet MS"/>
              </a:rPr>
              <a:t>s</a:t>
            </a:r>
            <a:r>
              <a:rPr sz="2400" b="1" i="0">
                <a:solidFill>
                  <a:srgbClr val="1A1A1A"/>
                </a:solidFill>
                <a:latin typeface="Trebuchet MS"/>
              </a:rPr>
              <a:t> / (P</a:t>
            </a:r>
            <a:r>
              <a:rPr sz="2400" b="1" i="0" baseline="-25000">
                <a:solidFill>
                  <a:srgbClr val="1A1A1A"/>
                </a:solidFill>
                <a:latin typeface="Trebuchet MS"/>
              </a:rPr>
              <a:t>w</a:t>
            </a:r>
            <a:r>
              <a:rPr sz="2400" b="1" i="0">
                <a:solidFill>
                  <a:srgbClr val="1A1A1A"/>
                </a:solidFill>
                <a:latin typeface="Trebuchet MS"/>
              </a:rPr>
              <a:t> · 10</a:t>
            </a:r>
            <a:r>
              <a:rPr sz="2400" b="1" i="0" baseline="30000">
                <a:solidFill>
                  <a:srgbClr val="1A1A1A"/>
                </a:solidFill>
                <a:latin typeface="Trebuchet MS"/>
              </a:rPr>
              <a:t>ρ/10</a:t>
            </a:r>
            <a:r>
              <a:rPr sz="2400" b="1" i="0">
                <a:solidFill>
                  <a:srgbClr val="1A1A1A"/>
                </a:solidFill>
                <a:latin typeface="Trebuchet MS"/>
              </a:rPr>
              <a:t>) )</a:t>
            </a:r>
          </a:p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y = s + α · 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749039"/>
            <a:ext cx="5001768" cy="21945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92608" indent="-292608">
              <a:spcAft>
                <a:spcPts val="6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Train: random SNR, mixed on the fly</a:t>
            </a:r>
          </a:p>
          <a:p>
            <a:pPr algn="l" marL="292608" indent="-292608">
              <a:spcAft>
                <a:spcPts val="6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Test: fixed seed, unseen noise files</a:t>
            </a:r>
          </a:p>
          <a:p>
            <a:pPr algn="l" marL="292608" indent="-292608">
              <a:spcAft>
                <a:spcPts val="6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Video and transcript never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Visual pipeline: video to lip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Face Mesh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468 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46120" y="2217420"/>
            <a:ext cx="2807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5" name="Rounded Rectangle 4"/>
          <p:cNvSpPr/>
          <p:nvPr/>
        </p:nvSpPr>
        <p:spPr>
          <a:xfrm>
            <a:off x="3554272" y="17830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Lip box +25%,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smoothed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59144" y="2217420"/>
            <a:ext cx="280721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6267297" y="17830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96×96 grey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crop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72169" y="2217420"/>
            <a:ext cx="280721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8980322" y="17830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3D-CNN +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BiLSTM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92608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EAF0F8"/>
          </a:solidFill>
          <a:ln>
            <a:noFill/>
          </a:ln>
        </p:spPr>
        <p:txBody>
          <a:bodyPr rtlCol="0" anchor="t" wrap="square" lIns="54864" rIns="54864" tIns="27432" bIns="27432">
            <a:no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24128" y="3017520"/>
            <a:ext cx="4709159" cy="28346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If the face is not found</a:t>
            </a:r>
          </a:p>
          <a:p>
            <a:pPr algn="l" marL="292608" indent="-292608">
              <a:spcAft>
                <a:spcPts val="5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A few frames: interpolate the box</a:t>
            </a:r>
          </a:p>
          <a:p>
            <a:pPr algn="l" marL="292608" indent="-292608">
              <a:spcAft>
                <a:spcPts val="5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Over 10% of frames: drop the clip</a:t>
            </a:r>
          </a:p>
          <a:p>
            <a:pPr algn="l" marL="292608" indent="-292608">
              <a:spcAft>
                <a:spcPts val="5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Never drop frames: keeps audio 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292608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EAF0F8"/>
          </a:solidFill>
          <a:ln>
            <a:noFill/>
          </a:ln>
        </p:spPr>
        <p:txBody>
          <a:bodyPr rtlCol="0" anchor="t" wrap="square" lIns="54864" rIns="54864" tIns="27432" bIns="27432">
            <a:no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64808" y="3017520"/>
            <a:ext cx="4709159" cy="28346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Encoder V1, primary</a:t>
            </a:r>
          </a:p>
          <a:p>
            <a:pPr algn="l" marL="292608" indent="-292608">
              <a:spcAft>
                <a:spcPts val="5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3 Conv3d blocks, kernels span 3 frames</a:t>
            </a:r>
          </a:p>
          <a:p>
            <a:pPr algn="l" marL="292608" indent="-292608">
              <a:spcAft>
                <a:spcPts val="5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16×1×75×96×96 → 16×75×512</a:t>
            </a:r>
          </a:p>
          <a:p>
            <a:pPr algn="l" marL="292608" indent="-292608">
              <a:spcAft>
                <a:spcPts val="5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V2: EfficientNet-B0, optional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Audio pipeline on the same time grid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16 kHz,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−25 dBFS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46120" y="2217420"/>
            <a:ext cx="2807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5" name="Rounded Rectangle 4"/>
          <p:cNvSpPr/>
          <p:nvPr/>
        </p:nvSpPr>
        <p:spPr>
          <a:xfrm>
            <a:off x="3554272" y="17830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25 ms frames,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10 ms hop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59144" y="2217420"/>
            <a:ext cx="280721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6267297" y="17830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80 log-Mel,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standardised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72169" y="2217420"/>
            <a:ext cx="280721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8980322" y="17830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Conv1d +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BiLSTM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880360"/>
            <a:ext cx="10515600" cy="685800"/>
          </a:xfrm>
          <a:prstGeom prst="roundRect">
            <a:avLst>
              <a:gd name="adj" fmla="val 13333"/>
            </a:avLst>
          </a:prstGeom>
          <a:solidFill>
            <a:srgbClr val="FFF4CC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Trebuchet MS"/>
              </a:rPr>
              <a:t>LM</a:t>
            </a:r>
            <a:r>
              <a:rPr sz="2400" b="0" i="0" baseline="-25000">
                <a:solidFill>
                  <a:srgbClr val="1A1A1A"/>
                </a:solidFill>
                <a:latin typeface="Trebuchet MS"/>
              </a:rPr>
              <a:t>m</a:t>
            </a:r>
            <a:r>
              <a:rPr sz="2400" b="0" i="0">
                <a:solidFill>
                  <a:srgbClr val="1A1A1A"/>
                </a:solidFill>
                <a:latin typeface="Trebuchet MS"/>
              </a:rPr>
              <a:t>(τ) = log( ε + Σ</a:t>
            </a:r>
            <a:r>
              <a:rPr sz="2400" b="0" i="0" baseline="-25000">
                <a:solidFill>
                  <a:srgbClr val="1A1A1A"/>
                </a:solidFill>
                <a:latin typeface="Trebuchet MS"/>
              </a:rPr>
              <a:t>k</a:t>
            </a:r>
            <a:r>
              <a:rPr sz="2400" b="0" i="0">
                <a:solidFill>
                  <a:srgbClr val="1A1A1A"/>
                </a:solidFill>
                <a:latin typeface="Trebuchet MS"/>
              </a:rPr>
              <a:t> H</a:t>
            </a:r>
            <a:r>
              <a:rPr sz="2400" b="0" i="0" baseline="-25000">
                <a:solidFill>
                  <a:srgbClr val="1A1A1A"/>
                </a:solidFill>
                <a:latin typeface="Trebuchet MS"/>
              </a:rPr>
              <a:t>m</a:t>
            </a:r>
            <a:r>
              <a:rPr sz="2400" b="0" i="0">
                <a:solidFill>
                  <a:srgbClr val="1A1A1A"/>
                </a:solidFill>
                <a:latin typeface="Trebuchet MS"/>
              </a:rPr>
              <a:t>(k) · |X</a:t>
            </a:r>
            <a:r>
              <a:rPr sz="2400" b="0" i="0" baseline="-25000">
                <a:solidFill>
                  <a:srgbClr val="1A1A1A"/>
                </a:solidFill>
                <a:latin typeface="Trebuchet MS"/>
              </a:rPr>
              <a:t>k</a:t>
            </a:r>
            <a:r>
              <a:rPr sz="2400" b="0" i="0">
                <a:solidFill>
                  <a:srgbClr val="1A1A1A"/>
                </a:solidFill>
                <a:latin typeface="Trebuchet MS"/>
              </a:rPr>
              <a:t>(τ)|² ),   m = 1 … 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840480"/>
            <a:ext cx="3566160" cy="502920"/>
          </a:xfrm>
          <a:prstGeom prst="roundRect">
            <a:avLst>
              <a:gd name="adj" fmla="val 18181"/>
            </a:avLst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1 video frame = 40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480560"/>
            <a:ext cx="845820" cy="502920"/>
          </a:xfrm>
          <a:prstGeom prst="roundRect">
            <a:avLst>
              <a:gd name="adj" fmla="val 18181"/>
            </a:avLst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10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2788" y="4480560"/>
            <a:ext cx="845820" cy="502920"/>
          </a:xfrm>
          <a:prstGeom prst="roundRect">
            <a:avLst>
              <a:gd name="adj" fmla="val 18181"/>
            </a:avLst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10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24328" y="4480560"/>
            <a:ext cx="845820" cy="502920"/>
          </a:xfrm>
          <a:prstGeom prst="roundRect">
            <a:avLst>
              <a:gd name="adj" fmla="val 18181"/>
            </a:avLst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10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5868" y="4480560"/>
            <a:ext cx="845820" cy="502920"/>
          </a:xfrm>
          <a:prstGeom prst="roundRect">
            <a:avLst>
              <a:gd name="adj" fmla="val 18181"/>
            </a:avLst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10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3749039"/>
            <a:ext cx="6583680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92608" indent="-292608">
              <a:spcAft>
                <a:spcPts val="4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300 → 150 → 75 frames per 3 s</a:t>
            </a:r>
          </a:p>
          <a:p>
            <a:pPr algn="l" marL="292608" indent="-292608">
              <a:spcAft>
                <a:spcPts val="4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MFCC variants tested as experiments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257800"/>
            <a:ext cx="10515600" cy="685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595959"/>
                </a:solidFill>
                <a:latin typeface="Trebuchet MS"/>
              </a:rPr>
              <a:t>Normalised after noise mixing; statistics from training data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Attention and a gate fuse the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37360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E75B6"/>
                </a:solidFill>
                <a:latin typeface="Trebuchet MS"/>
              </a:rPr>
              <a:t>Audio frame queries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2240280"/>
            <a:ext cx="548640" cy="548640"/>
          </a:xfrm>
          <a:prstGeom prst="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5" name="Rectangle 4"/>
          <p:cNvSpPr/>
          <p:nvPr/>
        </p:nvSpPr>
        <p:spPr>
          <a:xfrm>
            <a:off x="1024128" y="4114800"/>
            <a:ext cx="548640" cy="548640"/>
          </a:xfrm>
          <a:prstGeom prst="rect">
            <a:avLst/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6" name="Rectangle 5"/>
          <p:cNvSpPr/>
          <p:nvPr/>
        </p:nvSpPr>
        <p:spPr>
          <a:xfrm>
            <a:off x="1737360" y="2240280"/>
            <a:ext cx="548640" cy="548640"/>
          </a:xfrm>
          <a:prstGeom prst="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1737360" y="4114800"/>
            <a:ext cx="548640" cy="548640"/>
          </a:xfrm>
          <a:prstGeom prst="rect">
            <a:avLst/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8" name="Rectangle 7"/>
          <p:cNvSpPr/>
          <p:nvPr/>
        </p:nvSpPr>
        <p:spPr>
          <a:xfrm>
            <a:off x="2450592" y="2240280"/>
            <a:ext cx="548640" cy="548640"/>
          </a:xfrm>
          <a:prstGeom prst="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9" name="Rectangle 8"/>
          <p:cNvSpPr/>
          <p:nvPr/>
        </p:nvSpPr>
        <p:spPr>
          <a:xfrm>
            <a:off x="2450592" y="4114800"/>
            <a:ext cx="548640" cy="548640"/>
          </a:xfrm>
          <a:prstGeom prst="rect">
            <a:avLst/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10" name="Rectangle 9"/>
          <p:cNvSpPr/>
          <p:nvPr/>
        </p:nvSpPr>
        <p:spPr>
          <a:xfrm>
            <a:off x="3163824" y="2240280"/>
            <a:ext cx="548640" cy="548640"/>
          </a:xfrm>
          <a:prstGeom prst="rect">
            <a:avLst/>
          </a:prstGeom>
          <a:solidFill>
            <a:srgbClr val="2E75B6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11" name="Rectangle 10"/>
          <p:cNvSpPr/>
          <p:nvPr/>
        </p:nvSpPr>
        <p:spPr>
          <a:xfrm>
            <a:off x="3163824" y="4114800"/>
            <a:ext cx="548640" cy="548640"/>
          </a:xfrm>
          <a:prstGeom prst="rect">
            <a:avLst/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12" name="Rectangle 11"/>
          <p:cNvSpPr/>
          <p:nvPr/>
        </p:nvSpPr>
        <p:spPr>
          <a:xfrm>
            <a:off x="3877056" y="2240280"/>
            <a:ext cx="548640" cy="548640"/>
          </a:xfrm>
          <a:prstGeom prst="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13" name="Rectangle 12"/>
          <p:cNvSpPr/>
          <p:nvPr/>
        </p:nvSpPr>
        <p:spPr>
          <a:xfrm>
            <a:off x="3877056" y="4114800"/>
            <a:ext cx="548640" cy="548640"/>
          </a:xfrm>
          <a:prstGeom prst="rect">
            <a:avLst/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14" name="Rectangle 13"/>
          <p:cNvSpPr/>
          <p:nvPr/>
        </p:nvSpPr>
        <p:spPr>
          <a:xfrm>
            <a:off x="4590288" y="2240280"/>
            <a:ext cx="548640" cy="548640"/>
          </a:xfrm>
          <a:prstGeom prst="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15" name="Rectangle 14"/>
          <p:cNvSpPr/>
          <p:nvPr/>
        </p:nvSpPr>
        <p:spPr>
          <a:xfrm>
            <a:off x="4590288" y="4114800"/>
            <a:ext cx="548640" cy="548640"/>
          </a:xfrm>
          <a:prstGeom prst="rect">
            <a:avLst/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16" name="Rectangle 15"/>
          <p:cNvSpPr/>
          <p:nvPr/>
        </p:nvSpPr>
        <p:spPr>
          <a:xfrm>
            <a:off x="5303520" y="2240280"/>
            <a:ext cx="548640" cy="548640"/>
          </a:xfrm>
          <a:prstGeom prst="rect">
            <a:avLst/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sp>
        <p:nvSpPr>
          <p:cNvPr id="17" name="Rectangle 16"/>
          <p:cNvSpPr/>
          <p:nvPr/>
        </p:nvSpPr>
        <p:spPr>
          <a:xfrm>
            <a:off x="5303520" y="4114800"/>
            <a:ext cx="548640" cy="548640"/>
          </a:xfrm>
          <a:prstGeom prst="rect">
            <a:avLst/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</a:p>
        </p:txBody>
      </p:sp>
      <p:cxnSp>
        <p:nvCxnSpPr>
          <p:cNvPr id="18" name="Connector 17"/>
          <p:cNvCxnSpPr/>
          <p:nvPr/>
        </p:nvCxnSpPr>
        <p:spPr>
          <a:xfrm flipH="1">
            <a:off x="1298448" y="2816352"/>
            <a:ext cx="2139696" cy="1271016"/>
          </a:xfrm>
          <a:prstGeom prst="line">
            <a:avLst/>
          </a:prstGeom>
          <a:ln w="9525">
            <a:solidFill>
              <a:srgbClr val="548235"/>
            </a:solidFill>
          </a:ln>
        </p:spPr>
      </p:cxnSp>
      <p:cxnSp>
        <p:nvCxnSpPr>
          <p:cNvPr id="19" name="Connector 18"/>
          <p:cNvCxnSpPr/>
          <p:nvPr/>
        </p:nvCxnSpPr>
        <p:spPr>
          <a:xfrm flipH="1">
            <a:off x="2011680" y="2816352"/>
            <a:ext cx="1426464" cy="1271016"/>
          </a:xfrm>
          <a:prstGeom prst="line">
            <a:avLst/>
          </a:prstGeom>
          <a:ln w="19050">
            <a:solidFill>
              <a:srgbClr val="548235"/>
            </a:solidFill>
          </a:ln>
        </p:spPr>
      </p:cxnSp>
      <p:cxnSp>
        <p:nvCxnSpPr>
          <p:cNvPr id="20" name="Connector 19"/>
          <p:cNvCxnSpPr/>
          <p:nvPr/>
        </p:nvCxnSpPr>
        <p:spPr>
          <a:xfrm flipH="1">
            <a:off x="2724912" y="2816352"/>
            <a:ext cx="713232" cy="1271016"/>
          </a:xfrm>
          <a:prstGeom prst="line">
            <a:avLst/>
          </a:prstGeom>
          <a:ln w="38100">
            <a:solidFill>
              <a:srgbClr val="54823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3438144" y="2816352"/>
            <a:ext cx="0" cy="1271016"/>
          </a:xfrm>
          <a:prstGeom prst="line">
            <a:avLst/>
          </a:prstGeom>
          <a:ln w="76200">
            <a:solidFill>
              <a:srgbClr val="54823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3438144" y="2816352"/>
            <a:ext cx="713232" cy="1271016"/>
          </a:xfrm>
          <a:prstGeom prst="line">
            <a:avLst/>
          </a:prstGeom>
          <a:ln w="38100">
            <a:solidFill>
              <a:srgbClr val="54823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3438144" y="2816352"/>
            <a:ext cx="1426464" cy="1271016"/>
          </a:xfrm>
          <a:prstGeom prst="line">
            <a:avLst/>
          </a:prstGeom>
          <a:ln w="19050">
            <a:solidFill>
              <a:srgbClr val="54823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3438144" y="2816352"/>
            <a:ext cx="2139696" cy="1271016"/>
          </a:xfrm>
          <a:prstGeom prst="line">
            <a:avLst/>
          </a:prstGeom>
          <a:ln w="9525">
            <a:solidFill>
              <a:srgbClr val="548235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841248" y="4709160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C55A11"/>
                </a:solidFill>
                <a:latin typeface="Trebuchet MS"/>
              </a:rPr>
              <a:t>Video frames: keys,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212080"/>
            <a:ext cx="5303520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Trebuchet MS"/>
              </a:rPr>
              <a:t>4 heads, d = 256, both ways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783080"/>
            <a:ext cx="4956048" cy="1234440"/>
          </a:xfrm>
          <a:prstGeom prst="roundRect">
            <a:avLst>
              <a:gd name="adj" fmla="val 7407"/>
            </a:avLst>
          </a:prstGeom>
          <a:solidFill>
            <a:srgbClr val="FFF4CC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g</a:t>
            </a:r>
            <a:r>
              <a:rPr sz="2200" b="0" i="0" baseline="-25000">
                <a:solidFill>
                  <a:srgbClr val="1A1A1A"/>
                </a:solidFill>
                <a:latin typeface="Trebuchet MS"/>
              </a:rPr>
              <a:t>t</a:t>
            </a:r>
            <a:r>
              <a:rPr sz="2200" b="0" i="0">
                <a:solidFill>
                  <a:srgbClr val="1A1A1A"/>
                </a:solidFill>
                <a:latin typeface="Trebuchet MS"/>
              </a:rPr>
              <a:t> = σ( w</a:t>
            </a:r>
            <a:r>
              <a:rPr sz="2200" b="0" i="0" baseline="-25000">
                <a:solidFill>
                  <a:srgbClr val="1A1A1A"/>
                </a:solidFill>
                <a:latin typeface="Trebuchet MS"/>
              </a:rPr>
              <a:t>g</a:t>
            </a:r>
            <a:r>
              <a:rPr sz="2200" b="0" i="0">
                <a:solidFill>
                  <a:srgbClr val="1A1A1A"/>
                </a:solidFill>
                <a:latin typeface="Trebuchet MS"/>
              </a:rPr>
              <a:t>ᵀ [ã</a:t>
            </a:r>
            <a:r>
              <a:rPr sz="2200" b="0" i="0" baseline="-25000">
                <a:solidFill>
                  <a:srgbClr val="1A1A1A"/>
                </a:solidFill>
                <a:latin typeface="Trebuchet MS"/>
              </a:rPr>
              <a:t>t</a:t>
            </a:r>
            <a:r>
              <a:rPr sz="2200" b="0" i="0">
                <a:solidFill>
                  <a:srgbClr val="1A1A1A"/>
                </a:solidFill>
                <a:latin typeface="Trebuchet MS"/>
              </a:rPr>
              <a:t> ; ṽ</a:t>
            </a:r>
            <a:r>
              <a:rPr sz="2200" b="0" i="0" baseline="-25000">
                <a:solidFill>
                  <a:srgbClr val="1A1A1A"/>
                </a:solidFill>
                <a:latin typeface="Trebuchet MS"/>
              </a:rPr>
              <a:t>t</a:t>
            </a:r>
            <a:r>
              <a:rPr sz="2200" b="0" i="0">
                <a:solidFill>
                  <a:srgbClr val="1A1A1A"/>
                </a:solidFill>
                <a:latin typeface="Trebuchet MS"/>
              </a:rPr>
              <a:t>] + b</a:t>
            </a:r>
            <a:r>
              <a:rPr sz="2200" b="0" i="0" baseline="-25000">
                <a:solidFill>
                  <a:srgbClr val="1A1A1A"/>
                </a:solidFill>
                <a:latin typeface="Trebuchet MS"/>
              </a:rPr>
              <a:t>g</a:t>
            </a:r>
            <a:r>
              <a:rPr sz="2200" b="0" i="0">
                <a:solidFill>
                  <a:srgbClr val="1A1A1A"/>
                </a:solidFill>
                <a:latin typeface="Trebuchet MS"/>
              </a:rPr>
              <a:t> )</a:t>
            </a:r>
          </a:p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f</a:t>
            </a:r>
            <a:r>
              <a:rPr sz="2200" b="0" i="0" baseline="-25000">
                <a:solidFill>
                  <a:srgbClr val="1A1A1A"/>
                </a:solidFill>
                <a:latin typeface="Trebuchet MS"/>
              </a:rPr>
              <a:t>t</a:t>
            </a:r>
            <a:r>
              <a:rPr sz="2200" b="0" i="0">
                <a:solidFill>
                  <a:srgbClr val="1A1A1A"/>
                </a:solidFill>
                <a:latin typeface="Trebuchet MS"/>
              </a:rPr>
              <a:t> = g</a:t>
            </a:r>
            <a:r>
              <a:rPr sz="2200" b="0" i="0" baseline="-25000">
                <a:solidFill>
                  <a:srgbClr val="1A1A1A"/>
                </a:solidFill>
                <a:latin typeface="Trebuchet MS"/>
              </a:rPr>
              <a:t>t</a:t>
            </a:r>
            <a:r>
              <a:rPr sz="2200" b="0" i="0">
                <a:solidFill>
                  <a:srgbClr val="1A1A1A"/>
                </a:solidFill>
                <a:latin typeface="Trebuchet MS"/>
              </a:rPr>
              <a:t>·ã</a:t>
            </a:r>
            <a:r>
              <a:rPr sz="2200" b="0" i="0" baseline="-25000">
                <a:solidFill>
                  <a:srgbClr val="1A1A1A"/>
                </a:solidFill>
                <a:latin typeface="Trebuchet MS"/>
              </a:rPr>
              <a:t>t</a:t>
            </a:r>
            <a:r>
              <a:rPr sz="2200" b="0" i="0">
                <a:solidFill>
                  <a:srgbClr val="1A1A1A"/>
                </a:solidFill>
                <a:latin typeface="Trebuchet MS"/>
              </a:rPr>
              <a:t> + (1 − g</a:t>
            </a:r>
            <a:r>
              <a:rPr sz="2200" b="0" i="0" baseline="-25000">
                <a:solidFill>
                  <a:srgbClr val="1A1A1A"/>
                </a:solidFill>
                <a:latin typeface="Trebuchet MS"/>
              </a:rPr>
              <a:t>t</a:t>
            </a:r>
            <a:r>
              <a:rPr sz="2200" b="0" i="0">
                <a:solidFill>
                  <a:srgbClr val="1A1A1A"/>
                </a:solidFill>
                <a:latin typeface="Trebuchet MS"/>
              </a:rPr>
              <a:t>)·ṽ</a:t>
            </a:r>
            <a:r>
              <a:rPr sz="2200" b="0" i="0" baseline="-25000">
                <a:solidFill>
                  <a:srgbClr val="1A1A1A"/>
                </a:solidFill>
                <a:latin typeface="Trebuchet MS"/>
              </a:rP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46120"/>
            <a:ext cx="4956048" cy="2743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92608" indent="-292608">
              <a:spcAft>
                <a:spcPts val="6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Separates homophenes</a:t>
            </a:r>
          </a:p>
          <a:p>
            <a:pPr algn="l" marL="292608" indent="-292608">
              <a:spcAft>
                <a:spcPts val="6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g near 1: audio; near 0: lips</a:t>
            </a:r>
          </a:p>
          <a:p>
            <a:pPr algn="l" marL="292608" indent="-292608">
              <a:spcAft>
                <a:spcPts val="6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Learned from all 5 SNRs; gate should fall as noise rises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Modality dropout and CTC decoding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3736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Training only: one stream is sometimes removed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240280"/>
            <a:ext cx="2592324" cy="56692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Video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0148" y="2240280"/>
            <a:ext cx="1540763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Audio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7488" y="2240280"/>
            <a:ext cx="6272783" cy="566928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Both streams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926080"/>
            <a:ext cx="1051560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Trebuchet MS"/>
              </a:rPr>
              <a:t>Missing stream → learned e</a:t>
            </a:r>
            <a:r>
              <a:rPr sz="2200" b="0" i="0" baseline="-25000">
                <a:solidFill>
                  <a:srgbClr val="595959"/>
                </a:solidFill>
                <a:latin typeface="Trebuchet MS"/>
              </a:rPr>
              <a:t>miss</a:t>
            </a:r>
            <a:r>
              <a:rPr sz="2200" b="0" i="0">
                <a:solidFill>
                  <a:srgbClr val="595959"/>
                </a:solidFill>
                <a:latin typeface="Trebuchet MS"/>
              </a:rPr>
              <a:t> vector, also used live when no 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657600"/>
            <a:ext cx="457200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CTC: merge repeats, drop blanks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160520"/>
            <a:ext cx="411480" cy="548640"/>
          </a:xfrm>
          <a:prstGeom prst="rect">
            <a:avLst/>
          </a:prstGeom>
          <a:solidFill>
            <a:srgbClr val="EDE7F6"/>
          </a:solidFill>
          <a:ln w="15875">
            <a:solidFill>
              <a:srgbClr val="7030A0"/>
            </a:solidFill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98448" y="4160520"/>
            <a:ext cx="411480" cy="548640"/>
          </a:xfrm>
          <a:prstGeom prst="rect">
            <a:avLst/>
          </a:prstGeom>
          <a:solidFill>
            <a:srgbClr val="EDE7F6"/>
          </a:solidFill>
          <a:ln w="15875">
            <a:solidFill>
              <a:srgbClr val="7030A0"/>
            </a:solidFill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5648" y="4160520"/>
            <a:ext cx="411480" cy="548640"/>
          </a:xfrm>
          <a:prstGeom prst="rect">
            <a:avLst/>
          </a:prstGeom>
          <a:solidFill>
            <a:srgbClr val="F2F2F2"/>
          </a:solidFill>
          <a:ln w="15875">
            <a:solidFill>
              <a:srgbClr val="7030A0"/>
            </a:solidFill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12848" y="4160520"/>
            <a:ext cx="411480" cy="548640"/>
          </a:xfrm>
          <a:prstGeom prst="rect">
            <a:avLst/>
          </a:prstGeom>
          <a:solidFill>
            <a:srgbClr val="EDE7F6"/>
          </a:solidFill>
          <a:ln w="15875">
            <a:solidFill>
              <a:srgbClr val="7030A0"/>
            </a:solidFill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4160520"/>
            <a:ext cx="411480" cy="548640"/>
          </a:xfrm>
          <a:prstGeom prst="rect">
            <a:avLst/>
          </a:prstGeom>
          <a:solidFill>
            <a:srgbClr val="EDE7F6"/>
          </a:solidFill>
          <a:ln w="15875">
            <a:solidFill>
              <a:srgbClr val="7030A0"/>
            </a:solidFill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4160520"/>
            <a:ext cx="411480" cy="548640"/>
          </a:xfrm>
          <a:prstGeom prst="rect">
            <a:avLst/>
          </a:prstGeom>
          <a:solidFill>
            <a:srgbClr val="F2F2F2"/>
          </a:solidFill>
          <a:ln w="15875">
            <a:solidFill>
              <a:srgbClr val="7030A0"/>
            </a:solidFill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84448" y="4160520"/>
            <a:ext cx="411480" cy="548640"/>
          </a:xfrm>
          <a:prstGeom prst="rect">
            <a:avLst/>
          </a:prstGeom>
          <a:solidFill>
            <a:srgbClr val="EDE7F6"/>
          </a:solidFill>
          <a:ln w="15875">
            <a:solidFill>
              <a:srgbClr val="7030A0"/>
            </a:solidFill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41648" y="4160520"/>
            <a:ext cx="411480" cy="548640"/>
          </a:xfrm>
          <a:prstGeom prst="rect">
            <a:avLst/>
          </a:prstGeom>
          <a:solidFill>
            <a:srgbClr val="EDE7F6"/>
          </a:solidFill>
          <a:ln w="15875">
            <a:solidFill>
              <a:srgbClr val="7030A0"/>
            </a:solidFill>
          </a:ln>
        </p:spPr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4160520"/>
            <a:ext cx="146304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→ “bin”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657600"/>
            <a:ext cx="5321808" cy="2286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92608" indent="-292608">
              <a:spcAft>
                <a:spcPts val="4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No frame labels needed</a:t>
            </a:r>
          </a:p>
          <a:p>
            <a:pPr algn="l" marL="292608" indent="-292608">
              <a:spcAft>
                <a:spcPts val="4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75 frames ≫ ≈35 characters</a:t>
            </a:r>
          </a:p>
          <a:p>
            <a:pPr algn="l" marL="292608" indent="-292608">
              <a:spcAft>
                <a:spcPts val="4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Beam search, width 10</a:t>
            </a:r>
          </a:p>
          <a:p>
            <a:pPr algn="l" marL="292608" indent="-292608">
              <a:spcAft>
                <a:spcPts val="4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No language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Baselines, ablations and training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182880" rIns="18288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B1  Audio-only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468880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182880" rIns="18288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B2  Visual-only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3154680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182880" rIns="18288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B3  Concatenation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840480"/>
            <a:ext cx="5074920" cy="566928"/>
          </a:xfrm>
          <a:prstGeom prst="roundRect">
            <a:avLst>
              <a:gd name="adj" fmla="val 16129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182880" rIns="18288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P  Attention + 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783080"/>
            <a:ext cx="5074920" cy="2624328"/>
          </a:xfrm>
          <a:prstGeom prst="roundRect">
            <a:avLst>
              <a:gd name="adj" fmla="val 3484"/>
            </a:avLst>
          </a:prstGeom>
          <a:solidFill>
            <a:srgbClr val="E2EFDA"/>
          </a:solidFill>
          <a:ln>
            <a:noFill/>
          </a:ln>
        </p:spPr>
        <p:txBody>
          <a:bodyPr rtlCol="0" anchor="t" wrap="square" lIns="54864" rIns="54864" tIns="27432" bIns="27432">
            <a:no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64808" y="1874519"/>
            <a:ext cx="4709159" cy="24414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Ablations on P</a:t>
            </a:r>
          </a:p>
          <a:p>
            <a:pPr algn="l" marL="292608" indent="-292608">
              <a:spcAft>
                <a:spcPts val="5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X1: no modality dropout</a:t>
            </a:r>
          </a:p>
          <a:p>
            <a:pPr algn="l" marL="292608" indent="-292608">
              <a:spcAft>
                <a:spcPts val="5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X2: concat, not attention</a:t>
            </a:r>
          </a:p>
          <a:p>
            <a:pPr algn="l" marL="292608" indent="-292608">
              <a:spcAft>
                <a:spcPts val="5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X3: 2D CNN, not 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617720"/>
            <a:ext cx="10515600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92608" indent="-292608">
              <a:spcAft>
                <a:spcPts val="4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Same data, noise and stopping rule for every model</a:t>
            </a:r>
          </a:p>
          <a:p>
            <a:pPr algn="l" marL="292608" indent="-292608">
              <a:spcAft>
                <a:spcPts val="4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AdamW 3×10</a:t>
            </a:r>
            <a:r>
              <a:rPr sz="2200" b="0" i="0" baseline="30000">
                <a:solidFill>
                  <a:srgbClr val="1A1A1A"/>
                </a:solidFill>
                <a:latin typeface="Trebuchet MS"/>
              </a:rPr>
              <a:t>−4</a:t>
            </a:r>
            <a:r>
              <a:rPr sz="2200" b="0" i="0">
                <a:solidFill>
                  <a:srgbClr val="1A1A1A"/>
                </a:solidFill>
                <a:latin typeface="Trebuchet MS"/>
              </a:rPr>
              <a:t>, batch 16, early stop after 8 epochs</a:t>
            </a:r>
          </a:p>
          <a:p>
            <a:pPr algn="l" marL="292608" indent="-292608">
              <a:spcAft>
                <a:spcPts val="4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Best checkpoint by validation WER; seeds 1, 2,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Evaluation: WER at every noise level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4206240" cy="1234440"/>
          </a:xfrm>
          <a:prstGeom prst="roundRect">
            <a:avLst>
              <a:gd name="adj" fmla="val 7407"/>
            </a:avLst>
          </a:prstGeom>
          <a:solidFill>
            <a:srgbClr val="FFF4CC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497D"/>
                </a:solidFill>
                <a:latin typeface="Trebuchet MS"/>
              </a:rPr>
              <a:t>WER = (S + D + I) / N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CER: same on characters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200400"/>
            <a:ext cx="4206240" cy="2103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92608" indent="-292608">
              <a:spcAft>
                <a:spcPts val="6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4 unseen speakers</a:t>
            </a:r>
          </a:p>
          <a:p>
            <a:pPr algn="l" marL="292608" indent="-292608">
              <a:spcAft>
                <a:spcPts val="6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Target: &lt; 10% clean</a:t>
            </a:r>
          </a:p>
          <a:p>
            <a:pPr algn="l" marL="292608" indent="-292608">
              <a:spcAft>
                <a:spcPts val="6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P vs B1: the main test</a:t>
            </a:r>
          </a:p>
          <a:p>
            <a:pPr algn="l" marL="292608" indent="-292608">
              <a:spcAft>
                <a:spcPts val="600"/>
              </a:spcAft>
              <a:buClr>
                <a:srgbClr val="D7014D"/>
              </a:buClr>
              <a:buFont typeface="Arial"/>
              <a:buChar char="•"/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No results yet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40680" y="1783080"/>
          <a:ext cx="5916168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91640"/>
                <a:gridCol w="1051560"/>
                <a:gridCol w="777240"/>
                <a:gridCol w="777240"/>
                <a:gridCol w="777240"/>
                <a:gridCol w="84124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FFFFFF"/>
                          </a:solidFill>
                          <a:latin typeface="Trebuchet MS"/>
                        </a:rPr>
                        <a:t>WER %</a:t>
                      </a:r>
                    </a:p>
                  </a:txBody>
                  <a:tcPr marL="82296" marR="82296" marT="36576" marB="36576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Trebuchet MS"/>
                        </a:rPr>
                        <a:t>Clean</a:t>
                      </a:r>
                    </a:p>
                  </a:txBody>
                  <a:tcPr marL="82296" marR="82296" marT="36576" marB="36576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Trebuchet MS"/>
                        </a:rPr>
                        <a:t>10</a:t>
                      </a:r>
                    </a:p>
                  </a:txBody>
                  <a:tcPr marL="82296" marR="82296" marT="36576" marB="36576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Trebuchet MS"/>
                        </a:rPr>
                        <a:t>5</a:t>
                      </a:r>
                    </a:p>
                  </a:txBody>
                  <a:tcPr marL="82296" marR="82296" marT="36576" marB="36576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Trebuchet MS"/>
                        </a:rPr>
                        <a:t>0</a:t>
                      </a:r>
                    </a:p>
                  </a:txBody>
                  <a:tcPr marL="82296" marR="82296" marT="36576" marB="36576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Trebuchet MS"/>
                        </a:rPr>
                        <a:t>−5</a:t>
                      </a:r>
                    </a:p>
                  </a:txBody>
                  <a:tcPr marL="82296" marR="82296" marT="36576" marB="36576" anchor="ctr">
                    <a:solidFill>
                      <a:srgbClr val="1F497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1A1A1A"/>
                          </a:solidFill>
                          <a:latin typeface="Trebuchet MS"/>
                        </a:rPr>
                        <a:t>B1 Audio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1A1A1A"/>
                          </a:solidFill>
                          <a:latin typeface="Trebuchet MS"/>
                        </a:rPr>
                        <a:t>B2 Visual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1A1A1A"/>
                          </a:solidFill>
                          <a:latin typeface="Trebuchet MS"/>
                        </a:rPr>
                        <a:t>B3 Concat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1A1A1A"/>
                          </a:solidFill>
                          <a:latin typeface="Trebuchet MS"/>
                        </a:rPr>
                        <a:t>P Proposed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–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" y="5349240"/>
            <a:ext cx="10515600" cy="594360"/>
          </a:xfrm>
          <a:prstGeom prst="roundRect">
            <a:avLst>
              <a:gd name="adj" fmla="val 15384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Demo target: real-time factor ≤ 0.5, captions within 3–4 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Demo: batch first, then live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E2EFDA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Mode A: guaranteed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Gradio: upload, see caption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81928" y="1783080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Mode B: stretch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Live: 3 s window every 1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92608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FCE4D6"/>
          </a:solidFill>
          <a:ln w="15875">
            <a:solidFill>
              <a:srgbClr val="C55A11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Camera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thread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11480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DDEBF7"/>
          </a:solidFill>
          <a:ln w="15875">
            <a:solidFill>
              <a:srgbClr val="2E75B6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Audio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callback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1743" y="292608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Frame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buffer, 4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1743" y="411480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Audio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buffer, 4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23152" y="2926080"/>
            <a:ext cx="2743200" cy="2057400"/>
          </a:xfrm>
          <a:prstGeom prst="roundRect">
            <a:avLst>
              <a:gd name="adj" fmla="val 4444"/>
            </a:avLst>
          </a:prstGeom>
          <a:solidFill>
            <a:srgbClr val="E2EFDA"/>
          </a:solidFill>
          <a:ln w="15875">
            <a:solidFill>
              <a:srgbClr val="548235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Trebuchet MS"/>
              </a:rPr>
              <a:t>Worker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3 s window,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model + beam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0848" y="3337560"/>
            <a:ext cx="2286000" cy="1234440"/>
          </a:xfrm>
          <a:prstGeom prst="roundRect">
            <a:avLst>
              <a:gd name="adj" fmla="val 7407"/>
            </a:avLst>
          </a:prstGeom>
          <a:solidFill>
            <a:srgbClr val="EDE7F6"/>
          </a:solidFill>
          <a:ln w="15875">
            <a:solidFill>
              <a:srgbClr val="7030A0"/>
            </a:solidFill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Partial,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then final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caption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79" y="3360420"/>
            <a:ext cx="249632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cxnSp>
        <p:nvCxnSpPr>
          <p:cNvPr id="12" name="Connector 11"/>
          <p:cNvCxnSpPr/>
          <p:nvPr/>
        </p:nvCxnSpPr>
        <p:spPr>
          <a:xfrm>
            <a:off x="5745175" y="3360420"/>
            <a:ext cx="250545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3154679" y="4549140"/>
            <a:ext cx="249632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>
            <a:off x="5745175" y="4549140"/>
            <a:ext cx="250545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cxnSp>
        <p:nvCxnSpPr>
          <p:cNvPr id="15" name="Connector 14"/>
          <p:cNvCxnSpPr/>
          <p:nvPr/>
        </p:nvCxnSpPr>
        <p:spPr>
          <a:xfrm>
            <a:off x="8793784" y="3954780"/>
            <a:ext cx="249632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841248" y="5303520"/>
            <a:ext cx="10515600" cy="640080"/>
          </a:xfrm>
          <a:prstGeom prst="roundRect">
            <a:avLst>
              <a:gd name="adj" fmla="val 14285"/>
            </a:avLst>
          </a:prstGeom>
          <a:solidFill>
            <a:srgbClr val="FFF4CC"/>
          </a:solidFill>
          <a:ln>
            <a:noFill/>
          </a:ln>
        </p:spPr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Clap test syncs devices; no face gives an audio-only caption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Six-week plan and main risks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8308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18288" rIns="18288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Week 1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Trebuchet MS"/>
              </a:rPr>
              <a:t>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24328" y="178308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18288" rIns="18288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Week 2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Trebuchet MS"/>
              </a:rPr>
              <a:t>Audio B1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07408" y="178308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18288" rIns="18288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Week 3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Trebuchet MS"/>
              </a:rPr>
              <a:t>Encoders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78308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18288" rIns="18288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Week 4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Trebuchet MS"/>
              </a:rPr>
              <a:t>Fusion 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73568" y="178308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18288" rIns="18288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Week 5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Trebuchet MS"/>
              </a:rPr>
              <a:t>Tune, 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1783080"/>
            <a:ext cx="1645920" cy="868680"/>
          </a:xfrm>
          <a:prstGeom prst="roundRect">
            <a:avLst>
              <a:gd name="adj" fmla="val 10526"/>
            </a:avLst>
          </a:prstGeom>
          <a:solidFill>
            <a:srgbClr val="FFF4CC"/>
          </a:solidFill>
          <a:ln>
            <a:noFill/>
          </a:ln>
        </p:spPr>
        <p:txBody>
          <a:bodyPr rtlCol="0" anchor="ctr" wrap="square" lIns="18288" rIns="18288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F497D"/>
                </a:solidFill>
                <a:latin typeface="Trebuchet MS"/>
              </a:rPr>
              <a:t>Week 6</a:t>
            </a:r>
          </a:p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Demo, 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974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Trebuchet MS"/>
              </a:rPr>
              <a:t>Core freezes after week 5; extensions are dropped first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" y="3200400"/>
          <a:ext cx="10515600" cy="26883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73152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FFFFFF"/>
                          </a:solidFill>
                          <a:latin typeface="Trebuchet MS"/>
                        </a:rPr>
                        <a:t>Risk</a:t>
                      </a:r>
                    </a:p>
                  </a:txBody>
                  <a:tcPr marL="82296" marR="82296" marT="36576" marB="36576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FFFFFF"/>
                          </a:solidFill>
                          <a:latin typeface="Trebuchet MS"/>
                        </a:rPr>
                        <a:t>Mitigation</a:t>
                      </a:r>
                    </a:p>
                  </a:txBody>
                  <a:tcPr marL="82296" marR="82296" marT="36576" marB="36576" anchor="ctr">
                    <a:solidFill>
                      <a:srgbClr val="1F497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1A1A1A"/>
                          </a:solidFill>
                          <a:latin typeface="Trebuchet MS"/>
                        </a:rPr>
                        <a:t>Limited compute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Mixed precision, cached crops, speaker subset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1A1A1A"/>
                          </a:solidFill>
                          <a:latin typeface="Trebuchet MS"/>
                        </a:rPr>
                        <a:t>A/V misalignment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Never drop frames; parity and shift tests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1A1A1A"/>
                          </a:solidFill>
                          <a:latin typeface="Trebuchet MS"/>
                        </a:rPr>
                        <a:t>Fusion no better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Report honestly; B3 still works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1A1A1A"/>
                          </a:solidFill>
                          <a:latin typeface="Trebuchet MS"/>
                        </a:rPr>
                        <a:t>Slow inference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Bigger hop, smaller beam; Mode A fallback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1A1A1A"/>
                          </a:solidFill>
                          <a:latin typeface="Trebuchet MS"/>
                        </a:rPr>
                        <a:t>Speaker leakage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One split file and a disjointness test</a:t>
                      </a:r>
                    </a:p>
                  </a:txBody>
                  <a:tcPr marL="82296" marR="82296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2200" b="1" i="0">
                          <a:solidFill>
                            <a:srgbClr val="1A1A1A"/>
                          </a:solidFill>
                          <a:latin typeface="Trebuchet MS"/>
                        </a:rPr>
                        <a:t>Privacy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 i="0">
                          <a:solidFill>
                            <a:srgbClr val="1A1A1A"/>
                          </a:solidFill>
                          <a:latin typeface="Trebuchet MS"/>
                        </a:rPr>
                        <a:t>Local processing, nothing stored, consent</a:t>
                      </a:r>
                    </a:p>
                  </a:txBody>
                  <a:tcPr marL="82296" marR="82296" marT="36576" marB="36576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References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37360"/>
            <a:ext cx="10515600" cy="4206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[1] Jeevakumari and Dey, LipSyncNet, IEEE Access, 2024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[2] Li et al., Speech recognition in noise via lips, Sensors, 2023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[3] Aripin and Setiawan, Indonesian lip-reading, ACISC, 2024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[4] Divya and Suresha, KanAVNet, IJIGSP, 2026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[5] Ameer et al., Lip reading with NASNetMobile, IEEE Access, 2025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[6] Afouras et al., Deep audio-visual speech recognition, TPAMI, 2022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[7] Siam et al., ML for human emotion detection, CIN, 2022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[8] Ryumin et al., AV speech and gesture recognition, Sensors, 2023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[9] Cooke et al., GRID audio-visual corpus, JASA, 2006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rebuchet MS"/>
              </a:rPr>
              <a:t>References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37360"/>
            <a:ext cx="10515600" cy="4206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[10] Snyder et al., MUSAN corpus, arXiv:1510.08484, 2015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[11] Graves et al., Connectionist temporal classification, ICML, 2006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[12] Assael et al., LipNet, arXiv:1611.01599, 2016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[13] Tan and Le, EfficientNet, ICML, 2019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[14] Lugaresi et al., MediaPipe, arXiv:1906.08172, 2019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[15] Kartynnik et al., Real-time facial surface geometry, arXiv, 2019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[16] Cao et al., CREMA-D, IEEE Trans. Affective Computing, 2014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[17] Livingstone and Russo, RAVDESS, PLoS ONE, 2018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A1A1A"/>
                </a:solidFill>
                <a:latin typeface="Trebuchet MS"/>
              </a:rPr>
              <a:t>[18] Anwar et al., MuAViC, Interspeech,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1765</TotalTime>
  <Words>79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Noto Sans</vt:lpstr>
      <vt:lpstr>Trebuchet MS</vt:lpstr>
      <vt:lpstr>Wingdings</vt:lpstr>
      <vt:lpstr>1_Office Theme</vt:lpstr>
      <vt:lpstr>Title of the paper</vt:lpstr>
      <vt:lpstr>Content presentation </vt:lpstr>
      <vt:lpstr>Introduction / Problem</vt:lpstr>
      <vt:lpstr>Methodology</vt:lpstr>
      <vt:lpstr>Results</vt:lpstr>
      <vt:lpstr>Conclusion</vt:lpstr>
      <vt:lpstr>Any Recommendation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paper</dc:title>
  <dc:creator>stephen kalyesubula</dc:creator>
  <cp:lastModifiedBy>Charis Opol</cp:lastModifiedBy>
  <cp:revision>4</cp:revision>
  <dcterms:created xsi:type="dcterms:W3CDTF">2026-08-29T19:30:28Z</dcterms:created>
  <dcterms:modified xsi:type="dcterms:W3CDTF">2026-09-01T13:39:55Z</dcterms:modified>
</cp:coreProperties>
</file>