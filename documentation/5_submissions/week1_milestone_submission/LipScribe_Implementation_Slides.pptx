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6"/>
    <p:sldId id="257" r:id="rId8"/>
    <p:sldId id="258" r:id="rId5"/>
    <p:sldId id="259" r:id="rId4"/>
    <p:sldId id="260" r:id="rId3"/>
    <p:sldId id="261" r:id="rId2"/>
    <p:sldId id="262" r:id="rId13"/>
    <p:sldId id="263" r:id="rId14"/>
    <p:sldId id="264" r:id="rId15"/>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9" autoAdjust="0"/>
    <p:restoredTop sz="94660"/>
  </p:normalViewPr>
  <p:slideViewPr>
    <p:cSldViewPr snapToGrid="0">
      <p:cViewPr varScale="1">
        <p:scale>
          <a:sx n="70" d="100"/>
          <a:sy n="70" d="100"/>
        </p:scale>
        <p:origin x="525"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Welcome. This stand-up orients everyone on how we execute the implementation plan over the next six weeks. Everything here comes from the WBS in documentation/3_project_management, which is also what the Trello board is built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The goal: a captioner that stays accurate when the audio is noisy, by fusing mouth video with audio. We train four core models: B1 audio-only, B2 visual-only, B3 simple concatenation, and P, our attention-plus-gate fusion with modality dropout. Every model is tested on four unseen speakers at five noise levels, clean down to minus 5 dB. Target: under 10% WER on clean audio; we report it honestly either way. The four deliverables at the bottom are what gets submitted on 29 Nov.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Six leads in three pairs. Your pair partner is your first reviewer. Data pair: Faith and Lisa. Model pair: Cole and Charis. Application pair: Isabelle and Nehum. This allocation balances workload; it is not based on known skills, so if you want to swap, say so today, before the board is finalised. Charis coordinates: Trello, weekly reviews, GPU booking and final submission.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One list per week on Trello, each closed by a milestone card reviewed on Sunday. Week 1 is set-up and data; week 2 preprocessing, and B1 starts training; week 3 the other baselines; week 4 the proposed fusion model; week 5 tuning, ablations, live demo, and the core freeze on Sun 22 Nov. After the freeze only bug fixes go into core code. Week 6 is testing, report and demo. Optional extensions only start after the freeze, and only if week 6 is on track.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Week 1 card by card, by due date. Read your own cards on Trello after this. The red path is critical: storage and GPU must be confirmed by Wednesday or the GRID download, the integrity report and the speaker split all slip, and everything in week 2 waits on splits.csv. If no GPU is confirmed by Wednesday, Charis escalates to the lecturer. Sunday is the M1 review: tests run for everyone, splits committed, GPU confirmed, crop prototype approved.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Every card moves left to right. You move your card to In Progress when you start, to In Review when the pull request is open, and only the named reviewer moves it to Done. Rules on the right are on the REF-01 card. Two that bite if forgotten: never commit data, checkpoints or recordings, and never regenerate splits.csv after this week. Every result needs a committed YAML config, or it does not 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Biggest risk is compute: no GPU means no training, so it is settled this week. MediaPipe only ships wheels for some Python versions, so check_env.py runs on every machine first. If B2 learns slowly we initialise P's visual stream from B2. If the schedule slips we drop work in the order on the right. The four items at the bottom are never dropped; they are what the project is graded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Three things from everyone. Accept the Trello invite and confirm your role, or raise a swap now. Clone the repo and run check_env.py once Nehum has pushed it, and post the output on card W1-03. Tell Charis today what GPU you have, if any. Then pick up your first card.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Take questions in the remaining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 Id="rId5" Type="http://schemas.openxmlformats.org/officeDocument/2006/relationships/image" Target="../media/image4.png"/><Relationship Id="rId6" Type="http://schemas.microsoft.com/office/2007/relationships/hdphoto" Target="../media/hdphoto2.wdp"/><Relationship Id="rId7" Type="http://schemas.openxmlformats.org/officeDocument/2006/relationships/hyperlink" Target="https://ucu.ac.ug/" TargetMode="External"/><Relationship Id="rId8" Type="http://schemas.openxmlformats.org/officeDocument/2006/relationships/hyperlink" Target="mailto:info@ucu.ac.ug" TargetMode="External"/><Relationship Id="rId9" Type="http://schemas.openxmlformats.org/officeDocument/2006/relationships/image" Target="../media/image1.png"/><Relationship Id="rId10" Type="http://schemas.openxmlformats.org/officeDocument/2006/relationships/image" Target="../media/image5.png"/><Relationship Id="rId11"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71078-AA0E-F840-AC0F-D54B3CBDC30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5F5036E-8807-6046-9CB7-EF6AF274EC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EE2757-9B41-EB41-8A8C-6480BC75C842}"/>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2C22485F-D14F-A34F-829B-18FEF522351A}"/>
              </a:ext>
            </a:extLst>
          </p:cNvPr>
          <p:cNvSpPr>
            <a:spLocks noGrp="1"/>
          </p:cNvSpPr>
          <p:nvPr>
            <p:ph type="ftr" sz="quarter" idx="11"/>
          </p:nvPr>
        </p:nvSpPr>
        <p:spPr>
          <a:xfrm>
            <a:off x="2116899" y="6356350"/>
            <a:ext cx="8129391" cy="365125"/>
          </a:xfrm>
          <a:prstGeom prst="rect">
            <a:avLst/>
          </a:prstGeom>
        </p:spPr>
        <p:txBody>
          <a:bodyPr/>
          <a:lstStyle/>
          <a:p>
            <a:endParaRPr lang="en-GB" dirty="0"/>
          </a:p>
        </p:txBody>
      </p:sp>
      <p:sp>
        <p:nvSpPr>
          <p:cNvPr id="6" name="Slide Number Placeholder 5">
            <a:extLst>
              <a:ext uri="{FF2B5EF4-FFF2-40B4-BE49-F238E27FC236}">
                <a16:creationId xmlns:a16="http://schemas.microsoft.com/office/drawing/2014/main" id="{C03D89A4-A6FD-2F41-BC1B-990BD11D0A25}"/>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288731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776C-CF19-2E46-BB78-0AF7AF133FC7}"/>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5F3F6D-B2D0-A04A-9CAC-F688DEAE433A}"/>
              </a:ext>
            </a:extLst>
          </p:cNvPr>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78FFEDF4-24C6-7D41-9B25-9320CCEC0EA7}"/>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DC3ED841-6832-E942-AA5E-A238D3916D92}"/>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0A761C0D-619D-E741-BBF0-25270D9C7AC4}"/>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22941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6ACDA-EEA7-E94E-BBF7-B17C263325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AE3D8A1-5B2F-7143-98F4-58335FF27D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D7EBA56-5030-D144-BF76-5FD43098CCC9}"/>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DF0D8E8B-6288-EF46-820D-86183E58AE9C}"/>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83E42B2E-027D-BF44-B66B-B991F021B75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2464641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EB1F6-8518-C943-991B-B1F201D8F1D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3413681-A652-D44F-81CD-C502DFA1C13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A7166B2-225A-D34C-B913-192EC0F6434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EA23FAB-1B70-EC4F-B39C-F6CD17E65953}"/>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6" name="Footer Placeholder 5">
            <a:extLst>
              <a:ext uri="{FF2B5EF4-FFF2-40B4-BE49-F238E27FC236}">
                <a16:creationId xmlns:a16="http://schemas.microsoft.com/office/drawing/2014/main" id="{B26BC87A-1BAB-8545-BF77-5BD95297EBF9}"/>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7E06C3B2-C2C4-BB41-BF5B-31A6780FC55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844291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D7CE-FDDF-A540-BF41-BE156F4B427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482DC54-754C-D347-A493-B6434DEE1759}"/>
              </a:ext>
            </a:extLst>
          </p:cNvPr>
          <p:cNvSpPr>
            <a:spLocks noGrp="1"/>
          </p:cNvSpPr>
          <p:nvPr>
            <p:ph type="body" idx="1"/>
          </p:nvPr>
        </p:nvSpPr>
        <p:spPr>
          <a:xfrm>
            <a:off x="839788" y="1681163"/>
            <a:ext cx="5157787" cy="823912"/>
          </a:xfrm>
          <a:solidFill>
            <a:srgbClr val="D7014D"/>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a:extLst>
              <a:ext uri="{FF2B5EF4-FFF2-40B4-BE49-F238E27FC236}">
                <a16:creationId xmlns:a16="http://schemas.microsoft.com/office/drawing/2014/main" id="{C741B5BE-5B59-1041-B601-8C4E8B9D9090}"/>
              </a:ext>
            </a:extLst>
          </p:cNvPr>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A9EE4A3B-95D8-264A-AC69-DCD7252801AC}"/>
              </a:ext>
            </a:extLst>
          </p:cNvPr>
          <p:cNvSpPr>
            <a:spLocks noGrp="1"/>
          </p:cNvSpPr>
          <p:nvPr>
            <p:ph type="body" sz="quarter" idx="3"/>
          </p:nvPr>
        </p:nvSpPr>
        <p:spPr>
          <a:xfrm>
            <a:off x="6172200" y="1681163"/>
            <a:ext cx="5183188" cy="823912"/>
          </a:xfrm>
          <a:solidFill>
            <a:srgbClr val="FFD932"/>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a:extLst>
              <a:ext uri="{FF2B5EF4-FFF2-40B4-BE49-F238E27FC236}">
                <a16:creationId xmlns:a16="http://schemas.microsoft.com/office/drawing/2014/main" id="{763569E4-68F9-124C-BAFA-15C75ED6A50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84113C7-3C31-C646-99EB-9D1295DA8F59}"/>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8" name="Footer Placeholder 7">
            <a:extLst>
              <a:ext uri="{FF2B5EF4-FFF2-40B4-BE49-F238E27FC236}">
                <a16:creationId xmlns:a16="http://schemas.microsoft.com/office/drawing/2014/main" id="{4DFF0B22-30FC-D34E-8021-66690730A9C4}"/>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4A131702-9F8A-0B45-893F-4D931E3CEC6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40102174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55477-340D-A742-96B9-4134A01211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F5307EC-5C33-BF49-9FC9-70B65B5D2C94}"/>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4" name="Footer Placeholder 3">
            <a:extLst>
              <a:ext uri="{FF2B5EF4-FFF2-40B4-BE49-F238E27FC236}">
                <a16:creationId xmlns:a16="http://schemas.microsoft.com/office/drawing/2014/main" id="{B727CA99-FEAA-A041-B799-CA174260B457}"/>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CD2A3A13-8413-104A-B192-3C710C3D526E}"/>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64854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D409A-65C8-B049-8D4D-AC56003314C8}"/>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3" name="Footer Placeholder 2">
            <a:extLst>
              <a:ext uri="{FF2B5EF4-FFF2-40B4-BE49-F238E27FC236}">
                <a16:creationId xmlns:a16="http://schemas.microsoft.com/office/drawing/2014/main" id="{BB34244D-50A5-9647-8590-0CED8A23C2EB}"/>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0CDE9667-1147-B84E-8294-D07B6B553AA7}"/>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97414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60C9-49F1-B143-98BF-F65F0E86C5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97968B-396A-7746-B032-F5FF2D1A1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D0A9890-41E9-B247-BD85-CB0556F349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7D34F8-43C5-D24A-B2B8-3C39C5D825BF}"/>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6" name="Footer Placeholder 5">
            <a:extLst>
              <a:ext uri="{FF2B5EF4-FFF2-40B4-BE49-F238E27FC236}">
                <a16:creationId xmlns:a16="http://schemas.microsoft.com/office/drawing/2014/main" id="{D3FA2E86-D2D2-6C40-A7B2-00ECC21F6BB2}"/>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A6392A3B-17A2-CC47-B3CE-70F6DE5BAC9A}"/>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403007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C15CF-2B84-154B-A05B-4ED15C8856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A3297B1-8700-5A41-B4ED-617200FAA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F754946-1836-5B4E-A53B-0D65AF5487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CB1631-07AA-AF4B-9C84-79660072A0E8}"/>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6" name="Footer Placeholder 5">
            <a:extLst>
              <a:ext uri="{FF2B5EF4-FFF2-40B4-BE49-F238E27FC236}">
                <a16:creationId xmlns:a16="http://schemas.microsoft.com/office/drawing/2014/main" id="{CCEFD121-C434-574B-A5A6-1D7F4E8EF737}"/>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2B6B891-6D6F-454D-B57D-6799F13780AC}"/>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387951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49A33-F947-254C-B2F1-FC1EEBA7034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0A7B2E9-B32D-7849-8EA6-191CD2CB97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C6D214-C945-D74F-A6BC-88A7A9940AF0}"/>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F2B5F130-A527-DA46-8CFF-AB905CDCB0AB}"/>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744669C9-BB26-C147-9EB3-6A1CF0CF6F31}"/>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310878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8499E-4FC6-9541-BDE2-B57DE72F84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DB72DD-1B01-4645-8504-9D2CF3F7643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4A9CF8-4FE6-6846-8F14-E50ED82B6E06}"/>
              </a:ext>
            </a:extLst>
          </p:cNvPr>
          <p:cNvSpPr>
            <a:spLocks noGrp="1"/>
          </p:cNvSpPr>
          <p:nvPr>
            <p:ph type="dt" sz="half" idx="10"/>
          </p:nvPr>
        </p:nvSpPr>
        <p:spPr/>
        <p:txBody>
          <a:bodyPr/>
          <a:lstStyle/>
          <a:p>
            <a:fld id="{145D528E-B0C4-574C-AE6E-B35A83CFEB13}" type="datetimeFigureOut">
              <a:rPr lang="en-GB" smtClean="0"/>
              <a:t>31/08/2026</a:t>
            </a:fld>
            <a:endParaRPr lang="en-GB"/>
          </a:p>
        </p:txBody>
      </p:sp>
      <p:sp>
        <p:nvSpPr>
          <p:cNvPr id="5" name="Footer Placeholder 4">
            <a:extLst>
              <a:ext uri="{FF2B5EF4-FFF2-40B4-BE49-F238E27FC236}">
                <a16:creationId xmlns:a16="http://schemas.microsoft.com/office/drawing/2014/main" id="{61396104-C547-9E44-93D3-74A7CE7F82E0}"/>
              </a:ext>
            </a:extLst>
          </p:cNvPr>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B761153-2906-5C43-AC83-1A71AF6AF275}"/>
              </a:ext>
            </a:extLst>
          </p:cNvPr>
          <p:cNvSpPr>
            <a:spLocks noGrp="1"/>
          </p:cNvSpPr>
          <p:nvPr>
            <p:ph type="sldNum" sz="quarter" idx="12"/>
          </p:nvPr>
        </p:nvSpPr>
        <p:spPr/>
        <p:txBody>
          <a:bodyPr/>
          <a:lstStyle/>
          <a:p>
            <a:fld id="{783EAA9A-AD91-1245-A5C3-6A0CBEF58DBD}" type="slidenum">
              <a:rPr lang="en-GB" smtClean="0"/>
              <a:t>‹#›</a:t>
            </a:fld>
            <a:endParaRPr lang="en-GB"/>
          </a:p>
        </p:txBody>
      </p:sp>
    </p:spTree>
    <p:extLst>
      <p:ext uri="{BB962C8B-B14F-4D97-AF65-F5344CB8AC3E}">
        <p14:creationId xmlns:p14="http://schemas.microsoft.com/office/powerpoint/2010/main" val="1296016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81D354-4C58-8E45-A997-CCFC285179F2}"/>
              </a:ext>
            </a:extLst>
          </p:cNvPr>
          <p:cNvSpPr>
            <a:spLocks noGrp="1"/>
          </p:cNvSpPr>
          <p:nvPr>
            <p:ph type="sldNum" sz="quarter" idx="10"/>
          </p:nvPr>
        </p:nvSpPr>
        <p:spPr/>
        <p:txBody>
          <a:bodyPr/>
          <a:lstStyle/>
          <a:p>
            <a:fld id="{783EAA9A-AD91-1245-A5C3-6A0CBEF58DBD}" type="slidenum">
              <a:rPr lang="en-GB" smtClean="0"/>
              <a:t>‹#›</a:t>
            </a:fld>
            <a:endParaRPr lang="en-GB" dirty="0"/>
          </a:p>
        </p:txBody>
      </p:sp>
      <p:sp>
        <p:nvSpPr>
          <p:cNvPr id="4" name="Date Placeholder 3">
            <a:extLst>
              <a:ext uri="{FF2B5EF4-FFF2-40B4-BE49-F238E27FC236}">
                <a16:creationId xmlns:a16="http://schemas.microsoft.com/office/drawing/2014/main" id="{8331BB49-7DD1-3D44-BE19-729C46AB2CC1}"/>
              </a:ext>
            </a:extLst>
          </p:cNvPr>
          <p:cNvSpPr>
            <a:spLocks noGrp="1"/>
          </p:cNvSpPr>
          <p:nvPr>
            <p:ph type="dt" sz="half" idx="11"/>
          </p:nvPr>
        </p:nvSpPr>
        <p:spPr/>
        <p:txBody>
          <a:bodyPr/>
          <a:lstStyle/>
          <a:p>
            <a:fld id="{145D528E-B0C4-574C-AE6E-B35A83CFEB13}" type="datetimeFigureOut">
              <a:rPr lang="en-GB" smtClean="0"/>
              <a:t>31/08/2026</a:t>
            </a:fld>
            <a:endParaRPr lang="en-GB" dirty="0"/>
          </a:p>
        </p:txBody>
      </p:sp>
      <p:sp>
        <p:nvSpPr>
          <p:cNvPr id="5" name="Footer Placeholder 4">
            <a:extLst>
              <a:ext uri="{FF2B5EF4-FFF2-40B4-BE49-F238E27FC236}">
                <a16:creationId xmlns:a16="http://schemas.microsoft.com/office/drawing/2014/main" id="{4C1CC3E4-12C8-2A4F-88E1-B8DC3854ABFD}"/>
              </a:ext>
            </a:extLst>
          </p:cNvPr>
          <p:cNvSpPr>
            <a:spLocks noGrp="1"/>
          </p:cNvSpPr>
          <p:nvPr>
            <p:ph type="ftr" sz="quarter" idx="12"/>
          </p:nvPr>
        </p:nvSpPr>
        <p:spPr/>
        <p:txBody>
          <a:bodyPr/>
          <a:lstStyle/>
          <a:p>
            <a:endParaRPr lang="en-GB" dirty="0"/>
          </a:p>
        </p:txBody>
      </p:sp>
      <p:grpSp>
        <p:nvGrpSpPr>
          <p:cNvPr id="20" name="Group 19">
            <a:extLst>
              <a:ext uri="{FF2B5EF4-FFF2-40B4-BE49-F238E27FC236}">
                <a16:creationId xmlns:a16="http://schemas.microsoft.com/office/drawing/2014/main" id="{D9F62491-F3DB-384B-9F65-EA637FB8DC9F}"/>
              </a:ext>
            </a:extLst>
          </p:cNvPr>
          <p:cNvGrpSpPr/>
          <p:nvPr userDrawn="1"/>
        </p:nvGrpSpPr>
        <p:grpSpPr>
          <a:xfrm>
            <a:off x="2836065" y="3885190"/>
            <a:ext cx="6359384" cy="2140032"/>
            <a:chOff x="3054867" y="3815867"/>
            <a:chExt cx="6359384" cy="2140032"/>
          </a:xfrm>
        </p:grpSpPr>
        <p:grpSp>
          <p:nvGrpSpPr>
            <p:cNvPr id="6" name="Group 5">
              <a:extLst>
                <a:ext uri="{FF2B5EF4-FFF2-40B4-BE49-F238E27FC236}">
                  <a16:creationId xmlns:a16="http://schemas.microsoft.com/office/drawing/2014/main" id="{AB488D83-1A18-A742-8FDC-04F2597CDBB4}"/>
                </a:ext>
              </a:extLst>
            </p:cNvPr>
            <p:cNvGrpSpPr/>
            <p:nvPr userDrawn="1"/>
          </p:nvGrpSpPr>
          <p:grpSpPr>
            <a:xfrm>
              <a:off x="4699683" y="3815867"/>
              <a:ext cx="4714568" cy="2140032"/>
              <a:chOff x="4173580" y="3135225"/>
              <a:chExt cx="5623246" cy="2568070"/>
            </a:xfrm>
          </p:grpSpPr>
          <p:pic>
            <p:nvPicPr>
              <p:cNvPr id="7" name="Picture 4" descr="facebook instagram whatsapp PNG image with transparent background | TOPpng">
                <a:extLst>
                  <a:ext uri="{FF2B5EF4-FFF2-40B4-BE49-F238E27FC236}">
                    <a16:creationId xmlns:a16="http://schemas.microsoft.com/office/drawing/2014/main" id="{21573789-53BB-7148-AEF8-DD9D395D258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69732" l="0" r="98929">
                            <a14:foregroundMark x1="9524" y1="3376" x2="23929" y2="25378"/>
                            <a14:foregroundMark x1="15833" y1="5122" x2="19643" y2="5122"/>
                            <a14:foregroundMark x1="22381" y1="8149" x2="24762" y2="21187"/>
                            <a14:foregroundMark x1="10119" y1="11409" x2="14643" y2="23632"/>
                            <a14:foregroundMark x1="7738" y1="14435" x2="11071" y2="24796"/>
                            <a14:foregroundMark x1="75000" y1="9662" x2="75833" y2="23865"/>
                            <a14:foregroundMark x1="76548" y1="7800" x2="89643" y2="8964"/>
                            <a14:foregroundMark x1="82976" y1="2328" x2="91786" y2="20722"/>
                            <a14:foregroundMark x1="78452" y1="21769" x2="87024" y2="20605"/>
                            <a14:foregroundMark x1="83333" y1="14668" x2="83333" y2="14668"/>
                            <a14:foregroundMark x1="90357" y1="9895" x2="91190" y2="17695"/>
                            <a14:foregroundMark x1="17500" y1="9546" x2="17738" y2="17346"/>
                            <a14:foregroundMark x1="23929" y1="3609" x2="23333" y2="10128"/>
                          </a14:backgroundRemoval>
                        </a14:imgEffect>
                      </a14:imgLayer>
                    </a14:imgProps>
                  </a:ext>
                  <a:ext uri="{28A0092B-C50C-407E-A947-70E740481C1C}">
                    <a14:useLocalDpi xmlns:a14="http://schemas.microsoft.com/office/drawing/2010/main" val="0"/>
                  </a:ext>
                </a:extLst>
              </a:blip>
              <a:srcRect r="66494" b="67238"/>
              <a:stretch/>
            </p:blipFill>
            <p:spPr bwMode="auto">
              <a:xfrm>
                <a:off x="4238019" y="4511394"/>
                <a:ext cx="413410" cy="4299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acebook instagram whatsapp PNG image with transparent background | TOPpng">
                <a:extLst>
                  <a:ext uri="{FF2B5EF4-FFF2-40B4-BE49-F238E27FC236}">
                    <a16:creationId xmlns:a16="http://schemas.microsoft.com/office/drawing/2014/main" id="{CF5CCAE3-1FEE-8B4F-916E-AC6C6A6E4DAA}"/>
                  </a:ext>
                </a:extLst>
              </p:cNvPr>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l="67402" b="69905"/>
              <a:stretch/>
            </p:blipFill>
            <p:spPr bwMode="auto">
              <a:xfrm>
                <a:off x="4296096" y="4883265"/>
                <a:ext cx="413865" cy="406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Round black telephone logo, Telephone Icon, Phone File, electronics, logo,  black And White png | PNGWing">
                <a:extLst>
                  <a:ext uri="{FF2B5EF4-FFF2-40B4-BE49-F238E27FC236}">
                    <a16:creationId xmlns:a16="http://schemas.microsoft.com/office/drawing/2014/main" id="{2DE5DDE9-1F30-6F4B-BA82-27F5D325AE3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97935" l="1522" r="100000">
                            <a14:foregroundMark x1="32717" y1="37283" x2="32717" y2="37283"/>
                            <a14:foregroundMark x1="36957" y1="24565" x2="36957" y2="24565"/>
                            <a14:foregroundMark x1="46304" y1="30435" x2="46304" y2="30435"/>
                            <a14:foregroundMark x1="55435" y1="30326" x2="55435" y2="30326"/>
                            <a14:foregroundMark x1="65870" y1="27826" x2="65870" y2="27826"/>
                            <a14:foregroundMark x1="73152" y1="43478" x2="73152" y2="43478"/>
                            <a14:foregroundMark x1="57500" y1="44783" x2="57500" y2="44783"/>
                            <a14:foregroundMark x1="42826" y1="45000" x2="42826" y2="45000"/>
                            <a14:foregroundMark x1="29348" y1="56413" x2="29348" y2="56413"/>
                            <a14:foregroundMark x1="37283" y1="73913" x2="37283" y2="73913"/>
                            <a14:foregroundMark x1="46630" y1="70870" x2="46630" y2="70870"/>
                            <a14:foregroundMark x1="46087" y1="56413" x2="46087" y2="56413"/>
                            <a14:foregroundMark x1="54022" y1="57500" x2="54022" y2="57500"/>
                            <a14:foregroundMark x1="53696" y1="74457" x2="53696" y2="74457"/>
                            <a14:foregroundMark x1="71630" y1="60761" x2="71630" y2="60761"/>
                            <a14:foregroundMark x1="62283" y1="73696" x2="62283" y2="73696"/>
                          </a14:backgroundRemoval>
                        </a14:imgEffect>
                      </a14:imgLayer>
                    </a14:imgProps>
                  </a:ext>
                  <a:ext uri="{28A0092B-C50C-407E-A947-70E740481C1C}">
                    <a14:useLocalDpi xmlns:a14="http://schemas.microsoft.com/office/drawing/2010/main" val="0"/>
                  </a:ext>
                </a:extLst>
              </a:blip>
              <a:srcRect/>
              <a:stretch>
                <a:fillRect/>
              </a:stretch>
            </p:blipFill>
            <p:spPr bwMode="auto">
              <a:xfrm>
                <a:off x="4275797" y="5317157"/>
                <a:ext cx="371315" cy="3861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30AE2E6-FFA5-B74D-ABFF-5094651B1BA9}"/>
                  </a:ext>
                </a:extLst>
              </p:cNvPr>
              <p:cNvSpPr txBox="1"/>
              <p:nvPr/>
            </p:nvSpPr>
            <p:spPr>
              <a:xfrm>
                <a:off x="4629313" y="4929543"/>
                <a:ext cx="2964236" cy="360103"/>
              </a:xfrm>
              <a:prstGeom prst="rect">
                <a:avLst/>
              </a:prstGeom>
              <a:noFill/>
            </p:spPr>
            <p:txBody>
              <a:bodyPr wrap="square">
                <a:spAutoFit/>
              </a:bodyPr>
              <a:lstStyle/>
              <a:p>
                <a:pPr defTabSz="685800"/>
                <a:r>
                  <a:rPr lang="en-US" sz="1350" dirty="0">
                    <a:solidFill>
                      <a:prstClr val="black"/>
                    </a:solidFill>
                    <a:latin typeface="+mn-lt"/>
                  </a:rPr>
                  <a:t>@</a:t>
                </a:r>
                <a:r>
                  <a:rPr lang="en-US" sz="1350" dirty="0" err="1">
                    <a:solidFill>
                      <a:prstClr val="black"/>
                    </a:solidFill>
                    <a:latin typeface="+mn-lt"/>
                  </a:rPr>
                  <a:t>ugandachristianuniversity</a:t>
                </a:r>
                <a:endParaRPr lang="en-UG" sz="1350" dirty="0">
                  <a:solidFill>
                    <a:prstClr val="black"/>
                  </a:solidFill>
                  <a:latin typeface="+mn-lt"/>
                </a:endParaRPr>
              </a:p>
            </p:txBody>
          </p:sp>
          <p:sp>
            <p:nvSpPr>
              <p:cNvPr id="11" name="TextBox 10">
                <a:extLst>
                  <a:ext uri="{FF2B5EF4-FFF2-40B4-BE49-F238E27FC236}">
                    <a16:creationId xmlns:a16="http://schemas.microsoft.com/office/drawing/2014/main" id="{1A61D6FE-81D1-DE4A-B1A1-CD63DB9652BA}"/>
                  </a:ext>
                </a:extLst>
              </p:cNvPr>
              <p:cNvSpPr txBox="1"/>
              <p:nvPr/>
            </p:nvSpPr>
            <p:spPr>
              <a:xfrm>
                <a:off x="4570065" y="5343192"/>
                <a:ext cx="2851459" cy="360103"/>
              </a:xfrm>
              <a:prstGeom prst="rect">
                <a:avLst/>
              </a:prstGeom>
              <a:noFill/>
            </p:spPr>
            <p:txBody>
              <a:bodyPr wrap="square">
                <a:spAutoFit/>
              </a:bodyPr>
              <a:lstStyle/>
              <a:p>
                <a:pPr defTabSz="685800"/>
                <a:r>
                  <a:rPr lang="en-GB" sz="1350" dirty="0">
                    <a:solidFill>
                      <a:srgbClr val="0000FF"/>
                    </a:solidFill>
                    <a:latin typeface="+mn-lt"/>
                    <a:hlinkClick r:id="rId7">
                      <a:extLst>
                        <a:ext uri="{A12FA001-AC4F-418D-AE19-62706E023703}">
                          <ahyp:hlinkClr xmlns:ahyp="http://schemas.microsoft.com/office/drawing/2018/hyperlinkcolor" val="tx"/>
                        </a:ext>
                      </a:extLst>
                    </a:hlinkClick>
                  </a:rPr>
                  <a:t>https://ucu.ac.ug/</a:t>
                </a:r>
                <a:r>
                  <a:rPr lang="en-GB" sz="1350" dirty="0">
                    <a:solidFill>
                      <a:srgbClr val="0000FF"/>
                    </a:solidFill>
                    <a:latin typeface="+mn-lt"/>
                  </a:rPr>
                  <a:t> </a:t>
                </a:r>
                <a:endParaRPr lang="en-UG" sz="1350" dirty="0">
                  <a:solidFill>
                    <a:srgbClr val="0000FF"/>
                  </a:solidFill>
                  <a:latin typeface="+mn-lt"/>
                </a:endParaRPr>
              </a:p>
            </p:txBody>
          </p:sp>
          <p:sp>
            <p:nvSpPr>
              <p:cNvPr id="12" name="TextBox 11">
                <a:extLst>
                  <a:ext uri="{FF2B5EF4-FFF2-40B4-BE49-F238E27FC236}">
                    <a16:creationId xmlns:a16="http://schemas.microsoft.com/office/drawing/2014/main" id="{F93C9E7D-4A01-5E47-9DC7-A4D726A3C66F}"/>
                  </a:ext>
                </a:extLst>
              </p:cNvPr>
              <p:cNvSpPr txBox="1"/>
              <p:nvPr/>
            </p:nvSpPr>
            <p:spPr>
              <a:xfrm>
                <a:off x="8015811" y="4532448"/>
                <a:ext cx="1781015"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UCUniversity</a:t>
                </a:r>
                <a:endParaRPr lang="en-UG" sz="1350" dirty="0">
                  <a:solidFill>
                    <a:prstClr val="black">
                      <a:lumMod val="95000"/>
                      <a:lumOff val="5000"/>
                    </a:prstClr>
                  </a:solidFill>
                  <a:latin typeface="+mn-lt"/>
                </a:endParaRPr>
              </a:p>
            </p:txBody>
          </p:sp>
          <p:sp>
            <p:nvSpPr>
              <p:cNvPr id="13" name="TextBox 12">
                <a:extLst>
                  <a:ext uri="{FF2B5EF4-FFF2-40B4-BE49-F238E27FC236}">
                    <a16:creationId xmlns:a16="http://schemas.microsoft.com/office/drawing/2014/main" id="{9F8CBAB0-1BA2-7F46-A60A-0E9A062FC2F4}"/>
                  </a:ext>
                </a:extLst>
              </p:cNvPr>
              <p:cNvSpPr txBox="1"/>
              <p:nvPr/>
            </p:nvSpPr>
            <p:spPr>
              <a:xfrm>
                <a:off x="4535920" y="4545114"/>
                <a:ext cx="3240067"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UgandaChristianUniversity</a:t>
                </a:r>
                <a:endParaRPr lang="en-UG" sz="1350" dirty="0">
                  <a:solidFill>
                    <a:prstClr val="black">
                      <a:lumMod val="95000"/>
                      <a:lumOff val="5000"/>
                    </a:prstClr>
                  </a:solidFill>
                  <a:latin typeface="+mn-lt"/>
                </a:endParaRPr>
              </a:p>
            </p:txBody>
          </p:sp>
          <p:sp>
            <p:nvSpPr>
              <p:cNvPr id="14" name="TextBox 13">
                <a:extLst>
                  <a:ext uri="{FF2B5EF4-FFF2-40B4-BE49-F238E27FC236}">
                    <a16:creationId xmlns:a16="http://schemas.microsoft.com/office/drawing/2014/main" id="{6476C215-3CAA-044D-A872-4F32F671EBCA}"/>
                  </a:ext>
                </a:extLst>
              </p:cNvPr>
              <p:cNvSpPr txBox="1"/>
              <p:nvPr/>
            </p:nvSpPr>
            <p:spPr>
              <a:xfrm>
                <a:off x="4201882" y="3514011"/>
                <a:ext cx="3513911" cy="886408"/>
              </a:xfrm>
              <a:prstGeom prst="rect">
                <a:avLst/>
              </a:prstGeom>
              <a:noFill/>
            </p:spPr>
            <p:txBody>
              <a:bodyPr wrap="square">
                <a:spAutoFit/>
              </a:bodyPr>
              <a:lstStyle/>
              <a:p>
                <a:pPr defTabSz="685800"/>
                <a:r>
                  <a:rPr lang="sv-SE" sz="1400" dirty="0">
                    <a:solidFill>
                      <a:srgbClr val="5B9BD5">
                        <a:lumMod val="50000"/>
                      </a:srgbClr>
                    </a:solidFill>
                    <a:latin typeface="+mn-lt"/>
                  </a:rPr>
                  <a:t>P.O. Box 4 Mukono, Uganda</a:t>
                </a:r>
              </a:p>
              <a:p>
                <a:pPr defTabSz="685800"/>
                <a:r>
                  <a:rPr lang="en-GB" sz="1400" dirty="0">
                    <a:solidFill>
                      <a:srgbClr val="5B9BD5">
                        <a:lumMod val="50000"/>
                      </a:srgbClr>
                    </a:solidFill>
                    <a:latin typeface="+mn-lt"/>
                  </a:rPr>
                  <a:t>Tel: 256-312-350800</a:t>
                </a:r>
              </a:p>
              <a:p>
                <a:pPr defTabSz="685800"/>
                <a:r>
                  <a:rPr lang="fr-FR" sz="1400" dirty="0">
                    <a:solidFill>
                      <a:srgbClr val="5B9BD5">
                        <a:lumMod val="50000"/>
                      </a:srgbClr>
                    </a:solidFill>
                    <a:latin typeface="+mn-lt"/>
                  </a:rPr>
                  <a:t>Email: </a:t>
                </a:r>
                <a:r>
                  <a:rPr lang="fr-FR" sz="1400" dirty="0">
                    <a:solidFill>
                      <a:srgbClr val="0000FF"/>
                    </a:solidFill>
                    <a:latin typeface="+mn-lt"/>
                    <a:hlinkClick r:id="rId8">
                      <a:extLst>
                        <a:ext uri="{A12FA001-AC4F-418D-AE19-62706E023703}">
                          <ahyp:hlinkClr xmlns:ahyp="http://schemas.microsoft.com/office/drawing/2018/hyperlinkcolor" val="tx"/>
                        </a:ext>
                      </a:extLst>
                    </a:hlinkClick>
                  </a:rPr>
                  <a:t>info@ucu.ac.ug</a:t>
                </a:r>
                <a:endParaRPr lang="fr-FR" sz="1400" dirty="0">
                  <a:solidFill>
                    <a:srgbClr val="0000FF"/>
                  </a:solidFill>
                  <a:latin typeface="+mn-lt"/>
                </a:endParaRPr>
              </a:p>
            </p:txBody>
          </p:sp>
          <p:sp>
            <p:nvSpPr>
              <p:cNvPr id="15" name="TextBox 14">
                <a:extLst>
                  <a:ext uri="{FF2B5EF4-FFF2-40B4-BE49-F238E27FC236}">
                    <a16:creationId xmlns:a16="http://schemas.microsoft.com/office/drawing/2014/main" id="{6852FF44-A1AC-754F-ACAA-B4A0B8FFDC4F}"/>
                  </a:ext>
                </a:extLst>
              </p:cNvPr>
              <p:cNvSpPr txBox="1"/>
              <p:nvPr/>
            </p:nvSpPr>
            <p:spPr>
              <a:xfrm>
                <a:off x="4173580" y="3135225"/>
                <a:ext cx="4174871" cy="480138"/>
              </a:xfrm>
              <a:prstGeom prst="rect">
                <a:avLst/>
              </a:prstGeom>
              <a:noFill/>
            </p:spPr>
            <p:txBody>
              <a:bodyPr wrap="square">
                <a:spAutoFit/>
              </a:bodyPr>
              <a:lstStyle/>
              <a:p>
                <a:pPr defTabSz="685800"/>
                <a:r>
                  <a:rPr lang="en-GB" sz="2000" b="1" dirty="0">
                    <a:solidFill>
                      <a:srgbClr val="5B9BD5">
                        <a:lumMod val="50000"/>
                      </a:srgbClr>
                    </a:solidFill>
                    <a:latin typeface="+mj-lt"/>
                  </a:rPr>
                  <a:t>Uganda Christian University</a:t>
                </a:r>
                <a:endParaRPr lang="en-UG" sz="2000" dirty="0">
                  <a:solidFill>
                    <a:srgbClr val="5B9BD5">
                      <a:lumMod val="50000"/>
                    </a:srgbClr>
                  </a:solidFill>
                  <a:latin typeface="+mj-lt"/>
                </a:endParaRPr>
              </a:p>
            </p:txBody>
          </p:sp>
          <p:pic>
            <p:nvPicPr>
              <p:cNvPr id="16" name="Picture 6" descr="facebook instagram whatsapp PNG image with transparent background | TOPpng">
                <a:extLst>
                  <a:ext uri="{FF2B5EF4-FFF2-40B4-BE49-F238E27FC236}">
                    <a16:creationId xmlns:a16="http://schemas.microsoft.com/office/drawing/2014/main" id="{9FA1BB22-7CA4-A84B-AB4E-D369D5820D57}"/>
                  </a:ext>
                </a:extLst>
              </p:cNvPr>
              <p:cNvPicPr>
                <a:picLocks noChangeAspect="1" noChangeArrowheads="1"/>
              </p:cNvPicPr>
              <p:nvPr userDrawn="1"/>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t="34921" r="64675" b="31937"/>
              <a:stretch/>
            </p:blipFill>
            <p:spPr bwMode="auto">
              <a:xfrm>
                <a:off x="7686943" y="4513314"/>
                <a:ext cx="448492" cy="44753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D0C7577D-7C00-3A42-BCDC-2DAC137B88F2}"/>
                </a:ext>
              </a:extLst>
            </p:cNvPr>
            <p:cNvPicPr>
              <a:picLocks noChangeAspect="1"/>
            </p:cNvPicPr>
            <p:nvPr userDrawn="1"/>
          </p:nvPicPr>
          <p:blipFill rotWithShape="1">
            <a:blip r:embed="rId9"/>
            <a:srcRect l="4177" t="16271" r="77310" b="16737"/>
            <a:stretch/>
          </p:blipFill>
          <p:spPr>
            <a:xfrm>
              <a:off x="3054867" y="3883165"/>
              <a:ext cx="1730515" cy="1908000"/>
            </a:xfrm>
            <a:prstGeom prst="rect">
              <a:avLst/>
            </a:prstGeom>
          </p:spPr>
        </p:pic>
      </p:grpSp>
      <p:pic>
        <p:nvPicPr>
          <p:cNvPr id="21" name="Picture 2" descr="Red button thank you icon Royalty Free Vector Image">
            <a:extLst>
              <a:ext uri="{FF2B5EF4-FFF2-40B4-BE49-F238E27FC236}">
                <a16:creationId xmlns:a16="http://schemas.microsoft.com/office/drawing/2014/main" id="{7627C261-6001-7C4D-94EE-64BE3F8A7C13}"/>
              </a:ext>
            </a:extLst>
          </p:cNvPr>
          <p:cNvPicPr>
            <a:picLocks noChangeAspect="1" noChangeArrowheads="1"/>
          </p:cNvPicPr>
          <p:nvPr userDrawn="1"/>
        </p:nvPicPr>
        <p:blipFill rotWithShape="1">
          <a:blip r:embed="rId10">
            <a:extLst>
              <a:ext uri="{BEBA8EAE-BF5A-486C-A8C5-ECC9F3942E4B}">
                <a14:imgProps xmlns:a14="http://schemas.microsoft.com/office/drawing/2010/main">
                  <a14:imgLayer r:embed="rId11">
                    <a14:imgEffect>
                      <a14:backgroundRemoval t="8611" b="86019" l="10000" r="90000">
                        <a14:foregroundMark x1="41000" y1="28981" x2="39100" y2="58519"/>
                        <a14:foregroundMark x1="27700" y1="36296" x2="34800" y2="63981"/>
                        <a14:foregroundMark x1="26600" y1="32500" x2="78400" y2="47685"/>
                        <a14:foregroundMark x1="52100" y1="23981" x2="53500" y2="41389"/>
                        <a14:foregroundMark x1="38900" y1="20463" x2="49000" y2="35556"/>
                        <a14:foregroundMark x1="44200" y1="21481" x2="69600" y2="35370"/>
                        <a14:foregroundMark x1="65200" y1="24722" x2="65200" y2="44444"/>
                        <a14:foregroundMark x1="71900" y1="31852" x2="70200" y2="51389"/>
                        <a14:foregroundMark x1="69200" y1="60463" x2="59800" y2="47500"/>
                        <a14:foregroundMark x1="75300" y1="54259" x2="61100" y2="48333"/>
                        <a14:foregroundMark x1="59800" y1="30370" x2="56700" y2="41389"/>
                        <a14:foregroundMark x1="57500" y1="68426" x2="54000" y2="46759"/>
                        <a14:foregroundMark x1="38300" y1="61667" x2="67900" y2="65926"/>
                        <a14:foregroundMark x1="47100" y1="46019" x2="58300" y2="52593"/>
                        <a14:foregroundMark x1="46500" y1="58148" x2="52700" y2="57963"/>
                        <a14:foregroundMark x1="45400" y1="46204" x2="50600" y2="57407"/>
                        <a14:foregroundMark x1="36200" y1="40370" x2="46700" y2="51389"/>
                        <a14:foregroundMark x1="43100" y1="64167" x2="50600" y2="68796"/>
                      </a14:backgroundRemoval>
                    </a14:imgEffect>
                  </a14:imgLayer>
                </a14:imgProps>
              </a:ext>
              <a:ext uri="{28A0092B-C50C-407E-A947-70E740481C1C}">
                <a14:useLocalDpi xmlns:a14="http://schemas.microsoft.com/office/drawing/2010/main" val="0"/>
              </a:ext>
            </a:extLst>
          </a:blip>
          <a:srcRect b="13043"/>
          <a:stretch/>
        </p:blipFill>
        <p:spPr bwMode="auto">
          <a:xfrm>
            <a:off x="4606336" y="1691476"/>
            <a:ext cx="1825644" cy="1704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3925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hyperlink" Target="mailto:info@ucu.ac.ug" TargetMode="External"/><Relationship Id="rId16" Type="http://schemas.openxmlformats.org/officeDocument/2006/relationships/hyperlink" Target="http://www.ucu.ac.u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B9D1C1C-C874-3B4C-BFA8-814DB2F2DE8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9776791" y="0"/>
            <a:ext cx="2415209" cy="735885"/>
          </a:xfrm>
          <a:prstGeom prst="rect">
            <a:avLst/>
          </a:prstGeom>
        </p:spPr>
      </p:pic>
      <p:sp>
        <p:nvSpPr>
          <p:cNvPr id="2" name="Title Placeholder 1">
            <a:extLst>
              <a:ext uri="{FF2B5EF4-FFF2-40B4-BE49-F238E27FC236}">
                <a16:creationId xmlns:a16="http://schemas.microsoft.com/office/drawing/2014/main" id="{05C434D8-BE21-3C4F-B966-C264E42D1A88}"/>
              </a:ext>
            </a:extLst>
          </p:cNvPr>
          <p:cNvSpPr>
            <a:spLocks noGrp="1"/>
          </p:cNvSpPr>
          <p:nvPr>
            <p:ph type="title"/>
          </p:nvPr>
        </p:nvSpPr>
        <p:spPr>
          <a:xfrm>
            <a:off x="838200" y="365126"/>
            <a:ext cx="10515600" cy="1143000"/>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BDB1CAF-D81D-0A48-8CB7-312CE0A6A119}"/>
              </a:ext>
            </a:extLst>
          </p:cNvPr>
          <p:cNvSpPr>
            <a:spLocks noGrp="1"/>
          </p:cNvSpPr>
          <p:nvPr>
            <p:ph type="body" idx="1"/>
          </p:nvPr>
        </p:nvSpPr>
        <p:spPr>
          <a:xfrm>
            <a:off x="838200" y="1687514"/>
            <a:ext cx="10515600" cy="448945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Rectangle 6">
            <a:extLst>
              <a:ext uri="{FF2B5EF4-FFF2-40B4-BE49-F238E27FC236}">
                <a16:creationId xmlns:a16="http://schemas.microsoft.com/office/drawing/2014/main" id="{27B366C6-09A4-FC49-AA7E-13E205387E20}"/>
              </a:ext>
            </a:extLst>
          </p:cNvPr>
          <p:cNvSpPr/>
          <p:nvPr userDrawn="1"/>
        </p:nvSpPr>
        <p:spPr>
          <a:xfrm>
            <a:off x="838200" y="1508126"/>
            <a:ext cx="11353800" cy="179387"/>
          </a:xfrm>
          <a:prstGeom prst="rect">
            <a:avLst/>
          </a:prstGeom>
          <a:solidFill>
            <a:srgbClr val="0B3D9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a:extLst>
              <a:ext uri="{FF2B5EF4-FFF2-40B4-BE49-F238E27FC236}">
                <a16:creationId xmlns:a16="http://schemas.microsoft.com/office/drawing/2014/main" id="{FBA8F2F6-9030-F947-8EE4-619A9675FB06}"/>
              </a:ext>
            </a:extLst>
          </p:cNvPr>
          <p:cNvSpPr/>
          <p:nvPr userDrawn="1"/>
        </p:nvSpPr>
        <p:spPr>
          <a:xfrm>
            <a:off x="0" y="1508126"/>
            <a:ext cx="838200" cy="179387"/>
          </a:xfrm>
          <a:prstGeom prst="rect">
            <a:avLst/>
          </a:prstGeom>
          <a:solidFill>
            <a:srgbClr val="D7014D"/>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a:extLst>
              <a:ext uri="{FF2B5EF4-FFF2-40B4-BE49-F238E27FC236}">
                <a16:creationId xmlns:a16="http://schemas.microsoft.com/office/drawing/2014/main" id="{CF36DCC5-4FD1-2248-B65C-9FF0F5F3BFA1}"/>
              </a:ext>
            </a:extLst>
          </p:cNvPr>
          <p:cNvSpPr/>
          <p:nvPr userDrawn="1"/>
        </p:nvSpPr>
        <p:spPr>
          <a:xfrm>
            <a:off x="838200" y="1508125"/>
            <a:ext cx="838200" cy="179387"/>
          </a:xfrm>
          <a:prstGeom prst="rect">
            <a:avLst/>
          </a:prstGeom>
          <a:solidFill>
            <a:srgbClr val="FFD93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a:extLst>
              <a:ext uri="{FF2B5EF4-FFF2-40B4-BE49-F238E27FC236}">
                <a16:creationId xmlns:a16="http://schemas.microsoft.com/office/drawing/2014/main" id="{0BF70F0D-47D2-7442-8BCD-A0A76A1F068D}"/>
              </a:ext>
            </a:extLst>
          </p:cNvPr>
          <p:cNvSpPr>
            <a:spLocks noGrp="1"/>
          </p:cNvSpPr>
          <p:nvPr>
            <p:ph type="sldNum" sz="quarter" idx="4"/>
          </p:nvPr>
        </p:nvSpPr>
        <p:spPr>
          <a:xfrm>
            <a:off x="10809962" y="6356350"/>
            <a:ext cx="5438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EAA9A-AD91-1245-A5C3-6A0CBEF58DBD}" type="slidenum">
              <a:rPr lang="en-GB" smtClean="0"/>
              <a:t>‹#›</a:t>
            </a:fld>
            <a:endParaRPr lang="en-GB" dirty="0"/>
          </a:p>
        </p:txBody>
      </p:sp>
      <p:sp>
        <p:nvSpPr>
          <p:cNvPr id="4" name="Date Placeholder 3">
            <a:extLst>
              <a:ext uri="{FF2B5EF4-FFF2-40B4-BE49-F238E27FC236}">
                <a16:creationId xmlns:a16="http://schemas.microsoft.com/office/drawing/2014/main" id="{6325CA02-C0BE-C748-BB6D-191D4A1F6F6E}"/>
              </a:ext>
            </a:extLst>
          </p:cNvPr>
          <p:cNvSpPr>
            <a:spLocks noGrp="1"/>
          </p:cNvSpPr>
          <p:nvPr>
            <p:ph type="dt" sz="half" idx="2"/>
          </p:nvPr>
        </p:nvSpPr>
        <p:spPr>
          <a:xfrm>
            <a:off x="838200" y="6356350"/>
            <a:ext cx="10281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D528E-B0C4-574C-AE6E-B35A83CFEB13}" type="datetimeFigureOut">
              <a:rPr lang="en-GB" smtClean="0"/>
              <a:t>31/08/2026</a:t>
            </a:fld>
            <a:endParaRPr lang="en-GB" dirty="0"/>
          </a:p>
        </p:txBody>
      </p:sp>
      <p:sp>
        <p:nvSpPr>
          <p:cNvPr id="5" name="Footer Placeholder 4">
            <a:extLst>
              <a:ext uri="{FF2B5EF4-FFF2-40B4-BE49-F238E27FC236}">
                <a16:creationId xmlns:a16="http://schemas.microsoft.com/office/drawing/2014/main" id="{CE950729-1D81-7842-BB34-E0DBD93FE94C}"/>
              </a:ext>
            </a:extLst>
          </p:cNvPr>
          <p:cNvSpPr>
            <a:spLocks noGrp="1"/>
          </p:cNvSpPr>
          <p:nvPr>
            <p:ph type="ftr" sz="quarter" idx="3"/>
          </p:nvPr>
        </p:nvSpPr>
        <p:spPr>
          <a:xfrm>
            <a:off x="2116899" y="6251714"/>
            <a:ext cx="8129391" cy="4697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15" name="TextBox 14">
            <a:extLst>
              <a:ext uri="{FF2B5EF4-FFF2-40B4-BE49-F238E27FC236}">
                <a16:creationId xmlns:a16="http://schemas.microsoft.com/office/drawing/2014/main" id="{FCD30695-89F9-9D40-8B73-8CF0F208D14C}"/>
              </a:ext>
            </a:extLst>
          </p:cNvPr>
          <p:cNvSpPr txBox="1"/>
          <p:nvPr userDrawn="1"/>
        </p:nvSpPr>
        <p:spPr>
          <a:xfrm>
            <a:off x="3975652" y="6176964"/>
            <a:ext cx="3627783" cy="646331"/>
          </a:xfrm>
          <a:prstGeom prst="rect">
            <a:avLst/>
          </a:prstGeom>
          <a:noFill/>
        </p:spPr>
        <p:txBody>
          <a:bodyPr wrap="square" rtlCol="0">
            <a:spAutoFit/>
          </a:bodyPr>
          <a:lstStyle/>
          <a:p>
            <a:pPr algn="ctr"/>
            <a:r>
              <a:rPr lang="en-GB" sz="850" b="1" dirty="0">
                <a:solidFill>
                  <a:srgbClr val="0B3D91"/>
                </a:solidFill>
              </a:rPr>
              <a:t>A Complete Education for A Complete Person</a:t>
            </a:r>
          </a:p>
          <a:p>
            <a:pPr algn="ctr"/>
            <a:br>
              <a:rPr lang="en-GB" sz="700" dirty="0"/>
            </a:br>
            <a:r>
              <a:rPr lang="en-GB" sz="700" dirty="0"/>
              <a:t>P.O. Box 4, </a:t>
            </a:r>
            <a:r>
              <a:rPr lang="en-GB" sz="700" dirty="0" err="1"/>
              <a:t>Mukono</a:t>
            </a:r>
            <a:r>
              <a:rPr lang="en-GB" sz="700" dirty="0"/>
              <a:t>, Uganda, Plot 67-173, Bishop Tucker Road, </a:t>
            </a:r>
            <a:r>
              <a:rPr lang="en-GB" sz="700" dirty="0" err="1"/>
              <a:t>Mukono</a:t>
            </a:r>
            <a:r>
              <a:rPr lang="en-GB" sz="700" dirty="0"/>
              <a:t> Hill</a:t>
            </a:r>
            <a:endParaRPr lang="en-US" sz="700" dirty="0"/>
          </a:p>
          <a:p>
            <a:pPr algn="ctr"/>
            <a:r>
              <a:rPr lang="en-GB" sz="700" dirty="0"/>
              <a:t>Tel: +256 (0) 312 350 800 Email: </a:t>
            </a:r>
            <a:r>
              <a:rPr lang="en-GB" sz="700" u="sng" dirty="0">
                <a:solidFill>
                  <a:srgbClr val="0000FF"/>
                </a:solidFill>
                <a:hlinkClick r:id="rId15">
                  <a:extLst>
                    <a:ext uri="{A12FA001-AC4F-418D-AE19-62706E023703}">
                      <ahyp:hlinkClr xmlns:ahyp="http://schemas.microsoft.com/office/drawing/2018/hyperlinkcolor" val="tx"/>
                    </a:ext>
                  </a:extLst>
                </a:hlinkClick>
              </a:rPr>
              <a:t>info@ucu.ac.ug</a:t>
            </a:r>
            <a:r>
              <a:rPr lang="en-GB" sz="700" dirty="0">
                <a:solidFill>
                  <a:srgbClr val="0000FF"/>
                </a:solidFill>
              </a:rPr>
              <a:t> </a:t>
            </a:r>
            <a:r>
              <a:rPr lang="en-GB" sz="700" dirty="0"/>
              <a:t>Web: </a:t>
            </a:r>
            <a:r>
              <a:rPr lang="en-GB" sz="700" u="sng" dirty="0">
                <a:solidFill>
                  <a:srgbClr val="0000FF"/>
                </a:solidFill>
              </a:rPr>
              <a:t>https://</a:t>
            </a:r>
            <a:r>
              <a:rPr lang="en-GB" sz="700" u="sng" dirty="0">
                <a:solidFill>
                  <a:srgbClr val="0000FF"/>
                </a:solidFill>
                <a:hlinkClick r:id="rId16">
                  <a:extLst>
                    <a:ext uri="{A12FA001-AC4F-418D-AE19-62706E023703}">
                      <ahyp:hlinkClr xmlns:ahyp="http://schemas.microsoft.com/office/drawing/2018/hyperlinkcolor" val="tx"/>
                    </a:ext>
                  </a:extLst>
                </a:hlinkClick>
              </a:rPr>
              <a:t>ucu.ac.ug</a:t>
            </a:r>
            <a:endParaRPr lang="en-US" sz="700" u="sng" dirty="0">
              <a:solidFill>
                <a:srgbClr val="0000FF"/>
              </a:solidFill>
            </a:endParaRPr>
          </a:p>
          <a:p>
            <a:pPr algn="ctr"/>
            <a:r>
              <a:rPr lang="en-GB" sz="650" dirty="0"/>
              <a:t>Founded by the Province of the Church of Uganda. Chartered by the Government of Uganda</a:t>
            </a:r>
            <a:endParaRPr lang="en-US" sz="650" dirty="0"/>
          </a:p>
        </p:txBody>
      </p:sp>
      <p:cxnSp>
        <p:nvCxnSpPr>
          <p:cNvPr id="17" name="Straight Connector 16">
            <a:extLst>
              <a:ext uri="{FF2B5EF4-FFF2-40B4-BE49-F238E27FC236}">
                <a16:creationId xmlns:a16="http://schemas.microsoft.com/office/drawing/2014/main" id="{CC344BD7-844D-7745-BB54-5181F5646184}"/>
              </a:ext>
            </a:extLst>
          </p:cNvPr>
          <p:cNvCxnSpPr>
            <a:cxnSpLocks/>
          </p:cNvCxnSpPr>
          <p:nvPr userDrawn="1"/>
        </p:nvCxnSpPr>
        <p:spPr>
          <a:xfrm>
            <a:off x="0" y="6395027"/>
            <a:ext cx="12192000" cy="0"/>
          </a:xfrm>
          <a:prstGeom prst="line">
            <a:avLst/>
          </a:prstGeom>
          <a:ln w="12700">
            <a:solidFill>
              <a:srgbClr val="D7016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8403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rgbClr val="1F497D"/>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D7014D"/>
        </a:buClr>
        <a:buFont typeface="Wingdings"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B3D91"/>
        </a:buClr>
        <a:buSzPct val="95000"/>
        <a:buFont typeface="Wingdings"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D70167"/>
        </a:buClr>
        <a:buSzPct val="90000"/>
        <a:buFont typeface="Wingdings"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D70167"/>
        </a:buClr>
        <a:buSzPct val="88000"/>
        <a:buFont typeface="Wingdings"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931"/>
        </a:buClr>
        <a:buSzPct val="86000"/>
        <a:buFont typeface="Wingdings"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069848" y="1874519"/>
            <a:ext cx="10058400" cy="1097280"/>
          </a:xfrm>
        </p:spPr>
        <p:txBody>
          <a:bodyPr wrap="square"/>
          <a:lstStyle/>
          <a:p>
            <a:r>
              <a:rPr sz="4400"/>
              <a:t>LipScribe Implementation Kick-off</a:t>
            </a:r>
          </a:p>
        </p:txBody>
      </p:sp>
      <p:sp>
        <p:nvSpPr>
          <p:cNvPr id="3" name="Subtitle 2"/>
          <p:cNvSpPr>
            <a:spLocks noGrp="1"/>
          </p:cNvSpPr>
          <p:nvPr>
            <p:ph type="subTitle" idx="1"/>
          </p:nvPr>
        </p:nvSpPr>
        <p:spPr>
          <a:xfrm>
            <a:off x="1069848" y="3017520"/>
            <a:ext cx="10058400" cy="822960"/>
          </a:xfrm>
        </p:spPr>
        <p:txBody>
          <a:bodyPr wrap="square" anchor="t" lIns="45720" rIns="45720"/>
          <a:lstStyle/>
          <a:p>
            <a:pPr algn="ctr"/>
            <a:r>
              <a:rPr sz="2000" b="0" i="0">
                <a:solidFill>
                  <a:srgbClr val="262626"/>
                </a:solidFill>
              </a:rPr>
              <a:t>Initial stand-up  |  Week 1 of 6  |  19 Oct – 29 Nov 2026</a:t>
            </a:r>
          </a:p>
          <a:p>
            <a:pPr algn="ctr"/>
            <a:r>
              <a:rPr sz="1600" b="0" i="0">
                <a:solidFill>
                  <a:srgbClr val="595959"/>
                </a:solidFill>
              </a:rPr>
              <a:t>Computer Vision and Deep Learning  |  Group 4</a:t>
            </a:r>
          </a:p>
        </p:txBody>
      </p:sp>
      <p:sp>
        <p:nvSpPr>
          <p:cNvPr id="4" name="TextBox 3"/>
          <p:cNvSpPr txBox="1"/>
          <p:nvPr/>
        </p:nvSpPr>
        <p:spPr>
          <a:xfrm>
            <a:off x="1069848" y="4160520"/>
            <a:ext cx="3291840" cy="685800"/>
          </a:xfrm>
          <a:prstGeom prst="rect">
            <a:avLst/>
          </a:prstGeom>
          <a:noFill/>
        </p:spPr>
        <p:txBody>
          <a:bodyPr wrap="square" anchor="t" lIns="0" rIns="0" tIns="0" bIns="0">
            <a:spAutoFit/>
          </a:bodyPr>
          <a:lstStyle/>
          <a:p>
            <a:pPr algn="ctr"/>
            <a:r>
              <a:rPr sz="1500" b="1" i="0">
                <a:solidFill>
                  <a:srgbClr val="0B3D91"/>
                </a:solidFill>
              </a:rPr>
              <a:t>Charis Opol</a:t>
            </a:r>
          </a:p>
          <a:p>
            <a:pPr algn="ctr"/>
            <a:r>
              <a:rPr sz="1300" b="0" i="0">
                <a:solidFill>
                  <a:srgbClr val="595959"/>
                </a:solidFill>
              </a:rPr>
              <a:t>Coordinator &amp; training</a:t>
            </a:r>
          </a:p>
        </p:txBody>
      </p:sp>
      <p:sp>
        <p:nvSpPr>
          <p:cNvPr id="5" name="TextBox 4"/>
          <p:cNvSpPr txBox="1"/>
          <p:nvPr/>
        </p:nvSpPr>
        <p:spPr>
          <a:xfrm>
            <a:off x="4453128" y="4160520"/>
            <a:ext cx="3291840" cy="685800"/>
          </a:xfrm>
          <a:prstGeom prst="rect">
            <a:avLst/>
          </a:prstGeom>
          <a:noFill/>
        </p:spPr>
        <p:txBody>
          <a:bodyPr wrap="square" anchor="t" lIns="0" rIns="0" tIns="0" bIns="0">
            <a:spAutoFit/>
          </a:bodyPr>
          <a:lstStyle/>
          <a:p>
            <a:pPr algn="ctr"/>
            <a:r>
              <a:rPr sz="1500" b="1" i="0">
                <a:solidFill>
                  <a:srgbClr val="0B3D91"/>
                </a:solidFill>
              </a:rPr>
              <a:t>Cole Rodney Migisha</a:t>
            </a:r>
          </a:p>
          <a:p>
            <a:pPr algn="ctr"/>
            <a:r>
              <a:rPr sz="1300" b="0" i="0">
                <a:solidFill>
                  <a:srgbClr val="595959"/>
                </a:solidFill>
              </a:rPr>
              <a:t>Model lead</a:t>
            </a:r>
          </a:p>
        </p:txBody>
      </p:sp>
      <p:sp>
        <p:nvSpPr>
          <p:cNvPr id="6" name="TextBox 5"/>
          <p:cNvSpPr txBox="1"/>
          <p:nvPr/>
        </p:nvSpPr>
        <p:spPr>
          <a:xfrm>
            <a:off x="7836408" y="4160520"/>
            <a:ext cx="3291840" cy="685800"/>
          </a:xfrm>
          <a:prstGeom prst="rect">
            <a:avLst/>
          </a:prstGeom>
          <a:noFill/>
        </p:spPr>
        <p:txBody>
          <a:bodyPr wrap="square" anchor="t" lIns="0" rIns="0" tIns="0" bIns="0">
            <a:spAutoFit/>
          </a:bodyPr>
          <a:lstStyle/>
          <a:p>
            <a:pPr algn="ctr"/>
            <a:r>
              <a:rPr sz="1500" b="1" i="0">
                <a:solidFill>
                  <a:srgbClr val="0B3D91"/>
                </a:solidFill>
              </a:rPr>
              <a:t>Ainomugisha Faith</a:t>
            </a:r>
          </a:p>
          <a:p>
            <a:pPr algn="ctr"/>
            <a:r>
              <a:rPr sz="1300" b="0" i="0">
                <a:solidFill>
                  <a:srgbClr val="595959"/>
                </a:solidFill>
              </a:rPr>
              <a:t>Data lead</a:t>
            </a:r>
          </a:p>
        </p:txBody>
      </p:sp>
      <p:sp>
        <p:nvSpPr>
          <p:cNvPr id="7" name="TextBox 6"/>
          <p:cNvSpPr txBox="1"/>
          <p:nvPr/>
        </p:nvSpPr>
        <p:spPr>
          <a:xfrm>
            <a:off x="1069848" y="4937759"/>
            <a:ext cx="3291840" cy="685800"/>
          </a:xfrm>
          <a:prstGeom prst="rect">
            <a:avLst/>
          </a:prstGeom>
          <a:noFill/>
        </p:spPr>
        <p:txBody>
          <a:bodyPr wrap="square" anchor="t" lIns="0" rIns="0" tIns="0" bIns="0">
            <a:spAutoFit/>
          </a:bodyPr>
          <a:lstStyle/>
          <a:p>
            <a:pPr algn="ctr"/>
            <a:r>
              <a:rPr sz="1500" b="1" i="0">
                <a:solidFill>
                  <a:srgbClr val="0B3D91"/>
                </a:solidFill>
              </a:rPr>
              <a:t>Lisa Lusinga Namugenyi</a:t>
            </a:r>
          </a:p>
          <a:p>
            <a:pPr algn="ctr"/>
            <a:r>
              <a:rPr sz="1300" b="0" i="0">
                <a:solidFill>
                  <a:srgbClr val="595959"/>
                </a:solidFill>
              </a:rPr>
              <a:t>Audio &amp; evaluation</a:t>
            </a:r>
          </a:p>
        </p:txBody>
      </p:sp>
      <p:sp>
        <p:nvSpPr>
          <p:cNvPr id="8" name="TextBox 7"/>
          <p:cNvSpPr txBox="1"/>
          <p:nvPr/>
        </p:nvSpPr>
        <p:spPr>
          <a:xfrm>
            <a:off x="4453128" y="4937759"/>
            <a:ext cx="3291840" cy="685800"/>
          </a:xfrm>
          <a:prstGeom prst="rect">
            <a:avLst/>
          </a:prstGeom>
          <a:noFill/>
        </p:spPr>
        <p:txBody>
          <a:bodyPr wrap="square" anchor="t" lIns="0" rIns="0" tIns="0" bIns="0">
            <a:spAutoFit/>
          </a:bodyPr>
          <a:lstStyle/>
          <a:p>
            <a:pPr algn="ctr"/>
            <a:r>
              <a:rPr sz="1500" b="1" i="0">
                <a:solidFill>
                  <a:srgbClr val="0B3D91"/>
                </a:solidFill>
              </a:rPr>
              <a:t>Wakisa Isabelle</a:t>
            </a:r>
          </a:p>
          <a:p>
            <a:pPr algn="ctr"/>
            <a:r>
              <a:rPr sz="1300" b="0" i="0">
                <a:solidFill>
                  <a:srgbClr val="595959"/>
                </a:solidFill>
              </a:rPr>
              <a:t>Application lead</a:t>
            </a:r>
          </a:p>
        </p:txBody>
      </p:sp>
      <p:sp>
        <p:nvSpPr>
          <p:cNvPr id="9" name="TextBox 8"/>
          <p:cNvSpPr txBox="1"/>
          <p:nvPr/>
        </p:nvSpPr>
        <p:spPr>
          <a:xfrm>
            <a:off x="7836408" y="4937759"/>
            <a:ext cx="3291840" cy="685800"/>
          </a:xfrm>
          <a:prstGeom prst="rect">
            <a:avLst/>
          </a:prstGeom>
          <a:noFill/>
        </p:spPr>
        <p:txBody>
          <a:bodyPr wrap="square" anchor="t" lIns="0" rIns="0" tIns="0" bIns="0">
            <a:spAutoFit/>
          </a:bodyPr>
          <a:lstStyle/>
          <a:p>
            <a:pPr algn="ctr"/>
            <a:r>
              <a:rPr sz="1500" b="1" i="0">
                <a:solidFill>
                  <a:srgbClr val="0B3D91"/>
                </a:solidFill>
              </a:rPr>
              <a:t>Ansasire Nehum Naamaye</a:t>
            </a:r>
          </a:p>
          <a:p>
            <a:pPr algn="ctr"/>
            <a:r>
              <a:rPr sz="1300" b="0" i="0">
                <a:solidFill>
                  <a:srgbClr val="595959"/>
                </a:solidFill>
              </a:rPr>
              <a:t>QA &amp; live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we must ship in six weeks</a:t>
            </a:r>
          </a:p>
        </p:txBody>
      </p:sp>
      <p:sp>
        <p:nvSpPr>
          <p:cNvPr id="3" name="TextBox 2"/>
          <p:cNvSpPr txBox="1"/>
          <p:nvPr/>
        </p:nvSpPr>
        <p:spPr>
          <a:xfrm>
            <a:off x="841248" y="1783080"/>
            <a:ext cx="10515600" cy="457200"/>
          </a:xfrm>
          <a:prstGeom prst="rect">
            <a:avLst/>
          </a:prstGeom>
          <a:noFill/>
        </p:spPr>
        <p:txBody>
          <a:bodyPr wrap="square" anchor="t" lIns="0" rIns="0" tIns="0" bIns="0">
            <a:spAutoFit/>
          </a:bodyPr>
          <a:lstStyle/>
          <a:p>
            <a:pPr algn="l"/>
            <a:r>
              <a:rPr sz="1800" b="0" i="0">
                <a:solidFill>
                  <a:srgbClr val="262626"/>
                </a:solidFill>
              </a:rPr>
              <a:t>A live captioner that stays accurate in noise by reading the lips as well as listening.</a:t>
            </a:r>
          </a:p>
        </p:txBody>
      </p:sp>
      <p:sp>
        <p:nvSpPr>
          <p:cNvPr id="4" name="Rounded Rectangle 3"/>
          <p:cNvSpPr/>
          <p:nvPr/>
        </p:nvSpPr>
        <p:spPr>
          <a:xfrm>
            <a:off x="841248" y="2377440"/>
            <a:ext cx="2468880" cy="1874519"/>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4000" b="1" i="0">
                <a:solidFill>
                  <a:srgbClr val="0B3D91"/>
                </a:solidFill>
              </a:rPr>
              <a:t>4</a:t>
            </a:r>
          </a:p>
          <a:p>
            <a:pPr algn="ctr"/>
            <a:r>
              <a:rPr sz="1500" b="1" i="0">
                <a:solidFill>
                  <a:srgbClr val="262626"/>
                </a:solidFill>
              </a:rPr>
              <a:t>core models</a:t>
            </a:r>
          </a:p>
          <a:p>
            <a:pPr algn="ctr"/>
            <a:r>
              <a:rPr sz="1200" b="0" i="0">
                <a:solidFill>
                  <a:srgbClr val="595959"/>
                </a:solidFill>
              </a:rPr>
              <a:t>B1 audio · B2 visual
B3 concat · P fusion</a:t>
            </a:r>
          </a:p>
        </p:txBody>
      </p:sp>
      <p:sp>
        <p:nvSpPr>
          <p:cNvPr id="5" name="Rounded Rectangle 4"/>
          <p:cNvSpPr/>
          <p:nvPr/>
        </p:nvSpPr>
        <p:spPr>
          <a:xfrm>
            <a:off x="3538728" y="2377440"/>
            <a:ext cx="2468880" cy="1874519"/>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4000" b="1" i="0">
                <a:solidFill>
                  <a:srgbClr val="0B3D91"/>
                </a:solidFill>
              </a:rPr>
              <a:t>5</a:t>
            </a:r>
          </a:p>
          <a:p>
            <a:pPr algn="ctr"/>
            <a:r>
              <a:rPr sz="1500" b="1" i="0">
                <a:solidFill>
                  <a:srgbClr val="262626"/>
                </a:solidFill>
              </a:rPr>
              <a:t>noise levels</a:t>
            </a:r>
          </a:p>
          <a:p>
            <a:pPr algn="ctr"/>
            <a:r>
              <a:rPr sz="1200" b="0" i="0">
                <a:solidFill>
                  <a:srgbClr val="595959"/>
                </a:solidFill>
              </a:rPr>
              <a:t>clean, 10, 5, 0, −5 dB
MUSAN noise</a:t>
            </a:r>
          </a:p>
        </p:txBody>
      </p:sp>
      <p:sp>
        <p:nvSpPr>
          <p:cNvPr id="6" name="Rounded Rectangle 5"/>
          <p:cNvSpPr/>
          <p:nvPr/>
        </p:nvSpPr>
        <p:spPr>
          <a:xfrm>
            <a:off x="6236208" y="2377440"/>
            <a:ext cx="2468880" cy="1874519"/>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4000" b="1" i="0">
                <a:solidFill>
                  <a:srgbClr val="0B3D91"/>
                </a:solidFill>
              </a:rPr>
              <a:t>4</a:t>
            </a:r>
          </a:p>
          <a:p>
            <a:pPr algn="ctr"/>
            <a:r>
              <a:rPr sz="1500" b="1" i="0">
                <a:solidFill>
                  <a:srgbClr val="262626"/>
                </a:solidFill>
              </a:rPr>
              <a:t>unseen test speakers</a:t>
            </a:r>
          </a:p>
          <a:p>
            <a:pPr algn="ctr"/>
            <a:r>
              <a:rPr sz="1200" b="0" i="0">
                <a:solidFill>
                  <a:srgbClr val="595959"/>
                </a:solidFill>
              </a:rPr>
              <a:t>speaker-independent
split, fixed in Week 1</a:t>
            </a:r>
          </a:p>
        </p:txBody>
      </p:sp>
      <p:sp>
        <p:nvSpPr>
          <p:cNvPr id="7" name="Rounded Rectangle 6"/>
          <p:cNvSpPr/>
          <p:nvPr/>
        </p:nvSpPr>
        <p:spPr>
          <a:xfrm>
            <a:off x="8933688" y="2377440"/>
            <a:ext cx="2468880" cy="1874519"/>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4000" b="1" i="0">
                <a:solidFill>
                  <a:srgbClr val="0B3D91"/>
                </a:solidFill>
              </a:rPr>
              <a:t>&lt;10%</a:t>
            </a:r>
          </a:p>
          <a:p>
            <a:pPr algn="ctr"/>
            <a:r>
              <a:rPr sz="1500" b="1" i="0">
                <a:solidFill>
                  <a:srgbClr val="262626"/>
                </a:solidFill>
              </a:rPr>
              <a:t>WER target, clean</a:t>
            </a:r>
          </a:p>
          <a:p>
            <a:pPr algn="ctr"/>
            <a:r>
              <a:rPr sz="1200" b="0" i="0">
                <a:solidFill>
                  <a:srgbClr val="595959"/>
                </a:solidFill>
              </a:rPr>
              <a:t>WER and CER
at every SNR</a:t>
            </a:r>
          </a:p>
        </p:txBody>
      </p:sp>
      <p:sp>
        <p:nvSpPr>
          <p:cNvPr id="8" name="TextBox 7"/>
          <p:cNvSpPr txBox="1"/>
          <p:nvPr/>
        </p:nvSpPr>
        <p:spPr>
          <a:xfrm>
            <a:off x="841248" y="4480560"/>
            <a:ext cx="10515600" cy="365760"/>
          </a:xfrm>
          <a:prstGeom prst="rect">
            <a:avLst/>
          </a:prstGeom>
          <a:noFill/>
        </p:spPr>
        <p:txBody>
          <a:bodyPr wrap="square" anchor="t" lIns="0" rIns="0" tIns="0" bIns="0">
            <a:spAutoFit/>
          </a:bodyPr>
          <a:lstStyle/>
          <a:p>
            <a:pPr algn="l"/>
            <a:r>
              <a:rPr sz="1600" b="1" i="0">
                <a:solidFill>
                  <a:srgbClr val="0B3D91"/>
                </a:solidFill>
              </a:rPr>
              <a:t>Deliverables, due Sun 29 Nov</a:t>
            </a:r>
          </a:p>
        </p:txBody>
      </p:sp>
      <p:sp>
        <p:nvSpPr>
          <p:cNvPr id="9" name="Rounded Rectangle 8"/>
          <p:cNvSpPr/>
          <p:nvPr/>
        </p:nvSpPr>
        <p:spPr>
          <a:xfrm>
            <a:off x="841248" y="4892040"/>
            <a:ext cx="2468880" cy="8686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0" i="0">
                <a:solidFill>
                  <a:srgbClr val="262626"/>
                </a:solidFill>
              </a:rPr>
              <a:t>Trained models
+ configs &amp; logs</a:t>
            </a:r>
          </a:p>
        </p:txBody>
      </p:sp>
      <p:sp>
        <p:nvSpPr>
          <p:cNvPr id="10" name="Rounded Rectangle 9"/>
          <p:cNvSpPr/>
          <p:nvPr/>
        </p:nvSpPr>
        <p:spPr>
          <a:xfrm>
            <a:off x="3538728" y="4892040"/>
            <a:ext cx="2468880" cy="8686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0" i="0">
                <a:solidFill>
                  <a:srgbClr val="262626"/>
                </a:solidFill>
              </a:rPr>
              <a:t>Results tables
from evaluate.py</a:t>
            </a:r>
          </a:p>
        </p:txBody>
      </p:sp>
      <p:sp>
        <p:nvSpPr>
          <p:cNvPr id="11" name="Rounded Rectangle 10"/>
          <p:cNvSpPr/>
          <p:nvPr/>
        </p:nvSpPr>
        <p:spPr>
          <a:xfrm>
            <a:off x="6236208" y="4892040"/>
            <a:ext cx="2468880" cy="8686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0" i="0">
                <a:solidFill>
                  <a:srgbClr val="262626"/>
                </a:solidFill>
              </a:rPr>
              <a:t>Gradio demo +
live captioning</a:t>
            </a:r>
          </a:p>
        </p:txBody>
      </p:sp>
      <p:sp>
        <p:nvSpPr>
          <p:cNvPr id="12" name="Rounded Rectangle 11"/>
          <p:cNvSpPr/>
          <p:nvPr/>
        </p:nvSpPr>
        <p:spPr>
          <a:xfrm>
            <a:off x="8933688" y="4892040"/>
            <a:ext cx="2468880" cy="8686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0" i="0">
                <a:solidFill>
                  <a:srgbClr val="262626"/>
                </a:solidFill>
              </a:rPr>
              <a:t>Report, slides
+ demo video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owns what</a:t>
            </a:r>
          </a:p>
        </p:txBody>
      </p:sp>
      <p:sp>
        <p:nvSpPr>
          <p:cNvPr id="3" name="Rounded Rectangle 2"/>
          <p:cNvSpPr/>
          <p:nvPr/>
        </p:nvSpPr>
        <p:spPr>
          <a:xfrm>
            <a:off x="841248" y="1783080"/>
            <a:ext cx="3383280" cy="45720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rPr>
              <a:t>Data pair</a:t>
            </a:r>
          </a:p>
        </p:txBody>
      </p:sp>
      <p:sp>
        <p:nvSpPr>
          <p:cNvPr id="4" name="Rounded Rectangle 3"/>
          <p:cNvSpPr/>
          <p:nvPr/>
        </p:nvSpPr>
        <p:spPr>
          <a:xfrm>
            <a:off x="841248" y="2423160"/>
            <a:ext cx="3383280" cy="1600200"/>
          </a:xfrm>
          <a:prstGeom prst="roundRect">
            <a:avLst>
              <a:gd name="adj" fmla="val 12000"/>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600" b="1" i="0">
                <a:solidFill>
                  <a:srgbClr val="0B3D91"/>
                </a:solidFill>
              </a:rPr>
              <a:t>Ainomugisha Faith</a:t>
            </a:r>
          </a:p>
          <a:p>
            <a:pPr algn="l"/>
            <a:r>
              <a:rPr sz="1400" b="1" i="0">
                <a:solidFill>
                  <a:srgbClr val="262626"/>
                </a:solidFill>
              </a:rPr>
              <a:t>Data lead</a:t>
            </a:r>
          </a:p>
          <a:p>
            <a:pPr algn="l"/>
            <a:r>
              <a:rPr sz="1300" b="0" i="0">
                <a:solidFill>
                  <a:srgbClr val="595959"/>
                </a:solidFill>
              </a:rPr>
              <a:t>GRID download, integrity checks, splits, crop extraction, ablations</a:t>
            </a:r>
          </a:p>
        </p:txBody>
      </p:sp>
      <p:sp>
        <p:nvSpPr>
          <p:cNvPr id="5" name="Rounded Rectangle 4"/>
          <p:cNvSpPr/>
          <p:nvPr/>
        </p:nvSpPr>
        <p:spPr>
          <a:xfrm>
            <a:off x="841248" y="4251960"/>
            <a:ext cx="3383280" cy="1600200"/>
          </a:xfrm>
          <a:prstGeom prst="roundRect">
            <a:avLst>
              <a:gd name="adj" fmla="val 12000"/>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600" b="1" i="0">
                <a:solidFill>
                  <a:srgbClr val="0B3D91"/>
                </a:solidFill>
              </a:rPr>
              <a:t>Lisa Lusinga Namugenyi</a:t>
            </a:r>
          </a:p>
          <a:p>
            <a:pPr algn="l"/>
            <a:r>
              <a:rPr sz="1400" b="1" i="0">
                <a:solidFill>
                  <a:srgbClr val="262626"/>
                </a:solidFill>
              </a:rPr>
              <a:t>Audio &amp; evaluation</a:t>
            </a:r>
          </a:p>
          <a:p>
            <a:pPr algn="l"/>
            <a:r>
              <a:rPr sz="1300" b="0" i="0">
                <a:solidFill>
                  <a:srgbClr val="595959"/>
                </a:solidFill>
              </a:rPr>
              <a:t>MUSAN noise, mixing, tokeniser, evaluate.py, report editor</a:t>
            </a:r>
          </a:p>
        </p:txBody>
      </p:sp>
      <p:sp>
        <p:nvSpPr>
          <p:cNvPr id="6" name="Rounded Rectangle 5"/>
          <p:cNvSpPr/>
          <p:nvPr/>
        </p:nvSpPr>
        <p:spPr>
          <a:xfrm>
            <a:off x="4407408" y="1783080"/>
            <a:ext cx="3383280" cy="45720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rPr>
              <a:t>Model pair</a:t>
            </a:r>
          </a:p>
        </p:txBody>
      </p:sp>
      <p:sp>
        <p:nvSpPr>
          <p:cNvPr id="7" name="Rounded Rectangle 6"/>
          <p:cNvSpPr/>
          <p:nvPr/>
        </p:nvSpPr>
        <p:spPr>
          <a:xfrm>
            <a:off x="4407408" y="2423160"/>
            <a:ext cx="3383280" cy="16002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600" b="1" i="0">
                <a:solidFill>
                  <a:srgbClr val="0B3D91"/>
                </a:solidFill>
              </a:rPr>
              <a:t>Cole Rodney Migisha</a:t>
            </a:r>
          </a:p>
          <a:p>
            <a:pPr algn="l"/>
            <a:r>
              <a:rPr sz="1400" b="1" i="0">
                <a:solidFill>
                  <a:srgbClr val="262626"/>
                </a:solidFill>
              </a:rPr>
              <a:t>Model lead</a:t>
            </a:r>
          </a:p>
          <a:p>
            <a:pPr algn="l"/>
            <a:r>
              <a:rPr sz="1300" b="0" i="0">
                <a:solidFill>
                  <a:srgbClr val="595959"/>
                </a:solidFill>
              </a:rPr>
              <a:t>Mouth cropping, visual &amp; audio encoders, attention fusion</a:t>
            </a:r>
          </a:p>
        </p:txBody>
      </p:sp>
      <p:sp>
        <p:nvSpPr>
          <p:cNvPr id="8" name="Rounded Rectangle 7"/>
          <p:cNvSpPr/>
          <p:nvPr/>
        </p:nvSpPr>
        <p:spPr>
          <a:xfrm>
            <a:off x="4407408" y="4251960"/>
            <a:ext cx="3383280" cy="16002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600" b="1" i="0">
                <a:solidFill>
                  <a:srgbClr val="0B3D91"/>
                </a:solidFill>
              </a:rPr>
              <a:t>Charis Opol</a:t>
            </a:r>
          </a:p>
          <a:p>
            <a:pPr algn="l"/>
            <a:r>
              <a:rPr sz="1400" b="1" i="0">
                <a:solidFill>
                  <a:srgbClr val="262626"/>
                </a:solidFill>
              </a:rPr>
              <a:t>Coordinator &amp; training</a:t>
            </a:r>
          </a:p>
          <a:p>
            <a:pPr algn="l"/>
            <a:r>
              <a:rPr sz="1300" b="0" i="0">
                <a:solidFill>
                  <a:srgbClr val="595959"/>
                </a:solidFill>
              </a:rPr>
              <a:t>Trello, reviews, train.py, training runs, GPU booking</a:t>
            </a:r>
          </a:p>
        </p:txBody>
      </p:sp>
      <p:sp>
        <p:nvSpPr>
          <p:cNvPr id="9" name="Rounded Rectangle 8"/>
          <p:cNvSpPr/>
          <p:nvPr/>
        </p:nvSpPr>
        <p:spPr>
          <a:xfrm>
            <a:off x="7973568" y="1783080"/>
            <a:ext cx="3383280" cy="45720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600" b="1" i="0">
                <a:solidFill>
                  <a:srgbClr val="FFFFFF"/>
                </a:solidFill>
              </a:rPr>
              <a:t>Application pair</a:t>
            </a:r>
          </a:p>
        </p:txBody>
      </p:sp>
      <p:sp>
        <p:nvSpPr>
          <p:cNvPr id="10" name="Rounded Rectangle 9"/>
          <p:cNvSpPr/>
          <p:nvPr/>
        </p:nvSpPr>
        <p:spPr>
          <a:xfrm>
            <a:off x="7973568" y="2423160"/>
            <a:ext cx="3383280" cy="160020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600" b="1" i="0">
                <a:solidFill>
                  <a:srgbClr val="0B3D91"/>
                </a:solidFill>
              </a:rPr>
              <a:t>Wakisa Isabelle</a:t>
            </a:r>
          </a:p>
          <a:p>
            <a:pPr algn="l"/>
            <a:r>
              <a:rPr sz="1400" b="1" i="0">
                <a:solidFill>
                  <a:srgbClr val="262626"/>
                </a:solidFill>
              </a:rPr>
              <a:t>Application lead</a:t>
            </a:r>
          </a:p>
          <a:p>
            <a:pPr algn="l"/>
            <a:r>
              <a:rPr sz="1300" b="0" i="0">
                <a:solidFill>
                  <a:srgbClr val="595959"/>
                </a:solidFill>
              </a:rPr>
              <a:t>Decoding, metrics, transcribe.py, Gradio demo, slides</a:t>
            </a:r>
          </a:p>
        </p:txBody>
      </p:sp>
      <p:sp>
        <p:nvSpPr>
          <p:cNvPr id="11" name="Rounded Rectangle 10"/>
          <p:cNvSpPr/>
          <p:nvPr/>
        </p:nvSpPr>
        <p:spPr>
          <a:xfrm>
            <a:off x="7973568" y="4251960"/>
            <a:ext cx="3383280" cy="160020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600" b="1" i="0">
                <a:solidFill>
                  <a:srgbClr val="0B3D91"/>
                </a:solidFill>
              </a:rPr>
              <a:t>Ansasire Nehum Naamaye</a:t>
            </a:r>
          </a:p>
          <a:p>
            <a:pPr algn="l"/>
            <a:r>
              <a:rPr sz="1400" b="1" i="0">
                <a:solidFill>
                  <a:srgbClr val="262626"/>
                </a:solidFill>
              </a:rPr>
              <a:t>QA &amp; live systems</a:t>
            </a:r>
          </a:p>
          <a:p>
            <a:pPr algn="l"/>
            <a:r>
              <a:rPr sz="1300" b="0" i="0">
                <a:solidFill>
                  <a:srgbClr val="595959"/>
                </a:solidFill>
              </a:rPr>
              <a:t>Repo, environment, CI/tests, live mode, README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weeks, nine milestones</a:t>
            </a:r>
          </a:p>
        </p:txBody>
      </p:sp>
      <p:sp>
        <p:nvSpPr>
          <p:cNvPr id="3" name="Rounded Rectangle 2"/>
          <p:cNvSpPr/>
          <p:nvPr/>
        </p:nvSpPr>
        <p:spPr>
          <a:xfrm>
            <a:off x="841248" y="1783080"/>
            <a:ext cx="1673352" cy="91440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FFFFFF"/>
                </a:solidFill>
              </a:rPr>
              <a:t>Week 1</a:t>
            </a:r>
          </a:p>
          <a:p>
            <a:pPr algn="ctr"/>
            <a:r>
              <a:rPr sz="1200" b="0" i="0">
                <a:solidFill>
                  <a:srgbClr val="FFFFFF"/>
                </a:solidFill>
              </a:rPr>
              <a:t>19–25 Oct</a:t>
            </a:r>
          </a:p>
        </p:txBody>
      </p:sp>
      <p:sp>
        <p:nvSpPr>
          <p:cNvPr id="4" name="Rounded Rectangle 3"/>
          <p:cNvSpPr/>
          <p:nvPr/>
        </p:nvSpPr>
        <p:spPr>
          <a:xfrm>
            <a:off x="841248" y="2788920"/>
            <a:ext cx="1673352" cy="4114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262626"/>
                </a:solidFill>
              </a:rPr>
              <a:t>M1</a:t>
            </a:r>
          </a:p>
        </p:txBody>
      </p:sp>
      <p:sp>
        <p:nvSpPr>
          <p:cNvPr id="5" name="Rounded Rectangle 4"/>
          <p:cNvSpPr/>
          <p:nvPr/>
        </p:nvSpPr>
        <p:spPr>
          <a:xfrm>
            <a:off x="841248" y="3291840"/>
            <a:ext cx="1673352"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i="0">
                <a:solidFill>
                  <a:srgbClr val="0B3D91"/>
                </a:solidFill>
              </a:rPr>
              <a:t>Setup &amp; data</a:t>
            </a:r>
          </a:p>
          <a:p>
            <a:pPr algn="l"/>
            <a:r>
              <a:rPr sz="1200" b="0" i="0">
                <a:solidFill>
                  <a:srgbClr val="262626"/>
                </a:solidFill>
              </a:rPr>
              <a:t>Env, GRID + MUSAN, integrity, splits.csv</a:t>
            </a:r>
          </a:p>
        </p:txBody>
      </p:sp>
      <p:sp>
        <p:nvSpPr>
          <p:cNvPr id="6" name="Rounded Rectangle 5"/>
          <p:cNvSpPr/>
          <p:nvPr/>
        </p:nvSpPr>
        <p:spPr>
          <a:xfrm>
            <a:off x="2606040" y="1783080"/>
            <a:ext cx="1673352" cy="9144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Week 2</a:t>
            </a:r>
          </a:p>
          <a:p>
            <a:pPr algn="ctr"/>
            <a:r>
              <a:rPr sz="1200" b="0" i="0">
                <a:solidFill>
                  <a:srgbClr val="0B3D91"/>
                </a:solidFill>
              </a:rPr>
              <a:t>26 Oct–1 Nov</a:t>
            </a:r>
          </a:p>
        </p:txBody>
      </p:sp>
      <p:sp>
        <p:nvSpPr>
          <p:cNvPr id="7" name="Rounded Rectangle 6"/>
          <p:cNvSpPr/>
          <p:nvPr/>
        </p:nvSpPr>
        <p:spPr>
          <a:xfrm>
            <a:off x="2606040" y="2788920"/>
            <a:ext cx="1673352" cy="4114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262626"/>
                </a:solidFill>
              </a:rPr>
              <a:t>M2</a:t>
            </a:r>
          </a:p>
        </p:txBody>
      </p:sp>
      <p:sp>
        <p:nvSpPr>
          <p:cNvPr id="8" name="Rounded Rectangle 7"/>
          <p:cNvSpPr/>
          <p:nvPr/>
        </p:nvSpPr>
        <p:spPr>
          <a:xfrm>
            <a:off x="2606040" y="3291840"/>
            <a:ext cx="1673352"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i="0">
                <a:solidFill>
                  <a:srgbClr val="0B3D91"/>
                </a:solidFill>
              </a:rPr>
              <a:t>Preprocessing</a:t>
            </a:r>
          </a:p>
          <a:p>
            <a:pPr algn="l"/>
            <a:r>
              <a:rPr sz="1200" b="0" i="0">
                <a:solidFill>
                  <a:srgbClr val="262626"/>
                </a:solidFill>
              </a:rPr>
              <a:t>Crops cached, noise mixer, train.py, B1 starts</a:t>
            </a:r>
          </a:p>
        </p:txBody>
      </p:sp>
      <p:sp>
        <p:nvSpPr>
          <p:cNvPr id="9" name="Rounded Rectangle 8"/>
          <p:cNvSpPr/>
          <p:nvPr/>
        </p:nvSpPr>
        <p:spPr>
          <a:xfrm>
            <a:off x="4370832" y="1783080"/>
            <a:ext cx="1673352" cy="9144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Week 3</a:t>
            </a:r>
          </a:p>
          <a:p>
            <a:pPr algn="ctr"/>
            <a:r>
              <a:rPr sz="1200" b="0" i="0">
                <a:solidFill>
                  <a:srgbClr val="0B3D91"/>
                </a:solidFill>
              </a:rPr>
              <a:t>2–8 Nov</a:t>
            </a:r>
          </a:p>
        </p:txBody>
      </p:sp>
      <p:sp>
        <p:nvSpPr>
          <p:cNvPr id="10" name="Rounded Rectangle 9"/>
          <p:cNvSpPr/>
          <p:nvPr/>
        </p:nvSpPr>
        <p:spPr>
          <a:xfrm>
            <a:off x="4370832" y="2788920"/>
            <a:ext cx="1673352" cy="4114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262626"/>
                </a:solidFill>
              </a:rPr>
              <a:t>M3 · M4</a:t>
            </a:r>
          </a:p>
        </p:txBody>
      </p:sp>
      <p:sp>
        <p:nvSpPr>
          <p:cNvPr id="11" name="Rounded Rectangle 10"/>
          <p:cNvSpPr/>
          <p:nvPr/>
        </p:nvSpPr>
        <p:spPr>
          <a:xfrm>
            <a:off x="4370832" y="3291840"/>
            <a:ext cx="1673352"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i="0">
                <a:solidFill>
                  <a:srgbClr val="0B3D91"/>
                </a:solidFill>
              </a:rPr>
              <a:t>Baselines</a:t>
            </a:r>
          </a:p>
          <a:p>
            <a:pPr algn="l"/>
            <a:r>
              <a:rPr sz="1200" b="0" i="0">
                <a:solidFill>
                  <a:srgbClr val="262626"/>
                </a:solidFill>
              </a:rPr>
              <a:t>B1, B2, B3 evaluated, beam search, demo v1</a:t>
            </a:r>
          </a:p>
        </p:txBody>
      </p:sp>
      <p:sp>
        <p:nvSpPr>
          <p:cNvPr id="12" name="Rounded Rectangle 11"/>
          <p:cNvSpPr/>
          <p:nvPr/>
        </p:nvSpPr>
        <p:spPr>
          <a:xfrm>
            <a:off x="6135624" y="1783080"/>
            <a:ext cx="1673352" cy="9144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Week 4</a:t>
            </a:r>
          </a:p>
          <a:p>
            <a:pPr algn="ctr"/>
            <a:r>
              <a:rPr sz="1200" b="0" i="0">
                <a:solidFill>
                  <a:srgbClr val="0B3D91"/>
                </a:solidFill>
              </a:rPr>
              <a:t>9–15 Nov</a:t>
            </a:r>
          </a:p>
        </p:txBody>
      </p:sp>
      <p:sp>
        <p:nvSpPr>
          <p:cNvPr id="13" name="Rounded Rectangle 12"/>
          <p:cNvSpPr/>
          <p:nvPr/>
        </p:nvSpPr>
        <p:spPr>
          <a:xfrm>
            <a:off x="6135624" y="2788920"/>
            <a:ext cx="1673352" cy="4114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262626"/>
                </a:solidFill>
              </a:rPr>
              <a:t>M5</a:t>
            </a:r>
          </a:p>
        </p:txBody>
      </p:sp>
      <p:sp>
        <p:nvSpPr>
          <p:cNvPr id="14" name="Rounded Rectangle 13"/>
          <p:cNvSpPr/>
          <p:nvPr/>
        </p:nvSpPr>
        <p:spPr>
          <a:xfrm>
            <a:off x="6135624" y="3291840"/>
            <a:ext cx="1673352"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i="0">
                <a:solidFill>
                  <a:srgbClr val="0B3D91"/>
                </a:solidFill>
              </a:rPr>
              <a:t>Fusion</a:t>
            </a:r>
          </a:p>
          <a:p>
            <a:pPr algn="l"/>
            <a:r>
              <a:rPr sz="1200" b="0" i="0">
                <a:solidFill>
                  <a:srgbClr val="262626"/>
                </a:solidFill>
              </a:rPr>
              <a:t>Attention + gate model P, ablation configs</a:t>
            </a:r>
          </a:p>
        </p:txBody>
      </p:sp>
      <p:sp>
        <p:nvSpPr>
          <p:cNvPr id="15" name="Rounded Rectangle 14"/>
          <p:cNvSpPr/>
          <p:nvPr/>
        </p:nvSpPr>
        <p:spPr>
          <a:xfrm>
            <a:off x="7900416" y="1783080"/>
            <a:ext cx="1673352" cy="9144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Week 5</a:t>
            </a:r>
          </a:p>
          <a:p>
            <a:pPr algn="ctr"/>
            <a:r>
              <a:rPr sz="1200" b="0" i="0">
                <a:solidFill>
                  <a:srgbClr val="0B3D91"/>
                </a:solidFill>
              </a:rPr>
              <a:t>16–22 Nov</a:t>
            </a:r>
          </a:p>
        </p:txBody>
      </p:sp>
      <p:sp>
        <p:nvSpPr>
          <p:cNvPr id="16" name="Rounded Rectangle 15"/>
          <p:cNvSpPr/>
          <p:nvPr/>
        </p:nvSpPr>
        <p:spPr>
          <a:xfrm>
            <a:off x="7900416" y="2788920"/>
            <a:ext cx="1673352" cy="4114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262626"/>
                </a:solidFill>
              </a:rPr>
              <a:t>M6 · M7 · M8</a:t>
            </a:r>
          </a:p>
        </p:txBody>
      </p:sp>
      <p:sp>
        <p:nvSpPr>
          <p:cNvPr id="17" name="Rounded Rectangle 16"/>
          <p:cNvSpPr/>
          <p:nvPr/>
        </p:nvSpPr>
        <p:spPr>
          <a:xfrm>
            <a:off x="7900416" y="3291840"/>
            <a:ext cx="1673352"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i="0">
                <a:solidFill>
                  <a:srgbClr val="0B3D91"/>
                </a:solidFill>
              </a:rPr>
              <a:t>Tune &amp; evaluate</a:t>
            </a:r>
          </a:p>
          <a:p>
            <a:pPr algn="l"/>
            <a:r>
              <a:rPr sz="1200" b="0" i="0">
                <a:solidFill>
                  <a:srgbClr val="262626"/>
                </a:solidFill>
              </a:rPr>
              <a:t>Sweeps, final runs, ablations, live mode</a:t>
            </a:r>
          </a:p>
        </p:txBody>
      </p:sp>
      <p:sp>
        <p:nvSpPr>
          <p:cNvPr id="18" name="Rounded Rectangle 17"/>
          <p:cNvSpPr/>
          <p:nvPr/>
        </p:nvSpPr>
        <p:spPr>
          <a:xfrm>
            <a:off x="9665208" y="1783080"/>
            <a:ext cx="1673352" cy="91440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Week 6</a:t>
            </a:r>
          </a:p>
          <a:p>
            <a:pPr algn="ctr"/>
            <a:r>
              <a:rPr sz="1200" b="0" i="0">
                <a:solidFill>
                  <a:srgbClr val="0B3D91"/>
                </a:solidFill>
              </a:rPr>
              <a:t>23–29 Nov</a:t>
            </a:r>
          </a:p>
        </p:txBody>
      </p:sp>
      <p:sp>
        <p:nvSpPr>
          <p:cNvPr id="19" name="Rounded Rectangle 18"/>
          <p:cNvSpPr/>
          <p:nvPr/>
        </p:nvSpPr>
        <p:spPr>
          <a:xfrm>
            <a:off x="9665208" y="2788920"/>
            <a:ext cx="1673352" cy="41148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300" b="1" i="0">
                <a:solidFill>
                  <a:srgbClr val="262626"/>
                </a:solidFill>
              </a:rPr>
              <a:t>M8 · M9</a:t>
            </a:r>
          </a:p>
        </p:txBody>
      </p:sp>
      <p:sp>
        <p:nvSpPr>
          <p:cNvPr id="20" name="Rounded Rectangle 19"/>
          <p:cNvSpPr/>
          <p:nvPr/>
        </p:nvSpPr>
        <p:spPr>
          <a:xfrm>
            <a:off x="9665208" y="3291840"/>
            <a:ext cx="1673352"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400" b="1" i="0">
                <a:solidFill>
                  <a:srgbClr val="0B3D91"/>
                </a:solidFill>
              </a:rPr>
              <a:t>Test &amp; submit</a:t>
            </a:r>
          </a:p>
          <a:p>
            <a:pPr algn="l"/>
            <a:r>
              <a:rPr sz="1200" b="0" i="0">
                <a:solidFill>
                  <a:srgbClr val="262626"/>
                </a:solidFill>
              </a:rPr>
              <a:t>Repro test, report, rehearsal, submission</a:t>
            </a:r>
          </a:p>
        </p:txBody>
      </p:sp>
      <p:sp>
        <p:nvSpPr>
          <p:cNvPr id="21" name="Rounded Rectangle 20"/>
          <p:cNvSpPr/>
          <p:nvPr/>
        </p:nvSpPr>
        <p:spPr>
          <a:xfrm>
            <a:off x="841248" y="5349240"/>
            <a:ext cx="5166360" cy="685800"/>
          </a:xfrm>
          <a:prstGeom prst="roundRect">
            <a:avLst>
              <a:gd name="adj" fmla="val 12000"/>
            </a:avLst>
          </a:prstGeom>
          <a:solidFill>
            <a:srgbClr val="FB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D7014D"/>
                </a:solidFill>
              </a:rPr>
              <a:t>Core freeze  </a:t>
            </a:r>
            <a:r>
              <a:rPr sz="1500" b="0" i="0">
                <a:solidFill>
                  <a:srgbClr val="262626"/>
                </a:solidFill>
              </a:rPr>
              <a:t>Sun 22 Nov · tag v1.0-core</a:t>
            </a:r>
          </a:p>
        </p:txBody>
      </p:sp>
      <p:sp>
        <p:nvSpPr>
          <p:cNvPr id="22" name="Rounded Rectangle 21"/>
          <p:cNvSpPr/>
          <p:nvPr/>
        </p:nvSpPr>
        <p:spPr>
          <a:xfrm>
            <a:off x="6190488" y="5349240"/>
            <a:ext cx="5166360" cy="685800"/>
          </a:xfrm>
          <a:prstGeom prst="roundRect">
            <a:avLst>
              <a:gd name="adj" fmla="val 12000"/>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38761D"/>
                </a:solidFill>
              </a:rPr>
              <a:t>Submission  </a:t>
            </a:r>
            <a:r>
              <a:rPr sz="1500" b="0" i="0">
                <a:solidFill>
                  <a:srgbClr val="262626"/>
                </a:solidFill>
              </a:rPr>
              <a:t>Sun 29 Nov · tag v1.0-final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week: setup and data</a:t>
            </a:r>
          </a:p>
        </p:txBody>
      </p:sp>
      <p:sp>
        <p:nvSpPr>
          <p:cNvPr id="3" name="Rounded Rectangle 2"/>
          <p:cNvSpPr/>
          <p:nvPr/>
        </p:nvSpPr>
        <p:spPr>
          <a:xfrm>
            <a:off x="841248"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Mon 19</a:t>
            </a:r>
          </a:p>
        </p:txBody>
      </p:sp>
      <p:sp>
        <p:nvSpPr>
          <p:cNvPr id="4" name="Rounded Rectangle 3"/>
          <p:cNvSpPr/>
          <p:nvPr/>
        </p:nvSpPr>
        <p:spPr>
          <a:xfrm>
            <a:off x="841248" y="2286000"/>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W1-01</a:t>
            </a:r>
          </a:p>
          <a:p>
            <a:pPr algn="l"/>
            <a:r>
              <a:rPr sz="1300" b="1" i="0">
                <a:solidFill>
                  <a:srgbClr val="262626"/>
                </a:solidFill>
              </a:rPr>
              <a:t>Kick-off &amp; board</a:t>
            </a:r>
          </a:p>
          <a:p>
            <a:pPr algn="l"/>
            <a:r>
              <a:rPr sz="1200" b="0" i="0">
                <a:solidFill>
                  <a:srgbClr val="595959"/>
                </a:solidFill>
              </a:rPr>
              <a:t>Charis</a:t>
            </a:r>
          </a:p>
        </p:txBody>
      </p:sp>
      <p:sp>
        <p:nvSpPr>
          <p:cNvPr id="5" name="Rounded Rectangle 4"/>
          <p:cNvSpPr/>
          <p:nvPr/>
        </p:nvSpPr>
        <p:spPr>
          <a:xfrm>
            <a:off x="2350008"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Tue 20</a:t>
            </a:r>
          </a:p>
        </p:txBody>
      </p:sp>
      <p:sp>
        <p:nvSpPr>
          <p:cNvPr id="6" name="Rounded Rectangle 5"/>
          <p:cNvSpPr/>
          <p:nvPr/>
        </p:nvSpPr>
        <p:spPr>
          <a:xfrm>
            <a:off x="2350008" y="2286000"/>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W1-02</a:t>
            </a:r>
          </a:p>
          <a:p>
            <a:pPr algn="l"/>
            <a:r>
              <a:rPr sz="1300" b="1" i="0">
                <a:solidFill>
                  <a:srgbClr val="262626"/>
                </a:solidFill>
              </a:rPr>
              <a:t>Repo skeleton</a:t>
            </a:r>
          </a:p>
          <a:p>
            <a:pPr algn="l"/>
            <a:r>
              <a:rPr sz="1200" b="0" i="0">
                <a:solidFill>
                  <a:srgbClr val="595959"/>
                </a:solidFill>
              </a:rPr>
              <a:t>Nehum</a:t>
            </a:r>
          </a:p>
        </p:txBody>
      </p:sp>
      <p:sp>
        <p:nvSpPr>
          <p:cNvPr id="7" name="Rounded Rectangle 6"/>
          <p:cNvSpPr/>
          <p:nvPr/>
        </p:nvSpPr>
        <p:spPr>
          <a:xfrm>
            <a:off x="3858768"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Wed 21</a:t>
            </a:r>
          </a:p>
        </p:txBody>
      </p:sp>
      <p:sp>
        <p:nvSpPr>
          <p:cNvPr id="8" name="Rounded Rectangle 7"/>
          <p:cNvSpPr/>
          <p:nvPr/>
        </p:nvSpPr>
        <p:spPr>
          <a:xfrm>
            <a:off x="3858768" y="2286000"/>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W1-03</a:t>
            </a:r>
          </a:p>
          <a:p>
            <a:pPr algn="l"/>
            <a:r>
              <a:rPr sz="1300" b="1" i="0">
                <a:solidFill>
                  <a:srgbClr val="262626"/>
                </a:solidFill>
              </a:rPr>
              <a:t>Pinned environment</a:t>
            </a:r>
          </a:p>
          <a:p>
            <a:pPr algn="l"/>
            <a:r>
              <a:rPr sz="1200" b="0" i="0">
                <a:solidFill>
                  <a:srgbClr val="595959"/>
                </a:solidFill>
              </a:rPr>
              <a:t>Nehum</a:t>
            </a:r>
          </a:p>
        </p:txBody>
      </p:sp>
      <p:sp>
        <p:nvSpPr>
          <p:cNvPr id="9" name="Rounded Rectangle 8"/>
          <p:cNvSpPr/>
          <p:nvPr/>
        </p:nvSpPr>
        <p:spPr>
          <a:xfrm>
            <a:off x="3858768" y="3310128"/>
            <a:ext cx="1417320" cy="932688"/>
          </a:xfrm>
          <a:prstGeom prst="roundRect">
            <a:avLst>
              <a:gd name="adj" fmla="val 12000"/>
            </a:avLst>
          </a:prstGeom>
          <a:solidFill>
            <a:srgbClr val="FBE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D7014D"/>
                </a:solidFill>
              </a:rPr>
              <a:t>W1-04</a:t>
            </a:r>
          </a:p>
          <a:p>
            <a:pPr algn="l"/>
            <a:r>
              <a:rPr sz="1300" b="1" i="0">
                <a:solidFill>
                  <a:srgbClr val="262626"/>
                </a:solidFill>
              </a:rPr>
              <a:t>GPU &amp; storage</a:t>
            </a:r>
          </a:p>
          <a:p>
            <a:pPr algn="l"/>
            <a:r>
              <a:rPr sz="1200" b="0" i="0">
                <a:solidFill>
                  <a:srgbClr val="595959"/>
                </a:solidFill>
              </a:rPr>
              <a:t>Charis</a:t>
            </a:r>
          </a:p>
        </p:txBody>
      </p:sp>
      <p:sp>
        <p:nvSpPr>
          <p:cNvPr id="10" name="Rounded Rectangle 9"/>
          <p:cNvSpPr/>
          <p:nvPr/>
        </p:nvSpPr>
        <p:spPr>
          <a:xfrm>
            <a:off x="3858768" y="4334256"/>
            <a:ext cx="1417320" cy="932688"/>
          </a:xfrm>
          <a:prstGeom prst="roundRect">
            <a:avLst>
              <a:gd name="adj" fmla="val 12000"/>
            </a:avLst>
          </a:prstGeom>
          <a:solidFill>
            <a:srgbClr val="FBE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D7014D"/>
                </a:solidFill>
              </a:rPr>
              <a:t>W1-05</a:t>
            </a:r>
          </a:p>
          <a:p>
            <a:pPr algn="l"/>
            <a:r>
              <a:rPr sz="1300" b="1" i="0">
                <a:solidFill>
                  <a:srgbClr val="262626"/>
                </a:solidFill>
              </a:rPr>
              <a:t>Download GRID</a:t>
            </a:r>
          </a:p>
          <a:p>
            <a:pPr algn="l"/>
            <a:r>
              <a:rPr sz="1200" b="0" i="0">
                <a:solidFill>
                  <a:srgbClr val="595959"/>
                </a:solidFill>
              </a:rPr>
              <a:t>Faith</a:t>
            </a:r>
          </a:p>
        </p:txBody>
      </p:sp>
      <p:sp>
        <p:nvSpPr>
          <p:cNvPr id="11" name="Rounded Rectangle 10"/>
          <p:cNvSpPr/>
          <p:nvPr/>
        </p:nvSpPr>
        <p:spPr>
          <a:xfrm>
            <a:off x="5367527"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Thu 22</a:t>
            </a:r>
          </a:p>
        </p:txBody>
      </p:sp>
      <p:sp>
        <p:nvSpPr>
          <p:cNvPr id="12" name="Rounded Rectangle 11"/>
          <p:cNvSpPr/>
          <p:nvPr/>
        </p:nvSpPr>
        <p:spPr>
          <a:xfrm>
            <a:off x="5367527" y="2286000"/>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W1-06</a:t>
            </a:r>
          </a:p>
          <a:p>
            <a:pPr algn="l"/>
            <a:r>
              <a:rPr sz="1300" b="1" i="0">
                <a:solidFill>
                  <a:srgbClr val="262626"/>
                </a:solidFill>
              </a:rPr>
              <a:t>MUSAN noise pools</a:t>
            </a:r>
          </a:p>
          <a:p>
            <a:pPr algn="l"/>
            <a:r>
              <a:rPr sz="1200" b="0" i="0">
                <a:solidFill>
                  <a:srgbClr val="595959"/>
                </a:solidFill>
              </a:rPr>
              <a:t>Lisa</a:t>
            </a:r>
          </a:p>
        </p:txBody>
      </p:sp>
      <p:sp>
        <p:nvSpPr>
          <p:cNvPr id="13" name="Rounded Rectangle 12"/>
          <p:cNvSpPr/>
          <p:nvPr/>
        </p:nvSpPr>
        <p:spPr>
          <a:xfrm>
            <a:off x="5367527" y="3310128"/>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W1-11</a:t>
            </a:r>
          </a:p>
          <a:p>
            <a:pPr algn="l"/>
            <a:r>
              <a:rPr sz="1300" b="1" i="0">
                <a:solidFill>
                  <a:srgbClr val="262626"/>
                </a:solidFill>
              </a:rPr>
              <a:t>Interface spec</a:t>
            </a:r>
          </a:p>
          <a:p>
            <a:pPr algn="l"/>
            <a:r>
              <a:rPr sz="1200" b="0" i="0">
                <a:solidFill>
                  <a:srgbClr val="595959"/>
                </a:solidFill>
              </a:rPr>
              <a:t>Isabelle</a:t>
            </a:r>
          </a:p>
        </p:txBody>
      </p:sp>
      <p:sp>
        <p:nvSpPr>
          <p:cNvPr id="14" name="Rounded Rectangle 13"/>
          <p:cNvSpPr/>
          <p:nvPr/>
        </p:nvSpPr>
        <p:spPr>
          <a:xfrm>
            <a:off x="6876288"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Fri 23</a:t>
            </a:r>
          </a:p>
        </p:txBody>
      </p:sp>
      <p:sp>
        <p:nvSpPr>
          <p:cNvPr id="15" name="Rounded Rectangle 14"/>
          <p:cNvSpPr/>
          <p:nvPr/>
        </p:nvSpPr>
        <p:spPr>
          <a:xfrm>
            <a:off x="6876288" y="2286000"/>
            <a:ext cx="1417320" cy="932688"/>
          </a:xfrm>
          <a:prstGeom prst="roundRect">
            <a:avLst>
              <a:gd name="adj" fmla="val 12000"/>
            </a:avLst>
          </a:prstGeom>
          <a:solidFill>
            <a:srgbClr val="FBE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D7014D"/>
                </a:solidFill>
              </a:rPr>
              <a:t>W1-07</a:t>
            </a:r>
          </a:p>
          <a:p>
            <a:pPr algn="l"/>
            <a:r>
              <a:rPr sz="1300" b="1" i="0">
                <a:solidFill>
                  <a:srgbClr val="262626"/>
                </a:solidFill>
              </a:rPr>
              <a:t>Integrity checker</a:t>
            </a:r>
          </a:p>
          <a:p>
            <a:pPr algn="l"/>
            <a:r>
              <a:rPr sz="1200" b="0" i="0">
                <a:solidFill>
                  <a:srgbClr val="595959"/>
                </a:solidFill>
              </a:rPr>
              <a:t>Faith</a:t>
            </a:r>
          </a:p>
        </p:txBody>
      </p:sp>
      <p:sp>
        <p:nvSpPr>
          <p:cNvPr id="16" name="Rounded Rectangle 15"/>
          <p:cNvSpPr/>
          <p:nvPr/>
        </p:nvSpPr>
        <p:spPr>
          <a:xfrm>
            <a:off x="6876288" y="3310128"/>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W1-09</a:t>
            </a:r>
          </a:p>
          <a:p>
            <a:pPr algn="l"/>
            <a:r>
              <a:rPr sz="1300" b="1" i="0">
                <a:solidFill>
                  <a:srgbClr val="262626"/>
                </a:solidFill>
              </a:rPr>
              <a:t>Tokeniser</a:t>
            </a:r>
          </a:p>
          <a:p>
            <a:pPr algn="l"/>
            <a:r>
              <a:rPr sz="1200" b="0" i="0">
                <a:solidFill>
                  <a:srgbClr val="595959"/>
                </a:solidFill>
              </a:rPr>
              <a:t>Lisa</a:t>
            </a:r>
          </a:p>
        </p:txBody>
      </p:sp>
      <p:sp>
        <p:nvSpPr>
          <p:cNvPr id="17" name="Rounded Rectangle 16"/>
          <p:cNvSpPr/>
          <p:nvPr/>
        </p:nvSpPr>
        <p:spPr>
          <a:xfrm>
            <a:off x="6876288" y="4334256"/>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W1-12</a:t>
            </a:r>
          </a:p>
          <a:p>
            <a:pPr algn="l"/>
            <a:r>
              <a:rPr sz="1300" b="1" i="0">
                <a:solidFill>
                  <a:srgbClr val="262626"/>
                </a:solidFill>
              </a:rPr>
              <a:t>Tests &amp; CI</a:t>
            </a:r>
          </a:p>
          <a:p>
            <a:pPr algn="l"/>
            <a:r>
              <a:rPr sz="1200" b="0" i="0">
                <a:solidFill>
                  <a:srgbClr val="595959"/>
                </a:solidFill>
              </a:rPr>
              <a:t>Nehum</a:t>
            </a:r>
          </a:p>
        </p:txBody>
      </p:sp>
      <p:sp>
        <p:nvSpPr>
          <p:cNvPr id="18" name="Rounded Rectangle 17"/>
          <p:cNvSpPr/>
          <p:nvPr/>
        </p:nvSpPr>
        <p:spPr>
          <a:xfrm>
            <a:off x="8385048"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Sat 24</a:t>
            </a:r>
          </a:p>
        </p:txBody>
      </p:sp>
      <p:sp>
        <p:nvSpPr>
          <p:cNvPr id="19" name="Rounded Rectangle 18"/>
          <p:cNvSpPr/>
          <p:nvPr/>
        </p:nvSpPr>
        <p:spPr>
          <a:xfrm>
            <a:off x="8385048" y="2286000"/>
            <a:ext cx="1417320" cy="932688"/>
          </a:xfrm>
          <a:prstGeom prst="roundRect">
            <a:avLst>
              <a:gd name="adj" fmla="val 12000"/>
            </a:avLst>
          </a:prstGeom>
          <a:solidFill>
            <a:srgbClr val="FBE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D7014D"/>
                </a:solidFill>
              </a:rPr>
              <a:t>W1-08</a:t>
            </a:r>
          </a:p>
          <a:p>
            <a:pPr algn="l"/>
            <a:r>
              <a:rPr sz="1300" b="1" i="0">
                <a:solidFill>
                  <a:srgbClr val="262626"/>
                </a:solidFill>
              </a:rPr>
              <a:t>Speaker split</a:t>
            </a:r>
          </a:p>
          <a:p>
            <a:pPr algn="l"/>
            <a:r>
              <a:rPr sz="1200" b="0" i="0">
                <a:solidFill>
                  <a:srgbClr val="595959"/>
                </a:solidFill>
              </a:rPr>
              <a:t>Faith</a:t>
            </a:r>
          </a:p>
        </p:txBody>
      </p:sp>
      <p:sp>
        <p:nvSpPr>
          <p:cNvPr id="20" name="Rounded Rectangle 19"/>
          <p:cNvSpPr/>
          <p:nvPr/>
        </p:nvSpPr>
        <p:spPr>
          <a:xfrm>
            <a:off x="8385048" y="3310128"/>
            <a:ext cx="1417320" cy="932688"/>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W1-10</a:t>
            </a:r>
          </a:p>
          <a:p>
            <a:pPr algn="l"/>
            <a:r>
              <a:rPr sz="1300" b="1" i="0">
                <a:solidFill>
                  <a:srgbClr val="262626"/>
                </a:solidFill>
              </a:rPr>
              <a:t>Mouth-crop prototype</a:t>
            </a:r>
          </a:p>
          <a:p>
            <a:pPr algn="l"/>
            <a:r>
              <a:rPr sz="1200" b="0" i="0">
                <a:solidFill>
                  <a:srgbClr val="595959"/>
                </a:solidFill>
              </a:rPr>
              <a:t>Cole</a:t>
            </a:r>
          </a:p>
        </p:txBody>
      </p:sp>
      <p:sp>
        <p:nvSpPr>
          <p:cNvPr id="21" name="Rounded Rectangle 20"/>
          <p:cNvSpPr/>
          <p:nvPr/>
        </p:nvSpPr>
        <p:spPr>
          <a:xfrm>
            <a:off x="9893807" y="1783080"/>
            <a:ext cx="1417320" cy="41148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400" b="1" i="0">
                <a:solidFill>
                  <a:srgbClr val="FFFFFF"/>
                </a:solidFill>
              </a:rPr>
              <a:t>Sun 25</a:t>
            </a:r>
          </a:p>
        </p:txBody>
      </p:sp>
      <p:sp>
        <p:nvSpPr>
          <p:cNvPr id="22" name="Rounded Rectangle 21"/>
          <p:cNvSpPr/>
          <p:nvPr/>
        </p:nvSpPr>
        <p:spPr>
          <a:xfrm>
            <a:off x="9893807" y="2286000"/>
            <a:ext cx="1417320" cy="932688"/>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100" b="1" i="0">
                <a:solidFill>
                  <a:srgbClr val="0B3D91"/>
                </a:solidFill>
              </a:rPr>
              <a:t>M1</a:t>
            </a:r>
          </a:p>
          <a:p>
            <a:pPr algn="l"/>
            <a:r>
              <a:rPr sz="1300" b="1" i="0">
                <a:solidFill>
                  <a:srgbClr val="262626"/>
                </a:solidFill>
              </a:rPr>
              <a:t>Milestone review</a:t>
            </a:r>
          </a:p>
          <a:p>
            <a:pPr algn="l"/>
            <a:r>
              <a:rPr sz="1200" b="0" i="0">
                <a:solidFill>
                  <a:srgbClr val="595959"/>
                </a:solidFill>
              </a:rPr>
              <a:t>All</a:t>
            </a:r>
          </a:p>
        </p:txBody>
      </p:sp>
      <p:sp>
        <p:nvSpPr>
          <p:cNvPr id="23" name="Rounded Rectangle 22"/>
          <p:cNvSpPr/>
          <p:nvPr/>
        </p:nvSpPr>
        <p:spPr>
          <a:xfrm>
            <a:off x="841248" y="5440680"/>
            <a:ext cx="10515600" cy="594360"/>
          </a:xfrm>
          <a:prstGeom prst="roundRect">
            <a:avLst>
              <a:gd name="adj" fmla="val 12000"/>
            </a:avLst>
          </a:prstGeom>
          <a:solidFill>
            <a:srgbClr val="FBE3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D7014D"/>
                </a:solidFill>
              </a:rPr>
              <a:t>Critical path:  </a:t>
            </a:r>
            <a:r>
              <a:rPr sz="1500" b="0" i="0">
                <a:solidFill>
                  <a:srgbClr val="262626"/>
                </a:solidFill>
              </a:rPr>
              <a:t>GPU + storage → GRID download → integrity report → splits.csv (never regenerated)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a card gets to Done</a:t>
            </a:r>
          </a:p>
        </p:txBody>
      </p:sp>
      <p:sp>
        <p:nvSpPr>
          <p:cNvPr id="3" name="Rounded Rectangle 2"/>
          <p:cNvSpPr/>
          <p:nvPr/>
        </p:nvSpPr>
        <p:spPr>
          <a:xfrm>
            <a:off x="841248" y="1783080"/>
            <a:ext cx="2240280" cy="109728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Week N</a:t>
            </a:r>
          </a:p>
          <a:p>
            <a:pPr algn="ctr"/>
            <a:r>
              <a:rPr sz="1300" b="0" i="0">
                <a:solidFill>
                  <a:srgbClr val="595959"/>
                </a:solidFill>
              </a:rPr>
              <a:t>Card waits in
its week list</a:t>
            </a:r>
          </a:p>
        </p:txBody>
      </p:sp>
      <p:cxnSp>
        <p:nvCxnSpPr>
          <p:cNvPr id="4" name="Connector 3"/>
          <p:cNvCxnSpPr/>
          <p:nvPr/>
        </p:nvCxnSpPr>
        <p:spPr>
          <a:xfrm>
            <a:off x="3127248" y="2331720"/>
            <a:ext cx="36576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538728" y="1783080"/>
            <a:ext cx="2240280" cy="109728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In Progress</a:t>
            </a:r>
          </a:p>
          <a:p>
            <a:pPr algn="ctr"/>
            <a:r>
              <a:rPr sz="1300" b="0" i="0">
                <a:solidFill>
                  <a:srgbClr val="595959"/>
                </a:solidFill>
              </a:rPr>
              <a:t>Owner starts
the work</a:t>
            </a:r>
          </a:p>
        </p:txBody>
      </p:sp>
      <p:cxnSp>
        <p:nvCxnSpPr>
          <p:cNvPr id="6" name="Connector 5"/>
          <p:cNvCxnSpPr/>
          <p:nvPr/>
        </p:nvCxnSpPr>
        <p:spPr>
          <a:xfrm>
            <a:off x="5824728" y="2331720"/>
            <a:ext cx="36576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36208" y="1783080"/>
            <a:ext cx="2240280" cy="1097280"/>
          </a:xfrm>
          <a:prstGeom prst="roundRect">
            <a:avLst>
              <a:gd name="adj" fmla="val 12000"/>
            </a:avLst>
          </a:prstGeom>
          <a:solidFill>
            <a:srgbClr val="DCE6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In Review</a:t>
            </a:r>
          </a:p>
          <a:p>
            <a:pPr algn="ctr"/>
            <a:r>
              <a:rPr sz="1300" b="0" i="0">
                <a:solidFill>
                  <a:srgbClr val="595959"/>
                </a:solidFill>
              </a:rPr>
              <a:t>Pull request
open</a:t>
            </a:r>
          </a:p>
        </p:txBody>
      </p:sp>
      <p:cxnSp>
        <p:nvCxnSpPr>
          <p:cNvPr id="8" name="Connector 7"/>
          <p:cNvCxnSpPr/>
          <p:nvPr/>
        </p:nvCxnSpPr>
        <p:spPr>
          <a:xfrm>
            <a:off x="8522208" y="2331720"/>
            <a:ext cx="36576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933688" y="1783080"/>
            <a:ext cx="2240280" cy="1097280"/>
          </a:xfrm>
          <a:prstGeom prst="roundRect">
            <a:avLst>
              <a:gd name="adj" fmla="val 12000"/>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700" b="1" i="0">
                <a:solidFill>
                  <a:srgbClr val="0B3D91"/>
                </a:solidFill>
              </a:rPr>
              <a:t>Done</a:t>
            </a:r>
          </a:p>
          <a:p>
            <a:pPr algn="ctr"/>
            <a:r>
              <a:rPr sz="1300" b="0" i="0">
                <a:solidFill>
                  <a:srgbClr val="595959"/>
                </a:solidFill>
              </a:rPr>
              <a:t>Reviewer
approves</a:t>
            </a:r>
          </a:p>
        </p:txBody>
      </p:sp>
      <p:sp>
        <p:nvSpPr>
          <p:cNvPr id="10" name="TextBox 9"/>
          <p:cNvSpPr txBox="1"/>
          <p:nvPr/>
        </p:nvSpPr>
        <p:spPr>
          <a:xfrm>
            <a:off x="841248" y="3291840"/>
            <a:ext cx="5120640" cy="411480"/>
          </a:xfrm>
          <a:prstGeom prst="rect">
            <a:avLst/>
          </a:prstGeom>
          <a:noFill/>
        </p:spPr>
        <p:txBody>
          <a:bodyPr wrap="square" anchor="t" lIns="0" rIns="0" tIns="0" bIns="0">
            <a:spAutoFit/>
          </a:bodyPr>
          <a:lstStyle/>
          <a:p>
            <a:pPr algn="l"/>
            <a:r>
              <a:rPr sz="1800" b="1" i="0">
                <a:solidFill>
                  <a:srgbClr val="0B3D91"/>
                </a:solidFill>
              </a:rPr>
              <a:t>Code</a:t>
            </a:r>
          </a:p>
        </p:txBody>
      </p:sp>
      <p:sp>
        <p:nvSpPr>
          <p:cNvPr id="11" name="TextBox 10"/>
          <p:cNvSpPr txBox="1"/>
          <p:nvPr/>
        </p:nvSpPr>
        <p:spPr>
          <a:xfrm>
            <a:off x="841248" y="3794760"/>
            <a:ext cx="5120640" cy="2286000"/>
          </a:xfrm>
          <a:prstGeom prst="rect">
            <a:avLst/>
          </a:prstGeom>
          <a:noFill/>
        </p:spPr>
        <p:txBody>
          <a:bodyPr wrap="square">
            <a:spAutoFit/>
          </a:bodyPr>
          <a:lstStyle/>
          <a:p>
            <a:pPr marL="274320" indent="-274320">
              <a:spcAft>
                <a:spcPts val="800"/>
              </a:spcAft>
              <a:buChar char="•"/>
            </a:pPr>
            <a:r>
              <a:rPr sz="1800">
                <a:solidFill>
                  <a:srgbClr val="262626"/>
                </a:solidFill>
              </a:rPr>
              <a:t>All code through a pull request; the reviewer approves</a:t>
            </a:r>
          </a:p>
          <a:p>
            <a:pPr marL="274320" indent="-274320">
              <a:spcAft>
                <a:spcPts val="800"/>
              </a:spcAft>
              <a:buChar char="•"/>
            </a:pPr>
            <a:r>
              <a:rPr sz="1800">
                <a:solidFill>
                  <a:srgbClr val="262626"/>
                </a:solidFill>
              </a:rPr>
              <a:t>Every experiment has a committed YAML config</a:t>
            </a:r>
          </a:p>
          <a:p>
            <a:pPr marL="274320" indent="-274320">
              <a:spcAft>
                <a:spcPts val="800"/>
              </a:spcAft>
              <a:buChar char="•"/>
            </a:pPr>
            <a:r>
              <a:rPr sz="1800">
                <a:solidFill>
                  <a:srgbClr val="262626"/>
                </a:solidFill>
              </a:rPr>
              <a:t>Never commit data, checkpoints or recordings</a:t>
            </a:r>
          </a:p>
          <a:p>
            <a:pPr marL="274320" indent="-274320">
              <a:spcAft>
                <a:spcPts val="800"/>
              </a:spcAft>
              <a:buChar char="•"/>
            </a:pPr>
            <a:r>
              <a:rPr sz="1800">
                <a:solidFill>
                  <a:srgbClr val="262626"/>
                </a:solidFill>
              </a:rPr>
              <a:t>Never regenerate splits.csv after Week 1</a:t>
            </a:r>
          </a:p>
        </p:txBody>
      </p:sp>
      <p:sp>
        <p:nvSpPr>
          <p:cNvPr id="12" name="TextBox 11"/>
          <p:cNvSpPr txBox="1"/>
          <p:nvPr/>
        </p:nvSpPr>
        <p:spPr>
          <a:xfrm>
            <a:off x="6236208" y="3291840"/>
            <a:ext cx="5120640" cy="411480"/>
          </a:xfrm>
          <a:prstGeom prst="rect">
            <a:avLst/>
          </a:prstGeom>
          <a:noFill/>
        </p:spPr>
        <p:txBody>
          <a:bodyPr wrap="square" anchor="t" lIns="0" rIns="0" tIns="0" bIns="0">
            <a:spAutoFit/>
          </a:bodyPr>
          <a:lstStyle/>
          <a:p>
            <a:pPr algn="l"/>
            <a:r>
              <a:rPr sz="1800" b="1" i="0">
                <a:solidFill>
                  <a:srgbClr val="0B3D91"/>
                </a:solidFill>
              </a:rPr>
              <a:t>Communication</a:t>
            </a:r>
          </a:p>
        </p:txBody>
      </p:sp>
      <p:sp>
        <p:nvSpPr>
          <p:cNvPr id="13" name="TextBox 12"/>
          <p:cNvSpPr txBox="1"/>
          <p:nvPr/>
        </p:nvSpPr>
        <p:spPr>
          <a:xfrm>
            <a:off x="6236208" y="3794760"/>
            <a:ext cx="5120640" cy="2286000"/>
          </a:xfrm>
          <a:prstGeom prst="rect">
            <a:avLst/>
          </a:prstGeom>
          <a:noFill/>
        </p:spPr>
        <p:txBody>
          <a:bodyPr wrap="square">
            <a:spAutoFit/>
          </a:bodyPr>
          <a:lstStyle/>
          <a:p>
            <a:pPr marL="274320" indent="-274320">
              <a:spcAft>
                <a:spcPts val="800"/>
              </a:spcAft>
              <a:buChar char="•"/>
            </a:pPr>
            <a:r>
              <a:rPr sz="1800">
                <a:solidFill>
                  <a:srgbClr val="262626"/>
                </a:solidFill>
              </a:rPr>
              <a:t>Daily async update: done / doing / blocked</a:t>
            </a:r>
          </a:p>
          <a:p>
            <a:pPr marL="274320" indent="-274320">
              <a:spcAft>
                <a:spcPts val="800"/>
              </a:spcAft>
              <a:buChar char="•"/>
            </a:pPr>
            <a:r>
              <a:rPr sz="1800">
                <a:solidFill>
                  <a:srgbClr val="262626"/>
                </a:solidFill>
              </a:rPr>
              <a:t>Weekly review, Friday, 1 hour</a:t>
            </a:r>
          </a:p>
          <a:p>
            <a:pPr marL="274320" indent="-274320">
              <a:spcAft>
                <a:spcPts val="800"/>
              </a:spcAft>
              <a:buChar char="•"/>
            </a:pPr>
            <a:r>
              <a:rPr sz="1800">
                <a:solidFill>
                  <a:srgbClr val="262626"/>
                </a:solidFill>
              </a:rPr>
              <a:t>Blocked? Comment on the card and @Charis</a:t>
            </a:r>
          </a:p>
          <a:p>
            <a:pPr marL="274320" indent="-274320">
              <a:spcAft>
                <a:spcPts val="800"/>
              </a:spcAft>
              <a:buChar char="•"/>
            </a:pPr>
            <a:r>
              <a:rPr sz="1800">
                <a:solidFill>
                  <a:srgbClr val="262626"/>
                </a:solidFill>
              </a:rPr>
              <a:t>Unfinished card moves on with a reason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and what we drop first</a:t>
            </a:r>
          </a:p>
        </p:txBody>
      </p:sp>
      <p:graphicFrame>
        <p:nvGraphicFramePr>
          <p:cNvPr id="3" name="Table 2"/>
          <p:cNvGraphicFramePr>
            <a:graphicFrameLocks noGrp="1"/>
          </p:cNvGraphicFramePr>
          <p:nvPr/>
        </p:nvGraphicFramePr>
        <p:xfrm>
          <a:off x="841248" y="1783080"/>
          <a:ext cx="6309360" cy="3291840"/>
        </p:xfrm>
        <a:graphic>
          <a:graphicData uri="http://schemas.openxmlformats.org/drawingml/2006/table">
            <a:tbl>
              <a:tblPr firstRow="1" bandRow="1">
                <a:tableStyleId>{5C22544A-7EE6-4342-B048-85BDC9FD1C3A}</a:tableStyleId>
              </a:tblPr>
              <a:tblGrid>
                <a:gridCol w="2514600"/>
                <a:gridCol w="3794760"/>
              </a:tblGrid>
              <a:tr h="548640">
                <a:tc>
                  <a:txBody>
                    <a:bodyPr wrap="square" anchor="ctr" lIns="45720" rIns="45720"/>
                    <a:lstStyle/>
                    <a:p>
                      <a:pPr algn="l"/>
                      <a:r>
                        <a:rPr sz="1400" b="1" i="0">
                          <a:solidFill>
                            <a:srgbClr val="FFFFFF"/>
                          </a:solidFill>
                        </a:rPr>
                        <a:t>Risk</a:t>
                      </a:r>
                    </a:p>
                  </a:txBody>
                  <a:tcPr marL="91440" marR="91440" anchor="ctr">
                    <a:solidFill>
                      <a:srgbClr val="0B3D91"/>
                    </a:solidFill>
                  </a:tcPr>
                </a:tc>
                <a:tc>
                  <a:txBody>
                    <a:bodyPr wrap="square" anchor="ctr" lIns="45720" rIns="45720"/>
                    <a:lstStyle/>
                    <a:p>
                      <a:pPr algn="l"/>
                      <a:r>
                        <a:rPr sz="1400" b="1" i="0">
                          <a:solidFill>
                            <a:srgbClr val="FFFFFF"/>
                          </a:solidFill>
                        </a:rPr>
                        <a:t>Mitigation</a:t>
                      </a:r>
                    </a:p>
                  </a:txBody>
                  <a:tcPr marL="91440" marR="91440" anchor="ctr">
                    <a:solidFill>
                      <a:srgbClr val="0B3D91"/>
                    </a:solidFill>
                  </a:tcPr>
                </a:tc>
              </a:tr>
              <a:tr h="548640">
                <a:tc>
                  <a:txBody>
                    <a:bodyPr wrap="square" anchor="ctr" lIns="45720" rIns="45720"/>
                    <a:lstStyle/>
                    <a:p>
                      <a:pPr algn="l"/>
                      <a:r>
                        <a:rPr sz="1400" b="1" i="0">
                          <a:solidFill>
                            <a:srgbClr val="262626"/>
                          </a:solidFill>
                        </a:rPr>
                        <a:t>No GPU / disk</a:t>
                      </a:r>
                    </a:p>
                  </a:txBody>
                  <a:tcPr marL="91440" marR="91440" anchor="ctr">
                    <a:solidFill>
                      <a:srgbClr val="FFFFFF"/>
                    </a:solidFill>
                  </a:tcPr>
                </a:tc>
                <a:tc>
                  <a:txBody>
                    <a:bodyPr wrap="square" anchor="ctr" lIns="45720" rIns="45720"/>
                    <a:lstStyle/>
                    <a:p>
                      <a:pPr algn="l"/>
                      <a:r>
                        <a:rPr sz="1400" b="0" i="0">
                          <a:solidFill>
                            <a:srgbClr val="262626"/>
                          </a:solidFill>
                        </a:rPr>
                        <a:t>Confirm by Wed 21 Oct; escalate to lecturer</a:t>
                      </a:r>
                    </a:p>
                  </a:txBody>
                  <a:tcPr marL="91440" marR="91440" anchor="ctr">
                    <a:solidFill>
                      <a:srgbClr val="FFFFFF"/>
                    </a:solidFill>
                  </a:tcPr>
                </a:tc>
              </a:tr>
              <a:tr h="548640">
                <a:tc>
                  <a:txBody>
                    <a:bodyPr wrap="square" anchor="ctr" lIns="45720" rIns="45720"/>
                    <a:lstStyle/>
                    <a:p>
                      <a:pPr algn="l"/>
                      <a:r>
                        <a:rPr sz="1400" b="1" i="0">
                          <a:solidFill>
                            <a:srgbClr val="262626"/>
                          </a:solidFill>
                        </a:rPr>
                        <a:t>MediaPipe / Python mismatch</a:t>
                      </a:r>
                    </a:p>
                  </a:txBody>
                  <a:tcPr marL="91440" marR="91440" anchor="ctr">
                    <a:solidFill>
                      <a:srgbClr val="F2F2F2"/>
                    </a:solidFill>
                  </a:tcPr>
                </a:tc>
                <a:tc>
                  <a:txBody>
                    <a:bodyPr wrap="square" anchor="ctr" lIns="45720" rIns="45720"/>
                    <a:lstStyle/>
                    <a:p>
                      <a:pPr algn="l"/>
                      <a:r>
                        <a:rPr sz="1400" b="0" i="0">
                          <a:solidFill>
                            <a:srgbClr val="262626"/>
                          </a:solidFill>
                        </a:rPr>
                        <a:t>check_env.py on all six machines + GPU</a:t>
                      </a:r>
                    </a:p>
                  </a:txBody>
                  <a:tcPr marL="91440" marR="91440" anchor="ctr">
                    <a:solidFill>
                      <a:srgbClr val="F2F2F2"/>
                    </a:solidFill>
                  </a:tcPr>
                </a:tc>
              </a:tr>
              <a:tr h="548640">
                <a:tc>
                  <a:txBody>
                    <a:bodyPr wrap="square" anchor="ctr" lIns="45720" rIns="45720"/>
                    <a:lstStyle/>
                    <a:p>
                      <a:pPr algn="l"/>
                      <a:r>
                        <a:rPr sz="1400" b="1" i="0">
                          <a:solidFill>
                            <a:srgbClr val="262626"/>
                          </a:solidFill>
                        </a:rPr>
                        <a:t>Visual model learns slowly</a:t>
                      </a:r>
                    </a:p>
                  </a:txBody>
                  <a:tcPr marL="91440" marR="91440" anchor="ctr">
                    <a:solidFill>
                      <a:srgbClr val="FFFFFF"/>
                    </a:solidFill>
                  </a:tcPr>
                </a:tc>
                <a:tc>
                  <a:txBody>
                    <a:bodyPr wrap="square" anchor="ctr" lIns="45720" rIns="45720"/>
                    <a:lstStyle/>
                    <a:p>
                      <a:pPr algn="l"/>
                      <a:r>
                        <a:rPr sz="1400" b="0" i="0">
                          <a:solidFill>
                            <a:srgbClr val="262626"/>
                          </a:solidFill>
                        </a:rPr>
                        <a:t>Pre-train P's visual stream from B2 (W4-05)</a:t>
                      </a:r>
                    </a:p>
                  </a:txBody>
                  <a:tcPr marL="91440" marR="91440" anchor="ctr">
                    <a:solidFill>
                      <a:srgbClr val="FFFFFF"/>
                    </a:solidFill>
                  </a:tcPr>
                </a:tc>
              </a:tr>
              <a:tr h="548640">
                <a:tc>
                  <a:txBody>
                    <a:bodyPr wrap="square" anchor="ctr" lIns="45720" rIns="45720"/>
                    <a:lstStyle/>
                    <a:p>
                      <a:pPr algn="l"/>
                      <a:r>
                        <a:rPr sz="1400" b="1" i="0">
                          <a:solidFill>
                            <a:srgbClr val="262626"/>
                          </a:solidFill>
                        </a:rPr>
                        <a:t>Speaker leakage</a:t>
                      </a:r>
                    </a:p>
                  </a:txBody>
                  <a:tcPr marL="91440" marR="91440" anchor="ctr">
                    <a:solidFill>
                      <a:srgbClr val="F2F2F2"/>
                    </a:solidFill>
                  </a:tcPr>
                </a:tc>
                <a:tc>
                  <a:txBody>
                    <a:bodyPr wrap="square" anchor="ctr" lIns="45720" rIns="45720"/>
                    <a:lstStyle/>
                    <a:p>
                      <a:pPr algn="l"/>
                      <a:r>
                        <a:rPr sz="1400" b="0" i="0">
                          <a:solidFill>
                            <a:srgbClr val="262626"/>
                          </a:solidFill>
                        </a:rPr>
                        <a:t>One splits.csv + disjointness test</a:t>
                      </a:r>
                    </a:p>
                  </a:txBody>
                  <a:tcPr marL="91440" marR="91440" anchor="ctr">
                    <a:solidFill>
                      <a:srgbClr val="F2F2F2"/>
                    </a:solidFill>
                  </a:tcPr>
                </a:tc>
              </a:tr>
              <a:tr h="548640">
                <a:tc>
                  <a:txBody>
                    <a:bodyPr wrap="square" anchor="ctr" lIns="45720" rIns="45720"/>
                    <a:lstStyle/>
                    <a:p>
                      <a:pPr algn="l"/>
                      <a:r>
                        <a:rPr sz="1400" b="1" i="0">
                          <a:solidFill>
                            <a:srgbClr val="262626"/>
                          </a:solidFill>
                        </a:rPr>
                        <a:t>Fusion does not beat B1</a:t>
                      </a:r>
                    </a:p>
                  </a:txBody>
                  <a:tcPr marL="91440" marR="91440" anchor="ctr">
                    <a:solidFill>
                      <a:srgbClr val="FFFFFF"/>
                    </a:solidFill>
                  </a:tcPr>
                </a:tc>
                <a:tc>
                  <a:txBody>
                    <a:bodyPr wrap="square" anchor="ctr" lIns="45720" rIns="45720"/>
                    <a:lstStyle/>
                    <a:p>
                      <a:pPr algn="l"/>
                      <a:r>
                        <a:rPr sz="1400" b="0" i="0">
                          <a:solidFill>
                            <a:srgbClr val="262626"/>
                          </a:solidFill>
                        </a:rPr>
                        <a:t>Diagnose and report it honestly</a:t>
                      </a:r>
                    </a:p>
                  </a:txBody>
                  <a:tcPr marL="91440" marR="91440" anchor="ctr">
                    <a:solidFill>
                      <a:srgbClr val="FFFFFF"/>
                    </a:solidFill>
                  </a:tcPr>
                </a:tc>
              </a:tr>
            </a:tbl>
          </a:graphicData>
        </a:graphic>
      </p:graphicFrame>
      <p:sp>
        <p:nvSpPr>
          <p:cNvPr id="4" name="TextBox 3"/>
          <p:cNvSpPr txBox="1"/>
          <p:nvPr/>
        </p:nvSpPr>
        <p:spPr>
          <a:xfrm>
            <a:off x="7498079" y="1783080"/>
            <a:ext cx="3840480" cy="411480"/>
          </a:xfrm>
          <a:prstGeom prst="rect">
            <a:avLst/>
          </a:prstGeom>
          <a:noFill/>
        </p:spPr>
        <p:txBody>
          <a:bodyPr wrap="square" anchor="t" lIns="0" rIns="0" tIns="0" bIns="0">
            <a:spAutoFit/>
          </a:bodyPr>
          <a:lstStyle/>
          <a:p>
            <a:pPr algn="l"/>
            <a:r>
              <a:rPr sz="1600" b="1" i="0">
                <a:solidFill>
                  <a:srgbClr val="0B3D91"/>
                </a:solidFill>
              </a:rPr>
              <a:t>If we slip, drop in this order</a:t>
            </a:r>
          </a:p>
        </p:txBody>
      </p:sp>
      <p:sp>
        <p:nvSpPr>
          <p:cNvPr id="5" name="Oval 4"/>
          <p:cNvSpPr/>
          <p:nvPr/>
        </p:nvSpPr>
        <p:spPr>
          <a:xfrm>
            <a:off x="7498079" y="2240280"/>
            <a:ext cx="457200" cy="457200"/>
          </a:xfrm>
          <a:prstGeom prst="ellipse">
            <a:avLst/>
          </a:prstGeom>
          <a:solidFill>
            <a:srgbClr val="D70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rPr>
              <a:t>1</a:t>
            </a:r>
          </a:p>
        </p:txBody>
      </p:sp>
      <p:sp>
        <p:nvSpPr>
          <p:cNvPr id="6" name="TextBox 5"/>
          <p:cNvSpPr txBox="1"/>
          <p:nvPr/>
        </p:nvSpPr>
        <p:spPr>
          <a:xfrm>
            <a:off x="8092440" y="2240280"/>
            <a:ext cx="3246120" cy="457200"/>
          </a:xfrm>
          <a:prstGeom prst="rect">
            <a:avLst/>
          </a:prstGeom>
          <a:noFill/>
        </p:spPr>
        <p:txBody>
          <a:bodyPr wrap="square" anchor="ctr" lIns="0" rIns="0" tIns="0" bIns="0">
            <a:spAutoFit/>
          </a:bodyPr>
          <a:lstStyle/>
          <a:p>
            <a:pPr algn="l"/>
            <a:r>
              <a:rPr sz="1500" b="0" i="0">
                <a:solidFill>
                  <a:srgbClr val="262626"/>
                </a:solidFill>
              </a:rPr>
              <a:t>Optional extensions</a:t>
            </a:r>
          </a:p>
        </p:txBody>
      </p:sp>
      <p:sp>
        <p:nvSpPr>
          <p:cNvPr id="7" name="Oval 6"/>
          <p:cNvSpPr/>
          <p:nvPr/>
        </p:nvSpPr>
        <p:spPr>
          <a:xfrm>
            <a:off x="7498079" y="2807208"/>
            <a:ext cx="457200" cy="457200"/>
          </a:xfrm>
          <a:prstGeom prst="ellipse">
            <a:avLst/>
          </a:prstGeom>
          <a:solidFill>
            <a:srgbClr val="D70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rPr>
              <a:t>2</a:t>
            </a:r>
          </a:p>
        </p:txBody>
      </p:sp>
      <p:sp>
        <p:nvSpPr>
          <p:cNvPr id="8" name="TextBox 7"/>
          <p:cNvSpPr txBox="1"/>
          <p:nvPr/>
        </p:nvSpPr>
        <p:spPr>
          <a:xfrm>
            <a:off x="8092440" y="2807208"/>
            <a:ext cx="3246120" cy="457200"/>
          </a:xfrm>
          <a:prstGeom prst="rect">
            <a:avLst/>
          </a:prstGeom>
          <a:noFill/>
        </p:spPr>
        <p:txBody>
          <a:bodyPr wrap="square" anchor="ctr" lIns="0" rIns="0" tIns="0" bIns="0">
            <a:spAutoFit/>
          </a:bodyPr>
          <a:lstStyle/>
          <a:p>
            <a:pPr algn="l"/>
            <a:r>
              <a:rPr sz="1500" b="0" i="0">
                <a:solidFill>
                  <a:srgbClr val="262626"/>
                </a:solidFill>
              </a:rPr>
              <a:t>Experiments X4–X6</a:t>
            </a:r>
          </a:p>
        </p:txBody>
      </p:sp>
      <p:sp>
        <p:nvSpPr>
          <p:cNvPr id="9" name="Oval 8"/>
          <p:cNvSpPr/>
          <p:nvPr/>
        </p:nvSpPr>
        <p:spPr>
          <a:xfrm>
            <a:off x="7498079" y="3374136"/>
            <a:ext cx="457200" cy="457200"/>
          </a:xfrm>
          <a:prstGeom prst="ellipse">
            <a:avLst/>
          </a:prstGeom>
          <a:solidFill>
            <a:srgbClr val="D70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rPr>
              <a:t>3</a:t>
            </a:r>
          </a:p>
        </p:txBody>
      </p:sp>
      <p:sp>
        <p:nvSpPr>
          <p:cNvPr id="10" name="TextBox 9"/>
          <p:cNvSpPr txBox="1"/>
          <p:nvPr/>
        </p:nvSpPr>
        <p:spPr>
          <a:xfrm>
            <a:off x="8092440" y="3374136"/>
            <a:ext cx="3246120" cy="457200"/>
          </a:xfrm>
          <a:prstGeom prst="rect">
            <a:avLst/>
          </a:prstGeom>
          <a:noFill/>
        </p:spPr>
        <p:txBody>
          <a:bodyPr wrap="square" anchor="ctr" lIns="0" rIns="0" tIns="0" bIns="0">
            <a:spAutoFit/>
          </a:bodyPr>
          <a:lstStyle/>
          <a:p>
            <a:pPr algn="l"/>
            <a:r>
              <a:rPr sz="1500" b="0" i="0">
                <a:solidFill>
                  <a:srgbClr val="262626"/>
                </a:solidFill>
              </a:rPr>
              <a:t>Live Mode B (keep Mode A)</a:t>
            </a:r>
          </a:p>
        </p:txBody>
      </p:sp>
      <p:sp>
        <p:nvSpPr>
          <p:cNvPr id="11" name="Oval 10"/>
          <p:cNvSpPr/>
          <p:nvPr/>
        </p:nvSpPr>
        <p:spPr>
          <a:xfrm>
            <a:off x="7498079" y="3941064"/>
            <a:ext cx="457200" cy="457200"/>
          </a:xfrm>
          <a:prstGeom prst="ellipse">
            <a:avLst/>
          </a:prstGeom>
          <a:solidFill>
            <a:srgbClr val="D701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i="0">
                <a:solidFill>
                  <a:srgbClr val="FFFFFF"/>
                </a:solidFill>
              </a:rPr>
              <a:t>4</a:t>
            </a:r>
          </a:p>
        </p:txBody>
      </p:sp>
      <p:sp>
        <p:nvSpPr>
          <p:cNvPr id="12" name="TextBox 11"/>
          <p:cNvSpPr txBox="1"/>
          <p:nvPr/>
        </p:nvSpPr>
        <p:spPr>
          <a:xfrm>
            <a:off x="8092440" y="3941064"/>
            <a:ext cx="3246120" cy="457200"/>
          </a:xfrm>
          <a:prstGeom prst="rect">
            <a:avLst/>
          </a:prstGeom>
          <a:noFill/>
        </p:spPr>
        <p:txBody>
          <a:bodyPr wrap="square" anchor="ctr" lIns="0" rIns="0" tIns="0" bIns="0">
            <a:spAutoFit/>
          </a:bodyPr>
          <a:lstStyle/>
          <a:p>
            <a:pPr algn="l"/>
            <a:r>
              <a:rPr sz="1500" b="0" i="0">
                <a:solidFill>
                  <a:srgbClr val="262626"/>
                </a:solidFill>
              </a:rPr>
              <a:t>Extra seeds</a:t>
            </a:r>
          </a:p>
        </p:txBody>
      </p:sp>
      <p:sp>
        <p:nvSpPr>
          <p:cNvPr id="13" name="Rounded Rectangle 12"/>
          <p:cNvSpPr/>
          <p:nvPr/>
        </p:nvSpPr>
        <p:spPr>
          <a:xfrm>
            <a:off x="7498079" y="4572000"/>
            <a:ext cx="3840480" cy="1097280"/>
          </a:xfrm>
          <a:prstGeom prst="roundRect">
            <a:avLst>
              <a:gd name="adj" fmla="val 12000"/>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500" b="1" i="0">
                <a:solidFill>
                  <a:srgbClr val="38761D"/>
                </a:solidFill>
              </a:rPr>
              <a:t>Never dropped</a:t>
            </a:r>
          </a:p>
          <a:p>
            <a:pPr algn="l"/>
            <a:r>
              <a:rPr sz="1300" b="0" i="0">
                <a:solidFill>
                  <a:srgbClr val="262626"/>
                </a:solidFill>
              </a:rPr>
              <a:t>Baselines B1–B3 · proposed model P · per-SNR evaluation · ablations X1–X3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you leave today</a:t>
            </a:r>
          </a:p>
        </p:txBody>
      </p:sp>
      <p:sp>
        <p:nvSpPr>
          <p:cNvPr id="3" name="Oval 2"/>
          <p:cNvSpPr/>
          <p:nvPr/>
        </p:nvSpPr>
        <p:spPr>
          <a:xfrm>
            <a:off x="841248" y="1828800"/>
            <a:ext cx="914400" cy="9144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3000" b="1" i="0">
                <a:solidFill>
                  <a:srgbClr val="FFFFFF"/>
                </a:solidFill>
              </a:rPr>
              <a:t>1</a:t>
            </a:r>
          </a:p>
        </p:txBody>
      </p:sp>
      <p:sp>
        <p:nvSpPr>
          <p:cNvPr id="4" name="TextBox 3"/>
          <p:cNvSpPr txBox="1"/>
          <p:nvPr/>
        </p:nvSpPr>
        <p:spPr>
          <a:xfrm>
            <a:off x="2011680" y="1847088"/>
            <a:ext cx="9326880" cy="457200"/>
          </a:xfrm>
          <a:prstGeom prst="rect">
            <a:avLst/>
          </a:prstGeom>
          <a:noFill/>
        </p:spPr>
        <p:txBody>
          <a:bodyPr wrap="square" anchor="t" lIns="0" rIns="0" tIns="0" bIns="0">
            <a:spAutoFit/>
          </a:bodyPr>
          <a:lstStyle/>
          <a:p>
            <a:pPr algn="l"/>
            <a:r>
              <a:rPr sz="2200" b="1" i="0">
                <a:solidFill>
                  <a:srgbClr val="0B3D91"/>
                </a:solidFill>
              </a:rPr>
              <a:t>Accept the Trello invite</a:t>
            </a:r>
          </a:p>
        </p:txBody>
      </p:sp>
      <p:sp>
        <p:nvSpPr>
          <p:cNvPr id="5" name="TextBox 4"/>
          <p:cNvSpPr txBox="1"/>
          <p:nvPr/>
        </p:nvSpPr>
        <p:spPr>
          <a:xfrm>
            <a:off x="2011680" y="2304288"/>
            <a:ext cx="9326880" cy="411480"/>
          </a:xfrm>
          <a:prstGeom prst="rect">
            <a:avLst/>
          </a:prstGeom>
          <a:noFill/>
        </p:spPr>
        <p:txBody>
          <a:bodyPr wrap="square" anchor="t" lIns="0" rIns="0" tIns="0" bIns="0">
            <a:spAutoFit/>
          </a:bodyPr>
          <a:lstStyle/>
          <a:p>
            <a:pPr algn="l"/>
            <a:r>
              <a:rPr sz="1600" b="0" i="0">
                <a:solidFill>
                  <a:srgbClr val="595959"/>
                </a:solidFill>
              </a:rPr>
              <a:t>Confirm your role and pair, or ask to swap now (W1-01)</a:t>
            </a:r>
          </a:p>
        </p:txBody>
      </p:sp>
      <p:sp>
        <p:nvSpPr>
          <p:cNvPr id="6" name="Oval 5"/>
          <p:cNvSpPr/>
          <p:nvPr/>
        </p:nvSpPr>
        <p:spPr>
          <a:xfrm>
            <a:off x="841248" y="2971800"/>
            <a:ext cx="914400" cy="9144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3000" b="1" i="0">
                <a:solidFill>
                  <a:srgbClr val="FFFFFF"/>
                </a:solidFill>
              </a:rPr>
              <a:t>2</a:t>
            </a:r>
          </a:p>
        </p:txBody>
      </p:sp>
      <p:sp>
        <p:nvSpPr>
          <p:cNvPr id="7" name="TextBox 6"/>
          <p:cNvSpPr txBox="1"/>
          <p:nvPr/>
        </p:nvSpPr>
        <p:spPr>
          <a:xfrm>
            <a:off x="2011680" y="2990088"/>
            <a:ext cx="9326880" cy="457200"/>
          </a:xfrm>
          <a:prstGeom prst="rect">
            <a:avLst/>
          </a:prstGeom>
          <a:noFill/>
        </p:spPr>
        <p:txBody>
          <a:bodyPr wrap="square" anchor="t" lIns="0" rIns="0" tIns="0" bIns="0">
            <a:spAutoFit/>
          </a:bodyPr>
          <a:lstStyle/>
          <a:p>
            <a:pPr algn="l"/>
            <a:r>
              <a:rPr sz="2200" b="1" i="0">
                <a:solidFill>
                  <a:srgbClr val="0B3D91"/>
                </a:solidFill>
              </a:rPr>
              <a:t>Run check_env.py</a:t>
            </a:r>
          </a:p>
        </p:txBody>
      </p:sp>
      <p:sp>
        <p:nvSpPr>
          <p:cNvPr id="8" name="TextBox 7"/>
          <p:cNvSpPr txBox="1"/>
          <p:nvPr/>
        </p:nvSpPr>
        <p:spPr>
          <a:xfrm>
            <a:off x="2011680" y="3447288"/>
            <a:ext cx="9326880" cy="411480"/>
          </a:xfrm>
          <a:prstGeom prst="rect">
            <a:avLst/>
          </a:prstGeom>
          <a:noFill/>
        </p:spPr>
        <p:txBody>
          <a:bodyPr wrap="square" anchor="t" lIns="0" rIns="0" tIns="0" bIns="0">
            <a:spAutoFit/>
          </a:bodyPr>
          <a:lstStyle/>
          <a:p>
            <a:pPr algn="l"/>
            <a:r>
              <a:rPr sz="1600" b="0" i="0">
                <a:solidFill>
                  <a:srgbClr val="595959"/>
                </a:solidFill>
              </a:rPr>
              <a:t>Clone, pip install -e ., post the output on W1-03 by Wed</a:t>
            </a:r>
          </a:p>
        </p:txBody>
      </p:sp>
      <p:sp>
        <p:nvSpPr>
          <p:cNvPr id="9" name="Oval 8"/>
          <p:cNvSpPr/>
          <p:nvPr/>
        </p:nvSpPr>
        <p:spPr>
          <a:xfrm>
            <a:off x="841248" y="4114800"/>
            <a:ext cx="914400" cy="9144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3000" b="1" i="0">
                <a:solidFill>
                  <a:srgbClr val="FFFFFF"/>
                </a:solidFill>
              </a:rPr>
              <a:t>3</a:t>
            </a:r>
          </a:p>
        </p:txBody>
      </p:sp>
      <p:sp>
        <p:nvSpPr>
          <p:cNvPr id="10" name="TextBox 9"/>
          <p:cNvSpPr txBox="1"/>
          <p:nvPr/>
        </p:nvSpPr>
        <p:spPr>
          <a:xfrm>
            <a:off x="2011680" y="4133087"/>
            <a:ext cx="9326880" cy="457200"/>
          </a:xfrm>
          <a:prstGeom prst="rect">
            <a:avLst/>
          </a:prstGeom>
          <a:noFill/>
        </p:spPr>
        <p:txBody>
          <a:bodyPr wrap="square" anchor="t" lIns="0" rIns="0" tIns="0" bIns="0">
            <a:spAutoFit/>
          </a:bodyPr>
          <a:lstStyle/>
          <a:p>
            <a:pPr algn="l"/>
            <a:r>
              <a:rPr sz="2200" b="1" i="0">
                <a:solidFill>
                  <a:srgbClr val="0B3D91"/>
                </a:solidFill>
              </a:rPr>
              <a:t>Report your GPU</a:t>
            </a:r>
          </a:p>
        </p:txBody>
      </p:sp>
      <p:sp>
        <p:nvSpPr>
          <p:cNvPr id="11" name="TextBox 10"/>
          <p:cNvSpPr txBox="1"/>
          <p:nvPr/>
        </p:nvSpPr>
        <p:spPr>
          <a:xfrm>
            <a:off x="2011680" y="4590288"/>
            <a:ext cx="9326880" cy="411480"/>
          </a:xfrm>
          <a:prstGeom prst="rect">
            <a:avLst/>
          </a:prstGeom>
          <a:noFill/>
        </p:spPr>
        <p:txBody>
          <a:bodyPr wrap="square" anchor="t" lIns="0" rIns="0" tIns="0" bIns="0">
            <a:spAutoFit/>
          </a:bodyPr>
          <a:lstStyle/>
          <a:p>
            <a:pPr algn="l"/>
            <a:r>
              <a:rPr sz="1600" b="0" i="0">
                <a:solidFill>
                  <a:srgbClr val="595959"/>
                </a:solidFill>
              </a:rPr>
              <a:t>Model and memory to Charis today, for the booking schedule (W1-04)</a:t>
            </a:r>
          </a:p>
        </p:txBody>
      </p:sp>
      <p:sp>
        <p:nvSpPr>
          <p:cNvPr id="12" name="Rounded Rectangle 11"/>
          <p:cNvSpPr/>
          <p:nvPr/>
        </p:nvSpPr>
        <p:spPr>
          <a:xfrm>
            <a:off x="841248" y="5440680"/>
            <a:ext cx="10515600" cy="594360"/>
          </a:xfrm>
          <a:prstGeom prst="roundRect">
            <a:avLst>
              <a:gd name="adj" fmla="val 12000"/>
            </a:avLst>
          </a:prstGeom>
          <a:solidFill>
            <a:srgbClr val="FFF4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1500" b="1" i="0">
                <a:solidFill>
                  <a:srgbClr val="262626"/>
                </a:solidFill>
              </a:rPr>
              <a:t>Next check-in: </a:t>
            </a:r>
            <a:r>
              <a:rPr sz="1500" b="0" i="0">
                <a:solidFill>
                  <a:srgbClr val="262626"/>
                </a:solidFill>
              </a:rPr>
              <a:t>daily async update in the group chat · M1 review Sun 25 Oct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1_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1765</TotalTime>
  <Words>79</Words>
  <Application>Microsoft Office PowerPoint</Application>
  <PresentationFormat>Widescreen</PresentationFormat>
  <Paragraphs>17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Noto Sans</vt:lpstr>
      <vt:lpstr>Trebuchet MS</vt:lpstr>
      <vt:lpstr>Wingdings</vt:lpstr>
      <vt:lpstr>1_Office Theme</vt:lpstr>
      <vt:lpstr>Title of the paper</vt:lpstr>
      <vt:lpstr>Content presentation </vt:lpstr>
      <vt:lpstr>Introduction / Problem</vt:lpstr>
      <vt:lpstr>Methodology</vt:lpstr>
      <vt:lpstr>Results</vt:lpstr>
      <vt:lpstr>Conclusion</vt:lpstr>
      <vt:lpstr>Any 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paper</dc:title>
  <dc:creator>stephen kalyesubula</dc:creator>
  <cp:lastModifiedBy>Charis Opol</cp:lastModifiedBy>
  <cp:revision>4</cp:revision>
  <dcterms:created xsi:type="dcterms:W3CDTF">2026-08-29T19:30:28Z</dcterms:created>
  <dcterms:modified xsi:type="dcterms:W3CDTF">2026-09-01T13:39:55Z</dcterms:modified>
</cp:coreProperties>
</file>